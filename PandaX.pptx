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72" r:id="rId4"/>
    <p:sldId id="275" r:id="rId5"/>
    <p:sldId id="259" r:id="rId6"/>
    <p:sldId id="274" r:id="rId7"/>
    <p:sldId id="273" r:id="rId8"/>
    <p:sldId id="261"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4"/>
    <p:restoredTop sz="94353" autoAdjust="0"/>
  </p:normalViewPr>
  <p:slideViewPr>
    <p:cSldViewPr snapToGrid="0" snapToObjects="1">
      <p:cViewPr>
        <p:scale>
          <a:sx n="66" d="100"/>
          <a:sy n="66" d="100"/>
        </p:scale>
        <p:origin x="597"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4806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CEO / CFO
TARGET TIME: 45 seconds
SCRIPT
Imagine a manufacturer releasing a new connected industrial controller. Its engineers have test reports, a software component list and security tickets, but those records are scattered across different tools. When a reviewer asks which evidence supports the latest release, someone has to rebuild the story. That is the problem PandaX aims to solve. We are proposing a shared workspace for connected-product cybersecurity evidence, beginning with manufacturers selling into the European Union. The timing matters: Cyber Resilience Act reporting obligations begin on 11 September 2026, and its main obligations apply from 11 December 2027. We are at the research and validation stage. Our next step is to test whether manufacturers will pay to reduce this coordination work. Our CPO will show what that experience looks like.
LIKELY LECTURER QUESTIONS
Q: What does PandaX do in one sentence?
A: PandaX helps connected-product manufacturers collect, connect and maintain the cybersecurity evidence for each product release, so their teams and external reviewers can work from the same records.
Q: Why now?
A: The CRA introduces dated obligations and ongoing product-security work. The dates create a reason to act, but we still need interviews and paid pilots to prove demand for our particular solution.
Q: Is this already a working company or product?
A: This presentation describes an early-stage startup concept. The proposed features, pricing and validation targets are plans; we are not claiming a deployed platform, paying customers or signed partnerships.
SOURCES AND CLAIM STATUS
Supplied research: pp. 2, 5, 11–12. European Commission CRA overview [S1] and legislative summary [S2].
S1 | European Commission — Cyber Resilience Act overview | https://digital-strategy.ec.europa.eu/en/policies/cyber-resilience-act
S2 | European Commission — Summary of the legislative text | https://digital-strategy.ec.europa.eu/en/policies/cra-summary
S3 | ONEKEY — Compliance Wizard | https://www.onekey.com/feature/onekey-compliance-wizard
S4 | Finite State — CRA compliance services | https://finitestate.io/hubfs/InfoGraphics/EU%20CRA%20Compliance%20Services.pdf
Sources checked 5 September 2026. All product screens, pricing, security architecture and milestones are proposals; no customer traction is claimed.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CPO
TARGET TIME: 75 seconds
SCRIPT
Our main user is a product-security or compliance manager who coordinates engineering, quality and external reviewers. Today, that person may chase documents through spreadsheets, email and shared folders. PandaX would bring the workflow together in three steps. First, collect existing component lists, test reports and product information. Second, connect each item to the right product release and requirement, with an owner for missing or outdated evidence. Third, review and export an organized evidence pack. For example, when a controller moves from version 1.3 to 1.4, a changed software component could trigger a review of the related security test. Previously approved evidence stays traceable instead of being overwritten. The screen here is a concept, not a working application. Our first version would focus on this narrow workflow, and we would measure preparation time, reviewer rework and reuse on a second release. PandaX supports the process; the manufacturer still owns the compliance decision. Our CTO will explain how we would build it.
LIKELY LECTURER QUESTIONS
Q: What is your minimum viable product?
A: An MVP is the smallest version that tests whether the product is useful. Ours is product and release intake, evidence links, missing-item tracking, human approvals and an export. We would test it manually before building production software.
Q: Why not use a spreadsheet or SharePoint?
A: Those may be sufficient for simple products. Our hypothesis is that linking evidence to changing releases and reviewer decisions becomes costly across several product families. We must demonstrate enough time saved to justify switching.
Q: Does PandaX certify products or guarantee compliance?
A: No. It organizes evidence and workflow. The manufacturer retains responsibility, and an external conformity assessment is required where the applicable route demands it. A complete evidence pack alone does not prove a product is secure.
Q: How would you measure product success?
A: Time the same preparation and review tasks before and during a pilot. Target at least 25% less reviewer preparation or re-keying, then test whether customers reuse the workflow for another release. These are targets, not measured results.
SOURCES AND CLAIM STATUS
Supplied research: pp. 10–12, 15–18, 22–23. Manufacturer responsibility: [S2].
S1 | European Commission — Cyber Resilience Act overview | https://digital-strategy.ec.europa.eu/en/policies/cyber-resilience-act
S2 | European Commission — Summary of the legislative text | https://digital-strategy.ec.europa.eu/en/policies/cra-summary
S3 | ONEKEY — Compliance Wizard | https://www.onekey.com/feature/onekey-compliance-wizard
S4 | Finite State — CRA compliance services | https://finitestate.io/hubfs/InfoGraphics/EU%20CRA%20Compliance%20Services.pdf
Sources checked 5 September 2026. All product screens, pricing, security architecture and milestones are proposals; no customer traction is claimed.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CT	O
TARGET TIME: 75 seconds
SCRIPT
Technically, PandaX is an integration and evidence-management platform. We would start by importing files from the tools customers already use: software bills of materials, or SBOMs, test reports and release records. An SBOM is simply a list of the software components in a product. The core would use a relational database to link products, releases, requirements, evidence and approvals, with encrypted storage for the original files. Each approved record would keep its source and history. When a release changes, the platform would flag linked evidence for review. Rules and document assembly would be deterministic. AI could later summarize a report or suggest a link with a source, but it would not approve compliance or submit an incident report. Our proposed security baseline includes EU hosting, customer isolation, role-based access and tested backups. We would integrate existing scanners. The difficult work is trustworthy data, reliable rule updates and reviewer acceptance. The CMO will explain who we would test this with first.
LIKELY LECTURER QUESTIONS
Q: What is the actual technology stack?
A: The proposed minimum is a web application, an API, a relational database such as PostgreSQL and encrypted object storage. Start with file imports and add customer-requested integrations. We do not need a custom graph database or our own vulnerability scanner.
Q: Why use AI, and what if it invents an answer?
A: AI is optional for the MVP. If introduced, it would draft or suggest from controlled source material, retain citations and require review. It must never turn generated text into approved evidence or make the final legal decision.
Q: What if customer evidence is incomplete or sensitive?
A: Preserve source files, show missing fields and uncertain matches, and require owner validation. Minimize collection, separate customers and reviewer permissions, encrypt data, log access and test recovery. These are proposed controls, not certifications we already hold.
Q: Can students build this in a few weeks?
A: We can build a focused prototype and test the workflow manually. The research estimates a production MVP at six months with a 6–8 person team and €600,000–900,000. We would validate demand before committing to that build.
SOURCES AND CLAIM STATUS
Supplied research: pp. 16–19. Stack choice is a proposed implementation, not an existing system.
S1 | European Commission — Cyber Resilience Act overview | https://digital-strategy.ec.europa.eu/en/policies/cyber-resilience-act
S2 | European Commission — Summary of the legislative text | https://digital-strategy.ec.europa.eu/en/policies/cra-summary
S3 | ONEKEY — Compliance Wizard | https://www.onekey.com/feature/onekey-compliance-wizard
S4 | Finite State — CRA compliance services | https://finitestate.io/hubfs/InfoGraphics/EU%20CRA%20Compliance%20Services.pdf
Sources checked 5 September 2026. All product screens, pricing, security architecture and milestones are proposals; no customer traction is claimed.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8FD8A-2B14-8765-18AB-4415A24CA9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3F3A8D-8B34-E68B-8ED2-9701EA304B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1E99BE-9761-A75D-0F92-AF05DB52F6C8}"/>
              </a:ext>
            </a:extLst>
          </p:cNvPr>
          <p:cNvSpPr>
            <a:spLocks noGrp="1"/>
          </p:cNvSpPr>
          <p:nvPr>
            <p:ph type="body" idx="1"/>
          </p:nvPr>
        </p:nvSpPr>
        <p:spPr/>
        <p:txBody>
          <a:bodyPr/>
          <a:lstStyle/>
          <a:p>
            <a:r>
              <a:rPr lang="en-US" dirty="0"/>
              <a:t>SPEAKER: CMO
TARGET TIME: 65 seconds
SCRIPT
Our first target is German industrial and electrical-equipment manufacturers with roughly fifty to one thousand employees and several connected-product families. This is a focused starting point, not every business affected by the CRA. We would approach product-security and compliance managers, then identify the engineering or quality executive who controls the budget. Our initial message is practical: make the evidence for your next release easier to prepare and review. We would use founder-led outreach around a real trigger, such as a planned EU launch or a reviewer request. The entry offer is a paid, two-week evidence sprint for one product, reviewed with the customer's preferred laboratory or consultant. If that works, we would offer an annual subscription. Competitors already address this market, including ONEKEY and Finite State. Our proposed differentiation is a reviewer-friendly workflow across existing tools; it must be proven in pilots. Our CFO will show how that becomes a business.
LIKELY LECTURER QUESTIONS
Q: How do you get the first customers without a big advertising budget?
A: Build a small list of qualified manufacturers, contact the relevant managers directly and ask for real examples of evidence problems. Use course, alumni and industry introductions where available. Offer a narrowly scoped paid sprint once the pain and budget owner are clear.
Q: Why Germany, and can your team reach that market?
A: The research recommends Germany for its industrial customer base and established testing ecosystem. Access and language are real risks: we would test German-speaking introductions and partner access early, and compare reachable customers elsewhere if access is too weak.
Q: Why will you win against existing platforms?
A: We do not yet know that we will. ONEKEY and Finite State already offer CRA-related compliance capabilities. We would test whether a focused, tool-neutral evidence workflow reduces review work enough to win; if buyers see no advantage, we must change the idea.
Q: Do you already have laboratory partners?
A: No partnership is claimed. The plan is to show an anonymized evidence pack to five reviewers and seek at least three willing to reuse the structure. Reviewers assess independently; payment must not depend on a favorable conformity outcome.
SOURCES AND CLAIM STATUS
Supplied research: pp. 11–15, 21–23. Current competing offers: ONEKEY [S3], Finite State [S4]. Proposed differentiation remains unvalidated.
S1 | European Commission — Cyber Resilience Act overview | https://digital-strategy.ec.europa.eu/en/policies/cyber-resilience-act
S2 | European Commission — Summary of the legislative text | https://digital-strategy.ec.europa.eu/en/policies/cra-summary
S3 | ONEKEY — Compliance Wizard | https://www.onekey.com/feature/onekey-compliance-wizard
S4 | Finite State — CRA compliance services | https://finitestate.io/hubfs/InfoGraphics/EU%20CRA%20Compliance%20Services.pdf
Sources checked 5 September 2026. All product screens, pricing, security architecture and milestones are proposals; no customer traction is claimed.</a:t>
            </a:r>
          </a:p>
        </p:txBody>
      </p:sp>
      <p:sp>
        <p:nvSpPr>
          <p:cNvPr id="4" name="Slide Number Placeholder 3">
            <a:extLst>
              <a:ext uri="{FF2B5EF4-FFF2-40B4-BE49-F238E27FC236}">
                <a16:creationId xmlns:a16="http://schemas.microsoft.com/office/drawing/2014/main" id="{B88DE876-A29E-4863-122D-54D8478E873F}"/>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8717244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CMO
TARGET TIME: 65 seconds
SCRIPT
Our first target is German industrial and electrical-equipment manufacturers with roughly fifty to one thousand employees and several connected-product families. This is a focused starting point, not every business affected by the CRA. We would approach product-security and compliance managers, then identify the engineering or quality executive who controls the budget. Our initial message is practical: make the evidence for your next release easier to prepare and review. We would use founder-led outreach around a real trigger, such as a planned EU launch or a reviewer request. The entry offer is a paid, two-week evidence sprint for one product, reviewed with the customer's preferred laboratory or consultant. If that works, we would offer an annual subscription. Competitors already address this market, including ONEKEY and Finite State. Our proposed differentiation is a reviewer-friendly workflow across existing tools; it must be proven in pilots. Our CFO will show how that becomes a business.
LIKELY LECTURER QUESTIONS
Q: How do you get the first customers without a big advertising budget?
A: Build a small list of qualified manufacturers, contact the relevant managers directly and ask for real examples of evidence problems. Use course, alumni and industry introductions where available. Offer a narrowly scoped paid sprint once the pain and budget owner are clear.
Q: Why Germany, and can your team reach that market?
A: The research recommends Germany for its industrial customer base and established testing ecosystem. Access and language are real risks: we would test German-speaking introductions and partner access early, and compare reachable customers elsewhere if access is too weak.
Q: Why will you win against existing platforms?
A: We do not yet know that we will. ONEKEY and Finite State already offer CRA-related compliance capabilities. We would test whether a focused, tool-neutral evidence workflow reduces review work enough to win; if buyers see no advantage, we must change the idea.
Q: Do you already have laboratory partners?
A: No partnership is claimed. The plan is to show an anonymized evidence pack to five reviewers and seek at least three willing to reuse the structure. Reviewers assess independently; payment must not depend on a favorable conformity outcome.
SOURCES AND CLAIM STATUS
Supplied research: pp. 11–15, 21–23. Current competing offers: ONEKEY [S3], Finite State [S4]. Proposed differentiation remains unvalidated.
S1 | European Commission — Cyber Resilience Act overview | https://digital-strategy.ec.europa.eu/en/policies/cyber-resilience-act
S2 | European Commission — Summary of the legislative text | https://digital-strategy.ec.europa.eu/en/policies/cra-summary
S3 | ONEKEY — Compliance Wizard | https://www.onekey.com/feature/onekey-compliance-wizard
S4 | Finite State — CRA compliance services | https://finitestate.io/hubfs/InfoGraphics/EU%20CRA%20Compliance%20Services.pdf
Sources checked 5 September 2026. All product screens, pricing, security architecture and milestones are proposals; no customer traction is claimed.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84B03-65E9-631D-750C-9FE5D520E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0F0D9F-A9EF-B189-696A-114898A0AC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E08358-C28D-91A1-59AE-4429DA844207}"/>
              </a:ext>
            </a:extLst>
          </p:cNvPr>
          <p:cNvSpPr>
            <a:spLocks noGrp="1"/>
          </p:cNvSpPr>
          <p:nvPr>
            <p:ph type="body" idx="1"/>
          </p:nvPr>
        </p:nvSpPr>
        <p:spPr/>
        <p:txBody>
          <a:bodyPr/>
          <a:lstStyle/>
          <a:p>
            <a:r>
              <a:rPr lang="en-US" dirty="0"/>
              <a:t>SPEAKER: CMO
TARGET TIME: 65 seconds
SCRIPT
Our first target is German industrial and electrical-equipment manufacturers with roughly fifty to one thousand employees and several connected-product families. This is a focused starting point, not every business affected by the CRA. We would approach product-security and compliance managers, then identify the engineering or quality executive who controls the budget. Our initial message is practical: make the evidence for your next release easier to prepare and review. We would use founder-led outreach around a real trigger, such as a planned EU launch or a reviewer request. The entry offer is a paid, two-week evidence sprint for one product, reviewed with the customer's preferred laboratory or consultant. If that works, we would offer an annual subscription. Competitors already address this market, including ONEKEY and Finite State. Our proposed differentiation is a reviewer-friendly workflow across existing tools; it must be proven in pilots. Our CFO will show how that becomes a business.
LIKELY LECTURER QUESTIONS
Q: How do you get the first customers without a big advertising budget?
A: Build a small list of qualified manufacturers, contact the relevant managers directly and ask for real examples of evidence problems. Use course, alumni and industry introductions where available. Offer a narrowly scoped paid sprint once the pain and budget owner are clear.
Q: Why Germany, and can your team reach that market?
A: The research recommends Germany for its industrial customer base and established testing ecosystem. Access and language are real risks: we would test German-speaking introductions and partner access early, and compare reachable customers elsewhere if access is too weak.
Q: Why will you win against existing platforms?
A: We do not yet know that we will. ONEKEY and Finite State already offer CRA-related compliance capabilities. We would test whether a focused, tool-neutral evidence workflow reduces review work enough to win; if buyers see no advantage, we must change the idea.
Q: Do you already have laboratory partners?
A: No partnership is claimed. The plan is to show an anonymized evidence pack to five reviewers and seek at least three willing to reuse the structure. Reviewers assess independently; payment must not depend on a favorable conformity outcome.
SOURCES AND CLAIM STATUS
Supplied research: pp. 11–15, 21–23. Current competing offers: ONEKEY [S3], Finite State [S4]. Proposed differentiation remains unvalidated.
S1 | European Commission — Cyber Resilience Act overview | https://digital-strategy.ec.europa.eu/en/policies/cyber-resilience-act
S2 | European Commission — Summary of the legislative text | https://digital-strategy.ec.europa.eu/en/policies/cra-summary
S3 | ONEKEY — Compliance Wizard | https://www.onekey.com/feature/onekey-compliance-wizard
S4 | Finite State — CRA compliance services | https://finitestate.io/hubfs/InfoGraphics/EU%20CRA%20Compliance%20Services.pdf
Sources checked 5 September 2026. All product screens, pricing, security architecture and milestones are proposals; no customer traction is claimed.</a:t>
            </a:r>
          </a:p>
        </p:txBody>
      </p:sp>
      <p:sp>
        <p:nvSpPr>
          <p:cNvPr id="4" name="Slide Number Placeholder 3">
            <a:extLst>
              <a:ext uri="{FF2B5EF4-FFF2-40B4-BE49-F238E27FC236}">
                <a16:creationId xmlns:a16="http://schemas.microsoft.com/office/drawing/2014/main" id="{D40D8C02-C9E4-76C4-9F7B-0D390D579741}"/>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1671475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100" dirty="0"/>
              <a:t>SPEAKER: CEO / CFO</a:t>
            </a:r>
          </a:p>
          <a:p>
            <a:pPr marL="0" indent="0">
              <a:buNone/>
            </a:pPr>
            <a:r>
              <a:rPr lang="en-US" sz="1100" dirty="0"/>
              <a:t>TARGET TIME: 90 seconds</a:t>
            </a:r>
          </a:p>
          <a:p>
            <a:pPr marL="0" indent="0">
              <a:buNone/>
            </a:pPr>
            <a:endParaRPr lang="en-US" sz="1100" dirty="0"/>
          </a:p>
          <a:p>
            <a:pPr marL="0" indent="0">
              <a:buNone/>
            </a:pPr>
            <a:r>
              <a:rPr lang="en-US" sz="1300" b="1" dirty="0"/>
              <a:t>SCRIPT</a:t>
            </a:r>
            <a:endParaRPr lang="en-US" sz="1300" dirty="0"/>
          </a:p>
          <a:p>
            <a:pPr marL="0" indent="0">
              <a:buNone/>
            </a:pPr>
            <a:r>
              <a:rPr lang="en-US" sz="1100" dirty="0"/>
              <a:t>This slide explains how we make money without becoming a consulting firm. The core revenue model is an annual software subscription because the customer’s work does not end after one compliance assessment. Every product family, maintained release, component change, vulnerability, support commitment, and reviewer finding creates recurring evidence and workflow needs.</a:t>
            </a:r>
          </a:p>
          <a:p>
            <a:pPr marL="0" indent="0">
              <a:buNone/>
            </a:pPr>
            <a:endParaRPr lang="en-US" sz="1100" dirty="0"/>
          </a:p>
          <a:p>
            <a:pPr marL="0" indent="0">
              <a:buNone/>
            </a:pPr>
            <a:r>
              <a:rPr lang="en-US" sz="1100" dirty="0"/>
              <a:t>We enter through a paid readiness sprint. It is deliberately bounded: we take one product family, </a:t>
            </a:r>
            <a:r>
              <a:rPr lang="en-US" sz="1100" dirty="0" err="1"/>
              <a:t>organise</a:t>
            </a:r>
            <a:r>
              <a:rPr lang="en-US" sz="1100" dirty="0"/>
              <a:t> the baseline evidence pack, identify gaps, and show the customer how the ongoing workflow would operate. The sprint is not meant to become the business. Its purpose is to prove willingness to pay, reduce implementation risk, and create a clear conversion point into annual software.</a:t>
            </a:r>
          </a:p>
          <a:p>
            <a:pPr marL="0" indent="0">
              <a:buNone/>
            </a:pPr>
            <a:endParaRPr lang="en-US" sz="1100" dirty="0"/>
          </a:p>
          <a:p>
            <a:pPr marL="0" indent="0">
              <a:buNone/>
            </a:pPr>
            <a:r>
              <a:rPr lang="en-US" sz="1100" dirty="0"/>
              <a:t>Expansion should come from customer complexity, not from charging for every collaborator. We would include ordinary users and grow revenue as customers add product families, releases, legal entities, integrations, retention requirements, deployment options, and reviewer workflows. This aligns price with the value and workload created by the product portfolio.</a:t>
            </a:r>
          </a:p>
          <a:p>
            <a:pPr marL="0" indent="0">
              <a:buNone/>
            </a:pPr>
            <a:endParaRPr lang="en-US" sz="1100" dirty="0"/>
          </a:p>
          <a:p>
            <a:pPr marL="0" indent="0">
              <a:buNone/>
            </a:pPr>
            <a:r>
              <a:rPr lang="en-US" sz="1100" dirty="0"/>
              <a:t>Services should enable adoption rather than create dependence. Onboarding must become repeatable, while specialist regulatory, scanning, and laboratory work is delivered by partners or billed as pass-through. We should never charge a success fee linked to a conformity result, because that would create the wrong incentive and weaken trust.</a:t>
            </a:r>
          </a:p>
          <a:p>
            <a:pPr marL="0" indent="0">
              <a:buNone/>
            </a:pPr>
            <a:endParaRPr lang="en-US" sz="1100" dirty="0"/>
          </a:p>
          <a:p>
            <a:pPr marL="0" indent="0">
              <a:buNone/>
            </a:pPr>
            <a:r>
              <a:rPr lang="en-US" sz="1100" dirty="0"/>
              <a:t>The main startup risk is services creep. We only have a scalable SaaS company if customers renew for the recurring workflow, the same model works across multiple manufacturers, and expert work becomes a small share of revenue. The first validation signals are paid sprint conversion, expansion to a second product or release, reviewer reuse, and improving gross margin.</a:t>
            </a:r>
          </a:p>
          <a:p>
            <a:pPr marL="0" indent="0">
              <a:buNone/>
            </a:pPr>
            <a:endParaRPr lang="en-US" sz="1100" dirty="0"/>
          </a:p>
          <a:p>
            <a:pPr marL="0" indent="0">
              <a:buNone/>
            </a:pPr>
            <a:r>
              <a:rPr lang="en-US" sz="1300" b="1" dirty="0"/>
              <a:t>LIKELY PROFESSOR QUESTIONS</a:t>
            </a:r>
            <a:endParaRPr lang="en-US" sz="1300" dirty="0"/>
          </a:p>
          <a:p>
            <a:pPr marL="0" indent="0">
              <a:buNone/>
            </a:pPr>
            <a:r>
              <a:rPr lang="en-US" sz="1100" dirty="0"/>
              <a:t>Q1: Why is this a subscription rather than a one-time compliance project?</a:t>
            </a:r>
          </a:p>
          <a:p>
            <a:pPr marL="0" indent="0">
              <a:buNone/>
            </a:pPr>
            <a:r>
              <a:rPr lang="en-US" sz="1100" dirty="0"/>
              <a:t>A: Because compliance evidence changes with every maintained release, new dependency, vulnerability, update, support-period decision, and reviewer finding. The recurring unit is the product lifecycle, not the first technical file.</a:t>
            </a:r>
          </a:p>
          <a:p>
            <a:pPr marL="0" indent="0">
              <a:buNone/>
            </a:pPr>
            <a:endParaRPr lang="en-US" sz="1100" dirty="0"/>
          </a:p>
          <a:p>
            <a:pPr marL="0" indent="0">
              <a:buNone/>
            </a:pPr>
            <a:r>
              <a:rPr lang="en-US" sz="1100" dirty="0"/>
              <a:t>Q2: Why use a paid sprint instead of a free trial?</a:t>
            </a:r>
          </a:p>
          <a:p>
            <a:pPr marL="0" indent="0">
              <a:buNone/>
            </a:pPr>
            <a:r>
              <a:rPr lang="en-US" sz="1100" dirty="0"/>
              <a:t>A: A realistic trial requires sensitive product artifacts and expert setup. A paid sprint tests actual willingness to pay, produces a useful deliverable, and shows whether the customer will convert when the workflow continues.</a:t>
            </a:r>
          </a:p>
          <a:p>
            <a:pPr marL="0" indent="0">
              <a:buNone/>
            </a:pPr>
            <a:endParaRPr lang="en-US" sz="1100" dirty="0"/>
          </a:p>
          <a:p>
            <a:pPr marL="0" indent="0">
              <a:buNone/>
            </a:pPr>
            <a:r>
              <a:rPr lang="en-US" sz="1100" dirty="0"/>
              <a:t>Q3: What is the primary pricing metric?</a:t>
            </a:r>
          </a:p>
          <a:p>
            <a:pPr marL="0" indent="0">
              <a:buNone/>
            </a:pPr>
            <a:r>
              <a:rPr lang="en-US" sz="1100" dirty="0"/>
              <a:t>A: Product families are the main value unit because they represent a reusable compliance and evidence scope. Maintained releases are a secondary workload measure. Seats are intentionally not the core metric because charging per user would discourage engineering, quality, legal, and reviewers from collaborating.</a:t>
            </a:r>
          </a:p>
          <a:p>
            <a:pPr marL="0" indent="0">
              <a:buNone/>
            </a:pPr>
            <a:endParaRPr lang="en-US" sz="1100" dirty="0"/>
          </a:p>
          <a:p>
            <a:pPr marL="0" indent="0">
              <a:buNone/>
            </a:pPr>
            <a:r>
              <a:rPr lang="en-US" sz="1100" dirty="0"/>
              <a:t>Q4: What is the expansion strategy?</a:t>
            </a:r>
          </a:p>
          <a:p>
            <a:pPr marL="0" indent="0">
              <a:buNone/>
            </a:pPr>
            <a:r>
              <a:rPr lang="en-US" sz="1100" dirty="0"/>
              <a:t>A: Land with one product family, then expand to additional families and releases, multiple legal entities, deeper integrations, post-market workflows, advanced retention, deployment options, and reviewer collaboration.</a:t>
            </a:r>
          </a:p>
          <a:p>
            <a:pPr marL="0" indent="0">
              <a:buNone/>
            </a:pPr>
            <a:endParaRPr lang="en-US" sz="1100" dirty="0"/>
          </a:p>
          <a:p>
            <a:pPr marL="0" indent="0">
              <a:buNone/>
            </a:pPr>
            <a:r>
              <a:rPr lang="en-US" sz="1100" dirty="0"/>
              <a:t>Q5: How do you avoid becoming a consultancy?</a:t>
            </a:r>
          </a:p>
          <a:p>
            <a:pPr marL="0" indent="0">
              <a:buNone/>
            </a:pPr>
            <a:r>
              <a:rPr lang="en-US" sz="1100" dirty="0"/>
              <a:t>A: Fix the sprint scope, </a:t>
            </a:r>
            <a:r>
              <a:rPr lang="en-US" sz="1100" dirty="0" err="1"/>
              <a:t>standardise</a:t>
            </a:r>
            <a:r>
              <a:rPr lang="en-US" sz="1100" dirty="0"/>
              <a:t> onboarding, measure vendor hours per release, use reusable templates, and let qualified partners provide specialist services. The memo’s operating target is for services to fall below 25 percent of revenue by year three.</a:t>
            </a:r>
          </a:p>
          <a:p>
            <a:pPr marL="0" indent="0">
              <a:buNone/>
            </a:pPr>
            <a:endParaRPr lang="en-US" sz="1100" dirty="0"/>
          </a:p>
          <a:p>
            <a:pPr marL="0" indent="0">
              <a:buNone/>
            </a:pPr>
            <a:r>
              <a:rPr lang="en-US" sz="1100" dirty="0"/>
              <a:t>Q6: What assumptions must be validated before investing heavily?</a:t>
            </a:r>
          </a:p>
          <a:p>
            <a:pPr marL="0" indent="0">
              <a:buNone/>
            </a:pPr>
            <a:r>
              <a:rPr lang="en-US" sz="1100" dirty="0"/>
              <a:t>A: First, manufacturers will pay for a standalone workflow. Second, paid sprints convert into annual subscriptions. Third, laboratories and reviewers will reuse the exported evidence structure. Fourth, the same evidence model works across customers without bespoke document production.</a:t>
            </a:r>
          </a:p>
          <a:p>
            <a:pPr marL="0" indent="0">
              <a:buNone/>
            </a:pPr>
            <a:endParaRPr lang="en-US" sz="1100" dirty="0"/>
          </a:p>
          <a:p>
            <a:pPr marL="0" indent="0">
              <a:buNone/>
            </a:pPr>
            <a:r>
              <a:rPr lang="en-US" sz="1100" dirty="0"/>
              <a:t>Q7: What would healthy unit economics look like?</a:t>
            </a:r>
          </a:p>
          <a:p>
            <a:pPr marL="0" indent="0">
              <a:buNone/>
            </a:pPr>
            <a:r>
              <a:rPr lang="en-US" sz="1100" dirty="0"/>
              <a:t>A: Annual prepayment, recurring expansion, high retention, bounded implementation cost, third-party scanning and lab costs kept outside core software margin, and gross margin progressing above 75 percent. Those are targets from the memo, not proven results.</a:t>
            </a:r>
          </a:p>
          <a:p>
            <a:pPr marL="0" indent="0">
              <a:buNone/>
            </a:pPr>
            <a:endParaRPr lang="en-US" sz="1100" dirty="0"/>
          </a:p>
          <a:p>
            <a:pPr marL="0" indent="0">
              <a:buNone/>
            </a:pPr>
            <a:r>
              <a:rPr lang="en-US" sz="1100" dirty="0"/>
              <a:t>Q8: Could laboratories or consultants compete with or disintermediate the company?</a:t>
            </a:r>
          </a:p>
          <a:p>
            <a:pPr marL="0" indent="0">
              <a:buNone/>
            </a:pPr>
            <a:r>
              <a:rPr lang="en-US" sz="1100" dirty="0"/>
              <a:t>A: Yes. That is why the product must be partner-compatible and neutral. Partners should earn from readiness, testing, and assessment while the software owns the reusable product-and-release evidence workflow. Portable exports and no pay-for-pass model protect customer trust.</a:t>
            </a:r>
          </a:p>
          <a:p>
            <a:pPr marL="0" indent="0">
              <a:buNone/>
            </a:pPr>
            <a:endParaRPr lang="en-US" sz="1100" dirty="0"/>
          </a:p>
          <a:p>
            <a:pPr marL="0" indent="0">
              <a:buNone/>
            </a:pPr>
            <a:r>
              <a:rPr lang="en-US" sz="1100" dirty="0"/>
              <a:t>Q9: What is the strongest evidence that customers will renew?</a:t>
            </a:r>
          </a:p>
          <a:p>
            <a:pPr marL="0" indent="0">
              <a:buNone/>
            </a:pPr>
            <a:r>
              <a:rPr lang="en-US" sz="1100" dirty="0"/>
              <a:t>A: Renewal is not yet proven. The best early evidence would be customers adding a second release or product, repeatedly using the vulnerability and reviewer workflow, and renewing after the initial technical file is complete.</a:t>
            </a:r>
          </a:p>
          <a:p>
            <a:pPr marL="0" indent="0">
              <a:buNone/>
            </a:pPr>
            <a:endParaRPr lang="en-US" sz="1100" dirty="0"/>
          </a:p>
          <a:p>
            <a:pPr marL="0" indent="0">
              <a:buNone/>
            </a:pPr>
            <a:r>
              <a:rPr lang="en-US" sz="1100" dirty="0"/>
              <a:t>Q10: What would make you stop pursuing this business model?</a:t>
            </a:r>
          </a:p>
          <a:p>
            <a:pPr marL="0" indent="0">
              <a:buNone/>
            </a:pPr>
            <a:r>
              <a:rPr lang="en-US" sz="1100" dirty="0"/>
              <a:t>A: Stop if buyers only want a legal memo, paid sprints do not convert, reviewers refuse to reuse the evidence structure, or every release requires substantial bespoke expert work. Those outcomes would indicate a consulting practice or product feature rather than scalable SaaS.</a:t>
            </a:r>
          </a:p>
          <a:p>
            <a:pPr marL="0" indent="0">
              <a:buNone/>
            </a:pPr>
            <a:endParaRPr lang="en-US" sz="1100" dirty="0"/>
          </a:p>
          <a:p>
            <a:pPr marL="0" indent="0">
              <a:buNone/>
            </a:pPr>
            <a:r>
              <a:rPr lang="en-US" sz="1300" b="1" dirty="0"/>
              <a:t>SOURCE BASIS</a:t>
            </a:r>
            <a:endParaRPr lang="en-US" sz="1300" dirty="0"/>
          </a:p>
          <a:p>
            <a:pPr marL="0" indent="0">
              <a:buNone/>
            </a:pPr>
            <a:r>
              <a:rPr lang="en-US" sz="1100" dirty="0"/>
              <a:t>Supplied decision memo, especially sections 2.5, 4.1–4.2, 5.1–5.8, 6.3–6.4, and the 90-day validation plan. All commercial claims remain hypotheses until tested with paid design partners.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CEO / CFO
TARGET TIME: 40 seconds
SCRIPT
PandaX starts with a simple idea: every product release should have a clear, usable evidence trail. We have a research-backed problem hypothesis, a focused customer segment and a testable business model. What we need next is evidence from customers. Over the next ninety days, we aim to secure three paid pilots, find three reviewers who will reuse the exported evidence, and demonstrate reuse on a second product or release. We would move toward a production MVP only if those tests support recurring software demand. Our immediate ask is introductions to connected-product manufacturers and compliance reviewers. Thank you. We are happy to take your questions.
LIKELY LECTURER QUESTIONS
Q: What will you do next week?
A: Book initial manufacturer and reviewer interviews, ask to examine anonymized evidence from a real release, and create a clickable or manual workflow. Test a concrete paid sprint offer before investing in a production system.
Q: What would make you stop or pivot?
A: Weak paid interest, reviewers refusing to reuse the evidence, or every release requiring bespoke expert work. The research treats these as potential reasons to stop. We would narrow or change the idea instead of treating unpaid enthusiasm as validation.
Q: What is your biggest assumption?
A: That manufacturers will pay repeatedly for a separate evidence platform rather than use their existing tools and consultants. Paid pilots, second-release reuse and annual conversion are the tests that matter most.
Q: What is your competitive advantage over time?
A: Potential advantages are useful integration into daily work, reliable evidence history and trusted reviewer relationships. None is established yet, and competitors can copy features. We would keep exports portable and earn retention through usefulness.
SOURCES AND CLAIM STATUS
Supplied research: pp. 2–3, 22–24. Slide shows selected validation milestones, not achieved traction or the full investment gate.
S1 | European Commission — Cyber Resilience Act overview | https://digital-strategy.ec.europa.eu/en/policies/cyber-resilience-act
S2 | European Commission — Summary of the legislative text | https://digital-strategy.ec.europa.eu/en/policies/cra-summary
S3 | ONEKEY — Compliance Wizard | https://www.onekey.com/feature/onekey-compliance-wizard
S4 | Finite State — CRA compliance services | https://finitestate.io/hubfs/InfoGraphics/EU%20CRA%20Compliance%20Services.pdf
Sources checked 5 September 2026. All product screens, pricing, security architecture and milestones are proposals; no customer traction is claimed.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drive.google.com/file/d/1RZrv_ezbM_1l6lIEWQUedNkUWSmKVSfO/view?usp=sharing"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PandaX wordmark" descr="Original PandaX wordmark"/>
          <p:cNvPicPr>
            <a:picLocks noChangeAspect="1"/>
          </p:cNvPicPr>
          <p:nvPr/>
        </p:nvPicPr>
        <p:blipFill>
          <a:blip r:embed="rId3"/>
          <a:srcRect l="11700" t="36000" r="9500" b="38200"/>
          <a:stretch>
            <a:fillRect/>
          </a:stretch>
        </p:blipFill>
        <p:spPr>
          <a:xfrm>
            <a:off x="585216" y="393192"/>
            <a:ext cx="1371600" cy="195943"/>
          </a:xfrm>
          <a:prstGeom prst="rect">
            <a:avLst/>
          </a:prstGeom>
        </p:spPr>
      </p:pic>
      <p:sp>
        <p:nvSpPr>
          <p:cNvPr id="4" name="Text 1"/>
          <p:cNvSpPr/>
          <p:nvPr/>
        </p:nvSpPr>
        <p:spPr>
          <a:xfrm>
            <a:off x="621792" y="982327"/>
            <a:ext cx="6400800" cy="256032"/>
          </a:xfrm>
          <a:prstGeom prst="rect">
            <a:avLst/>
          </a:prstGeom>
          <a:noFill/>
          <a:ln/>
        </p:spPr>
        <p:txBody>
          <a:bodyPr wrap="square" lIns="0" tIns="0" rIns="0" bIns="0" rtlCol="0" anchor="ctr"/>
          <a:lstStyle/>
          <a:p>
            <a:pPr marL="0" indent="0">
              <a:buNone/>
            </a:pPr>
            <a:r>
              <a:rPr lang="en-US" sz="1200" b="1" dirty="0">
                <a:solidFill>
                  <a:srgbClr val="58645E"/>
                </a:solidFill>
                <a:latin typeface="Aptos" pitchFamily="34" charset="0"/>
                <a:ea typeface="Aptos" pitchFamily="34" charset="-122"/>
                <a:cs typeface="Aptos" pitchFamily="34" charset="-120"/>
              </a:rPr>
              <a:t>CONNECTED-PRODUCT CYBERSECURITY</a:t>
            </a:r>
            <a:endParaRPr lang="en-US" sz="1200" dirty="0"/>
          </a:p>
        </p:txBody>
      </p:sp>
      <p:pic>
        <p:nvPicPr>
          <p:cNvPr id="5" name="PandaX wordmark" descr="Original PandaX wordmark"/>
          <p:cNvPicPr>
            <a:picLocks noChangeAspect="1"/>
          </p:cNvPicPr>
          <p:nvPr/>
        </p:nvPicPr>
        <p:blipFill>
          <a:blip r:embed="rId3"/>
          <a:srcRect l="11700" t="36000" r="9500" b="38200"/>
          <a:stretch>
            <a:fillRect/>
          </a:stretch>
        </p:blipFill>
        <p:spPr>
          <a:xfrm>
            <a:off x="594360" y="1755648"/>
            <a:ext cx="5486400" cy="783771"/>
          </a:xfrm>
          <a:prstGeom prst="rect">
            <a:avLst/>
          </a:prstGeom>
        </p:spPr>
      </p:pic>
      <p:sp>
        <p:nvSpPr>
          <p:cNvPr id="6" name="Text 2"/>
          <p:cNvSpPr/>
          <p:nvPr/>
        </p:nvSpPr>
        <p:spPr>
          <a:xfrm>
            <a:off x="594360" y="2779776"/>
            <a:ext cx="6903720" cy="1444752"/>
          </a:xfrm>
          <a:prstGeom prst="rect">
            <a:avLst/>
          </a:prstGeom>
          <a:noFill/>
          <a:ln/>
        </p:spPr>
        <p:txBody>
          <a:bodyPr wrap="square" lIns="0" tIns="0" rIns="0" bIns="0" rtlCol="0" anchor="ctr"/>
          <a:lstStyle/>
          <a:p>
            <a:pPr marL="0" indent="0">
              <a:buNone/>
            </a:pPr>
            <a:r>
              <a:rPr lang="en-US" sz="4700" b="1" dirty="0">
                <a:solidFill>
                  <a:srgbClr val="111715"/>
                </a:solidFill>
                <a:latin typeface="Agency FB" pitchFamily="34" charset="0"/>
                <a:ea typeface="Agency FB" pitchFamily="34" charset="-122"/>
                <a:cs typeface="Agency FB" pitchFamily="34" charset="-120"/>
              </a:rPr>
              <a:t>Every release.</a:t>
            </a:r>
            <a:endParaRPr lang="en-US" sz="4700" dirty="0"/>
          </a:p>
          <a:p>
            <a:pPr marL="0" indent="0">
              <a:buNone/>
            </a:pPr>
            <a:r>
              <a:rPr lang="en-US" sz="4700" b="1" dirty="0">
                <a:solidFill>
                  <a:srgbClr val="111715"/>
                </a:solidFill>
                <a:latin typeface="Agency FB" pitchFamily="34" charset="0"/>
                <a:ea typeface="Agency FB" pitchFamily="34" charset="-122"/>
                <a:cs typeface="Agency FB" pitchFamily="34" charset="-120"/>
              </a:rPr>
              <a:t>Evidence ready.</a:t>
            </a:r>
            <a:endParaRPr lang="en-US" sz="4700" dirty="0"/>
          </a:p>
        </p:txBody>
      </p:sp>
      <p:sp>
        <p:nvSpPr>
          <p:cNvPr id="7" name="Text 3"/>
          <p:cNvSpPr/>
          <p:nvPr/>
        </p:nvSpPr>
        <p:spPr>
          <a:xfrm>
            <a:off x="630936" y="4389120"/>
            <a:ext cx="7040880" cy="667512"/>
          </a:xfrm>
          <a:prstGeom prst="rect">
            <a:avLst/>
          </a:prstGeom>
          <a:noFill/>
          <a:ln/>
        </p:spPr>
        <p:txBody>
          <a:bodyPr wrap="square" lIns="0" tIns="0" rIns="0" bIns="0" rtlCol="0" anchor="ctr"/>
          <a:lstStyle/>
          <a:p>
            <a:pPr marL="0" indent="0">
              <a:buNone/>
            </a:pPr>
            <a:r>
              <a:rPr lang="en-US" sz="2000" dirty="0">
                <a:solidFill>
                  <a:srgbClr val="58645E"/>
                </a:solidFill>
                <a:latin typeface="Aptos" pitchFamily="34" charset="0"/>
                <a:ea typeface="Aptos" pitchFamily="34" charset="-122"/>
                <a:cs typeface="Aptos" pitchFamily="34" charset="-120"/>
              </a:rPr>
              <a:t>A shared compliance workspace for</a:t>
            </a:r>
            <a:endParaRPr lang="en-US" sz="2000" dirty="0"/>
          </a:p>
          <a:p>
            <a:pPr marL="0" indent="0">
              <a:buNone/>
            </a:pPr>
            <a:r>
              <a:rPr lang="en-US" sz="2000" dirty="0">
                <a:solidFill>
                  <a:srgbClr val="58645E"/>
                </a:solidFill>
                <a:latin typeface="Aptos" pitchFamily="34" charset="0"/>
                <a:ea typeface="Aptos" pitchFamily="34" charset="-122"/>
                <a:cs typeface="Aptos" pitchFamily="34" charset="-120"/>
              </a:rPr>
              <a:t>manufacturers selling connected products in the EU.</a:t>
            </a:r>
            <a:endParaRPr lang="en-US" sz="2000" dirty="0"/>
          </a:p>
        </p:txBody>
      </p:sp>
      <p:pic>
        <p:nvPicPr>
          <p:cNvPr id="8" name="PandaX emblem" descr="Original PandaX panda and X emblem"/>
          <p:cNvPicPr>
            <a:picLocks noChangeAspect="1"/>
          </p:cNvPicPr>
          <p:nvPr/>
        </p:nvPicPr>
        <p:blipFill>
          <a:blip r:embed="rId4"/>
          <a:srcRect l="21100" t="10000" r="21100" b="11700"/>
          <a:stretch>
            <a:fillRect/>
          </a:stretch>
        </p:blipFill>
        <p:spPr>
          <a:xfrm>
            <a:off x="8229600" y="1051560"/>
            <a:ext cx="2743200" cy="3722117"/>
          </a:xfrm>
          <a:prstGeom prst="rect">
            <a:avLst/>
          </a:prstGeom>
        </p:spPr>
      </p:pic>
      <p:sp>
        <p:nvSpPr>
          <p:cNvPr id="9" name="Shape 4"/>
          <p:cNvSpPr/>
          <p:nvPr/>
        </p:nvSpPr>
        <p:spPr>
          <a:xfrm>
            <a:off x="0" y="5541264"/>
            <a:ext cx="12192000" cy="1316736"/>
          </a:xfrm>
          <a:prstGeom prst="rect">
            <a:avLst/>
          </a:prstGeom>
          <a:solidFill>
            <a:srgbClr val="111715"/>
          </a:solidFill>
          <a:ln w="8890">
            <a:solidFill>
              <a:srgbClr val="111715"/>
            </a:solidFill>
            <a:prstDash val="solid"/>
          </a:ln>
        </p:spPr>
        <p:txBody>
          <a:bodyPr/>
          <a:lstStyle/>
          <a:p>
            <a:endParaRPr lang="en-GB"/>
          </a:p>
        </p:txBody>
      </p:sp>
      <p:sp>
        <p:nvSpPr>
          <p:cNvPr id="10" name="Shape 5"/>
          <p:cNvSpPr/>
          <p:nvPr/>
        </p:nvSpPr>
        <p:spPr>
          <a:xfrm>
            <a:off x="612648" y="5824728"/>
            <a:ext cx="64008" cy="658368"/>
          </a:xfrm>
          <a:prstGeom prst="rect">
            <a:avLst/>
          </a:prstGeom>
          <a:solidFill>
            <a:srgbClr val="C7F464"/>
          </a:solidFill>
          <a:ln w="8890">
            <a:solidFill>
              <a:srgbClr val="C7F464"/>
            </a:solidFill>
            <a:prstDash val="solid"/>
          </a:ln>
        </p:spPr>
        <p:txBody>
          <a:bodyPr/>
          <a:lstStyle/>
          <a:p>
            <a:endParaRPr lang="en-GB"/>
          </a:p>
        </p:txBody>
      </p:sp>
      <p:sp>
        <p:nvSpPr>
          <p:cNvPr id="11" name="Text 6"/>
          <p:cNvSpPr/>
          <p:nvPr/>
        </p:nvSpPr>
        <p:spPr>
          <a:xfrm>
            <a:off x="841248" y="5779008"/>
            <a:ext cx="1143000" cy="201168"/>
          </a:xfrm>
          <a:prstGeom prst="rect">
            <a:avLst/>
          </a:prstGeom>
          <a:noFill/>
          <a:ln/>
        </p:spPr>
        <p:txBody>
          <a:bodyPr wrap="square" lIns="0" tIns="0" rIns="0" bIns="0" rtlCol="0" anchor="ctr"/>
          <a:lstStyle/>
          <a:p>
            <a:pPr marL="0" indent="0">
              <a:buNone/>
            </a:pPr>
            <a:r>
              <a:rPr lang="en-US" sz="1100" b="1" dirty="0">
                <a:solidFill>
                  <a:srgbClr val="C7F464"/>
                </a:solidFill>
                <a:latin typeface="Aptos" pitchFamily="34" charset="0"/>
                <a:ea typeface="Aptos" pitchFamily="34" charset="-122"/>
                <a:cs typeface="Aptos" pitchFamily="34" charset="-120"/>
              </a:rPr>
              <a:t>WHY NOW</a:t>
            </a:r>
            <a:endParaRPr lang="en-US" sz="1100" dirty="0"/>
          </a:p>
        </p:txBody>
      </p:sp>
      <p:sp>
        <p:nvSpPr>
          <p:cNvPr id="12" name="Text 7"/>
          <p:cNvSpPr/>
          <p:nvPr/>
        </p:nvSpPr>
        <p:spPr>
          <a:xfrm>
            <a:off x="2295144" y="5696712"/>
            <a:ext cx="2926080" cy="484632"/>
          </a:xfrm>
          <a:prstGeom prst="rect">
            <a:avLst/>
          </a:prstGeom>
          <a:noFill/>
          <a:ln/>
        </p:spPr>
        <p:txBody>
          <a:bodyPr wrap="square" lIns="0" tIns="0" rIns="0" bIns="0" rtlCol="0" anchor="ctr"/>
          <a:lstStyle/>
          <a:p>
            <a:pPr marL="0" indent="0">
              <a:buNone/>
            </a:pPr>
            <a:r>
              <a:rPr lang="en-US" sz="2400" b="1" dirty="0">
                <a:solidFill>
                  <a:srgbClr val="FFFFFF"/>
                </a:solidFill>
                <a:latin typeface="Agency FB" pitchFamily="34" charset="0"/>
                <a:ea typeface="Agency FB" pitchFamily="34" charset="-122"/>
                <a:cs typeface="Agency FB" pitchFamily="34" charset="-120"/>
              </a:rPr>
              <a:t>11 SEP 2026</a:t>
            </a:r>
            <a:endParaRPr lang="en-US" sz="2400" dirty="0"/>
          </a:p>
        </p:txBody>
      </p:sp>
      <p:sp>
        <p:nvSpPr>
          <p:cNvPr id="13" name="Text 8"/>
          <p:cNvSpPr/>
          <p:nvPr/>
        </p:nvSpPr>
        <p:spPr>
          <a:xfrm>
            <a:off x="2295144" y="6190488"/>
            <a:ext cx="3383280" cy="256032"/>
          </a:xfrm>
          <a:prstGeom prst="rect">
            <a:avLst/>
          </a:prstGeom>
          <a:noFill/>
          <a:ln/>
        </p:spPr>
        <p:txBody>
          <a:bodyPr wrap="square" lIns="0" tIns="0" rIns="0" bIns="0" rtlCol="0" anchor="ctr"/>
          <a:lstStyle/>
          <a:p>
            <a:pPr marL="0" indent="0">
              <a:buNone/>
            </a:pPr>
            <a:r>
              <a:rPr lang="en-US" sz="1300" dirty="0">
                <a:solidFill>
                  <a:srgbClr val="D8E0DA"/>
                </a:solidFill>
                <a:latin typeface="Aptos" pitchFamily="34" charset="0"/>
                <a:ea typeface="Aptos" pitchFamily="34" charset="-122"/>
                <a:cs typeface="Aptos" pitchFamily="34" charset="-120"/>
              </a:rPr>
              <a:t>CRA reporting obligations begin</a:t>
            </a:r>
            <a:endParaRPr lang="en-US" sz="1300" dirty="0"/>
          </a:p>
        </p:txBody>
      </p:sp>
      <p:sp>
        <p:nvSpPr>
          <p:cNvPr id="14" name="Shape 9"/>
          <p:cNvSpPr/>
          <p:nvPr/>
        </p:nvSpPr>
        <p:spPr>
          <a:xfrm>
            <a:off x="6089904" y="5779008"/>
            <a:ext cx="0" cy="731520"/>
          </a:xfrm>
          <a:prstGeom prst="line">
            <a:avLst/>
          </a:prstGeom>
          <a:noFill/>
          <a:ln w="12700">
            <a:solidFill>
              <a:srgbClr val="536055"/>
            </a:solidFill>
            <a:prstDash val="solid"/>
            <a:headEnd type="none"/>
            <a:tailEnd type="none"/>
          </a:ln>
        </p:spPr>
        <p:txBody>
          <a:bodyPr/>
          <a:lstStyle/>
          <a:p>
            <a:endParaRPr lang="en-GB"/>
          </a:p>
        </p:txBody>
      </p:sp>
      <p:sp>
        <p:nvSpPr>
          <p:cNvPr id="15" name="Text 10"/>
          <p:cNvSpPr/>
          <p:nvPr/>
        </p:nvSpPr>
        <p:spPr>
          <a:xfrm>
            <a:off x="6428232" y="5696712"/>
            <a:ext cx="2926080" cy="484632"/>
          </a:xfrm>
          <a:prstGeom prst="rect">
            <a:avLst/>
          </a:prstGeom>
          <a:noFill/>
          <a:ln/>
        </p:spPr>
        <p:txBody>
          <a:bodyPr wrap="square" lIns="0" tIns="0" rIns="0" bIns="0" rtlCol="0" anchor="ctr"/>
          <a:lstStyle/>
          <a:p>
            <a:pPr marL="0" indent="0">
              <a:buNone/>
            </a:pPr>
            <a:r>
              <a:rPr lang="en-US" sz="2400" b="1" dirty="0">
                <a:solidFill>
                  <a:srgbClr val="FFFFFF"/>
                </a:solidFill>
                <a:latin typeface="Agency FB" pitchFamily="34" charset="0"/>
                <a:ea typeface="Agency FB" pitchFamily="34" charset="-122"/>
                <a:cs typeface="Agency FB" pitchFamily="34" charset="-120"/>
              </a:rPr>
              <a:t>11 DEC 2027</a:t>
            </a:r>
            <a:endParaRPr lang="en-US" sz="2400" dirty="0"/>
          </a:p>
        </p:txBody>
      </p:sp>
      <p:sp>
        <p:nvSpPr>
          <p:cNvPr id="16" name="Text 11"/>
          <p:cNvSpPr/>
          <p:nvPr/>
        </p:nvSpPr>
        <p:spPr>
          <a:xfrm>
            <a:off x="6428232" y="6190488"/>
            <a:ext cx="3383280" cy="256032"/>
          </a:xfrm>
          <a:prstGeom prst="rect">
            <a:avLst/>
          </a:prstGeom>
          <a:noFill/>
          <a:ln/>
        </p:spPr>
        <p:txBody>
          <a:bodyPr wrap="square" lIns="0" tIns="0" rIns="0" bIns="0" rtlCol="0" anchor="ctr"/>
          <a:lstStyle/>
          <a:p>
            <a:pPr marL="0" indent="0">
              <a:buNone/>
            </a:pPr>
            <a:r>
              <a:rPr lang="en-US" sz="1300" dirty="0">
                <a:solidFill>
                  <a:srgbClr val="D8E0DA"/>
                </a:solidFill>
                <a:latin typeface="Aptos" pitchFamily="34" charset="0"/>
                <a:ea typeface="Aptos" pitchFamily="34" charset="-122"/>
                <a:cs typeface="Aptos" pitchFamily="34" charset="-120"/>
              </a:rPr>
              <a:t>Main CRA obligations apply</a:t>
            </a:r>
            <a:endParaRPr lang="en-US" sz="1300" dirty="0"/>
          </a:p>
        </p:txBody>
      </p:sp>
      <p:sp>
        <p:nvSpPr>
          <p:cNvPr id="17" name="Text 12"/>
          <p:cNvSpPr/>
          <p:nvPr/>
        </p:nvSpPr>
        <p:spPr>
          <a:xfrm>
            <a:off x="9838944" y="5907024"/>
            <a:ext cx="1828800" cy="420624"/>
          </a:xfrm>
          <a:prstGeom prst="rect">
            <a:avLst/>
          </a:prstGeom>
          <a:noFill/>
          <a:ln/>
        </p:spPr>
        <p:txBody>
          <a:bodyPr wrap="square" lIns="0" tIns="0" rIns="0" bIns="0" rtlCol="0" anchor="ctr"/>
          <a:lstStyle/>
          <a:p>
            <a:pPr marL="0" indent="0" algn="r">
              <a:buNone/>
            </a:pPr>
            <a:r>
              <a:rPr lang="en-US" sz="1000" b="1" dirty="0">
                <a:solidFill>
                  <a:srgbClr val="C7F464"/>
                </a:solidFill>
                <a:latin typeface="Aptos" pitchFamily="34" charset="0"/>
                <a:ea typeface="Aptos" pitchFamily="34" charset="-122"/>
                <a:cs typeface="Aptos" pitchFamily="34" charset="-120"/>
              </a:rPr>
              <a:t>CONCEPT / VALIDATION STAGE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PandaX wordmark" descr="Original PandaX wordmark"/>
          <p:cNvPicPr>
            <a:picLocks noChangeAspect="1"/>
          </p:cNvPicPr>
          <p:nvPr/>
        </p:nvPicPr>
        <p:blipFill>
          <a:blip r:embed="rId3"/>
          <a:srcRect l="11700" t="36000" r="9500" b="38200"/>
          <a:stretch>
            <a:fillRect/>
          </a:stretch>
        </p:blipFill>
        <p:spPr>
          <a:xfrm>
            <a:off x="585216" y="393192"/>
            <a:ext cx="1371600" cy="195943"/>
          </a:xfrm>
          <a:prstGeom prst="rect">
            <a:avLst/>
          </a:prstGeom>
        </p:spPr>
      </p:pic>
      <p:sp>
        <p:nvSpPr>
          <p:cNvPr id="3" name="Text 0"/>
          <p:cNvSpPr/>
          <p:nvPr/>
        </p:nvSpPr>
        <p:spPr>
          <a:xfrm>
            <a:off x="10607040" y="374904"/>
            <a:ext cx="987552" cy="228600"/>
          </a:xfrm>
          <a:prstGeom prst="rect">
            <a:avLst/>
          </a:prstGeom>
          <a:noFill/>
          <a:ln/>
        </p:spPr>
        <p:txBody>
          <a:bodyPr wrap="square" lIns="0" tIns="0" rIns="0" bIns="0" rtlCol="0" anchor="ctr"/>
          <a:lstStyle/>
          <a:p>
            <a:pPr marL="0" indent="0" algn="r">
              <a:buNone/>
            </a:pPr>
            <a:r>
              <a:rPr lang="en-US" sz="1100" dirty="0">
                <a:solidFill>
                  <a:srgbClr val="58645E"/>
                </a:solidFill>
                <a:latin typeface="Aptos" pitchFamily="34" charset="0"/>
                <a:ea typeface="Aptos" pitchFamily="34" charset="-122"/>
                <a:cs typeface="Aptos" pitchFamily="34" charset="-120"/>
              </a:rPr>
              <a:t>02  </a:t>
            </a:r>
            <a:r>
              <a:rPr lang="en-US" sz="1100">
                <a:solidFill>
                  <a:srgbClr val="58645E"/>
                </a:solidFill>
                <a:latin typeface="Aptos" pitchFamily="34" charset="0"/>
                <a:ea typeface="Aptos" pitchFamily="34" charset="-122"/>
                <a:cs typeface="Aptos" pitchFamily="34" charset="-120"/>
              </a:rPr>
              <a:t>/  08</a:t>
            </a:r>
            <a:endParaRPr lang="en-US" sz="1100" dirty="0"/>
          </a:p>
        </p:txBody>
      </p:sp>
      <p:sp>
        <p:nvSpPr>
          <p:cNvPr id="4" name="Text 1"/>
          <p:cNvSpPr/>
          <p:nvPr/>
        </p:nvSpPr>
        <p:spPr>
          <a:xfrm>
            <a:off x="594360" y="932688"/>
            <a:ext cx="10881360" cy="210312"/>
          </a:xfrm>
          <a:prstGeom prst="rect">
            <a:avLst/>
          </a:prstGeom>
          <a:noFill/>
          <a:ln/>
        </p:spPr>
        <p:txBody>
          <a:bodyPr wrap="square" lIns="0" tIns="0" rIns="0" bIns="0" rtlCol="0" anchor="ctr"/>
          <a:lstStyle/>
          <a:p>
            <a:pPr marL="0" indent="0">
              <a:buNone/>
            </a:pPr>
            <a:r>
              <a:rPr lang="en-US" sz="1100" b="1" dirty="0">
                <a:solidFill>
                  <a:srgbClr val="58645E"/>
                </a:solidFill>
                <a:latin typeface="Aptos" pitchFamily="34" charset="0"/>
                <a:ea typeface="Aptos" pitchFamily="34" charset="-122"/>
                <a:cs typeface="Aptos" pitchFamily="34" charset="-120"/>
              </a:rPr>
              <a:t>CPO / PRODUCT</a:t>
            </a:r>
            <a:endParaRPr lang="en-US" sz="1100" dirty="0"/>
          </a:p>
        </p:txBody>
      </p:sp>
      <p:sp>
        <p:nvSpPr>
          <p:cNvPr id="5" name="Text 2"/>
          <p:cNvSpPr/>
          <p:nvPr/>
        </p:nvSpPr>
        <p:spPr>
          <a:xfrm>
            <a:off x="594360" y="1289304"/>
            <a:ext cx="11018520" cy="658368"/>
          </a:xfrm>
          <a:prstGeom prst="rect">
            <a:avLst/>
          </a:prstGeom>
          <a:noFill/>
          <a:ln/>
        </p:spPr>
        <p:txBody>
          <a:bodyPr wrap="square" lIns="0" tIns="0" rIns="0" bIns="0" rtlCol="0" anchor="ctr"/>
          <a:lstStyle/>
          <a:p>
            <a:pPr marL="0" indent="0">
              <a:buNone/>
            </a:pPr>
            <a:r>
              <a:rPr lang="en-US" sz="3400" b="1" dirty="0">
                <a:solidFill>
                  <a:srgbClr val="111715"/>
                </a:solidFill>
                <a:latin typeface="Agency FB" pitchFamily="34" charset="0"/>
                <a:ea typeface="Agency FB" pitchFamily="34" charset="-122"/>
                <a:cs typeface="Agency FB" pitchFamily="34" charset="-120"/>
              </a:rPr>
              <a:t>One product. Every release. One evidence trail.</a:t>
            </a:r>
            <a:endParaRPr lang="en-US" sz="3400" dirty="0"/>
          </a:p>
        </p:txBody>
      </p:sp>
      <p:sp>
        <p:nvSpPr>
          <p:cNvPr id="6" name="Text 3"/>
          <p:cNvSpPr/>
          <p:nvPr/>
        </p:nvSpPr>
        <p:spPr>
          <a:xfrm>
            <a:off x="594360" y="1975104"/>
            <a:ext cx="10972800" cy="365760"/>
          </a:xfrm>
          <a:prstGeom prst="rect">
            <a:avLst/>
          </a:prstGeom>
          <a:noFill/>
          <a:ln/>
        </p:spPr>
        <p:txBody>
          <a:bodyPr wrap="square" lIns="0" tIns="0" rIns="0" bIns="0" rtlCol="0" anchor="ctr"/>
          <a:lstStyle/>
          <a:p>
            <a:r>
              <a:rPr lang="en-IL" sz="1700" dirty="0">
                <a:solidFill>
                  <a:srgbClr val="58645E"/>
                </a:solidFill>
                <a:latin typeface="Aptos" pitchFamily="34" charset="0"/>
              </a:rPr>
              <a:t>Connected-product compliance, handled end to end.</a:t>
            </a:r>
            <a:endParaRPr lang="en-US" sz="1700" dirty="0">
              <a:solidFill>
                <a:srgbClr val="58645E"/>
              </a:solidFill>
              <a:latin typeface="Aptos" pitchFamily="34" charset="0"/>
            </a:endParaRPr>
          </a:p>
        </p:txBody>
      </p:sp>
      <p:sp>
        <p:nvSpPr>
          <p:cNvPr id="7" name="Shape 4"/>
          <p:cNvSpPr/>
          <p:nvPr/>
        </p:nvSpPr>
        <p:spPr>
          <a:xfrm>
            <a:off x="603504" y="2697480"/>
            <a:ext cx="484632" cy="438912"/>
          </a:xfrm>
          <a:prstGeom prst="rect">
            <a:avLst/>
          </a:prstGeom>
          <a:solidFill>
            <a:srgbClr val="F1F4F0"/>
          </a:solidFill>
          <a:ln w="8890">
            <a:solidFill>
              <a:srgbClr val="F1F4F0"/>
            </a:solidFill>
            <a:prstDash val="solid"/>
          </a:ln>
        </p:spPr>
        <p:txBody>
          <a:bodyPr/>
          <a:lstStyle/>
          <a:p>
            <a:endParaRPr lang="en-GB"/>
          </a:p>
        </p:txBody>
      </p:sp>
      <p:sp>
        <p:nvSpPr>
          <p:cNvPr id="8" name="Text 5"/>
          <p:cNvSpPr/>
          <p:nvPr/>
        </p:nvSpPr>
        <p:spPr>
          <a:xfrm>
            <a:off x="603504" y="2697480"/>
            <a:ext cx="484632" cy="438912"/>
          </a:xfrm>
          <a:prstGeom prst="rect">
            <a:avLst/>
          </a:prstGeom>
          <a:noFill/>
          <a:ln/>
        </p:spPr>
        <p:txBody>
          <a:bodyPr wrap="square" lIns="0" tIns="0" rIns="0" bIns="0" rtlCol="0" anchor="ctr"/>
          <a:lstStyle/>
          <a:p>
            <a:pPr marL="0" indent="0" algn="ctr">
              <a:buNone/>
            </a:pPr>
            <a:r>
              <a:rPr lang="en-US" sz="1600" b="1" dirty="0">
                <a:solidFill>
                  <a:srgbClr val="111715"/>
                </a:solidFill>
                <a:latin typeface="Agency FB" pitchFamily="34" charset="0"/>
                <a:ea typeface="Agency FB" pitchFamily="34" charset="-122"/>
                <a:cs typeface="Agency FB" pitchFamily="34" charset="-120"/>
              </a:rPr>
              <a:t>01</a:t>
            </a:r>
            <a:endParaRPr lang="en-US" sz="1600" dirty="0"/>
          </a:p>
        </p:txBody>
      </p:sp>
      <p:sp>
        <p:nvSpPr>
          <p:cNvPr id="9" name="Text 6"/>
          <p:cNvSpPr/>
          <p:nvPr/>
        </p:nvSpPr>
        <p:spPr>
          <a:xfrm>
            <a:off x="1271016" y="2679192"/>
            <a:ext cx="3840480" cy="274320"/>
          </a:xfrm>
          <a:prstGeom prst="rect">
            <a:avLst/>
          </a:prstGeom>
          <a:noFill/>
          <a:ln/>
        </p:spPr>
        <p:txBody>
          <a:bodyPr wrap="square" lIns="0" tIns="0" rIns="0" bIns="0" rtlCol="0" anchor="ctr"/>
          <a:lstStyle/>
          <a:p>
            <a:r>
              <a:rPr lang="en-IL" sz="1700" b="1" dirty="0">
                <a:solidFill>
                  <a:srgbClr val="111715"/>
                </a:solidFill>
                <a:latin typeface="Aptos" pitchFamily="34" charset="0"/>
              </a:rPr>
              <a:t>Generate the SBOM</a:t>
            </a:r>
            <a:endParaRPr lang="en-US" sz="1700" b="1" dirty="0">
              <a:solidFill>
                <a:srgbClr val="111715"/>
              </a:solidFill>
              <a:latin typeface="Aptos" pitchFamily="34" charset="0"/>
            </a:endParaRPr>
          </a:p>
        </p:txBody>
      </p:sp>
      <p:sp>
        <p:nvSpPr>
          <p:cNvPr id="10" name="Text 7"/>
          <p:cNvSpPr/>
          <p:nvPr/>
        </p:nvSpPr>
        <p:spPr>
          <a:xfrm>
            <a:off x="1271016" y="3044952"/>
            <a:ext cx="9336024" cy="557784"/>
          </a:xfrm>
          <a:prstGeom prst="rect">
            <a:avLst/>
          </a:prstGeom>
          <a:noFill/>
          <a:ln/>
        </p:spPr>
        <p:txBody>
          <a:bodyPr wrap="square" lIns="0" tIns="0" rIns="0" bIns="0" rtlCol="0" anchor="ctr"/>
          <a:lstStyle/>
          <a:p>
            <a:r>
              <a:rPr lang="en-IL" sz="1700" dirty="0">
                <a:solidFill>
                  <a:srgbClr val="58645E"/>
                </a:solidFill>
                <a:latin typeface="Aptos" pitchFamily="34" charset="0"/>
              </a:rPr>
              <a:t>connect </a:t>
            </a:r>
            <a:r>
              <a:rPr lang="en-US" sz="1700" dirty="0">
                <a:solidFill>
                  <a:srgbClr val="58645E"/>
                </a:solidFill>
                <a:latin typeface="Aptos" pitchFamily="34" charset="0"/>
              </a:rPr>
              <a:t>your</a:t>
            </a:r>
            <a:r>
              <a:rPr lang="en-IL" sz="1700" dirty="0">
                <a:solidFill>
                  <a:srgbClr val="58645E"/>
                </a:solidFill>
                <a:latin typeface="Aptos" pitchFamily="34" charset="0"/>
              </a:rPr>
              <a:t> firmware/software build; we produce the Software Bill of Materials</a:t>
            </a:r>
            <a:r>
              <a:rPr lang="en-US" sz="1700" dirty="0">
                <a:solidFill>
                  <a:srgbClr val="58645E"/>
                </a:solidFill>
                <a:latin typeface="Aptos" pitchFamily="34" charset="0"/>
              </a:rPr>
              <a:t>,</a:t>
            </a:r>
            <a:r>
              <a:rPr lang="en-IL" sz="1700" dirty="0">
                <a:solidFill>
                  <a:srgbClr val="58645E"/>
                </a:solidFill>
                <a:latin typeface="Aptos" pitchFamily="34" charset="0"/>
              </a:rPr>
              <a:t> which is the foundation </a:t>
            </a:r>
            <a:r>
              <a:rPr lang="en-US" sz="1700" dirty="0">
                <a:solidFill>
                  <a:srgbClr val="58645E"/>
                </a:solidFill>
                <a:latin typeface="Aptos" pitchFamily="34" charset="0"/>
              </a:rPr>
              <a:t>for everything.</a:t>
            </a:r>
          </a:p>
        </p:txBody>
      </p:sp>
      <p:sp>
        <p:nvSpPr>
          <p:cNvPr id="11" name="Shape 8"/>
          <p:cNvSpPr/>
          <p:nvPr/>
        </p:nvSpPr>
        <p:spPr>
          <a:xfrm>
            <a:off x="603504" y="3694176"/>
            <a:ext cx="484632" cy="438912"/>
          </a:xfrm>
          <a:prstGeom prst="rect">
            <a:avLst/>
          </a:prstGeom>
          <a:solidFill>
            <a:srgbClr val="C7F464"/>
          </a:solidFill>
          <a:ln w="8890">
            <a:solidFill>
              <a:srgbClr val="C7F464"/>
            </a:solidFill>
            <a:prstDash val="solid"/>
          </a:ln>
        </p:spPr>
        <p:txBody>
          <a:bodyPr/>
          <a:lstStyle/>
          <a:p>
            <a:endParaRPr lang="en-GB"/>
          </a:p>
        </p:txBody>
      </p:sp>
      <p:sp>
        <p:nvSpPr>
          <p:cNvPr id="12" name="Text 9"/>
          <p:cNvSpPr/>
          <p:nvPr/>
        </p:nvSpPr>
        <p:spPr>
          <a:xfrm>
            <a:off x="603504" y="3694176"/>
            <a:ext cx="484632" cy="438912"/>
          </a:xfrm>
          <a:prstGeom prst="rect">
            <a:avLst/>
          </a:prstGeom>
          <a:noFill/>
          <a:ln/>
        </p:spPr>
        <p:txBody>
          <a:bodyPr wrap="square" lIns="0" tIns="0" rIns="0" bIns="0" rtlCol="0" anchor="ctr"/>
          <a:lstStyle/>
          <a:p>
            <a:pPr marL="0" indent="0" algn="ctr">
              <a:buNone/>
            </a:pPr>
            <a:r>
              <a:rPr lang="en-US" sz="1600" b="1" dirty="0">
                <a:solidFill>
                  <a:srgbClr val="111715"/>
                </a:solidFill>
                <a:latin typeface="Agency FB" pitchFamily="34" charset="0"/>
                <a:ea typeface="Agency FB" pitchFamily="34" charset="-122"/>
                <a:cs typeface="Agency FB" pitchFamily="34" charset="-120"/>
              </a:rPr>
              <a:t>02</a:t>
            </a:r>
            <a:endParaRPr lang="en-US" sz="1600" dirty="0"/>
          </a:p>
        </p:txBody>
      </p:sp>
      <p:sp>
        <p:nvSpPr>
          <p:cNvPr id="13" name="Text 10"/>
          <p:cNvSpPr/>
          <p:nvPr/>
        </p:nvSpPr>
        <p:spPr>
          <a:xfrm>
            <a:off x="1271016" y="3675888"/>
            <a:ext cx="3840480" cy="274320"/>
          </a:xfrm>
          <a:prstGeom prst="rect">
            <a:avLst/>
          </a:prstGeom>
          <a:noFill/>
          <a:ln/>
        </p:spPr>
        <p:txBody>
          <a:bodyPr wrap="square" lIns="0" tIns="0" rIns="0" bIns="0" rtlCol="0" anchor="ctr"/>
          <a:lstStyle/>
          <a:p>
            <a:r>
              <a:rPr lang="en-IL" sz="1700" b="1" dirty="0">
                <a:solidFill>
                  <a:srgbClr val="111715"/>
                </a:solidFill>
                <a:latin typeface="Aptos" pitchFamily="34" charset="0"/>
              </a:rPr>
              <a:t>Monitor for threats</a:t>
            </a:r>
            <a:endParaRPr lang="en-US" sz="1700" b="1" dirty="0">
              <a:solidFill>
                <a:srgbClr val="111715"/>
              </a:solidFill>
              <a:latin typeface="Aptos" pitchFamily="34" charset="0"/>
            </a:endParaRPr>
          </a:p>
        </p:txBody>
      </p:sp>
      <p:sp>
        <p:nvSpPr>
          <p:cNvPr id="14" name="Text 11"/>
          <p:cNvSpPr/>
          <p:nvPr/>
        </p:nvSpPr>
        <p:spPr>
          <a:xfrm>
            <a:off x="1271015" y="4041648"/>
            <a:ext cx="8748056" cy="557784"/>
          </a:xfrm>
          <a:prstGeom prst="rect">
            <a:avLst/>
          </a:prstGeom>
          <a:noFill/>
          <a:ln/>
        </p:spPr>
        <p:txBody>
          <a:bodyPr wrap="square" lIns="0" tIns="0" rIns="0" bIns="0" rtlCol="0" anchor="ctr"/>
          <a:lstStyle/>
          <a:p>
            <a:r>
              <a:rPr lang="en-IL" sz="1700" dirty="0">
                <a:solidFill>
                  <a:srgbClr val="58645E"/>
                </a:solidFill>
                <a:latin typeface="Aptos" pitchFamily="34" charset="0"/>
              </a:rPr>
              <a:t>We continuously check those components against live vulnerability feeds and alert the moment one becomes a real, exploitable risk.</a:t>
            </a:r>
            <a:endParaRPr lang="en-US" sz="1700" dirty="0">
              <a:solidFill>
                <a:srgbClr val="58645E"/>
              </a:solidFill>
              <a:latin typeface="Aptos" pitchFamily="34" charset="0"/>
            </a:endParaRPr>
          </a:p>
        </p:txBody>
      </p:sp>
      <p:sp>
        <p:nvSpPr>
          <p:cNvPr id="15" name="Shape 12"/>
          <p:cNvSpPr/>
          <p:nvPr/>
        </p:nvSpPr>
        <p:spPr>
          <a:xfrm>
            <a:off x="603504" y="4690872"/>
            <a:ext cx="484632" cy="438912"/>
          </a:xfrm>
          <a:prstGeom prst="rect">
            <a:avLst/>
          </a:prstGeom>
          <a:solidFill>
            <a:srgbClr val="F1F4F0"/>
          </a:solidFill>
          <a:ln w="8890">
            <a:solidFill>
              <a:srgbClr val="F1F4F0"/>
            </a:solidFill>
            <a:prstDash val="solid"/>
          </a:ln>
        </p:spPr>
        <p:txBody>
          <a:bodyPr/>
          <a:lstStyle/>
          <a:p>
            <a:endParaRPr lang="en-GB"/>
          </a:p>
        </p:txBody>
      </p:sp>
      <p:sp>
        <p:nvSpPr>
          <p:cNvPr id="16" name="Text 13"/>
          <p:cNvSpPr/>
          <p:nvPr/>
        </p:nvSpPr>
        <p:spPr>
          <a:xfrm>
            <a:off x="603504" y="4690872"/>
            <a:ext cx="484632" cy="438912"/>
          </a:xfrm>
          <a:prstGeom prst="rect">
            <a:avLst/>
          </a:prstGeom>
          <a:noFill/>
          <a:ln/>
        </p:spPr>
        <p:txBody>
          <a:bodyPr wrap="square" lIns="0" tIns="0" rIns="0" bIns="0" rtlCol="0" anchor="ctr"/>
          <a:lstStyle/>
          <a:p>
            <a:pPr marL="0" indent="0" algn="ctr">
              <a:buNone/>
            </a:pPr>
            <a:r>
              <a:rPr lang="en-US" sz="1600" b="1" dirty="0">
                <a:solidFill>
                  <a:srgbClr val="111715"/>
                </a:solidFill>
                <a:latin typeface="Agency FB" pitchFamily="34" charset="0"/>
                <a:ea typeface="Agency FB" pitchFamily="34" charset="-122"/>
                <a:cs typeface="Agency FB" pitchFamily="34" charset="-120"/>
              </a:rPr>
              <a:t>03</a:t>
            </a:r>
            <a:endParaRPr lang="en-US" sz="1600" dirty="0"/>
          </a:p>
        </p:txBody>
      </p:sp>
      <p:sp>
        <p:nvSpPr>
          <p:cNvPr id="17" name="Text 14"/>
          <p:cNvSpPr/>
          <p:nvPr/>
        </p:nvSpPr>
        <p:spPr>
          <a:xfrm>
            <a:off x="1271016" y="4672584"/>
            <a:ext cx="3840480" cy="274320"/>
          </a:xfrm>
          <a:prstGeom prst="rect">
            <a:avLst/>
          </a:prstGeom>
          <a:noFill/>
          <a:ln/>
        </p:spPr>
        <p:txBody>
          <a:bodyPr wrap="square" lIns="0" tIns="0" rIns="0" bIns="0" rtlCol="0" anchor="ctr"/>
          <a:lstStyle/>
          <a:p>
            <a:r>
              <a:rPr lang="en-IL" sz="1700" b="1" dirty="0">
                <a:solidFill>
                  <a:srgbClr val="111715"/>
                </a:solidFill>
                <a:latin typeface="Aptos" pitchFamily="34" charset="0"/>
              </a:rPr>
              <a:t>Generate &amp; send reports</a:t>
            </a:r>
            <a:endParaRPr lang="en-US" sz="1700" b="1" dirty="0">
              <a:solidFill>
                <a:srgbClr val="111715"/>
              </a:solidFill>
              <a:latin typeface="Aptos" pitchFamily="34" charset="0"/>
            </a:endParaRPr>
          </a:p>
        </p:txBody>
      </p:sp>
      <p:sp>
        <p:nvSpPr>
          <p:cNvPr id="18" name="Text 15"/>
          <p:cNvSpPr/>
          <p:nvPr/>
        </p:nvSpPr>
        <p:spPr>
          <a:xfrm>
            <a:off x="1271015" y="5129784"/>
            <a:ext cx="6113010" cy="557784"/>
          </a:xfrm>
          <a:prstGeom prst="rect">
            <a:avLst/>
          </a:prstGeom>
          <a:noFill/>
          <a:ln/>
        </p:spPr>
        <p:txBody>
          <a:bodyPr wrap="square" lIns="0" tIns="0" rIns="0" bIns="0" rtlCol="0" anchor="ctr"/>
          <a:lstStyle/>
          <a:p>
            <a:r>
              <a:rPr lang="en-IL" sz="1700" dirty="0">
                <a:solidFill>
                  <a:srgbClr val="58645E"/>
                </a:solidFill>
                <a:latin typeface="Aptos" pitchFamily="34" charset="0"/>
              </a:rPr>
              <a:t>When a flaw appears, we </a:t>
            </a:r>
            <a:r>
              <a:rPr lang="en-US" sz="1700" dirty="0">
                <a:solidFill>
                  <a:srgbClr val="58645E"/>
                </a:solidFill>
                <a:latin typeface="Aptos" pitchFamily="34" charset="0"/>
              </a:rPr>
              <a:t>draft</a:t>
            </a:r>
            <a:r>
              <a:rPr lang="en-IL" sz="1700" dirty="0">
                <a:solidFill>
                  <a:srgbClr val="58645E"/>
                </a:solidFill>
                <a:latin typeface="Aptos" pitchFamily="34" charset="0"/>
              </a:rPr>
              <a:t> the required 24h/72h/14-day notifications and file them to ENISA — and keep the technical file and Declaration of Conformity ready for CE marking</a:t>
            </a:r>
            <a:r>
              <a:rPr lang="en-IL" sz="1600" dirty="0"/>
              <a:t>.</a:t>
            </a:r>
            <a:endParaRPr lang="en-US" sz="1700" dirty="0"/>
          </a:p>
        </p:txBody>
      </p:sp>
      <p:sp>
        <p:nvSpPr>
          <p:cNvPr id="31" name="Shape 28"/>
          <p:cNvSpPr/>
          <p:nvPr/>
        </p:nvSpPr>
        <p:spPr>
          <a:xfrm>
            <a:off x="594360" y="6437376"/>
            <a:ext cx="11000232" cy="0"/>
          </a:xfrm>
          <a:prstGeom prst="line">
            <a:avLst/>
          </a:prstGeom>
          <a:noFill/>
          <a:ln w="12700">
            <a:solidFill>
              <a:srgbClr val="D9DFDA"/>
            </a:solidFill>
            <a:prstDash val="solid"/>
            <a:headEnd type="none"/>
            <a:tailEnd type="none"/>
          </a:ln>
        </p:spPr>
        <p:txBody>
          <a:bodyPr/>
          <a:lstStyle/>
          <a:p>
            <a:endParaRPr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3" name="PandaX wordmark" descr="Original PandaX wordmark"/>
          <p:cNvPicPr>
            <a:picLocks noChangeAspect="1"/>
          </p:cNvPicPr>
          <p:nvPr/>
        </p:nvPicPr>
        <p:blipFill>
          <a:blip r:embed="rId3"/>
          <a:srcRect l="11700" t="36000" r="9500" b="38200"/>
          <a:stretch>
            <a:fillRect/>
          </a:stretch>
        </p:blipFill>
        <p:spPr>
          <a:xfrm>
            <a:off x="585216" y="393192"/>
            <a:ext cx="1371600" cy="195943"/>
          </a:xfrm>
          <a:prstGeom prst="rect">
            <a:avLst/>
          </a:prstGeom>
        </p:spPr>
      </p:pic>
      <p:sp>
        <p:nvSpPr>
          <p:cNvPr id="5" name="TextBox 4"/>
          <p:cNvSpPr txBox="1"/>
          <p:nvPr/>
        </p:nvSpPr>
        <p:spPr>
          <a:xfrm>
            <a:off x="457200" y="905822"/>
            <a:ext cx="10972800" cy="219456"/>
          </a:xfrm>
          <a:prstGeom prst="rect">
            <a:avLst/>
          </a:prstGeom>
          <a:noFill/>
        </p:spPr>
        <p:txBody>
          <a:bodyPr wrap="none" lIns="0" tIns="0" rIns="0" bIns="0">
            <a:spAutoFit/>
          </a:bodyPr>
          <a:lstStyle/>
          <a:p>
            <a:pPr>
              <a:defRPr sz="1150" b="1">
                <a:solidFill>
                  <a:srgbClr val="5A6660"/>
                </a:solidFill>
                <a:latin typeface="Aptos"/>
              </a:defRPr>
            </a:pPr>
            <a:r>
              <a:rPr dirty="0"/>
              <a:t>CTO / TECHNOLOGY ARCHITECTURE</a:t>
            </a:r>
          </a:p>
        </p:txBody>
      </p:sp>
      <p:sp>
        <p:nvSpPr>
          <p:cNvPr id="6" name="TextBox 5"/>
          <p:cNvSpPr txBox="1"/>
          <p:nvPr/>
        </p:nvSpPr>
        <p:spPr>
          <a:xfrm>
            <a:off x="457200" y="1251629"/>
            <a:ext cx="11247120" cy="594360"/>
          </a:xfrm>
          <a:prstGeom prst="rect">
            <a:avLst/>
          </a:prstGeom>
          <a:noFill/>
        </p:spPr>
        <p:txBody>
          <a:bodyPr wrap="none" lIns="0" tIns="0" rIns="0" bIns="0">
            <a:spAutoFit/>
          </a:bodyPr>
          <a:lstStyle/>
          <a:p>
            <a:pPr>
              <a:defRPr sz="4000" b="1">
                <a:solidFill>
                  <a:srgbClr val="111715"/>
                </a:solidFill>
                <a:latin typeface="Agency FB"/>
              </a:defRPr>
            </a:pPr>
            <a:r>
              <a:rPr dirty="0"/>
              <a:t>From firmware binary to immutable CRA evidence.</a:t>
            </a:r>
          </a:p>
        </p:txBody>
      </p:sp>
      <p:sp>
        <p:nvSpPr>
          <p:cNvPr id="8" name="Rounded Rectangle 7"/>
          <p:cNvSpPr/>
          <p:nvPr/>
        </p:nvSpPr>
        <p:spPr>
          <a:xfrm>
            <a:off x="457200" y="2069191"/>
            <a:ext cx="11277600" cy="1320000"/>
          </a:xfrm>
          <a:prstGeom prst="roundRect">
            <a:avLst>
              <a:gd name="adj" fmla="val 3000"/>
            </a:avLst>
          </a:prstGeom>
          <a:solidFill>
            <a:srgbClr val="F4F6F4"/>
          </a:solidFill>
          <a:ln w="12700">
            <a:solidFill>
              <a:srgbClr val="DFE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7200" y="2249191"/>
            <a:ext cx="3700000" cy="960000"/>
          </a:xfrm>
          <a:prstGeom prst="rect">
            <a:avLst/>
          </a:prstGeom>
          <a:noFill/>
        </p:spPr>
        <p:txBody>
          <a:bodyPr wrap="square" lIns="0" tIns="0" rIns="0" bIns="0">
            <a:spAutoFit/>
          </a:bodyPr>
          <a:lstStyle/>
          <a:p>
            <a:r>
              <a:rPr sz="2500" b="1" dirty="0">
                <a:solidFill>
                  <a:srgbClr val="111715"/>
                </a:solidFill>
                <a:latin typeface="Agency FB"/>
              </a:rPr>
              <a:t>01  </a:t>
            </a:r>
            <a:r>
              <a:rPr sz="2400" b="1" dirty="0">
                <a:solidFill>
                  <a:srgbClr val="111715"/>
                </a:solidFill>
                <a:latin typeface="Agency FB"/>
              </a:rPr>
              <a:t>DECONSTRUCT</a:t>
            </a:r>
          </a:p>
          <a:p>
            <a:pPr>
              <a:spcBef>
                <a:spcPts val="300"/>
              </a:spcBef>
              <a:spcAft>
                <a:spcPts val="1000"/>
              </a:spcAft>
            </a:pPr>
            <a:r>
              <a:rPr sz="1300" b="1" dirty="0">
                <a:solidFill>
                  <a:srgbClr val="58645E"/>
                </a:solidFill>
                <a:latin typeface="Aptos"/>
              </a:rPr>
              <a:t>Software Inventory (SBOM)</a:t>
            </a:r>
          </a:p>
          <a:p>
            <a:r>
              <a:rPr sz="1300" dirty="0">
                <a:solidFill>
                  <a:srgbClr val="28332D"/>
                </a:solidFill>
                <a:latin typeface="Aptos"/>
              </a:rPr>
              <a:t>Unpacks firmware and extracts the official SBOM.</a:t>
            </a:r>
          </a:p>
        </p:txBody>
      </p:sp>
      <p:sp>
        <p:nvSpPr>
          <p:cNvPr id="10" name="Rectangle 9"/>
          <p:cNvSpPr/>
          <p:nvPr/>
        </p:nvSpPr>
        <p:spPr>
          <a:xfrm>
            <a:off x="4657200" y="2229191"/>
            <a:ext cx="10000" cy="1000000"/>
          </a:xfrm>
          <a:prstGeom prst="rect">
            <a:avLst/>
          </a:prstGeom>
          <a:solidFill>
            <a:srgbClr val="DF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877200" y="2229191"/>
            <a:ext cx="3600000" cy="200000"/>
          </a:xfrm>
          <a:prstGeom prst="rect">
            <a:avLst/>
          </a:prstGeom>
          <a:noFill/>
        </p:spPr>
        <p:txBody>
          <a:bodyPr wrap="none" lIns="0" tIns="0" rIns="0" bIns="0">
            <a:spAutoFit/>
          </a:bodyPr>
          <a:lstStyle/>
          <a:p>
            <a:r>
              <a:rPr sz="900" b="1">
                <a:solidFill>
                  <a:srgbClr val="58645E"/>
                </a:solidFill>
                <a:latin typeface="Aptos"/>
              </a:rPr>
              <a:t>ENGINE &amp; TOOLS</a:t>
            </a:r>
          </a:p>
        </p:txBody>
      </p:sp>
      <p:sp>
        <p:nvSpPr>
          <p:cNvPr id="12" name="Rounded Rectangle 11"/>
          <p:cNvSpPr/>
          <p:nvPr/>
        </p:nvSpPr>
        <p:spPr>
          <a:xfrm>
            <a:off x="4877200" y="2479191"/>
            <a:ext cx="3550000" cy="240000"/>
          </a:xfrm>
          <a:prstGeom prst="roundRect">
            <a:avLst>
              <a:gd name="adj" fmla="val 30000"/>
            </a:avLst>
          </a:prstGeom>
          <a:solidFill>
            <a:srgbClr val="E8EEE8"/>
          </a:solidFill>
          <a:ln w="9525">
            <a:solidFill>
              <a:srgbClr val="D2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17200" y="2499191"/>
            <a:ext cx="3270000" cy="200000"/>
          </a:xfrm>
          <a:prstGeom prst="rect">
            <a:avLst/>
          </a:prstGeom>
          <a:noFill/>
        </p:spPr>
        <p:txBody>
          <a:bodyPr wrap="none" lIns="0" tIns="0" rIns="0" bIns="0">
            <a:spAutoFit/>
          </a:bodyPr>
          <a:lstStyle/>
          <a:p>
            <a:r>
              <a:rPr sz="1000">
                <a:solidFill>
                  <a:srgbClr val="111715"/>
                </a:solidFill>
                <a:latin typeface="Aptos"/>
              </a:rPr>
              <a:t>▸ </a:t>
            </a:r>
            <a:r>
              <a:rPr sz="1150" b="1">
                <a:solidFill>
                  <a:srgbClr val="111715"/>
                </a:solidFill>
                <a:latin typeface="Aptos"/>
              </a:rPr>
              <a:t>Syft Engine</a:t>
            </a:r>
          </a:p>
        </p:txBody>
      </p:sp>
      <p:sp>
        <p:nvSpPr>
          <p:cNvPr id="14" name="Rounded Rectangle 13"/>
          <p:cNvSpPr/>
          <p:nvPr/>
        </p:nvSpPr>
        <p:spPr>
          <a:xfrm>
            <a:off x="4877200" y="2759191"/>
            <a:ext cx="3550000" cy="240000"/>
          </a:xfrm>
          <a:prstGeom prst="roundRect">
            <a:avLst>
              <a:gd name="adj" fmla="val 30000"/>
            </a:avLst>
          </a:prstGeom>
          <a:solidFill>
            <a:srgbClr val="E8EEE8"/>
          </a:solidFill>
          <a:ln w="9525">
            <a:solidFill>
              <a:srgbClr val="D2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17200" y="2779191"/>
            <a:ext cx="3270000" cy="200000"/>
          </a:xfrm>
          <a:prstGeom prst="rect">
            <a:avLst/>
          </a:prstGeom>
          <a:noFill/>
        </p:spPr>
        <p:txBody>
          <a:bodyPr wrap="none" lIns="0" tIns="0" rIns="0" bIns="0">
            <a:spAutoFit/>
          </a:bodyPr>
          <a:lstStyle/>
          <a:p>
            <a:r>
              <a:rPr sz="1000">
                <a:solidFill>
                  <a:srgbClr val="111715"/>
                </a:solidFill>
                <a:latin typeface="Aptos"/>
              </a:rPr>
              <a:t>▸ </a:t>
            </a:r>
            <a:r>
              <a:rPr sz="1150" b="1">
                <a:solidFill>
                  <a:srgbClr val="111715"/>
                </a:solidFill>
                <a:latin typeface="Aptos"/>
              </a:rPr>
              <a:t>Unblob Extraction</a:t>
            </a:r>
          </a:p>
        </p:txBody>
      </p:sp>
      <p:sp>
        <p:nvSpPr>
          <p:cNvPr id="16" name="Rounded Rectangle 15"/>
          <p:cNvSpPr/>
          <p:nvPr/>
        </p:nvSpPr>
        <p:spPr>
          <a:xfrm>
            <a:off x="4877200" y="3039191"/>
            <a:ext cx="3550000" cy="240000"/>
          </a:xfrm>
          <a:prstGeom prst="roundRect">
            <a:avLst>
              <a:gd name="adj" fmla="val 30000"/>
            </a:avLst>
          </a:prstGeom>
          <a:solidFill>
            <a:srgbClr val="E8EEE8"/>
          </a:solidFill>
          <a:ln w="9525">
            <a:solidFill>
              <a:srgbClr val="D2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7200" y="3059191"/>
            <a:ext cx="3270000" cy="200000"/>
          </a:xfrm>
          <a:prstGeom prst="rect">
            <a:avLst/>
          </a:prstGeom>
          <a:noFill/>
        </p:spPr>
        <p:txBody>
          <a:bodyPr wrap="none" lIns="0" tIns="0" rIns="0" bIns="0">
            <a:spAutoFit/>
          </a:bodyPr>
          <a:lstStyle/>
          <a:p>
            <a:r>
              <a:rPr sz="1000">
                <a:solidFill>
                  <a:srgbClr val="111715"/>
                </a:solidFill>
                <a:latin typeface="Aptos"/>
              </a:rPr>
              <a:t>▸ </a:t>
            </a:r>
            <a:r>
              <a:rPr sz="1150" b="1">
                <a:solidFill>
                  <a:srgbClr val="111715"/>
                </a:solidFill>
                <a:latin typeface="Aptos"/>
              </a:rPr>
              <a:t>CycloneDX 1.6</a:t>
            </a:r>
          </a:p>
        </p:txBody>
      </p:sp>
      <p:sp>
        <p:nvSpPr>
          <p:cNvPr id="18" name="TextBox 17"/>
          <p:cNvSpPr txBox="1"/>
          <p:nvPr/>
        </p:nvSpPr>
        <p:spPr>
          <a:xfrm>
            <a:off x="8637200" y="2549191"/>
            <a:ext cx="320000" cy="360000"/>
          </a:xfrm>
          <a:prstGeom prst="rect">
            <a:avLst/>
          </a:prstGeom>
          <a:noFill/>
        </p:spPr>
        <p:txBody>
          <a:bodyPr wrap="none">
            <a:spAutoFit/>
          </a:bodyPr>
          <a:lstStyle/>
          <a:p>
            <a:pPr algn="ctr"/>
            <a:r>
              <a:rPr sz="2200" b="1">
                <a:solidFill>
                  <a:srgbClr val="3B6806"/>
                </a:solidFill>
                <a:latin typeface="Aptos"/>
              </a:rPr>
              <a:t>⟶</a:t>
            </a:r>
          </a:p>
        </p:txBody>
      </p:sp>
      <p:sp>
        <p:nvSpPr>
          <p:cNvPr id="19" name="Rounded Rectangle 18"/>
          <p:cNvSpPr/>
          <p:nvPr/>
        </p:nvSpPr>
        <p:spPr>
          <a:xfrm>
            <a:off x="9007200" y="2229191"/>
            <a:ext cx="2480000" cy="1000000"/>
          </a:xfrm>
          <a:prstGeom prst="roundRect">
            <a:avLst>
              <a:gd name="adj" fmla="val 5000"/>
            </a:avLst>
          </a:prstGeom>
          <a:solidFill>
            <a:srgbClr val="E8EEE8"/>
          </a:solidFill>
          <a:ln w="9525">
            <a:solidFill>
              <a:srgbClr val="DFE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87200" y="2269191"/>
            <a:ext cx="2120000" cy="920000"/>
          </a:xfrm>
          <a:prstGeom prst="rect">
            <a:avLst/>
          </a:prstGeom>
          <a:noFill/>
        </p:spPr>
        <p:txBody>
          <a:bodyPr wrap="square" lIns="0" tIns="0" rIns="0" bIns="0">
            <a:spAutoFit/>
          </a:bodyPr>
          <a:lstStyle/>
          <a:p>
            <a:r>
              <a:rPr sz="850" b="1">
                <a:solidFill>
                  <a:srgbClr val="58645E"/>
                </a:solidFill>
                <a:latin typeface="Aptos"/>
              </a:rPr>
              <a:t>OFFICIAL DELIVERABLE</a:t>
            </a:r>
          </a:p>
          <a:p>
            <a:r>
              <a:rPr sz="1300" b="1">
                <a:solidFill>
                  <a:srgbClr val="111715"/>
                </a:solidFill>
                <a:latin typeface="Aptos"/>
              </a:rPr>
              <a:t>Certified SBOM</a:t>
            </a:r>
          </a:p>
          <a:p>
            <a:pPr>
              <a:spcAft>
                <a:spcPts val="400"/>
              </a:spcAft>
            </a:pPr>
            <a:r>
              <a:rPr sz="1000">
                <a:solidFill>
                  <a:srgbClr val="58645E"/>
                </a:solidFill>
                <a:latin typeface="Aptos"/>
              </a:rPr>
              <a:t>Full component inventory</a:t>
            </a:r>
          </a:p>
          <a:p>
            <a:r>
              <a:rPr sz="900" b="1">
                <a:solidFill>
                  <a:srgbClr val="2E6A32"/>
                </a:solidFill>
                <a:latin typeface="Aptos"/>
              </a:rPr>
              <a:t>✓ Zero-CVE Invariant</a:t>
            </a:r>
          </a:p>
        </p:txBody>
      </p:sp>
      <p:sp>
        <p:nvSpPr>
          <p:cNvPr id="21" name="Rounded Rectangle 20"/>
          <p:cNvSpPr/>
          <p:nvPr/>
        </p:nvSpPr>
        <p:spPr>
          <a:xfrm>
            <a:off x="457200" y="3509191"/>
            <a:ext cx="11277600" cy="1320000"/>
          </a:xfrm>
          <a:prstGeom prst="roundRect">
            <a:avLst>
              <a:gd name="adj" fmla="val 3000"/>
            </a:avLst>
          </a:prstGeom>
          <a:solidFill>
            <a:srgbClr val="111B17"/>
          </a:solidFill>
          <a:ln w="19050">
            <a:solidFill>
              <a:srgbClr val="C7F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07200" y="3674183"/>
            <a:ext cx="3850000" cy="990015"/>
          </a:xfrm>
          <a:prstGeom prst="rect">
            <a:avLst/>
          </a:prstGeom>
          <a:noFill/>
        </p:spPr>
        <p:txBody>
          <a:bodyPr wrap="square" lIns="0" tIns="0" rIns="0" bIns="0">
            <a:spAutoFit/>
          </a:bodyPr>
          <a:lstStyle/>
          <a:p>
            <a:r>
              <a:rPr sz="2500" b="1" dirty="0">
                <a:solidFill>
                  <a:srgbClr val="C7F464"/>
                </a:solidFill>
                <a:latin typeface="Agency FB"/>
              </a:rPr>
              <a:t>02  </a:t>
            </a:r>
            <a:r>
              <a:rPr sz="2400" b="1" dirty="0">
                <a:solidFill>
                  <a:srgbClr val="FFFFFF"/>
                </a:solidFill>
                <a:latin typeface="Agency FB"/>
              </a:rPr>
              <a:t>PROVE &amp; MONITOR</a:t>
            </a:r>
          </a:p>
          <a:p>
            <a:pPr>
              <a:spcBef>
                <a:spcPts val="300"/>
              </a:spcBef>
              <a:spcAft>
                <a:spcPts val="1000"/>
              </a:spcAft>
            </a:pPr>
            <a:r>
              <a:rPr sz="1300" b="1" dirty="0">
                <a:solidFill>
                  <a:srgbClr val="C7F464"/>
                </a:solidFill>
                <a:latin typeface="Aptos"/>
              </a:rPr>
              <a:t>Threat &amp; Vulnerability Triage</a:t>
            </a:r>
            <a:endParaRPr lang="en-US" sz="1300" b="1" dirty="0">
              <a:solidFill>
                <a:srgbClr val="C7F464"/>
              </a:solidFill>
              <a:latin typeface="Aptos"/>
            </a:endParaRPr>
          </a:p>
          <a:p>
            <a:pPr>
              <a:spcBef>
                <a:spcPts val="300"/>
              </a:spcBef>
              <a:spcAft>
                <a:spcPts val="1000"/>
              </a:spcAft>
            </a:pPr>
            <a:r>
              <a:rPr sz="1300" dirty="0">
                <a:solidFill>
                  <a:srgbClr val="DDE2DF"/>
                </a:solidFill>
                <a:latin typeface="Aptos"/>
              </a:rPr>
              <a:t>Matches live feeds to </a:t>
            </a:r>
            <a:r>
              <a:rPr lang="en-US" sz="1300" dirty="0">
                <a:solidFill>
                  <a:srgbClr val="DDE2DF"/>
                </a:solidFill>
                <a:latin typeface="Aptos"/>
              </a:rPr>
              <a:t>detect</a:t>
            </a:r>
            <a:r>
              <a:rPr sz="1300" dirty="0">
                <a:solidFill>
                  <a:srgbClr val="DDE2DF"/>
                </a:solidFill>
                <a:latin typeface="Aptos"/>
              </a:rPr>
              <a:t> actively exploited threats.</a:t>
            </a:r>
          </a:p>
        </p:txBody>
      </p:sp>
      <p:sp>
        <p:nvSpPr>
          <p:cNvPr id="23" name="Rectangle 22"/>
          <p:cNvSpPr/>
          <p:nvPr/>
        </p:nvSpPr>
        <p:spPr>
          <a:xfrm>
            <a:off x="4657200" y="3520000"/>
            <a:ext cx="10000" cy="1000000"/>
          </a:xfrm>
          <a:prstGeom prst="rect">
            <a:avLst/>
          </a:prstGeom>
          <a:solidFill>
            <a:srgbClr val="2735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77200" y="3669191"/>
            <a:ext cx="3600000" cy="200000"/>
          </a:xfrm>
          <a:prstGeom prst="rect">
            <a:avLst/>
          </a:prstGeom>
          <a:noFill/>
        </p:spPr>
        <p:txBody>
          <a:bodyPr wrap="none" lIns="0" tIns="0" rIns="0" bIns="0">
            <a:spAutoFit/>
          </a:bodyPr>
          <a:lstStyle/>
          <a:p>
            <a:r>
              <a:rPr sz="900" b="1">
                <a:solidFill>
                  <a:srgbClr val="C7F464"/>
                </a:solidFill>
                <a:latin typeface="Aptos"/>
              </a:rPr>
              <a:t>ENGINE &amp; TOOLS</a:t>
            </a:r>
          </a:p>
        </p:txBody>
      </p:sp>
      <p:sp>
        <p:nvSpPr>
          <p:cNvPr id="25" name="Rounded Rectangle 24"/>
          <p:cNvSpPr/>
          <p:nvPr/>
        </p:nvSpPr>
        <p:spPr>
          <a:xfrm>
            <a:off x="4877200" y="3919191"/>
            <a:ext cx="3550000" cy="240000"/>
          </a:xfrm>
          <a:prstGeom prst="roundRect">
            <a:avLst>
              <a:gd name="adj" fmla="val 30000"/>
            </a:avLst>
          </a:prstGeom>
          <a:solidFill>
            <a:srgbClr val="1A2520"/>
          </a:solidFill>
          <a:ln w="9525">
            <a:solidFill>
              <a:srgbClr val="3244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7200" y="3939191"/>
            <a:ext cx="3270000" cy="200000"/>
          </a:xfrm>
          <a:prstGeom prst="rect">
            <a:avLst/>
          </a:prstGeom>
          <a:noFill/>
        </p:spPr>
        <p:txBody>
          <a:bodyPr wrap="none" lIns="0" tIns="0" rIns="0" bIns="0">
            <a:spAutoFit/>
          </a:bodyPr>
          <a:lstStyle/>
          <a:p>
            <a:r>
              <a:rPr sz="1000">
                <a:solidFill>
                  <a:srgbClr val="C7F464"/>
                </a:solidFill>
                <a:latin typeface="Aptos"/>
              </a:rPr>
              <a:t>⚡ </a:t>
            </a:r>
            <a:r>
              <a:rPr sz="1150" b="1">
                <a:solidFill>
                  <a:srgbClr val="FFFFFF"/>
                </a:solidFill>
                <a:latin typeface="Aptos"/>
              </a:rPr>
              <a:t>OSV.dev Intelligence</a:t>
            </a:r>
          </a:p>
        </p:txBody>
      </p:sp>
      <p:sp>
        <p:nvSpPr>
          <p:cNvPr id="27" name="Rounded Rectangle 26"/>
          <p:cNvSpPr/>
          <p:nvPr/>
        </p:nvSpPr>
        <p:spPr>
          <a:xfrm>
            <a:off x="4877200" y="4199191"/>
            <a:ext cx="3550000" cy="240000"/>
          </a:xfrm>
          <a:prstGeom prst="roundRect">
            <a:avLst>
              <a:gd name="adj" fmla="val 30000"/>
            </a:avLst>
          </a:prstGeom>
          <a:solidFill>
            <a:srgbClr val="1A2520"/>
          </a:solidFill>
          <a:ln w="9525">
            <a:solidFill>
              <a:srgbClr val="3244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017200" y="4219191"/>
            <a:ext cx="3270000" cy="200000"/>
          </a:xfrm>
          <a:prstGeom prst="rect">
            <a:avLst/>
          </a:prstGeom>
          <a:noFill/>
        </p:spPr>
        <p:txBody>
          <a:bodyPr wrap="none" lIns="0" tIns="0" rIns="0" bIns="0">
            <a:spAutoFit/>
          </a:bodyPr>
          <a:lstStyle/>
          <a:p>
            <a:r>
              <a:rPr sz="1000">
                <a:solidFill>
                  <a:srgbClr val="C7F464"/>
                </a:solidFill>
                <a:latin typeface="Aptos"/>
              </a:rPr>
              <a:t>⚡ </a:t>
            </a:r>
            <a:r>
              <a:rPr sz="1150" b="1">
                <a:solidFill>
                  <a:srgbClr val="FFFFFF"/>
                </a:solidFill>
                <a:latin typeface="Aptos"/>
              </a:rPr>
              <a:t>CISA KEV + EPSS</a:t>
            </a:r>
          </a:p>
        </p:txBody>
      </p:sp>
      <p:sp>
        <p:nvSpPr>
          <p:cNvPr id="29" name="Rounded Rectangle 28"/>
          <p:cNvSpPr/>
          <p:nvPr/>
        </p:nvSpPr>
        <p:spPr>
          <a:xfrm>
            <a:off x="4877200" y="4479191"/>
            <a:ext cx="3550000" cy="240000"/>
          </a:xfrm>
          <a:prstGeom prst="roundRect">
            <a:avLst>
              <a:gd name="adj" fmla="val 30000"/>
            </a:avLst>
          </a:prstGeom>
          <a:solidFill>
            <a:srgbClr val="1A2520"/>
          </a:solidFill>
          <a:ln w="9525">
            <a:solidFill>
              <a:srgbClr val="3244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017200" y="4499191"/>
            <a:ext cx="3270000" cy="200000"/>
          </a:xfrm>
          <a:prstGeom prst="rect">
            <a:avLst/>
          </a:prstGeom>
          <a:noFill/>
        </p:spPr>
        <p:txBody>
          <a:bodyPr wrap="none" lIns="0" tIns="0" rIns="0" bIns="0">
            <a:spAutoFit/>
          </a:bodyPr>
          <a:lstStyle/>
          <a:p>
            <a:r>
              <a:rPr sz="1000" dirty="0">
                <a:solidFill>
                  <a:srgbClr val="C7F464"/>
                </a:solidFill>
                <a:latin typeface="Aptos"/>
              </a:rPr>
              <a:t>⚡ </a:t>
            </a:r>
            <a:r>
              <a:rPr sz="1150" b="1" dirty="0" err="1">
                <a:solidFill>
                  <a:srgbClr val="FFFFFF"/>
                </a:solidFill>
                <a:latin typeface="Aptos"/>
              </a:rPr>
              <a:t>CycloneDX</a:t>
            </a:r>
            <a:r>
              <a:rPr sz="1150" b="1" dirty="0">
                <a:solidFill>
                  <a:srgbClr val="FFFFFF"/>
                </a:solidFill>
                <a:latin typeface="Aptos"/>
              </a:rPr>
              <a:t> VEX</a:t>
            </a:r>
          </a:p>
        </p:txBody>
      </p:sp>
      <p:sp>
        <p:nvSpPr>
          <p:cNvPr id="31" name="TextBox 30"/>
          <p:cNvSpPr txBox="1"/>
          <p:nvPr/>
        </p:nvSpPr>
        <p:spPr>
          <a:xfrm>
            <a:off x="8637200" y="3989191"/>
            <a:ext cx="320000" cy="360000"/>
          </a:xfrm>
          <a:prstGeom prst="rect">
            <a:avLst/>
          </a:prstGeom>
          <a:noFill/>
        </p:spPr>
        <p:txBody>
          <a:bodyPr wrap="none">
            <a:spAutoFit/>
          </a:bodyPr>
          <a:lstStyle/>
          <a:p>
            <a:pPr algn="ctr"/>
            <a:r>
              <a:rPr sz="2200" b="1">
                <a:solidFill>
                  <a:srgbClr val="C7F464"/>
                </a:solidFill>
                <a:latin typeface="Aptos"/>
              </a:rPr>
              <a:t>⟶</a:t>
            </a:r>
          </a:p>
        </p:txBody>
      </p:sp>
      <p:sp>
        <p:nvSpPr>
          <p:cNvPr id="32" name="Rounded Rectangle 31"/>
          <p:cNvSpPr/>
          <p:nvPr/>
        </p:nvSpPr>
        <p:spPr>
          <a:xfrm>
            <a:off x="9007200" y="3669191"/>
            <a:ext cx="2480000" cy="1000000"/>
          </a:xfrm>
          <a:prstGeom prst="roundRect">
            <a:avLst>
              <a:gd name="adj" fmla="val 5000"/>
            </a:avLst>
          </a:prstGeom>
          <a:solidFill>
            <a:srgbClr val="1C2621"/>
          </a:solidFill>
          <a:ln w="12700">
            <a:solidFill>
              <a:srgbClr val="C7F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187200" y="3709191"/>
            <a:ext cx="2120000" cy="920000"/>
          </a:xfrm>
          <a:prstGeom prst="rect">
            <a:avLst/>
          </a:prstGeom>
          <a:noFill/>
        </p:spPr>
        <p:txBody>
          <a:bodyPr wrap="square" lIns="0" tIns="0" rIns="0" bIns="0">
            <a:spAutoFit/>
          </a:bodyPr>
          <a:lstStyle/>
          <a:p>
            <a:r>
              <a:rPr sz="850" b="1">
                <a:solidFill>
                  <a:srgbClr val="C7F464"/>
                </a:solidFill>
                <a:latin typeface="Aptos"/>
              </a:rPr>
              <a:t>OFFICIAL DELIVERABLE</a:t>
            </a:r>
          </a:p>
          <a:p>
            <a:r>
              <a:rPr sz="1300" b="1">
                <a:solidFill>
                  <a:srgbClr val="FFFFFF"/>
                </a:solidFill>
                <a:latin typeface="Aptos"/>
              </a:rPr>
              <a:t>CycloneDX VEX</a:t>
            </a:r>
          </a:p>
          <a:p>
            <a:pPr>
              <a:spcAft>
                <a:spcPts val="400"/>
              </a:spcAft>
            </a:pPr>
            <a:r>
              <a:rPr sz="1000">
                <a:solidFill>
                  <a:srgbClr val="CED4D0"/>
                </a:solidFill>
                <a:latin typeface="Aptos"/>
              </a:rPr>
              <a:t>Active exploit triage</a:t>
            </a:r>
          </a:p>
          <a:p>
            <a:r>
              <a:rPr sz="900" b="1">
                <a:solidFill>
                  <a:srgbClr val="C7F464"/>
                </a:solidFill>
                <a:latin typeface="Aptos"/>
              </a:rPr>
              <a:t>✓ Ground-Truth Verified</a:t>
            </a:r>
          </a:p>
        </p:txBody>
      </p:sp>
      <p:sp>
        <p:nvSpPr>
          <p:cNvPr id="34" name="Rounded Rectangle 33"/>
          <p:cNvSpPr/>
          <p:nvPr/>
        </p:nvSpPr>
        <p:spPr>
          <a:xfrm>
            <a:off x="457200" y="4949191"/>
            <a:ext cx="11277600" cy="1320000"/>
          </a:xfrm>
          <a:prstGeom prst="roundRect">
            <a:avLst>
              <a:gd name="adj" fmla="val 3000"/>
            </a:avLst>
          </a:prstGeom>
          <a:solidFill>
            <a:srgbClr val="F4F6F4"/>
          </a:solidFill>
          <a:ln w="12700">
            <a:solidFill>
              <a:srgbClr val="DFE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07200" y="5129191"/>
            <a:ext cx="4120000" cy="966931"/>
          </a:xfrm>
          <a:prstGeom prst="rect">
            <a:avLst/>
          </a:prstGeom>
          <a:noFill/>
        </p:spPr>
        <p:txBody>
          <a:bodyPr wrap="square" lIns="0" tIns="0" rIns="0" bIns="0">
            <a:spAutoFit/>
          </a:bodyPr>
          <a:lstStyle/>
          <a:p>
            <a:r>
              <a:rPr sz="2500" b="1" dirty="0">
                <a:solidFill>
                  <a:srgbClr val="111715"/>
                </a:solidFill>
                <a:latin typeface="Agency FB"/>
              </a:rPr>
              <a:t>03  </a:t>
            </a:r>
            <a:r>
              <a:rPr sz="2400" b="1" dirty="0">
                <a:solidFill>
                  <a:srgbClr val="111715"/>
                </a:solidFill>
                <a:latin typeface="Agency FB"/>
              </a:rPr>
              <a:t>DISCLOSE &amp; RETAIN</a:t>
            </a:r>
          </a:p>
          <a:p>
            <a:pPr>
              <a:spcBef>
                <a:spcPts val="300"/>
              </a:spcBef>
              <a:spcAft>
                <a:spcPts val="1000"/>
              </a:spcAft>
            </a:pPr>
            <a:r>
              <a:rPr sz="1300" b="1" dirty="0">
                <a:solidFill>
                  <a:srgbClr val="58645E"/>
                </a:solidFill>
                <a:latin typeface="Aptos"/>
              </a:rPr>
              <a:t>Compliance Dossier &amp; Audit Trail</a:t>
            </a:r>
          </a:p>
          <a:p>
            <a:r>
              <a:rPr sz="1300" dirty="0">
                <a:solidFill>
                  <a:srgbClr val="28332D"/>
                </a:solidFill>
                <a:latin typeface="Aptos"/>
              </a:rPr>
              <a:t>Automates </a:t>
            </a:r>
            <a:r>
              <a:rPr lang="" sz="1400" dirty="0"/>
              <a:t>legal</a:t>
            </a:r>
            <a:r>
              <a:rPr sz="1300" dirty="0">
                <a:solidFill>
                  <a:srgbClr val="28332D"/>
                </a:solidFill>
                <a:latin typeface="Aptos"/>
              </a:rPr>
              <a:t> EU alerts and seals the audit record.</a:t>
            </a:r>
          </a:p>
        </p:txBody>
      </p:sp>
      <p:sp>
        <p:nvSpPr>
          <p:cNvPr id="36" name="Rectangle 35"/>
          <p:cNvSpPr/>
          <p:nvPr/>
        </p:nvSpPr>
        <p:spPr>
          <a:xfrm>
            <a:off x="4657200" y="4960000"/>
            <a:ext cx="10000" cy="1000000"/>
          </a:xfrm>
          <a:prstGeom prst="rect">
            <a:avLst/>
          </a:prstGeom>
          <a:solidFill>
            <a:srgbClr val="DF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877200" y="5109191"/>
            <a:ext cx="3600000" cy="200000"/>
          </a:xfrm>
          <a:prstGeom prst="rect">
            <a:avLst/>
          </a:prstGeom>
          <a:noFill/>
        </p:spPr>
        <p:txBody>
          <a:bodyPr wrap="none" lIns="0" tIns="0" rIns="0" bIns="0">
            <a:spAutoFit/>
          </a:bodyPr>
          <a:lstStyle/>
          <a:p>
            <a:r>
              <a:rPr sz="900" b="1">
                <a:solidFill>
                  <a:srgbClr val="58645E"/>
                </a:solidFill>
                <a:latin typeface="Aptos"/>
              </a:rPr>
              <a:t>ENGINE &amp; TOOLS</a:t>
            </a:r>
          </a:p>
        </p:txBody>
      </p:sp>
      <p:sp>
        <p:nvSpPr>
          <p:cNvPr id="38" name="Rounded Rectangle 37"/>
          <p:cNvSpPr/>
          <p:nvPr/>
        </p:nvSpPr>
        <p:spPr>
          <a:xfrm>
            <a:off x="4877200" y="5359191"/>
            <a:ext cx="3550000" cy="240000"/>
          </a:xfrm>
          <a:prstGeom prst="roundRect">
            <a:avLst>
              <a:gd name="adj" fmla="val 30000"/>
            </a:avLst>
          </a:prstGeom>
          <a:solidFill>
            <a:srgbClr val="E8EEE8"/>
          </a:solidFill>
          <a:ln w="9525">
            <a:solidFill>
              <a:srgbClr val="D2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017200" y="5379191"/>
            <a:ext cx="3270000" cy="200000"/>
          </a:xfrm>
          <a:prstGeom prst="rect">
            <a:avLst/>
          </a:prstGeom>
          <a:noFill/>
        </p:spPr>
        <p:txBody>
          <a:bodyPr wrap="none" lIns="0" tIns="0" rIns="0" bIns="0">
            <a:spAutoFit/>
          </a:bodyPr>
          <a:lstStyle/>
          <a:p>
            <a:r>
              <a:rPr sz="1000">
                <a:solidFill>
                  <a:srgbClr val="111715"/>
                </a:solidFill>
                <a:latin typeface="Aptos"/>
              </a:rPr>
              <a:t>▸ </a:t>
            </a:r>
            <a:r>
              <a:rPr sz="1150" b="1">
                <a:solidFill>
                  <a:srgbClr val="111715"/>
                </a:solidFill>
                <a:latin typeface="Aptos"/>
              </a:rPr>
              <a:t>Article 14 Timers</a:t>
            </a:r>
          </a:p>
        </p:txBody>
      </p:sp>
      <p:sp>
        <p:nvSpPr>
          <p:cNvPr id="40" name="Rounded Rectangle 39"/>
          <p:cNvSpPr/>
          <p:nvPr/>
        </p:nvSpPr>
        <p:spPr>
          <a:xfrm>
            <a:off x="4877200" y="5639191"/>
            <a:ext cx="3550000" cy="240000"/>
          </a:xfrm>
          <a:prstGeom prst="roundRect">
            <a:avLst>
              <a:gd name="adj" fmla="val 30000"/>
            </a:avLst>
          </a:prstGeom>
          <a:solidFill>
            <a:srgbClr val="E8EEE8"/>
          </a:solidFill>
          <a:ln w="9525">
            <a:solidFill>
              <a:srgbClr val="D2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017200" y="5659191"/>
            <a:ext cx="3270000" cy="200000"/>
          </a:xfrm>
          <a:prstGeom prst="rect">
            <a:avLst/>
          </a:prstGeom>
          <a:noFill/>
        </p:spPr>
        <p:txBody>
          <a:bodyPr wrap="none" lIns="0" tIns="0" rIns="0" bIns="0">
            <a:spAutoFit/>
          </a:bodyPr>
          <a:lstStyle/>
          <a:p>
            <a:r>
              <a:rPr sz="1000">
                <a:solidFill>
                  <a:srgbClr val="111715"/>
                </a:solidFill>
                <a:latin typeface="Aptos"/>
              </a:rPr>
              <a:t>▸ </a:t>
            </a:r>
            <a:r>
              <a:rPr sz="1150" b="1">
                <a:solidFill>
                  <a:srgbClr val="111715"/>
                </a:solidFill>
                <a:latin typeface="Aptos"/>
              </a:rPr>
              <a:t>Typst PDF Engine</a:t>
            </a:r>
          </a:p>
        </p:txBody>
      </p:sp>
      <p:sp>
        <p:nvSpPr>
          <p:cNvPr id="42" name="Rounded Rectangle 41"/>
          <p:cNvSpPr/>
          <p:nvPr/>
        </p:nvSpPr>
        <p:spPr>
          <a:xfrm>
            <a:off x="4877200" y="5919191"/>
            <a:ext cx="3550000" cy="240000"/>
          </a:xfrm>
          <a:prstGeom prst="roundRect">
            <a:avLst>
              <a:gd name="adj" fmla="val 30000"/>
            </a:avLst>
          </a:prstGeom>
          <a:solidFill>
            <a:srgbClr val="E8EEE8"/>
          </a:solidFill>
          <a:ln w="9525">
            <a:solidFill>
              <a:srgbClr val="D2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017200" y="5939191"/>
            <a:ext cx="3270000" cy="200000"/>
          </a:xfrm>
          <a:prstGeom prst="rect">
            <a:avLst/>
          </a:prstGeom>
          <a:noFill/>
        </p:spPr>
        <p:txBody>
          <a:bodyPr wrap="none" lIns="0" tIns="0" rIns="0" bIns="0">
            <a:spAutoFit/>
          </a:bodyPr>
          <a:lstStyle/>
          <a:p>
            <a:r>
              <a:rPr sz="1000">
                <a:solidFill>
                  <a:srgbClr val="111715"/>
                </a:solidFill>
                <a:latin typeface="Aptos"/>
              </a:rPr>
              <a:t>▸ </a:t>
            </a:r>
            <a:r>
              <a:rPr sz="1150" b="1">
                <a:solidFill>
                  <a:srgbClr val="111715"/>
                </a:solidFill>
                <a:latin typeface="Aptos"/>
              </a:rPr>
              <a:t>Ed25519 Sealed Ledger</a:t>
            </a:r>
          </a:p>
        </p:txBody>
      </p:sp>
      <p:sp>
        <p:nvSpPr>
          <p:cNvPr id="44" name="TextBox 43"/>
          <p:cNvSpPr txBox="1"/>
          <p:nvPr/>
        </p:nvSpPr>
        <p:spPr>
          <a:xfrm>
            <a:off x="8637200" y="5429191"/>
            <a:ext cx="320000" cy="360000"/>
          </a:xfrm>
          <a:prstGeom prst="rect">
            <a:avLst/>
          </a:prstGeom>
          <a:noFill/>
        </p:spPr>
        <p:txBody>
          <a:bodyPr wrap="none">
            <a:spAutoFit/>
          </a:bodyPr>
          <a:lstStyle/>
          <a:p>
            <a:pPr algn="ctr"/>
            <a:r>
              <a:rPr sz="2200" b="1">
                <a:solidFill>
                  <a:srgbClr val="3B6806"/>
                </a:solidFill>
                <a:latin typeface="Aptos"/>
              </a:rPr>
              <a:t>⟶</a:t>
            </a:r>
          </a:p>
        </p:txBody>
      </p:sp>
      <p:sp>
        <p:nvSpPr>
          <p:cNvPr id="45" name="Rounded Rectangle 44"/>
          <p:cNvSpPr/>
          <p:nvPr/>
        </p:nvSpPr>
        <p:spPr>
          <a:xfrm>
            <a:off x="9007200" y="5109191"/>
            <a:ext cx="2480000" cy="1000000"/>
          </a:xfrm>
          <a:prstGeom prst="roundRect">
            <a:avLst>
              <a:gd name="adj" fmla="val 5000"/>
            </a:avLst>
          </a:prstGeom>
          <a:solidFill>
            <a:srgbClr val="E8EEE8"/>
          </a:solidFill>
          <a:ln w="9525">
            <a:solidFill>
              <a:srgbClr val="DFE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187200" y="5149191"/>
            <a:ext cx="2120000" cy="920000"/>
          </a:xfrm>
          <a:prstGeom prst="rect">
            <a:avLst/>
          </a:prstGeom>
          <a:noFill/>
        </p:spPr>
        <p:txBody>
          <a:bodyPr wrap="square" lIns="0" tIns="0" rIns="0" bIns="0">
            <a:spAutoFit/>
          </a:bodyPr>
          <a:lstStyle/>
          <a:p>
            <a:r>
              <a:rPr sz="850" b="1">
                <a:solidFill>
                  <a:srgbClr val="58645E"/>
                </a:solidFill>
                <a:latin typeface="Aptos"/>
              </a:rPr>
              <a:t>OFFICIAL DELIVERABLE</a:t>
            </a:r>
          </a:p>
          <a:p>
            <a:r>
              <a:rPr sz="1300" b="1">
                <a:solidFill>
                  <a:srgbClr val="111715"/>
                </a:solidFill>
                <a:latin typeface="Aptos"/>
              </a:rPr>
              <a:t>Annex VII Dossier</a:t>
            </a:r>
          </a:p>
          <a:p>
            <a:pPr>
              <a:spcAft>
                <a:spcPts val="400"/>
              </a:spcAft>
            </a:pPr>
            <a:r>
              <a:rPr sz="1000">
                <a:solidFill>
                  <a:srgbClr val="58645E"/>
                </a:solidFill>
                <a:latin typeface="Aptos"/>
              </a:rPr>
              <a:t>Signed Declaration (DoC)</a:t>
            </a:r>
          </a:p>
          <a:p>
            <a:r>
              <a:rPr sz="900" b="1">
                <a:solidFill>
                  <a:srgbClr val="2E6A32"/>
                </a:solidFill>
                <a:latin typeface="Aptos"/>
              </a:rPr>
              <a:t>✓ Tamper-Proof Seal</a:t>
            </a:r>
          </a:p>
        </p:txBody>
      </p:sp>
      <p:sp>
        <p:nvSpPr>
          <p:cNvPr id="47" name="Rectangle 46"/>
          <p:cNvSpPr/>
          <p:nvPr/>
        </p:nvSpPr>
        <p:spPr>
          <a:xfrm>
            <a:off x="457200" y="6393109"/>
            <a:ext cx="11277600" cy="13716"/>
          </a:xfrm>
          <a:prstGeom prst="rect">
            <a:avLst/>
          </a:prstGeom>
          <a:solidFill>
            <a:srgbClr val="DFE5E0"/>
          </a:solidFill>
          <a:ln>
            <a:solidFill>
              <a:srgbClr val="DFE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621233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9FDCAC1-DB5A-3D2F-46D5-03B3EEB3EBFD}"/>
            </a:ext>
          </a:extLst>
        </p:cNvPr>
        <p:cNvGrpSpPr/>
        <p:nvPr/>
      </p:nvGrpSpPr>
      <p:grpSpPr>
        <a:xfrm>
          <a:off x="0" y="0"/>
          <a:ext cx="0" cy="0"/>
          <a:chOff x="0" y="0"/>
          <a:chExt cx="0" cy="0"/>
        </a:xfrm>
      </p:grpSpPr>
      <p:pic>
        <p:nvPicPr>
          <p:cNvPr id="2" name="PandaX wordmark" descr="Original PandaX wordmark">
            <a:extLst>
              <a:ext uri="{FF2B5EF4-FFF2-40B4-BE49-F238E27FC236}">
                <a16:creationId xmlns:a16="http://schemas.microsoft.com/office/drawing/2014/main" id="{A2F94B5D-441F-CBDB-9906-FBE76F135E25}"/>
              </a:ext>
            </a:extLst>
          </p:cNvPr>
          <p:cNvPicPr>
            <a:picLocks noChangeAspect="1"/>
          </p:cNvPicPr>
          <p:nvPr/>
        </p:nvPicPr>
        <p:blipFill>
          <a:blip r:embed="rId3"/>
          <a:srcRect l="11700" t="36000" r="9500" b="38200"/>
          <a:stretch>
            <a:fillRect/>
          </a:stretch>
        </p:blipFill>
        <p:spPr>
          <a:xfrm>
            <a:off x="585216" y="393192"/>
            <a:ext cx="1371600" cy="195943"/>
          </a:xfrm>
          <a:prstGeom prst="rect">
            <a:avLst/>
          </a:prstGeom>
        </p:spPr>
      </p:pic>
      <p:sp>
        <p:nvSpPr>
          <p:cNvPr id="4" name="Text 1">
            <a:extLst>
              <a:ext uri="{FF2B5EF4-FFF2-40B4-BE49-F238E27FC236}">
                <a16:creationId xmlns:a16="http://schemas.microsoft.com/office/drawing/2014/main" id="{00868B66-153B-42F3-B6D9-5A7B2A9B3E3E}"/>
              </a:ext>
            </a:extLst>
          </p:cNvPr>
          <p:cNvSpPr/>
          <p:nvPr/>
        </p:nvSpPr>
        <p:spPr>
          <a:xfrm>
            <a:off x="594360" y="932688"/>
            <a:ext cx="10881360" cy="210312"/>
          </a:xfrm>
          <a:prstGeom prst="rect">
            <a:avLst/>
          </a:prstGeom>
          <a:noFill/>
          <a:ln/>
        </p:spPr>
        <p:txBody>
          <a:bodyPr wrap="square" lIns="0" tIns="0" rIns="0" bIns="0" rtlCol="0" anchor="ctr"/>
          <a:lstStyle/>
          <a:p>
            <a:pPr marL="0" indent="0">
              <a:buNone/>
            </a:pPr>
            <a:r>
              <a:rPr lang="en-US" sz="1100" b="1" dirty="0">
                <a:solidFill>
                  <a:srgbClr val="58645E"/>
                </a:solidFill>
                <a:latin typeface="Aptos" pitchFamily="34" charset="0"/>
                <a:ea typeface="Aptos" pitchFamily="34" charset="-122"/>
                <a:cs typeface="Aptos" pitchFamily="34" charset="-120"/>
              </a:rPr>
              <a:t>CMO / MARKETING</a:t>
            </a:r>
            <a:endParaRPr lang="en-US" sz="1100" dirty="0"/>
          </a:p>
        </p:txBody>
      </p:sp>
      <p:sp>
        <p:nvSpPr>
          <p:cNvPr id="5" name="Text 2">
            <a:extLst>
              <a:ext uri="{FF2B5EF4-FFF2-40B4-BE49-F238E27FC236}">
                <a16:creationId xmlns:a16="http://schemas.microsoft.com/office/drawing/2014/main" id="{9D5FF2C6-9BFC-CB6B-7240-A8597EE28EAF}"/>
              </a:ext>
            </a:extLst>
          </p:cNvPr>
          <p:cNvSpPr/>
          <p:nvPr/>
        </p:nvSpPr>
        <p:spPr>
          <a:xfrm>
            <a:off x="557784" y="1472184"/>
            <a:ext cx="10899648" cy="497523"/>
          </a:xfrm>
          <a:prstGeom prst="rect">
            <a:avLst/>
          </a:prstGeom>
          <a:noFill/>
          <a:ln/>
        </p:spPr>
        <p:txBody>
          <a:bodyPr wrap="square" lIns="0" tIns="0" rIns="0" bIns="0" rtlCol="0" anchor="ctr"/>
          <a:lstStyle/>
          <a:p>
            <a:r>
              <a:rPr lang="en-US" sz="6000" b="1">
                <a:solidFill>
                  <a:srgbClr val="111715"/>
                </a:solidFill>
                <a:latin typeface="Agency FB" pitchFamily="34" charset="0"/>
              </a:rPr>
              <a:t>And now, the CMO presents: </a:t>
            </a:r>
            <a:endParaRPr lang="en-US" sz="6000" dirty="0"/>
          </a:p>
        </p:txBody>
      </p:sp>
    </p:spTree>
    <p:extLst>
      <p:ext uri="{BB962C8B-B14F-4D97-AF65-F5344CB8AC3E}">
        <p14:creationId xmlns:p14="http://schemas.microsoft.com/office/powerpoint/2010/main" val="40155240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9" name="Text 6"/>
          <p:cNvSpPr/>
          <p:nvPr/>
        </p:nvSpPr>
        <p:spPr>
          <a:xfrm>
            <a:off x="822960" y="3611880"/>
            <a:ext cx="2743200" cy="329184"/>
          </a:xfrm>
          <a:prstGeom prst="rect">
            <a:avLst/>
          </a:prstGeom>
          <a:noFill/>
          <a:ln/>
        </p:spPr>
        <p:txBody>
          <a:bodyPr wrap="square" lIns="0" tIns="0" rIns="0" bIns="0" rtlCol="0" anchor="ctr"/>
          <a:lstStyle/>
          <a:p>
            <a:pPr marL="0" indent="0">
              <a:buNone/>
            </a:pPr>
            <a:r>
              <a:rPr lang="en-US" sz="1200" dirty="0">
                <a:solidFill>
                  <a:srgbClr val="FFFFFF"/>
                </a:solidFill>
                <a:latin typeface="Aptos" pitchFamily="34" charset="0"/>
                <a:ea typeface="Aptos" pitchFamily="34" charset="-122"/>
                <a:cs typeface="Aptos" pitchFamily="34" charset="-120"/>
              </a:rPr>
              <a:t>employees in our target segment</a:t>
            </a:r>
            <a:endParaRPr lang="en-US" sz="1200" dirty="0"/>
          </a:p>
        </p:txBody>
      </p:sp>
      <p:pic>
        <p:nvPicPr>
          <p:cNvPr id="3" name="Picture 2">
            <a:hlinkClick r:id="rId3"/>
            <a:extLst>
              <a:ext uri="{FF2B5EF4-FFF2-40B4-BE49-F238E27FC236}">
                <a16:creationId xmlns:a16="http://schemas.microsoft.com/office/drawing/2014/main" id="{7D8F327B-B0F3-D5EB-FBE1-33F6FF98EEA4}"/>
              </a:ext>
            </a:extLst>
          </p:cNvPr>
          <p:cNvPicPr>
            <a:picLocks noChangeAspect="1"/>
          </p:cNvPicPr>
          <p:nvPr/>
        </p:nvPicPr>
        <p:blipFill>
          <a:blip r:embed="rId4"/>
          <a:stretch>
            <a:fillRect/>
          </a:stretch>
        </p:blipFill>
        <p:spPr>
          <a:xfrm>
            <a:off x="0" y="0"/>
            <a:ext cx="12192000" cy="685799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E475082-DC6C-450E-9113-E4778C999D89}"/>
            </a:ext>
          </a:extLst>
        </p:cNvPr>
        <p:cNvGrpSpPr/>
        <p:nvPr/>
      </p:nvGrpSpPr>
      <p:grpSpPr>
        <a:xfrm>
          <a:off x="0" y="0"/>
          <a:ext cx="0" cy="0"/>
          <a:chOff x="0" y="0"/>
          <a:chExt cx="0" cy="0"/>
        </a:xfrm>
      </p:grpSpPr>
      <p:pic>
        <p:nvPicPr>
          <p:cNvPr id="2" name="PandaX wordmark" descr="Original PandaX wordmark">
            <a:extLst>
              <a:ext uri="{FF2B5EF4-FFF2-40B4-BE49-F238E27FC236}">
                <a16:creationId xmlns:a16="http://schemas.microsoft.com/office/drawing/2014/main" id="{E6C5CE1A-F283-7443-7B25-CB20FDAE7BF1}"/>
              </a:ext>
            </a:extLst>
          </p:cNvPr>
          <p:cNvPicPr>
            <a:picLocks noChangeAspect="1"/>
          </p:cNvPicPr>
          <p:nvPr/>
        </p:nvPicPr>
        <p:blipFill>
          <a:blip r:embed="rId3"/>
          <a:srcRect l="11700" t="36000" r="9500" b="38200"/>
          <a:stretch>
            <a:fillRect/>
          </a:stretch>
        </p:blipFill>
        <p:spPr>
          <a:xfrm>
            <a:off x="585216" y="393192"/>
            <a:ext cx="1371600" cy="195943"/>
          </a:xfrm>
          <a:prstGeom prst="rect">
            <a:avLst/>
          </a:prstGeom>
        </p:spPr>
      </p:pic>
      <p:sp>
        <p:nvSpPr>
          <p:cNvPr id="4" name="Text 1">
            <a:extLst>
              <a:ext uri="{FF2B5EF4-FFF2-40B4-BE49-F238E27FC236}">
                <a16:creationId xmlns:a16="http://schemas.microsoft.com/office/drawing/2014/main" id="{69DC73B6-ADCE-A467-E238-31EF4B2C4073}"/>
              </a:ext>
            </a:extLst>
          </p:cNvPr>
          <p:cNvSpPr/>
          <p:nvPr/>
        </p:nvSpPr>
        <p:spPr>
          <a:xfrm>
            <a:off x="594360" y="932688"/>
            <a:ext cx="10881360" cy="210312"/>
          </a:xfrm>
          <a:prstGeom prst="rect">
            <a:avLst/>
          </a:prstGeom>
          <a:noFill/>
          <a:ln/>
        </p:spPr>
        <p:txBody>
          <a:bodyPr wrap="square" lIns="0" tIns="0" rIns="0" bIns="0" rtlCol="0" anchor="ctr"/>
          <a:lstStyle/>
          <a:p>
            <a:pPr marL="0" indent="0">
              <a:buNone/>
            </a:pPr>
            <a:r>
              <a:rPr lang="en-US" sz="1100" b="1" dirty="0">
                <a:solidFill>
                  <a:srgbClr val="58645E"/>
                </a:solidFill>
                <a:latin typeface="Aptos" pitchFamily="34" charset="0"/>
                <a:ea typeface="Aptos" pitchFamily="34" charset="-122"/>
                <a:cs typeface="Aptos" pitchFamily="34" charset="-120"/>
              </a:rPr>
              <a:t>CMO / MARKETING</a:t>
            </a:r>
            <a:endParaRPr lang="en-US" sz="1100" dirty="0"/>
          </a:p>
        </p:txBody>
      </p:sp>
      <p:sp>
        <p:nvSpPr>
          <p:cNvPr id="5" name="Text 2">
            <a:extLst>
              <a:ext uri="{FF2B5EF4-FFF2-40B4-BE49-F238E27FC236}">
                <a16:creationId xmlns:a16="http://schemas.microsoft.com/office/drawing/2014/main" id="{ADBC6C5F-9B1C-0D89-23DA-100738C8C654}"/>
              </a:ext>
            </a:extLst>
          </p:cNvPr>
          <p:cNvSpPr/>
          <p:nvPr/>
        </p:nvSpPr>
        <p:spPr>
          <a:xfrm>
            <a:off x="594360" y="1289304"/>
            <a:ext cx="11018520" cy="658368"/>
          </a:xfrm>
          <a:prstGeom prst="rect">
            <a:avLst/>
          </a:prstGeom>
          <a:noFill/>
          <a:ln/>
        </p:spPr>
        <p:txBody>
          <a:bodyPr wrap="square" lIns="0" tIns="0" rIns="0" bIns="0" rtlCol="0" anchor="ctr"/>
          <a:lstStyle/>
          <a:p>
            <a:pPr marL="0" indent="0">
              <a:buNone/>
            </a:pPr>
            <a:r>
              <a:rPr lang="en-US" sz="3400" b="1" dirty="0">
                <a:solidFill>
                  <a:srgbClr val="111715"/>
                </a:solidFill>
                <a:latin typeface="Agency FB" pitchFamily="34" charset="0"/>
                <a:ea typeface="Agency FB" pitchFamily="34" charset="-122"/>
                <a:cs typeface="Agency FB" pitchFamily="34" charset="-120"/>
              </a:rPr>
              <a:t>Start narrow. Earn industrial trust.</a:t>
            </a:r>
            <a:endParaRPr lang="en-US" sz="3400" dirty="0"/>
          </a:p>
        </p:txBody>
      </p:sp>
      <p:sp>
        <p:nvSpPr>
          <p:cNvPr id="6" name="Text 3">
            <a:extLst>
              <a:ext uri="{FF2B5EF4-FFF2-40B4-BE49-F238E27FC236}">
                <a16:creationId xmlns:a16="http://schemas.microsoft.com/office/drawing/2014/main" id="{353DFE68-119C-8C36-1D3F-C176224B86B7}"/>
              </a:ext>
            </a:extLst>
          </p:cNvPr>
          <p:cNvSpPr/>
          <p:nvPr/>
        </p:nvSpPr>
        <p:spPr>
          <a:xfrm>
            <a:off x="594360" y="1975104"/>
            <a:ext cx="10972800" cy="365760"/>
          </a:xfrm>
          <a:prstGeom prst="rect">
            <a:avLst/>
          </a:prstGeom>
          <a:noFill/>
          <a:ln/>
        </p:spPr>
        <p:txBody>
          <a:bodyPr wrap="square" lIns="0" tIns="0" rIns="0" bIns="0" rtlCol="0" anchor="ctr"/>
          <a:lstStyle/>
          <a:p>
            <a:pPr marL="0" indent="0">
              <a:buNone/>
            </a:pPr>
            <a:r>
              <a:rPr lang="en-US" sz="1600" dirty="0">
                <a:solidFill>
                  <a:srgbClr val="58645E"/>
                </a:solidFill>
                <a:latin typeface="Aptos" pitchFamily="34" charset="0"/>
                <a:ea typeface="Aptos" pitchFamily="34" charset="-122"/>
                <a:cs typeface="Aptos" pitchFamily="34" charset="-120"/>
              </a:rPr>
              <a:t>First market: German industrial and electrical-equipment manufacturers with connected products.</a:t>
            </a:r>
            <a:endParaRPr lang="en-US" sz="1600" dirty="0"/>
          </a:p>
        </p:txBody>
      </p:sp>
      <p:sp>
        <p:nvSpPr>
          <p:cNvPr id="7" name="Shape 4">
            <a:extLst>
              <a:ext uri="{FF2B5EF4-FFF2-40B4-BE49-F238E27FC236}">
                <a16:creationId xmlns:a16="http://schemas.microsoft.com/office/drawing/2014/main" id="{10CD0E48-AA65-688B-42A1-AFA1CD0F81F9}"/>
              </a:ext>
            </a:extLst>
          </p:cNvPr>
          <p:cNvSpPr/>
          <p:nvPr/>
        </p:nvSpPr>
        <p:spPr>
          <a:xfrm>
            <a:off x="594360" y="2706624"/>
            <a:ext cx="3227832" cy="1472184"/>
          </a:xfrm>
          <a:prstGeom prst="rect">
            <a:avLst/>
          </a:prstGeom>
          <a:solidFill>
            <a:srgbClr val="111715"/>
          </a:solidFill>
          <a:ln w="8890">
            <a:solidFill>
              <a:srgbClr val="111715"/>
            </a:solidFill>
            <a:prstDash val="solid"/>
          </a:ln>
        </p:spPr>
        <p:txBody>
          <a:bodyPr/>
          <a:lstStyle/>
          <a:p>
            <a:endParaRPr lang="en-GB"/>
          </a:p>
        </p:txBody>
      </p:sp>
      <p:sp>
        <p:nvSpPr>
          <p:cNvPr id="8" name="Text 5">
            <a:extLst>
              <a:ext uri="{FF2B5EF4-FFF2-40B4-BE49-F238E27FC236}">
                <a16:creationId xmlns:a16="http://schemas.microsoft.com/office/drawing/2014/main" id="{5C898F42-C2C8-CF97-E0B3-BB4EA2C2AA4B}"/>
              </a:ext>
            </a:extLst>
          </p:cNvPr>
          <p:cNvSpPr/>
          <p:nvPr/>
        </p:nvSpPr>
        <p:spPr>
          <a:xfrm>
            <a:off x="813816" y="2825496"/>
            <a:ext cx="2743200" cy="667512"/>
          </a:xfrm>
          <a:prstGeom prst="rect">
            <a:avLst/>
          </a:prstGeom>
          <a:noFill/>
          <a:ln/>
        </p:spPr>
        <p:txBody>
          <a:bodyPr wrap="square" lIns="0" tIns="0" rIns="0" bIns="0" rtlCol="0" anchor="ctr"/>
          <a:lstStyle/>
          <a:p>
            <a:pPr marL="0" indent="0">
              <a:buNone/>
            </a:pPr>
            <a:r>
              <a:rPr lang="en-US" sz="3400" b="1" dirty="0">
                <a:solidFill>
                  <a:srgbClr val="C7F464"/>
                </a:solidFill>
                <a:latin typeface="Agency FB" pitchFamily="34" charset="0"/>
                <a:ea typeface="Agency FB" pitchFamily="34" charset="-122"/>
                <a:cs typeface="Agency FB" pitchFamily="34" charset="-120"/>
              </a:rPr>
              <a:t>50–1,000</a:t>
            </a:r>
            <a:endParaRPr lang="en-US" sz="3400" dirty="0"/>
          </a:p>
        </p:txBody>
      </p:sp>
      <p:sp>
        <p:nvSpPr>
          <p:cNvPr id="9" name="Text 6">
            <a:extLst>
              <a:ext uri="{FF2B5EF4-FFF2-40B4-BE49-F238E27FC236}">
                <a16:creationId xmlns:a16="http://schemas.microsoft.com/office/drawing/2014/main" id="{D281909F-9DB6-673C-4BBA-D1844C808461}"/>
              </a:ext>
            </a:extLst>
          </p:cNvPr>
          <p:cNvSpPr/>
          <p:nvPr/>
        </p:nvSpPr>
        <p:spPr>
          <a:xfrm>
            <a:off x="822960" y="3611880"/>
            <a:ext cx="2743200" cy="329184"/>
          </a:xfrm>
          <a:prstGeom prst="rect">
            <a:avLst/>
          </a:prstGeom>
          <a:noFill/>
          <a:ln/>
        </p:spPr>
        <p:txBody>
          <a:bodyPr wrap="square" lIns="0" tIns="0" rIns="0" bIns="0" rtlCol="0" anchor="ctr"/>
          <a:lstStyle/>
          <a:p>
            <a:pPr marL="0" indent="0">
              <a:buNone/>
            </a:pPr>
            <a:r>
              <a:rPr lang="en-US" sz="1200" dirty="0">
                <a:solidFill>
                  <a:srgbClr val="FFFFFF"/>
                </a:solidFill>
                <a:latin typeface="Aptos" pitchFamily="34" charset="0"/>
                <a:ea typeface="Aptos" pitchFamily="34" charset="-122"/>
                <a:cs typeface="Aptos" pitchFamily="34" charset="-120"/>
              </a:rPr>
              <a:t>employees in our target segment</a:t>
            </a:r>
            <a:endParaRPr lang="en-US" sz="1200" dirty="0"/>
          </a:p>
        </p:txBody>
      </p:sp>
      <p:sp>
        <p:nvSpPr>
          <p:cNvPr id="10" name="Text 7">
            <a:extLst>
              <a:ext uri="{FF2B5EF4-FFF2-40B4-BE49-F238E27FC236}">
                <a16:creationId xmlns:a16="http://schemas.microsoft.com/office/drawing/2014/main" id="{432AFE5C-E21B-E38D-7309-BD170D537537}"/>
              </a:ext>
            </a:extLst>
          </p:cNvPr>
          <p:cNvSpPr/>
          <p:nvPr/>
        </p:nvSpPr>
        <p:spPr>
          <a:xfrm>
            <a:off x="4224528" y="2834640"/>
            <a:ext cx="2926080" cy="237744"/>
          </a:xfrm>
          <a:prstGeom prst="rect">
            <a:avLst/>
          </a:prstGeom>
          <a:noFill/>
          <a:ln/>
        </p:spPr>
        <p:txBody>
          <a:bodyPr wrap="square" lIns="0" tIns="0" rIns="0" bIns="0" rtlCol="0" anchor="ctr"/>
          <a:lstStyle/>
          <a:p>
            <a:pPr marL="0" indent="0">
              <a:buNone/>
            </a:pPr>
            <a:r>
              <a:rPr lang="en-US" sz="1100" b="1" dirty="0">
                <a:solidFill>
                  <a:srgbClr val="58645E"/>
                </a:solidFill>
                <a:latin typeface="Aptos" pitchFamily="34" charset="0"/>
                <a:ea typeface="Aptos" pitchFamily="34" charset="-122"/>
                <a:cs typeface="Aptos" pitchFamily="34" charset="-120"/>
              </a:rPr>
              <a:t>USER / CHAMPION</a:t>
            </a:r>
            <a:endParaRPr lang="en-US" sz="1100" dirty="0"/>
          </a:p>
        </p:txBody>
      </p:sp>
      <p:sp>
        <p:nvSpPr>
          <p:cNvPr id="11" name="Text 8">
            <a:extLst>
              <a:ext uri="{FF2B5EF4-FFF2-40B4-BE49-F238E27FC236}">
                <a16:creationId xmlns:a16="http://schemas.microsoft.com/office/drawing/2014/main" id="{FFEE474F-F2BB-6751-787C-D45FDAB910EF}"/>
              </a:ext>
            </a:extLst>
          </p:cNvPr>
          <p:cNvSpPr/>
          <p:nvPr/>
        </p:nvSpPr>
        <p:spPr>
          <a:xfrm>
            <a:off x="4224528" y="3273552"/>
            <a:ext cx="3136392" cy="731520"/>
          </a:xfrm>
          <a:prstGeom prst="rect">
            <a:avLst/>
          </a:prstGeom>
          <a:noFill/>
          <a:ln/>
        </p:spPr>
        <p:txBody>
          <a:bodyPr wrap="square" lIns="0" tIns="0" rIns="0" bIns="0" rtlCol="0" anchor="ctr"/>
          <a:lstStyle/>
          <a:p>
            <a:pPr marL="0" indent="0">
              <a:buNone/>
            </a:pPr>
            <a:r>
              <a:rPr lang="en-US" sz="2100" b="1" dirty="0">
                <a:solidFill>
                  <a:srgbClr val="111715"/>
                </a:solidFill>
                <a:latin typeface="Aptos" pitchFamily="34" charset="0"/>
                <a:ea typeface="Aptos" pitchFamily="34" charset="-122"/>
                <a:cs typeface="Aptos" pitchFamily="34" charset="-120"/>
              </a:rPr>
              <a:t>Product security</a:t>
            </a:r>
            <a:endParaRPr lang="en-US" sz="2100" dirty="0"/>
          </a:p>
          <a:p>
            <a:pPr marL="0" indent="0">
              <a:buNone/>
            </a:pPr>
            <a:r>
              <a:rPr lang="en-US" sz="2100" b="1" dirty="0">
                <a:solidFill>
                  <a:srgbClr val="111715"/>
                </a:solidFill>
                <a:latin typeface="Aptos" pitchFamily="34" charset="0"/>
                <a:ea typeface="Aptos" pitchFamily="34" charset="-122"/>
                <a:cs typeface="Aptos" pitchFamily="34" charset="-120"/>
              </a:rPr>
              <a:t>or compliance manager</a:t>
            </a:r>
            <a:endParaRPr lang="en-US" sz="2100" dirty="0"/>
          </a:p>
        </p:txBody>
      </p:sp>
      <p:sp>
        <p:nvSpPr>
          <p:cNvPr id="12" name="Text 9">
            <a:extLst>
              <a:ext uri="{FF2B5EF4-FFF2-40B4-BE49-F238E27FC236}">
                <a16:creationId xmlns:a16="http://schemas.microsoft.com/office/drawing/2014/main" id="{1DD9DF4A-1220-C86B-C2C9-D7784C99BC22}"/>
              </a:ext>
            </a:extLst>
          </p:cNvPr>
          <p:cNvSpPr/>
          <p:nvPr/>
        </p:nvSpPr>
        <p:spPr>
          <a:xfrm>
            <a:off x="8183880" y="2834640"/>
            <a:ext cx="3200400" cy="237744"/>
          </a:xfrm>
          <a:prstGeom prst="rect">
            <a:avLst/>
          </a:prstGeom>
          <a:noFill/>
          <a:ln/>
        </p:spPr>
        <p:txBody>
          <a:bodyPr wrap="square" lIns="0" tIns="0" rIns="0" bIns="0" rtlCol="0" anchor="ctr"/>
          <a:lstStyle/>
          <a:p>
            <a:pPr marL="0" indent="0">
              <a:buNone/>
            </a:pPr>
            <a:r>
              <a:rPr lang="en-US" sz="1100" b="1" dirty="0">
                <a:solidFill>
                  <a:srgbClr val="58645E"/>
                </a:solidFill>
                <a:latin typeface="Aptos" pitchFamily="34" charset="0"/>
                <a:ea typeface="Aptos" pitchFamily="34" charset="-122"/>
                <a:cs typeface="Aptos" pitchFamily="34" charset="-120"/>
              </a:rPr>
              <a:t>BUDGET OWNER</a:t>
            </a:r>
            <a:endParaRPr lang="en-US" sz="1100" dirty="0"/>
          </a:p>
        </p:txBody>
      </p:sp>
      <p:sp>
        <p:nvSpPr>
          <p:cNvPr id="13" name="Text 10">
            <a:extLst>
              <a:ext uri="{FF2B5EF4-FFF2-40B4-BE49-F238E27FC236}">
                <a16:creationId xmlns:a16="http://schemas.microsoft.com/office/drawing/2014/main" id="{189266BC-158E-5323-FE81-2C23647A8F20}"/>
              </a:ext>
            </a:extLst>
          </p:cNvPr>
          <p:cNvSpPr/>
          <p:nvPr/>
        </p:nvSpPr>
        <p:spPr>
          <a:xfrm>
            <a:off x="8183880" y="3273552"/>
            <a:ext cx="3136392" cy="731520"/>
          </a:xfrm>
          <a:prstGeom prst="rect">
            <a:avLst/>
          </a:prstGeom>
          <a:noFill/>
          <a:ln/>
        </p:spPr>
        <p:txBody>
          <a:bodyPr wrap="square" lIns="0" tIns="0" rIns="0" bIns="0" rtlCol="0" anchor="ctr"/>
          <a:lstStyle/>
          <a:p>
            <a:pPr marL="0" indent="0">
              <a:buNone/>
            </a:pPr>
            <a:r>
              <a:rPr lang="en-US" sz="2100" b="1" dirty="0">
                <a:solidFill>
                  <a:srgbClr val="111715"/>
                </a:solidFill>
                <a:latin typeface="Aptos" pitchFamily="34" charset="0"/>
                <a:ea typeface="Aptos" pitchFamily="34" charset="-122"/>
                <a:cs typeface="Aptos" pitchFamily="34" charset="-120"/>
              </a:rPr>
              <a:t>Engineering or</a:t>
            </a:r>
            <a:endParaRPr lang="en-US" sz="2100" dirty="0"/>
          </a:p>
          <a:p>
            <a:pPr marL="0" indent="0">
              <a:buNone/>
            </a:pPr>
            <a:r>
              <a:rPr lang="en-US" sz="2100" b="1" dirty="0">
                <a:solidFill>
                  <a:srgbClr val="111715"/>
                </a:solidFill>
                <a:latin typeface="Aptos" pitchFamily="34" charset="0"/>
                <a:ea typeface="Aptos" pitchFamily="34" charset="-122"/>
                <a:cs typeface="Aptos" pitchFamily="34" charset="-120"/>
              </a:rPr>
              <a:t>quality leadership</a:t>
            </a:r>
            <a:endParaRPr lang="en-US" sz="2100" dirty="0"/>
          </a:p>
        </p:txBody>
      </p:sp>
      <p:sp>
        <p:nvSpPr>
          <p:cNvPr id="14" name="Shape 11">
            <a:extLst>
              <a:ext uri="{FF2B5EF4-FFF2-40B4-BE49-F238E27FC236}">
                <a16:creationId xmlns:a16="http://schemas.microsoft.com/office/drawing/2014/main" id="{6BA2BD8C-B590-5F07-8DDF-A91F94F27862}"/>
              </a:ext>
            </a:extLst>
          </p:cNvPr>
          <p:cNvSpPr/>
          <p:nvPr/>
        </p:nvSpPr>
        <p:spPr>
          <a:xfrm>
            <a:off x="594360" y="4590288"/>
            <a:ext cx="2487168" cy="0"/>
          </a:xfrm>
          <a:prstGeom prst="line">
            <a:avLst/>
          </a:prstGeom>
          <a:noFill/>
          <a:ln w="25400">
            <a:solidFill>
              <a:srgbClr val="D9DFDA"/>
            </a:solidFill>
            <a:prstDash val="solid"/>
            <a:headEnd type="none"/>
            <a:tailEnd type="none"/>
          </a:ln>
        </p:spPr>
        <p:txBody>
          <a:bodyPr/>
          <a:lstStyle/>
          <a:p>
            <a:endParaRPr lang="en-GB"/>
          </a:p>
        </p:txBody>
      </p:sp>
      <p:sp>
        <p:nvSpPr>
          <p:cNvPr id="15" name="Text 12">
            <a:extLst>
              <a:ext uri="{FF2B5EF4-FFF2-40B4-BE49-F238E27FC236}">
                <a16:creationId xmlns:a16="http://schemas.microsoft.com/office/drawing/2014/main" id="{ACEC47E7-0C74-1D6A-CD9F-34FAEDCB70E3}"/>
              </a:ext>
            </a:extLst>
          </p:cNvPr>
          <p:cNvSpPr/>
          <p:nvPr/>
        </p:nvSpPr>
        <p:spPr>
          <a:xfrm>
            <a:off x="594360" y="4782312"/>
            <a:ext cx="338328" cy="310896"/>
          </a:xfrm>
          <a:prstGeom prst="rect">
            <a:avLst/>
          </a:prstGeom>
          <a:noFill/>
          <a:ln/>
        </p:spPr>
        <p:txBody>
          <a:bodyPr wrap="square" lIns="0" tIns="0" rIns="0" bIns="0" rtlCol="0" anchor="ctr"/>
          <a:lstStyle/>
          <a:p>
            <a:pPr marL="0" indent="0">
              <a:buNone/>
            </a:pPr>
            <a:r>
              <a:rPr lang="en-US" sz="1800" b="1" dirty="0">
                <a:solidFill>
                  <a:srgbClr val="58645E"/>
                </a:solidFill>
                <a:latin typeface="Agency FB" pitchFamily="34" charset="0"/>
                <a:ea typeface="Agency FB" pitchFamily="34" charset="-122"/>
                <a:cs typeface="Agency FB" pitchFamily="34" charset="-120"/>
              </a:rPr>
              <a:t>01</a:t>
            </a:r>
            <a:endParaRPr lang="en-US" sz="1800" dirty="0"/>
          </a:p>
        </p:txBody>
      </p:sp>
      <p:sp>
        <p:nvSpPr>
          <p:cNvPr id="16" name="Text 13">
            <a:extLst>
              <a:ext uri="{FF2B5EF4-FFF2-40B4-BE49-F238E27FC236}">
                <a16:creationId xmlns:a16="http://schemas.microsoft.com/office/drawing/2014/main" id="{A8A90B7A-AE6A-3630-BB65-CCAE164D4DCC}"/>
              </a:ext>
            </a:extLst>
          </p:cNvPr>
          <p:cNvSpPr/>
          <p:nvPr/>
        </p:nvSpPr>
        <p:spPr>
          <a:xfrm>
            <a:off x="594360" y="5340096"/>
            <a:ext cx="2615184" cy="246888"/>
          </a:xfrm>
          <a:prstGeom prst="rect">
            <a:avLst/>
          </a:prstGeom>
          <a:noFill/>
          <a:ln/>
        </p:spPr>
        <p:txBody>
          <a:bodyPr wrap="square" lIns="0" tIns="0" rIns="0" bIns="0" rtlCol="0" anchor="ctr"/>
          <a:lstStyle/>
          <a:p>
            <a:pPr marL="0" indent="0">
              <a:buNone/>
            </a:pPr>
            <a:r>
              <a:rPr lang="en-US" sz="1200" b="1" dirty="0">
                <a:solidFill>
                  <a:srgbClr val="111715"/>
                </a:solidFill>
                <a:latin typeface="Aptos" pitchFamily="34" charset="0"/>
                <a:ea typeface="Aptos" pitchFamily="34" charset="-122"/>
                <a:cs typeface="Aptos" pitchFamily="34" charset="-120"/>
              </a:rPr>
              <a:t>TARGETED OUTREACH</a:t>
            </a:r>
            <a:endParaRPr lang="en-US" sz="1200" dirty="0"/>
          </a:p>
        </p:txBody>
      </p:sp>
      <p:sp>
        <p:nvSpPr>
          <p:cNvPr id="17" name="Text 14">
            <a:extLst>
              <a:ext uri="{FF2B5EF4-FFF2-40B4-BE49-F238E27FC236}">
                <a16:creationId xmlns:a16="http://schemas.microsoft.com/office/drawing/2014/main" id="{EFF150BE-5C11-7675-C94F-6A9EF550EB32}"/>
              </a:ext>
            </a:extLst>
          </p:cNvPr>
          <p:cNvSpPr/>
          <p:nvPr/>
        </p:nvSpPr>
        <p:spPr>
          <a:xfrm>
            <a:off x="594360" y="5687568"/>
            <a:ext cx="2587752" cy="310896"/>
          </a:xfrm>
          <a:prstGeom prst="rect">
            <a:avLst/>
          </a:prstGeom>
          <a:noFill/>
          <a:ln/>
        </p:spPr>
        <p:txBody>
          <a:bodyPr wrap="square" lIns="0" tIns="0" rIns="0" bIns="0" rtlCol="0" anchor="ctr"/>
          <a:lstStyle/>
          <a:p>
            <a:pPr marL="0" indent="0">
              <a:buNone/>
            </a:pPr>
            <a:r>
              <a:rPr lang="en-US" sz="1250" dirty="0">
                <a:solidFill>
                  <a:srgbClr val="58645E"/>
                </a:solidFill>
                <a:latin typeface="Aptos" pitchFamily="34" charset="0"/>
                <a:ea typeface="Aptos" pitchFamily="34" charset="-122"/>
                <a:cs typeface="Aptos" pitchFamily="34" charset="-120"/>
              </a:rPr>
              <a:t>A launch or reviewer request</a:t>
            </a:r>
            <a:endParaRPr lang="en-US" sz="1250" dirty="0"/>
          </a:p>
        </p:txBody>
      </p:sp>
      <p:sp>
        <p:nvSpPr>
          <p:cNvPr id="18" name="Shape 15">
            <a:extLst>
              <a:ext uri="{FF2B5EF4-FFF2-40B4-BE49-F238E27FC236}">
                <a16:creationId xmlns:a16="http://schemas.microsoft.com/office/drawing/2014/main" id="{8252D825-2FAB-A11F-2D1D-0E478240CA4E}"/>
              </a:ext>
            </a:extLst>
          </p:cNvPr>
          <p:cNvSpPr/>
          <p:nvPr/>
        </p:nvSpPr>
        <p:spPr>
          <a:xfrm>
            <a:off x="3401568" y="4590288"/>
            <a:ext cx="2487168" cy="0"/>
          </a:xfrm>
          <a:prstGeom prst="line">
            <a:avLst/>
          </a:prstGeom>
          <a:noFill/>
          <a:ln w="25400">
            <a:solidFill>
              <a:srgbClr val="88AB44"/>
            </a:solidFill>
            <a:prstDash val="solid"/>
            <a:headEnd type="none"/>
            <a:tailEnd type="none"/>
          </a:ln>
        </p:spPr>
        <p:txBody>
          <a:bodyPr/>
          <a:lstStyle/>
          <a:p>
            <a:endParaRPr lang="en-GB"/>
          </a:p>
        </p:txBody>
      </p:sp>
      <p:sp>
        <p:nvSpPr>
          <p:cNvPr id="19" name="Text 16">
            <a:extLst>
              <a:ext uri="{FF2B5EF4-FFF2-40B4-BE49-F238E27FC236}">
                <a16:creationId xmlns:a16="http://schemas.microsoft.com/office/drawing/2014/main" id="{EE29F2F5-9E9A-A498-5FD7-528021B294AC}"/>
              </a:ext>
            </a:extLst>
          </p:cNvPr>
          <p:cNvSpPr/>
          <p:nvPr/>
        </p:nvSpPr>
        <p:spPr>
          <a:xfrm>
            <a:off x="3401568" y="4782312"/>
            <a:ext cx="338328" cy="310896"/>
          </a:xfrm>
          <a:prstGeom prst="rect">
            <a:avLst/>
          </a:prstGeom>
          <a:noFill/>
          <a:ln/>
        </p:spPr>
        <p:txBody>
          <a:bodyPr wrap="square" lIns="0" tIns="0" rIns="0" bIns="0" rtlCol="0" anchor="ctr"/>
          <a:lstStyle/>
          <a:p>
            <a:pPr marL="0" indent="0">
              <a:buNone/>
            </a:pPr>
            <a:r>
              <a:rPr lang="en-US" sz="1800" b="1" dirty="0">
                <a:solidFill>
                  <a:srgbClr val="58645E"/>
                </a:solidFill>
                <a:latin typeface="Agency FB" pitchFamily="34" charset="0"/>
                <a:ea typeface="Agency FB" pitchFamily="34" charset="-122"/>
                <a:cs typeface="Agency FB" pitchFamily="34" charset="-120"/>
              </a:rPr>
              <a:t>02</a:t>
            </a:r>
            <a:endParaRPr lang="en-US" sz="1800" dirty="0"/>
          </a:p>
        </p:txBody>
      </p:sp>
      <p:sp>
        <p:nvSpPr>
          <p:cNvPr id="20" name="Text 17">
            <a:extLst>
              <a:ext uri="{FF2B5EF4-FFF2-40B4-BE49-F238E27FC236}">
                <a16:creationId xmlns:a16="http://schemas.microsoft.com/office/drawing/2014/main" id="{C8CA4F8C-68E1-A525-93A0-5266F01A6903}"/>
              </a:ext>
            </a:extLst>
          </p:cNvPr>
          <p:cNvSpPr/>
          <p:nvPr/>
        </p:nvSpPr>
        <p:spPr>
          <a:xfrm>
            <a:off x="3401568" y="5340096"/>
            <a:ext cx="2615184" cy="246888"/>
          </a:xfrm>
          <a:prstGeom prst="rect">
            <a:avLst/>
          </a:prstGeom>
          <a:noFill/>
          <a:ln/>
        </p:spPr>
        <p:txBody>
          <a:bodyPr wrap="square" lIns="0" tIns="0" rIns="0" bIns="0" rtlCol="0" anchor="ctr"/>
          <a:lstStyle/>
          <a:p>
            <a:pPr marL="0" indent="0">
              <a:buNone/>
            </a:pPr>
            <a:r>
              <a:rPr lang="en-US" sz="1200" b="1" dirty="0">
                <a:solidFill>
                  <a:srgbClr val="111715"/>
                </a:solidFill>
                <a:latin typeface="Aptos" pitchFamily="34" charset="0"/>
                <a:ea typeface="Aptos" pitchFamily="34" charset="-122"/>
                <a:cs typeface="Aptos" pitchFamily="34" charset="-120"/>
              </a:rPr>
              <a:t>PAID EVIDENCE SPRINT</a:t>
            </a:r>
            <a:endParaRPr lang="en-US" sz="1200" dirty="0"/>
          </a:p>
        </p:txBody>
      </p:sp>
      <p:sp>
        <p:nvSpPr>
          <p:cNvPr id="21" name="Text 18">
            <a:extLst>
              <a:ext uri="{FF2B5EF4-FFF2-40B4-BE49-F238E27FC236}">
                <a16:creationId xmlns:a16="http://schemas.microsoft.com/office/drawing/2014/main" id="{451CA624-9729-19B3-4779-892C20A1F5B7}"/>
              </a:ext>
            </a:extLst>
          </p:cNvPr>
          <p:cNvSpPr/>
          <p:nvPr/>
        </p:nvSpPr>
        <p:spPr>
          <a:xfrm>
            <a:off x="3401568" y="5687568"/>
            <a:ext cx="2587752" cy="310896"/>
          </a:xfrm>
          <a:prstGeom prst="rect">
            <a:avLst/>
          </a:prstGeom>
          <a:noFill/>
          <a:ln/>
        </p:spPr>
        <p:txBody>
          <a:bodyPr wrap="square" lIns="0" tIns="0" rIns="0" bIns="0" rtlCol="0" anchor="ctr"/>
          <a:lstStyle/>
          <a:p>
            <a:pPr marL="0" indent="0">
              <a:buNone/>
            </a:pPr>
            <a:r>
              <a:rPr lang="en-US" sz="1250" dirty="0">
                <a:solidFill>
                  <a:srgbClr val="58645E"/>
                </a:solidFill>
                <a:latin typeface="Aptos" pitchFamily="34" charset="0"/>
                <a:ea typeface="Aptos" pitchFamily="34" charset="-122"/>
                <a:cs typeface="Aptos" pitchFamily="34" charset="-120"/>
              </a:rPr>
              <a:t>One product • two weeks</a:t>
            </a:r>
            <a:endParaRPr lang="en-US" sz="1250" dirty="0"/>
          </a:p>
        </p:txBody>
      </p:sp>
      <p:sp>
        <p:nvSpPr>
          <p:cNvPr id="22" name="Shape 19">
            <a:extLst>
              <a:ext uri="{FF2B5EF4-FFF2-40B4-BE49-F238E27FC236}">
                <a16:creationId xmlns:a16="http://schemas.microsoft.com/office/drawing/2014/main" id="{F5F751F6-3AE7-3B28-F16A-DC7A4BA4401A}"/>
              </a:ext>
            </a:extLst>
          </p:cNvPr>
          <p:cNvSpPr/>
          <p:nvPr/>
        </p:nvSpPr>
        <p:spPr>
          <a:xfrm>
            <a:off x="6208776" y="4590288"/>
            <a:ext cx="2487168" cy="0"/>
          </a:xfrm>
          <a:prstGeom prst="line">
            <a:avLst/>
          </a:prstGeom>
          <a:noFill/>
          <a:ln w="25400">
            <a:solidFill>
              <a:srgbClr val="D9DFDA"/>
            </a:solidFill>
            <a:prstDash val="solid"/>
            <a:headEnd type="none"/>
            <a:tailEnd type="none"/>
          </a:ln>
        </p:spPr>
        <p:txBody>
          <a:bodyPr/>
          <a:lstStyle/>
          <a:p>
            <a:endParaRPr lang="en-GB"/>
          </a:p>
        </p:txBody>
      </p:sp>
      <p:sp>
        <p:nvSpPr>
          <p:cNvPr id="23" name="Text 20">
            <a:extLst>
              <a:ext uri="{FF2B5EF4-FFF2-40B4-BE49-F238E27FC236}">
                <a16:creationId xmlns:a16="http://schemas.microsoft.com/office/drawing/2014/main" id="{FBAF6196-2F7E-CF01-4C5C-25291AEA90C9}"/>
              </a:ext>
            </a:extLst>
          </p:cNvPr>
          <p:cNvSpPr/>
          <p:nvPr/>
        </p:nvSpPr>
        <p:spPr>
          <a:xfrm>
            <a:off x="6208776" y="4782312"/>
            <a:ext cx="338328" cy="310896"/>
          </a:xfrm>
          <a:prstGeom prst="rect">
            <a:avLst/>
          </a:prstGeom>
          <a:noFill/>
          <a:ln/>
        </p:spPr>
        <p:txBody>
          <a:bodyPr wrap="square" lIns="0" tIns="0" rIns="0" bIns="0" rtlCol="0" anchor="ctr"/>
          <a:lstStyle/>
          <a:p>
            <a:pPr marL="0" indent="0">
              <a:buNone/>
            </a:pPr>
            <a:r>
              <a:rPr lang="en-US" sz="1800" b="1" dirty="0">
                <a:solidFill>
                  <a:srgbClr val="58645E"/>
                </a:solidFill>
                <a:latin typeface="Agency FB" pitchFamily="34" charset="0"/>
                <a:ea typeface="Agency FB" pitchFamily="34" charset="-122"/>
                <a:cs typeface="Agency FB" pitchFamily="34" charset="-120"/>
              </a:rPr>
              <a:t>03</a:t>
            </a:r>
            <a:endParaRPr lang="en-US" sz="1800" dirty="0"/>
          </a:p>
        </p:txBody>
      </p:sp>
      <p:sp>
        <p:nvSpPr>
          <p:cNvPr id="24" name="Text 21">
            <a:extLst>
              <a:ext uri="{FF2B5EF4-FFF2-40B4-BE49-F238E27FC236}">
                <a16:creationId xmlns:a16="http://schemas.microsoft.com/office/drawing/2014/main" id="{916B22A6-1BDC-586D-9D25-F334929FC236}"/>
              </a:ext>
            </a:extLst>
          </p:cNvPr>
          <p:cNvSpPr/>
          <p:nvPr/>
        </p:nvSpPr>
        <p:spPr>
          <a:xfrm>
            <a:off x="6208776" y="5340096"/>
            <a:ext cx="2615184" cy="246888"/>
          </a:xfrm>
          <a:prstGeom prst="rect">
            <a:avLst/>
          </a:prstGeom>
          <a:noFill/>
          <a:ln/>
        </p:spPr>
        <p:txBody>
          <a:bodyPr wrap="square" lIns="0" tIns="0" rIns="0" bIns="0" rtlCol="0" anchor="ctr"/>
          <a:lstStyle/>
          <a:p>
            <a:pPr marL="0" indent="0">
              <a:buNone/>
            </a:pPr>
            <a:r>
              <a:rPr lang="en-US" sz="1200" b="1" dirty="0">
                <a:solidFill>
                  <a:srgbClr val="111715"/>
                </a:solidFill>
                <a:latin typeface="Aptos" pitchFamily="34" charset="0"/>
                <a:ea typeface="Aptos" pitchFamily="34" charset="-122"/>
                <a:cs typeface="Aptos" pitchFamily="34" charset="-120"/>
              </a:rPr>
              <a:t>REVIEW TOGETHER</a:t>
            </a:r>
            <a:endParaRPr lang="en-US" sz="1200" dirty="0"/>
          </a:p>
        </p:txBody>
      </p:sp>
      <p:sp>
        <p:nvSpPr>
          <p:cNvPr id="25" name="Text 22">
            <a:extLst>
              <a:ext uri="{FF2B5EF4-FFF2-40B4-BE49-F238E27FC236}">
                <a16:creationId xmlns:a16="http://schemas.microsoft.com/office/drawing/2014/main" id="{9C4AC9C7-A17B-53BC-B32E-3C622717BF6D}"/>
              </a:ext>
            </a:extLst>
          </p:cNvPr>
          <p:cNvSpPr/>
          <p:nvPr/>
        </p:nvSpPr>
        <p:spPr>
          <a:xfrm>
            <a:off x="6208776" y="5687568"/>
            <a:ext cx="2587752" cy="310896"/>
          </a:xfrm>
          <a:prstGeom prst="rect">
            <a:avLst/>
          </a:prstGeom>
          <a:noFill/>
          <a:ln/>
        </p:spPr>
        <p:txBody>
          <a:bodyPr wrap="square" lIns="0" tIns="0" rIns="0" bIns="0" rtlCol="0" anchor="ctr"/>
          <a:lstStyle/>
          <a:p>
            <a:pPr marL="0" indent="0">
              <a:buNone/>
            </a:pPr>
            <a:r>
              <a:rPr lang="en-US" sz="1250" dirty="0">
                <a:solidFill>
                  <a:srgbClr val="58645E"/>
                </a:solidFill>
                <a:latin typeface="Aptos" pitchFamily="34" charset="0"/>
                <a:ea typeface="Aptos" pitchFamily="34" charset="-122"/>
                <a:cs typeface="Aptos" pitchFamily="34" charset="-120"/>
              </a:rPr>
              <a:t>Customer + lab or consultant</a:t>
            </a:r>
            <a:endParaRPr lang="en-US" sz="1250" dirty="0"/>
          </a:p>
        </p:txBody>
      </p:sp>
      <p:sp>
        <p:nvSpPr>
          <p:cNvPr id="26" name="Shape 23">
            <a:extLst>
              <a:ext uri="{FF2B5EF4-FFF2-40B4-BE49-F238E27FC236}">
                <a16:creationId xmlns:a16="http://schemas.microsoft.com/office/drawing/2014/main" id="{39AA3541-99D5-D460-AFE9-82C7AF348E84}"/>
              </a:ext>
            </a:extLst>
          </p:cNvPr>
          <p:cNvSpPr/>
          <p:nvPr/>
        </p:nvSpPr>
        <p:spPr>
          <a:xfrm>
            <a:off x="9015984" y="4590288"/>
            <a:ext cx="2487168" cy="0"/>
          </a:xfrm>
          <a:prstGeom prst="line">
            <a:avLst/>
          </a:prstGeom>
          <a:noFill/>
          <a:ln w="25400">
            <a:solidFill>
              <a:srgbClr val="D9DFDA"/>
            </a:solidFill>
            <a:prstDash val="solid"/>
            <a:headEnd type="none"/>
            <a:tailEnd type="none"/>
          </a:ln>
        </p:spPr>
        <p:txBody>
          <a:bodyPr/>
          <a:lstStyle/>
          <a:p>
            <a:endParaRPr lang="en-GB"/>
          </a:p>
        </p:txBody>
      </p:sp>
      <p:sp>
        <p:nvSpPr>
          <p:cNvPr id="27" name="Text 24">
            <a:extLst>
              <a:ext uri="{FF2B5EF4-FFF2-40B4-BE49-F238E27FC236}">
                <a16:creationId xmlns:a16="http://schemas.microsoft.com/office/drawing/2014/main" id="{B25CF073-1351-5788-BC77-611278970BE4}"/>
              </a:ext>
            </a:extLst>
          </p:cNvPr>
          <p:cNvSpPr/>
          <p:nvPr/>
        </p:nvSpPr>
        <p:spPr>
          <a:xfrm>
            <a:off x="9015984" y="4782312"/>
            <a:ext cx="338328" cy="310896"/>
          </a:xfrm>
          <a:prstGeom prst="rect">
            <a:avLst/>
          </a:prstGeom>
          <a:noFill/>
          <a:ln/>
        </p:spPr>
        <p:txBody>
          <a:bodyPr wrap="square" lIns="0" tIns="0" rIns="0" bIns="0" rtlCol="0" anchor="ctr"/>
          <a:lstStyle/>
          <a:p>
            <a:pPr marL="0" indent="0">
              <a:buNone/>
            </a:pPr>
            <a:r>
              <a:rPr lang="en-US" sz="1800" b="1" dirty="0">
                <a:solidFill>
                  <a:srgbClr val="58645E"/>
                </a:solidFill>
                <a:latin typeface="Agency FB" pitchFamily="34" charset="0"/>
                <a:ea typeface="Agency FB" pitchFamily="34" charset="-122"/>
                <a:cs typeface="Agency FB" pitchFamily="34" charset="-120"/>
              </a:rPr>
              <a:t>04</a:t>
            </a:r>
            <a:endParaRPr lang="en-US" sz="1800" dirty="0"/>
          </a:p>
        </p:txBody>
      </p:sp>
      <p:sp>
        <p:nvSpPr>
          <p:cNvPr id="28" name="Text 25">
            <a:extLst>
              <a:ext uri="{FF2B5EF4-FFF2-40B4-BE49-F238E27FC236}">
                <a16:creationId xmlns:a16="http://schemas.microsoft.com/office/drawing/2014/main" id="{E59024BB-7C82-317C-1A24-0870C3019F06}"/>
              </a:ext>
            </a:extLst>
          </p:cNvPr>
          <p:cNvSpPr/>
          <p:nvPr/>
        </p:nvSpPr>
        <p:spPr>
          <a:xfrm>
            <a:off x="9015984" y="5340096"/>
            <a:ext cx="2615184" cy="246888"/>
          </a:xfrm>
          <a:prstGeom prst="rect">
            <a:avLst/>
          </a:prstGeom>
          <a:noFill/>
          <a:ln/>
        </p:spPr>
        <p:txBody>
          <a:bodyPr wrap="square" lIns="0" tIns="0" rIns="0" bIns="0" rtlCol="0" anchor="ctr"/>
          <a:lstStyle/>
          <a:p>
            <a:pPr marL="0" indent="0">
              <a:buNone/>
            </a:pPr>
            <a:r>
              <a:rPr lang="en-US" sz="1200" b="1" dirty="0">
                <a:solidFill>
                  <a:srgbClr val="111715"/>
                </a:solidFill>
                <a:latin typeface="Aptos" pitchFamily="34" charset="0"/>
                <a:ea typeface="Aptos" pitchFamily="34" charset="-122"/>
                <a:cs typeface="Aptos" pitchFamily="34" charset="-120"/>
              </a:rPr>
              <a:t>ANNUAL SUBSCRIPTION</a:t>
            </a:r>
            <a:endParaRPr lang="en-US" sz="1200" dirty="0"/>
          </a:p>
        </p:txBody>
      </p:sp>
      <p:sp>
        <p:nvSpPr>
          <p:cNvPr id="29" name="Text 26">
            <a:extLst>
              <a:ext uri="{FF2B5EF4-FFF2-40B4-BE49-F238E27FC236}">
                <a16:creationId xmlns:a16="http://schemas.microsoft.com/office/drawing/2014/main" id="{C111F0F0-575F-91C1-DE13-340C34F53362}"/>
              </a:ext>
            </a:extLst>
          </p:cNvPr>
          <p:cNvSpPr/>
          <p:nvPr/>
        </p:nvSpPr>
        <p:spPr>
          <a:xfrm>
            <a:off x="9015984" y="5687568"/>
            <a:ext cx="2587752" cy="310896"/>
          </a:xfrm>
          <a:prstGeom prst="rect">
            <a:avLst/>
          </a:prstGeom>
          <a:noFill/>
          <a:ln/>
        </p:spPr>
        <p:txBody>
          <a:bodyPr wrap="square" lIns="0" tIns="0" rIns="0" bIns="0" rtlCol="0" anchor="ctr"/>
          <a:lstStyle/>
          <a:p>
            <a:pPr marL="0" indent="0">
              <a:buNone/>
            </a:pPr>
            <a:r>
              <a:rPr lang="en-US" sz="1250" dirty="0">
                <a:solidFill>
                  <a:srgbClr val="58645E"/>
                </a:solidFill>
                <a:latin typeface="Aptos" pitchFamily="34" charset="0"/>
                <a:ea typeface="Aptos" pitchFamily="34" charset="-122"/>
                <a:cs typeface="Aptos" pitchFamily="34" charset="-120"/>
              </a:rPr>
              <a:t>Expand to the next release</a:t>
            </a:r>
            <a:endParaRPr lang="en-US" sz="1250" dirty="0"/>
          </a:p>
        </p:txBody>
      </p:sp>
      <p:sp>
        <p:nvSpPr>
          <p:cNvPr id="30" name="Shape 27">
            <a:extLst>
              <a:ext uri="{FF2B5EF4-FFF2-40B4-BE49-F238E27FC236}">
                <a16:creationId xmlns:a16="http://schemas.microsoft.com/office/drawing/2014/main" id="{AB1CC3C0-4AD5-C528-1FB8-7B38D6B68487}"/>
              </a:ext>
            </a:extLst>
          </p:cNvPr>
          <p:cNvSpPr/>
          <p:nvPr/>
        </p:nvSpPr>
        <p:spPr>
          <a:xfrm>
            <a:off x="594360" y="6437376"/>
            <a:ext cx="11000232" cy="0"/>
          </a:xfrm>
          <a:prstGeom prst="line">
            <a:avLst/>
          </a:prstGeom>
          <a:noFill/>
          <a:ln w="12700">
            <a:solidFill>
              <a:srgbClr val="D9DFDA"/>
            </a:solidFill>
            <a:prstDash val="solid"/>
            <a:headEnd type="none"/>
            <a:tailEnd type="none"/>
          </a:ln>
        </p:spPr>
        <p:txBody>
          <a:bodyPr/>
          <a:lstStyle/>
          <a:p>
            <a:endParaRPr lang="en-GB"/>
          </a:p>
        </p:txBody>
      </p:sp>
    </p:spTree>
    <p:extLst>
      <p:ext uri="{BB962C8B-B14F-4D97-AF65-F5344CB8AC3E}">
        <p14:creationId xmlns:p14="http://schemas.microsoft.com/office/powerpoint/2010/main" val="26702641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PandaX wordmark" descr="Original PandaX wordmark"/>
          <p:cNvPicPr>
            <a:picLocks noChangeAspect="1"/>
          </p:cNvPicPr>
          <p:nvPr/>
        </p:nvPicPr>
        <p:blipFill>
          <a:blip r:embed="rId3"/>
          <a:srcRect l="11700" t="36000" r="9500" b="38200"/>
          <a:stretch>
            <a:fillRect/>
          </a:stretch>
        </p:blipFill>
        <p:spPr>
          <a:xfrm>
            <a:off x="585216" y="393192"/>
            <a:ext cx="1371600" cy="195943"/>
          </a:xfrm>
          <a:prstGeom prst="rect">
            <a:avLst/>
          </a:prstGeom>
        </p:spPr>
      </p:pic>
      <p:sp>
        <p:nvSpPr>
          <p:cNvPr id="4" name="Text 1"/>
          <p:cNvSpPr/>
          <p:nvPr/>
        </p:nvSpPr>
        <p:spPr>
          <a:xfrm>
            <a:off x="594360" y="932688"/>
            <a:ext cx="10881360" cy="210312"/>
          </a:xfrm>
          <a:prstGeom prst="rect">
            <a:avLst/>
          </a:prstGeom>
          <a:noFill/>
          <a:ln/>
        </p:spPr>
        <p:txBody>
          <a:bodyPr wrap="square" lIns="0" tIns="0" rIns="0" bIns="0" rtlCol="0" anchor="t" anchorCtr="0">
            <a:noAutofit/>
          </a:bodyPr>
          <a:lstStyle/>
          <a:p>
            <a:pPr marL="0" indent="0">
              <a:buNone/>
            </a:pPr>
            <a:r>
              <a:rPr lang="en-US" sz="1100" b="1">
                <a:solidFill>
                  <a:srgbClr val="58645E"/>
                </a:solidFill>
                <a:latin typeface="Aptos" pitchFamily="34" charset="0"/>
                <a:ea typeface="Aptos" pitchFamily="34" charset="-122"/>
                <a:cs typeface="Aptos" pitchFamily="34" charset="-120"/>
              </a:rPr>
              <a:t>CEO / MONETIZATION STRATEGY</a:t>
            </a:r>
            <a:endParaRPr lang="en-US" sz="1100" b="1" dirty="0">
              <a:solidFill>
                <a:srgbClr val="58645E"/>
              </a:solidFill>
            </a:endParaRPr>
          </a:p>
        </p:txBody>
      </p:sp>
      <p:sp>
        <p:nvSpPr>
          <p:cNvPr id="5" name="Text 2"/>
          <p:cNvSpPr/>
          <p:nvPr/>
        </p:nvSpPr>
        <p:spPr>
          <a:xfrm>
            <a:off x="594360" y="1289304"/>
            <a:ext cx="11018520" cy="658368"/>
          </a:xfrm>
          <a:prstGeom prst="rect">
            <a:avLst/>
          </a:prstGeom>
          <a:noFill/>
          <a:ln/>
        </p:spPr>
        <p:txBody>
          <a:bodyPr wrap="square" lIns="0" tIns="0" rIns="0" bIns="0" rtlCol="0" anchor="ctr" anchorCtr="0">
            <a:normAutofit/>
          </a:bodyPr>
          <a:lstStyle/>
          <a:p>
            <a:pPr marL="0" indent="0">
              <a:buNone/>
            </a:pPr>
            <a:r>
              <a:rPr lang="en-US" sz="3000" b="1">
                <a:solidFill>
                  <a:srgbClr val="111715"/>
                </a:solidFill>
                <a:latin typeface="Agency FB" pitchFamily="34" charset="0"/>
                <a:ea typeface="Agency FB" pitchFamily="34" charset="-122"/>
                <a:cs typeface="Agency FB" pitchFamily="34" charset="-120"/>
              </a:rPr>
              <a:t>Monetize recurring product evidence—not one-off advice.</a:t>
            </a:r>
            <a:endParaRPr lang="en-US" sz="3000" b="1" dirty="0">
              <a:solidFill>
                <a:srgbClr val="111715"/>
              </a:solidFill>
            </a:endParaRPr>
          </a:p>
        </p:txBody>
      </p:sp>
      <p:sp>
        <p:nvSpPr>
          <p:cNvPr id="6" name="Text 3"/>
          <p:cNvSpPr/>
          <p:nvPr/>
        </p:nvSpPr>
        <p:spPr>
          <a:xfrm>
            <a:off x="594360" y="1975104"/>
            <a:ext cx="10972800" cy="365760"/>
          </a:xfrm>
          <a:prstGeom prst="rect">
            <a:avLst/>
          </a:prstGeom>
          <a:noFill/>
          <a:ln/>
        </p:spPr>
        <p:txBody>
          <a:bodyPr wrap="square" lIns="0" tIns="0" rIns="0" bIns="0" rtlCol="0" anchor="ctr" anchorCtr="0">
            <a:normAutofit/>
          </a:bodyPr>
          <a:lstStyle/>
          <a:p>
            <a:pPr marL="0" indent="0">
              <a:buNone/>
            </a:pPr>
            <a:r>
              <a:rPr lang="en-US" sz="1600">
                <a:solidFill>
                  <a:srgbClr val="58645E"/>
                </a:solidFill>
                <a:latin typeface="Aptos" pitchFamily="34" charset="0"/>
                <a:ea typeface="Aptos" pitchFamily="34" charset="-122"/>
                <a:cs typeface="Aptos" pitchFamily="34" charset="-120"/>
              </a:rPr>
              <a:t>Land with a bounded readiness sprint, convert to annual SaaS, and expand with product complexity.</a:t>
            </a:r>
            <a:endParaRPr lang="en-US" sz="1600" dirty="0">
              <a:solidFill>
                <a:srgbClr val="58645E"/>
              </a:solidFill>
            </a:endParaRPr>
          </a:p>
        </p:txBody>
      </p:sp>
      <p:sp>
        <p:nvSpPr>
          <p:cNvPr id="7" name="Shape 4"/>
          <p:cNvSpPr/>
          <p:nvPr/>
        </p:nvSpPr>
        <p:spPr>
          <a:xfrm>
            <a:off x="594360" y="2688336"/>
            <a:ext cx="3529584" cy="1618488"/>
          </a:xfrm>
          <a:prstGeom prst="rect">
            <a:avLst/>
          </a:prstGeom>
          <a:solidFill>
            <a:srgbClr val="111B17"/>
          </a:solidFill>
          <a:ln w="8890">
            <a:noFill/>
            <a:prstDash val="solid"/>
          </a:ln>
        </p:spPr>
        <p:txBody>
          <a:bodyPr/>
          <a:lstStyle/>
          <a:p>
            <a:endParaRPr lang="en-GB"/>
          </a:p>
        </p:txBody>
      </p:sp>
      <p:sp>
        <p:nvSpPr>
          <p:cNvPr id="8" name="Text 5"/>
          <p:cNvSpPr/>
          <p:nvPr/>
        </p:nvSpPr>
        <p:spPr>
          <a:xfrm>
            <a:off x="822960" y="2880360"/>
            <a:ext cx="3054096" cy="228600"/>
          </a:xfrm>
          <a:prstGeom prst="rect">
            <a:avLst/>
          </a:prstGeom>
          <a:noFill/>
          <a:ln/>
        </p:spPr>
        <p:txBody>
          <a:bodyPr wrap="square" lIns="0" tIns="0" rIns="0" bIns="0" rtlCol="0" anchor="t" anchorCtr="0">
            <a:noAutofit/>
          </a:bodyPr>
          <a:lstStyle/>
          <a:p>
            <a:pPr marL="0" indent="0">
              <a:buNone/>
            </a:pPr>
            <a:r>
              <a:rPr lang="en-US" sz="1200" b="1">
                <a:solidFill>
                  <a:srgbClr val="C7F464"/>
                </a:solidFill>
                <a:latin typeface="Aptos" pitchFamily="34" charset="0"/>
                <a:ea typeface="Aptos" pitchFamily="34" charset="-122"/>
                <a:cs typeface="Aptos" pitchFamily="34" charset="-120"/>
              </a:rPr>
              <a:t>REVENUE CORE</a:t>
            </a:r>
            <a:endParaRPr lang="en-US" sz="1200" b="1" dirty="0">
              <a:solidFill>
                <a:srgbClr val="C7F464"/>
              </a:solidFill>
            </a:endParaRPr>
          </a:p>
        </p:txBody>
      </p:sp>
      <p:sp>
        <p:nvSpPr>
          <p:cNvPr id="9" name="Text 6"/>
          <p:cNvSpPr/>
          <p:nvPr/>
        </p:nvSpPr>
        <p:spPr>
          <a:xfrm>
            <a:off x="822960" y="3232150"/>
            <a:ext cx="3054350" cy="469900"/>
          </a:xfrm>
          <a:prstGeom prst="rect">
            <a:avLst/>
          </a:prstGeom>
          <a:noFill/>
          <a:ln/>
        </p:spPr>
        <p:txBody>
          <a:bodyPr wrap="square" lIns="0" tIns="0" rIns="0" bIns="0" rtlCol="0" anchor="ctr" anchorCtr="0">
            <a:normAutofit/>
          </a:bodyPr>
          <a:lstStyle/>
          <a:p>
            <a:pPr marL="0" indent="0">
              <a:buNone/>
            </a:pPr>
            <a:r>
              <a:rPr lang="en-US" sz="2700" b="1">
                <a:solidFill>
                  <a:srgbClr val="FFFFFF"/>
                </a:solidFill>
                <a:latin typeface="Agency FB" pitchFamily="34" charset="0"/>
                <a:ea typeface="Agency FB" pitchFamily="34" charset="-122"/>
                <a:cs typeface="Agency FB" pitchFamily="34" charset="-120"/>
              </a:rPr>
              <a:t>ANNUAL SAAS</a:t>
            </a:r>
            <a:endParaRPr lang="en-US" sz="2700" b="1" dirty="0">
              <a:solidFill>
                <a:srgbClr val="FFFFFF"/>
              </a:solidFill>
            </a:endParaRPr>
          </a:p>
        </p:txBody>
      </p:sp>
      <p:sp>
        <p:nvSpPr>
          <p:cNvPr id="11" name="Text 8"/>
          <p:cNvSpPr/>
          <p:nvPr/>
        </p:nvSpPr>
        <p:spPr>
          <a:xfrm>
            <a:off x="822960" y="3854450"/>
            <a:ext cx="3054350" cy="368300"/>
          </a:xfrm>
          <a:prstGeom prst="rect">
            <a:avLst/>
          </a:prstGeom>
          <a:noFill/>
          <a:ln/>
        </p:spPr>
        <p:txBody>
          <a:bodyPr wrap="square" lIns="0" tIns="0" rIns="0" bIns="0" rtlCol="0" anchor="ctr" anchorCtr="0">
            <a:normAutofit/>
          </a:bodyPr>
          <a:lstStyle/>
          <a:p>
            <a:pPr marL="0" indent="0">
              <a:buNone/>
            </a:pPr>
            <a:r>
              <a:rPr lang="en-US" sz="1050">
                <a:solidFill>
                  <a:srgbClr val="FFFFFF"/>
                </a:solidFill>
                <a:latin typeface="Aptos" pitchFamily="34" charset="0"/>
                <a:ea typeface="Aptos" pitchFamily="34" charset="-122"/>
                <a:cs typeface="Aptos" pitchFamily="34" charset="-120"/>
              </a:rPr>
              <a:t>Active product families • maintained releases • lifecycle workflow</a:t>
            </a:r>
            <a:endParaRPr lang="en-US" sz="1050" dirty="0">
              <a:solidFill>
                <a:srgbClr val="FFFFFF"/>
              </a:solidFill>
            </a:endParaRPr>
          </a:p>
        </p:txBody>
      </p:sp>
      <p:sp>
        <p:nvSpPr>
          <p:cNvPr id="12" name="Shape 9"/>
          <p:cNvSpPr/>
          <p:nvPr/>
        </p:nvSpPr>
        <p:spPr>
          <a:xfrm>
            <a:off x="4334256" y="2688336"/>
            <a:ext cx="3529584" cy="1618488"/>
          </a:xfrm>
          <a:prstGeom prst="rect">
            <a:avLst/>
          </a:prstGeom>
          <a:solidFill>
            <a:srgbClr val="EFF2EE"/>
          </a:solidFill>
          <a:ln w="8890">
            <a:noFill/>
            <a:prstDash val="solid"/>
          </a:ln>
        </p:spPr>
        <p:txBody>
          <a:bodyPr/>
          <a:lstStyle/>
          <a:p>
            <a:endParaRPr lang="en-GB"/>
          </a:p>
        </p:txBody>
      </p:sp>
      <p:sp>
        <p:nvSpPr>
          <p:cNvPr id="13" name="Text 10"/>
          <p:cNvSpPr/>
          <p:nvPr/>
        </p:nvSpPr>
        <p:spPr>
          <a:xfrm>
            <a:off x="4562856" y="2880360"/>
            <a:ext cx="3054096" cy="228600"/>
          </a:xfrm>
          <a:prstGeom prst="rect">
            <a:avLst/>
          </a:prstGeom>
          <a:noFill/>
          <a:ln/>
        </p:spPr>
        <p:txBody>
          <a:bodyPr wrap="square" lIns="0" tIns="0" rIns="0" bIns="0" rtlCol="0" anchor="t" anchorCtr="0">
            <a:noAutofit/>
          </a:bodyPr>
          <a:lstStyle/>
          <a:p>
            <a:pPr marL="0" indent="0">
              <a:buNone/>
            </a:pPr>
            <a:r>
              <a:rPr lang="en-US" sz="1200" b="1">
                <a:solidFill>
                  <a:srgbClr val="58645E"/>
                </a:solidFill>
                <a:latin typeface="Aptos" pitchFamily="34" charset="0"/>
                <a:ea typeface="Aptos" pitchFamily="34" charset="-122"/>
                <a:cs typeface="Aptos" pitchFamily="34" charset="-120"/>
              </a:rPr>
              <a:t>ENTRY MOTION</a:t>
            </a:r>
            <a:endParaRPr lang="en-US" sz="1200" b="1" dirty="0">
              <a:solidFill>
                <a:srgbClr val="58645E"/>
              </a:solidFill>
            </a:endParaRPr>
          </a:p>
        </p:txBody>
      </p:sp>
      <p:sp>
        <p:nvSpPr>
          <p:cNvPr id="14" name="Text 11"/>
          <p:cNvSpPr/>
          <p:nvPr/>
        </p:nvSpPr>
        <p:spPr>
          <a:xfrm>
            <a:off x="4562856" y="3232150"/>
            <a:ext cx="3054350" cy="469900"/>
          </a:xfrm>
          <a:prstGeom prst="rect">
            <a:avLst/>
          </a:prstGeom>
          <a:noFill/>
          <a:ln/>
        </p:spPr>
        <p:txBody>
          <a:bodyPr wrap="square" lIns="0" tIns="0" rIns="0" bIns="0" rtlCol="0" anchor="ctr" anchorCtr="0">
            <a:normAutofit/>
          </a:bodyPr>
          <a:lstStyle/>
          <a:p>
            <a:pPr marL="0" indent="0">
              <a:buNone/>
            </a:pPr>
            <a:r>
              <a:rPr lang="en-US" sz="2700" b="1">
                <a:solidFill>
                  <a:srgbClr val="111715"/>
                </a:solidFill>
                <a:latin typeface="Agency FB" pitchFamily="34" charset="0"/>
                <a:ea typeface="Agency FB" pitchFamily="34" charset="-122"/>
                <a:cs typeface="Agency FB" pitchFamily="34" charset="-120"/>
              </a:rPr>
              <a:t>PAID SPRINT</a:t>
            </a:r>
            <a:endParaRPr lang="en-US" sz="2700" b="1" dirty="0">
              <a:solidFill>
                <a:srgbClr val="111715"/>
              </a:solidFill>
            </a:endParaRPr>
          </a:p>
        </p:txBody>
      </p:sp>
      <p:sp>
        <p:nvSpPr>
          <p:cNvPr id="16" name="Text 13"/>
          <p:cNvSpPr/>
          <p:nvPr/>
        </p:nvSpPr>
        <p:spPr>
          <a:xfrm>
            <a:off x="4562856" y="3854450"/>
            <a:ext cx="3054350" cy="368300"/>
          </a:xfrm>
          <a:prstGeom prst="rect">
            <a:avLst/>
          </a:prstGeom>
          <a:noFill/>
          <a:ln/>
        </p:spPr>
        <p:txBody>
          <a:bodyPr wrap="square" lIns="0" tIns="0" rIns="0" bIns="0" rtlCol="0" anchor="ctr" anchorCtr="0">
            <a:normAutofit/>
          </a:bodyPr>
          <a:lstStyle/>
          <a:p>
            <a:pPr marL="0" indent="0">
              <a:buNone/>
            </a:pPr>
            <a:r>
              <a:rPr lang="en-US" sz="1050">
                <a:solidFill>
                  <a:srgbClr val="58645E"/>
                </a:solidFill>
                <a:latin typeface="Aptos" pitchFamily="34" charset="0"/>
                <a:ea typeface="Aptos" pitchFamily="34" charset="-122"/>
                <a:cs typeface="Aptos" pitchFamily="34" charset="-120"/>
              </a:rPr>
              <a:t>Bounded onboarding • baseline evidence pack • clear conversion point</a:t>
            </a:r>
            <a:endParaRPr lang="en-US" sz="1050" dirty="0">
              <a:solidFill>
                <a:srgbClr val="58645E"/>
              </a:solidFill>
            </a:endParaRPr>
          </a:p>
        </p:txBody>
      </p:sp>
      <p:sp>
        <p:nvSpPr>
          <p:cNvPr id="17" name="Shape 14"/>
          <p:cNvSpPr/>
          <p:nvPr/>
        </p:nvSpPr>
        <p:spPr>
          <a:xfrm>
            <a:off x="8074152" y="2688336"/>
            <a:ext cx="3529584" cy="1618488"/>
          </a:xfrm>
          <a:prstGeom prst="rect">
            <a:avLst/>
          </a:prstGeom>
          <a:solidFill>
            <a:srgbClr val="EFF2EE"/>
          </a:solidFill>
          <a:ln w="8890">
            <a:noFill/>
            <a:prstDash val="solid"/>
          </a:ln>
        </p:spPr>
        <p:txBody>
          <a:bodyPr/>
          <a:lstStyle/>
          <a:p>
            <a:endParaRPr lang="en-GB"/>
          </a:p>
        </p:txBody>
      </p:sp>
      <p:sp>
        <p:nvSpPr>
          <p:cNvPr id="18" name="Text 15"/>
          <p:cNvSpPr/>
          <p:nvPr/>
        </p:nvSpPr>
        <p:spPr>
          <a:xfrm>
            <a:off x="8302752" y="2880360"/>
            <a:ext cx="3054096" cy="228600"/>
          </a:xfrm>
          <a:prstGeom prst="rect">
            <a:avLst/>
          </a:prstGeom>
          <a:noFill/>
          <a:ln/>
        </p:spPr>
        <p:txBody>
          <a:bodyPr wrap="square" lIns="0" tIns="0" rIns="0" bIns="0" rtlCol="0" anchor="t" anchorCtr="0">
            <a:noAutofit/>
          </a:bodyPr>
          <a:lstStyle/>
          <a:p>
            <a:pPr marL="0" indent="0">
              <a:buNone/>
            </a:pPr>
            <a:r>
              <a:rPr lang="en-US" sz="1200" b="1">
                <a:solidFill>
                  <a:srgbClr val="58645E"/>
                </a:solidFill>
                <a:latin typeface="Aptos" pitchFamily="34" charset="0"/>
                <a:ea typeface="Aptos" pitchFamily="34" charset="-122"/>
                <a:cs typeface="Aptos" pitchFamily="34" charset="-120"/>
              </a:rPr>
              <a:t>EXPANSION</a:t>
            </a:r>
            <a:endParaRPr lang="en-US" sz="1200" b="1" dirty="0">
              <a:solidFill>
                <a:srgbClr val="58645E"/>
              </a:solidFill>
            </a:endParaRPr>
          </a:p>
        </p:txBody>
      </p:sp>
      <p:sp>
        <p:nvSpPr>
          <p:cNvPr id="19" name="Text 16"/>
          <p:cNvSpPr/>
          <p:nvPr/>
        </p:nvSpPr>
        <p:spPr>
          <a:xfrm>
            <a:off x="8302752" y="3232150"/>
            <a:ext cx="3054350" cy="469900"/>
          </a:xfrm>
          <a:prstGeom prst="rect">
            <a:avLst/>
          </a:prstGeom>
          <a:noFill/>
          <a:ln/>
        </p:spPr>
        <p:txBody>
          <a:bodyPr wrap="square" lIns="0" tIns="0" rIns="0" bIns="0" rtlCol="0" anchor="ctr" anchorCtr="0">
            <a:normAutofit/>
          </a:bodyPr>
          <a:lstStyle/>
          <a:p>
            <a:pPr marL="0" indent="0">
              <a:buNone/>
            </a:pPr>
            <a:r>
              <a:rPr lang="en-US" sz="2700" b="1">
                <a:solidFill>
                  <a:srgbClr val="111715"/>
                </a:solidFill>
                <a:latin typeface="Agency FB" pitchFamily="34" charset="0"/>
                <a:ea typeface="Agency FB" pitchFamily="34" charset="-122"/>
                <a:cs typeface="Agency FB" pitchFamily="34" charset="-120"/>
              </a:rPr>
              <a:t>ADD-ONS</a:t>
            </a:r>
            <a:endParaRPr lang="en-US" sz="2700" b="1" dirty="0">
              <a:solidFill>
                <a:srgbClr val="111715"/>
              </a:solidFill>
            </a:endParaRPr>
          </a:p>
        </p:txBody>
      </p:sp>
      <p:sp>
        <p:nvSpPr>
          <p:cNvPr id="21" name="Text 18"/>
          <p:cNvSpPr/>
          <p:nvPr/>
        </p:nvSpPr>
        <p:spPr>
          <a:xfrm>
            <a:off x="8302752" y="3854450"/>
            <a:ext cx="3054350" cy="368300"/>
          </a:xfrm>
          <a:prstGeom prst="rect">
            <a:avLst/>
          </a:prstGeom>
          <a:noFill/>
          <a:ln/>
        </p:spPr>
        <p:txBody>
          <a:bodyPr wrap="square" lIns="0" tIns="0" rIns="0" bIns="0" rtlCol="0" anchor="ctr" anchorCtr="0">
            <a:normAutofit/>
          </a:bodyPr>
          <a:lstStyle/>
          <a:p>
            <a:pPr marL="0" indent="0">
              <a:buNone/>
            </a:pPr>
            <a:r>
              <a:rPr lang="en-US" sz="1050">
                <a:solidFill>
                  <a:srgbClr val="58645E"/>
                </a:solidFill>
                <a:latin typeface="Aptos" pitchFamily="34" charset="0"/>
                <a:ea typeface="Aptos" pitchFamily="34" charset="-122"/>
                <a:cs typeface="Aptos" pitchFamily="34" charset="-120"/>
              </a:rPr>
              <a:t>Multi-entity • integrations • retention • deployment • reviewer network</a:t>
            </a:r>
            <a:endParaRPr lang="en-US" sz="1050" dirty="0">
              <a:solidFill>
                <a:srgbClr val="58645E"/>
              </a:solidFill>
            </a:endParaRPr>
          </a:p>
        </p:txBody>
      </p:sp>
      <p:sp>
        <p:nvSpPr>
          <p:cNvPr id="22" name="Text 19"/>
          <p:cNvSpPr/>
          <p:nvPr/>
        </p:nvSpPr>
        <p:spPr>
          <a:xfrm>
            <a:off x="603504" y="4608576"/>
            <a:ext cx="1408176" cy="228600"/>
          </a:xfrm>
          <a:prstGeom prst="rect">
            <a:avLst/>
          </a:prstGeom>
          <a:noFill/>
          <a:ln/>
        </p:spPr>
        <p:txBody>
          <a:bodyPr wrap="square" lIns="0" tIns="0" rIns="0" bIns="0" rtlCol="0" anchor="ctr" anchorCtr="0">
            <a:noAutofit/>
          </a:bodyPr>
          <a:lstStyle/>
          <a:p>
            <a:pPr marL="0" indent="0">
              <a:buNone/>
            </a:pPr>
            <a:r>
              <a:rPr lang="en-US" sz="1100" b="1">
                <a:solidFill>
                  <a:srgbClr val="58645E"/>
                </a:solidFill>
                <a:latin typeface="Aptos" pitchFamily="34" charset="0"/>
                <a:ea typeface="Aptos" pitchFamily="34" charset="-122"/>
                <a:cs typeface="Aptos" pitchFamily="34" charset="-120"/>
              </a:rPr>
              <a:t>PRICING LOGIC</a:t>
            </a:r>
            <a:endParaRPr lang="en-US" sz="1100" b="1" dirty="0">
              <a:solidFill>
                <a:srgbClr val="58645E"/>
              </a:solidFill>
            </a:endParaRPr>
          </a:p>
        </p:txBody>
      </p:sp>
      <p:sp>
        <p:nvSpPr>
          <p:cNvPr id="23" name="Text 20"/>
          <p:cNvSpPr/>
          <p:nvPr/>
        </p:nvSpPr>
        <p:spPr>
          <a:xfrm>
            <a:off x="2231136" y="4562856"/>
            <a:ext cx="3776472" cy="310896"/>
          </a:xfrm>
          <a:prstGeom prst="rect">
            <a:avLst/>
          </a:prstGeom>
          <a:noFill/>
          <a:ln/>
        </p:spPr>
        <p:txBody>
          <a:bodyPr wrap="square" lIns="0" tIns="0" rIns="0" bIns="0" rtlCol="0" anchor="ctr" anchorCtr="0">
            <a:normAutofit/>
          </a:bodyPr>
          <a:lstStyle/>
          <a:p>
            <a:pPr marL="0" indent="0">
              <a:buNone/>
            </a:pPr>
            <a:r>
              <a:rPr lang="en-US" sz="2000" b="1">
                <a:solidFill>
                  <a:srgbClr val="111715"/>
                </a:solidFill>
                <a:latin typeface="Aptos" pitchFamily="34" charset="0"/>
                <a:ea typeface="Aptos" pitchFamily="34" charset="-122"/>
                <a:cs typeface="Aptos" pitchFamily="34" charset="-120"/>
              </a:rPr>
              <a:t>Value, not seats</a:t>
            </a:r>
            <a:endParaRPr lang="en-US" sz="2000" b="1" dirty="0">
              <a:solidFill>
                <a:srgbClr val="111715"/>
              </a:solidFill>
            </a:endParaRPr>
          </a:p>
        </p:txBody>
      </p:sp>
      <p:sp>
        <p:nvSpPr>
          <p:cNvPr id="24" name="Text 21"/>
          <p:cNvSpPr/>
          <p:nvPr/>
        </p:nvSpPr>
        <p:spPr>
          <a:xfrm>
            <a:off x="5998464" y="4599432"/>
            <a:ext cx="5586984" cy="256032"/>
          </a:xfrm>
          <a:prstGeom prst="rect">
            <a:avLst/>
          </a:prstGeom>
          <a:noFill/>
          <a:ln/>
        </p:spPr>
        <p:txBody>
          <a:bodyPr wrap="square" lIns="0" tIns="0" rIns="0" bIns="0" rtlCol="0" anchor="ctr" anchorCtr="0">
            <a:normAutofit fontScale="85000" lnSpcReduction="10000"/>
          </a:bodyPr>
          <a:lstStyle/>
          <a:p>
            <a:pPr marL="0" indent="0">
              <a:buNone/>
            </a:pPr>
            <a:r>
              <a:rPr lang="en-US" sz="1300">
                <a:solidFill>
                  <a:srgbClr val="58645E"/>
                </a:solidFill>
                <a:latin typeface="Aptos" pitchFamily="34" charset="0"/>
                <a:ea typeface="Aptos" pitchFamily="34" charset="-122"/>
                <a:cs typeface="Aptos" pitchFamily="34" charset="-120"/>
              </a:rPr>
              <a:t>Unlimited core users • align fees with portfolio breadth and recurring release workload</a:t>
            </a:r>
            <a:endParaRPr lang="en-US" sz="1300" dirty="0">
              <a:solidFill>
                <a:srgbClr val="58645E"/>
              </a:solidFill>
            </a:endParaRPr>
          </a:p>
        </p:txBody>
      </p:sp>
      <p:sp>
        <p:nvSpPr>
          <p:cNvPr id="25" name="Shape 22"/>
          <p:cNvSpPr/>
          <p:nvPr/>
        </p:nvSpPr>
        <p:spPr>
          <a:xfrm>
            <a:off x="603504" y="5102352"/>
            <a:ext cx="10981944" cy="0"/>
          </a:xfrm>
          <a:prstGeom prst="line">
            <a:avLst/>
          </a:prstGeom>
          <a:noFill/>
          <a:ln w="12700">
            <a:solidFill>
              <a:srgbClr val="D9DFDA"/>
            </a:solidFill>
            <a:prstDash val="solid"/>
            <a:headEnd type="none"/>
            <a:tailEnd type="none"/>
          </a:ln>
        </p:spPr>
        <p:txBody>
          <a:bodyPr/>
          <a:lstStyle/>
          <a:p>
            <a:endParaRPr lang="en-GB"/>
          </a:p>
        </p:txBody>
      </p:sp>
      <p:sp>
        <p:nvSpPr>
          <p:cNvPr id="26" name="Text 23"/>
          <p:cNvSpPr/>
          <p:nvPr/>
        </p:nvSpPr>
        <p:spPr>
          <a:xfrm>
            <a:off x="603504" y="5367528"/>
            <a:ext cx="2020824" cy="228600"/>
          </a:xfrm>
          <a:prstGeom prst="rect">
            <a:avLst/>
          </a:prstGeom>
          <a:noFill/>
          <a:ln/>
        </p:spPr>
        <p:txBody>
          <a:bodyPr wrap="square" lIns="0" tIns="0" rIns="0" bIns="0" rtlCol="0" anchor="ctr" anchorCtr="0">
            <a:noAutofit/>
          </a:bodyPr>
          <a:lstStyle/>
          <a:p>
            <a:pPr marL="0" indent="0">
              <a:buNone/>
            </a:pPr>
            <a:r>
              <a:rPr lang="en-US" sz="1100" b="1">
                <a:solidFill>
                  <a:srgbClr val="58645E"/>
                </a:solidFill>
                <a:latin typeface="Aptos" pitchFamily="34" charset="0"/>
                <a:ea typeface="Aptos" pitchFamily="34" charset="-122"/>
                <a:cs typeface="Aptos" pitchFamily="34" charset="-120"/>
              </a:rPr>
              <a:t>SERVICES ROLE</a:t>
            </a:r>
            <a:endParaRPr lang="en-US" sz="1100" b="1" dirty="0">
              <a:solidFill>
                <a:srgbClr val="58645E"/>
              </a:solidFill>
            </a:endParaRPr>
          </a:p>
        </p:txBody>
      </p:sp>
      <p:sp>
        <p:nvSpPr>
          <p:cNvPr id="27" name="Text 24"/>
          <p:cNvSpPr/>
          <p:nvPr/>
        </p:nvSpPr>
        <p:spPr>
          <a:xfrm>
            <a:off x="2752344" y="5239512"/>
            <a:ext cx="4599432" cy="557784"/>
          </a:xfrm>
          <a:prstGeom prst="rect">
            <a:avLst/>
          </a:prstGeom>
          <a:noFill/>
          <a:ln/>
        </p:spPr>
        <p:txBody>
          <a:bodyPr wrap="square" lIns="0" tIns="0" rIns="0" bIns="0" rtlCol="0" anchor="ctr" anchorCtr="0">
            <a:normAutofit/>
          </a:bodyPr>
          <a:lstStyle/>
          <a:p>
            <a:pPr marL="0" indent="0">
              <a:buNone/>
            </a:pPr>
            <a:r>
              <a:rPr lang="en-US" sz="2100" b="1">
                <a:solidFill>
                  <a:srgbClr val="111715"/>
                </a:solidFill>
                <a:latin typeface="Agency FB" pitchFamily="34" charset="0"/>
                <a:ea typeface="Agency FB" pitchFamily="34" charset="-122"/>
                <a:cs typeface="Agency FB" pitchFamily="34" charset="-120"/>
              </a:rPr>
              <a:t>Enable adoption—not dependence</a:t>
            </a:r>
            <a:endParaRPr lang="en-US" sz="2100" b="1" dirty="0">
              <a:solidFill>
                <a:srgbClr val="111715"/>
              </a:solidFill>
            </a:endParaRPr>
          </a:p>
        </p:txBody>
      </p:sp>
      <p:sp>
        <p:nvSpPr>
          <p:cNvPr id="28" name="Text 25"/>
          <p:cNvSpPr/>
          <p:nvPr/>
        </p:nvSpPr>
        <p:spPr>
          <a:xfrm>
            <a:off x="8439912" y="5358384"/>
            <a:ext cx="3127248" cy="256032"/>
          </a:xfrm>
          <a:prstGeom prst="rect">
            <a:avLst/>
          </a:prstGeom>
          <a:noFill/>
          <a:ln/>
        </p:spPr>
        <p:txBody>
          <a:bodyPr wrap="none" lIns="0" tIns="0" rIns="0" bIns="0" rtlCol="0" anchor="ctr" anchorCtr="0">
            <a:normAutofit/>
          </a:bodyPr>
          <a:lstStyle/>
          <a:p>
            <a:pPr marL="0" indent="0" algn="r">
              <a:buNone/>
            </a:pPr>
            <a:r>
              <a:rPr lang="en-US" sz="1250">
                <a:solidFill>
                  <a:srgbClr val="58645E"/>
                </a:solidFill>
                <a:latin typeface="Aptos" pitchFamily="34" charset="0"/>
                <a:ea typeface="Aptos" pitchFamily="34" charset="-122"/>
                <a:cs typeface="Aptos" pitchFamily="34" charset="-120"/>
              </a:rPr>
              <a:t>Partners handle specialist work</a:t>
            </a:r>
            <a:endParaRPr lang="en-US" sz="1250" dirty="0">
              <a:solidFill>
                <a:srgbClr val="58645E"/>
              </a:solidFill>
            </a:endParaRPr>
          </a:p>
        </p:txBody>
      </p:sp>
      <p:sp>
        <p:nvSpPr>
          <p:cNvPr id="29" name="Text 26"/>
          <p:cNvSpPr/>
          <p:nvPr/>
        </p:nvSpPr>
        <p:spPr>
          <a:xfrm>
            <a:off x="603504" y="5934456"/>
            <a:ext cx="1508760" cy="228600"/>
          </a:xfrm>
          <a:prstGeom prst="rect">
            <a:avLst/>
          </a:prstGeom>
          <a:noFill/>
          <a:ln/>
        </p:spPr>
        <p:txBody>
          <a:bodyPr wrap="square" lIns="0" tIns="0" rIns="0" bIns="0" rtlCol="0" anchor="ctr" anchorCtr="0">
            <a:noAutofit/>
          </a:bodyPr>
          <a:lstStyle/>
          <a:p>
            <a:pPr marL="0" indent="0">
              <a:buNone/>
            </a:pPr>
            <a:r>
              <a:rPr lang="en-US" sz="1100" b="1">
                <a:solidFill>
                  <a:srgbClr val="58645E"/>
                </a:solidFill>
                <a:latin typeface="Aptos" pitchFamily="34" charset="0"/>
                <a:ea typeface="Aptos" pitchFamily="34" charset="-122"/>
                <a:cs typeface="Aptos" pitchFamily="34" charset="-120"/>
              </a:rPr>
              <a:t>MARGIN MODEL</a:t>
            </a:r>
            <a:endParaRPr lang="en-US" sz="1100" b="1" dirty="0">
              <a:solidFill>
                <a:srgbClr val="58645E"/>
              </a:solidFill>
            </a:endParaRPr>
          </a:p>
        </p:txBody>
      </p:sp>
      <p:sp>
        <p:nvSpPr>
          <p:cNvPr id="30" name="Text 27"/>
          <p:cNvSpPr/>
          <p:nvPr/>
        </p:nvSpPr>
        <p:spPr>
          <a:xfrm>
            <a:off x="2231136" y="5916168"/>
            <a:ext cx="9326880" cy="265176"/>
          </a:xfrm>
          <a:prstGeom prst="rect">
            <a:avLst/>
          </a:prstGeom>
          <a:noFill/>
          <a:ln/>
        </p:spPr>
        <p:txBody>
          <a:bodyPr wrap="square" lIns="0" tIns="0" rIns="0" bIns="0" rtlCol="0" anchor="ctr" anchorCtr="0">
            <a:normAutofit/>
          </a:bodyPr>
          <a:lstStyle/>
          <a:p>
            <a:pPr marL="0" indent="0">
              <a:buNone/>
            </a:pPr>
            <a:r>
              <a:rPr lang="en-US" sz="1400">
                <a:solidFill>
                  <a:srgbClr val="111715"/>
                </a:solidFill>
                <a:latin typeface="Aptos" pitchFamily="34" charset="0"/>
                <a:ea typeface="Aptos" pitchFamily="34" charset="-122"/>
                <a:cs typeface="Aptos" pitchFamily="34" charset="-120"/>
              </a:rPr>
              <a:t>Keep scanning and lab work pass-through or partner-billed; avoid fees tied to conformity outcomes.</a:t>
            </a:r>
            <a:endParaRPr lang="en-US" sz="1400" dirty="0">
              <a:solidFill>
                <a:srgbClr val="111715"/>
              </a:solidFill>
            </a:endParaRPr>
          </a:p>
        </p:txBody>
      </p:sp>
      <p:sp>
        <p:nvSpPr>
          <p:cNvPr id="31" name="Shape 28"/>
          <p:cNvSpPr/>
          <p:nvPr/>
        </p:nvSpPr>
        <p:spPr>
          <a:xfrm>
            <a:off x="594360" y="6437376"/>
            <a:ext cx="11000232" cy="0"/>
          </a:xfrm>
          <a:prstGeom prst="line">
            <a:avLst/>
          </a:prstGeom>
          <a:noFill/>
          <a:ln w="12700">
            <a:solidFill>
              <a:srgbClr val="D9DFDA"/>
            </a:solidFill>
            <a:prstDash val="solid"/>
            <a:headEnd type="none"/>
            <a:tailEnd type="none"/>
          </a:ln>
        </p:spPr>
        <p:txBody>
          <a:bodyPr/>
          <a:lstStyle/>
          <a:p>
            <a:endParaRPr lang="en-GB"/>
          </a:p>
        </p:txBody>
      </p:sp>
    </p:spTree>
    <p:extLst>
      <p:ext uri="{BB962C8B-B14F-4D97-AF65-F5344CB8AC3E}">
        <p14:creationId xmlns:p14="http://schemas.microsoft.com/office/powerpoint/2010/main" val="2955296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9FCE90E5-2E5A-47B2-A8C0-4A67C7E691A6}"/>
              </a:ext>
            </a:extLst>
          </p:cNvPr>
          <p:cNvSpPr txBox="1"/>
          <p:nvPr/>
        </p:nvSpPr>
        <p:spPr>
          <a:xfrm>
            <a:off x="2286000" y="2349500"/>
            <a:ext cx="7620000" cy="1041400"/>
          </a:xfrm>
          <a:prstGeom prst="rect">
            <a:avLst/>
          </a:prstGeom>
          <a:noFill/>
        </p:spPr>
        <p:txBody>
          <a:bodyPr vertOverflow="overflow" vert="horz" wrap="square" rtlCol="0" anchor="ctr" anchorCtr="0">
            <a:noAutofit/>
          </a:bodyPr>
          <a:lstStyle/>
          <a:p>
            <a:pPr algn="l"/>
            <a:r>
              <a:rPr lang="en-GB" sz="4400" b="1">
                <a:solidFill>
                  <a:srgbClr val="0B1210"/>
                </a:solidFill>
                <a:latin typeface="Arial Narrow"/>
              </a:rPr>
              <a:t>Thank you</a:t>
            </a:r>
          </a:p>
        </p:txBody>
      </p:sp>
      <p:sp>
        <p:nvSpPr>
          <p:cNvPr id="21" name="TextBox 20">
            <a:extLst>
              <a:ext uri="{FF2B5EF4-FFF2-40B4-BE49-F238E27FC236}">
                <a16:creationId xmlns:a16="http://schemas.microsoft.com/office/drawing/2014/main" id="{3FD7EA75-DD29-447D-8465-663747EF864B}"/>
              </a:ext>
            </a:extLst>
          </p:cNvPr>
          <p:cNvSpPr txBox="1"/>
          <p:nvPr/>
        </p:nvSpPr>
        <p:spPr>
          <a:xfrm>
            <a:off x="3048000" y="3429000"/>
            <a:ext cx="6096000" cy="533400"/>
          </a:xfrm>
          <a:prstGeom prst="rect">
            <a:avLst/>
          </a:prstGeom>
          <a:noFill/>
        </p:spPr>
        <p:txBody>
          <a:bodyPr vertOverflow="overflow" vert="horz" wrap="square" rtlCol="0" anchor="ctr" anchorCtr="0">
            <a:noAutofit/>
          </a:bodyPr>
          <a:lstStyle/>
          <a:p>
            <a:pPr algn="l"/>
            <a:r>
              <a:rPr lang="en-GB" sz="2200">
                <a:solidFill>
                  <a:srgbClr val="4B5563"/>
                </a:solidFill>
                <a:latin typeface="Arial"/>
                <a:cs typeface="Arial"/>
              </a:rPr>
              <a:t>for listening.</a:t>
            </a:r>
          </a:p>
        </p:txBody>
      </p:sp>
      <p:sp>
        <p:nvSpPr>
          <p:cNvPr id="22" name="Rectangle 21">
            <a:extLst>
              <a:ext uri="{FF2B5EF4-FFF2-40B4-BE49-F238E27FC236}">
                <a16:creationId xmlns:a16="http://schemas.microsoft.com/office/drawing/2014/main" id="{2AC92D8D-2FBC-4AB7-965C-165A169A71AA}"/>
              </a:ext>
            </a:extLst>
          </p:cNvPr>
          <p:cNvSpPr/>
          <p:nvPr/>
        </p:nvSpPr>
        <p:spPr>
          <a:xfrm>
            <a:off x="5384800" y="4216400"/>
            <a:ext cx="1422400" cy="50800"/>
          </a:xfrm>
          <a:prstGeom prst="rect">
            <a:avLst/>
          </a:prstGeom>
          <a:solidFill>
            <a:srgbClr val="9AD3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gency FB"/>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A9149790-607D-4B3A-9074-C20C31AE564C}">
  <we:reference id="wa200010215" version="2.0.0.0" store="en-US" storeType="OMEX"/>
  <we:alternateReferences>
    <we:reference id="WA200010215" version="2.0.0.0" store="" storeType="OMEX"/>
  </we:alternateReferences>
  <we:properties>
    <we:property name="bps.codex_control.document_id" value="&quot;d33f4307-ba5d-4986-bbd2-544729bfd9ee&quot;"/>
  </we:properties>
  <we:bindings/>
  <we:snapshot xmlns:r="http://schemas.openxmlformats.org/officeDocument/2006/relationships"/>
</we:webextension>
</file>

<file path=ppt/webextensions/webextension2.xml><?xml version="1.0" encoding="utf-8"?>
<we:webextension xmlns:we="http://schemas.microsoft.com/office/webextensions/webextension/2010/11" id="{35769A55-021E-DD43-9397-855AC9A5E321}">
  <we:reference id="wa200010725" version="1.0.0.1" store="en-US" storeType="OMEX"/>
  <we:alternateReferences>
    <we:reference id="WA200010725" version="1.0.0.1"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176</TotalTime>
  <Words>5348</Words>
  <Application>Microsoft Office PowerPoint</Application>
  <PresentationFormat>Widescreen</PresentationFormat>
  <Paragraphs>172</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Agency FB</vt:lpstr>
      <vt:lpstr>Aptos</vt:lpstr>
      <vt:lpstr>Arial</vt:lpstr>
      <vt:lpstr>Arial Narrow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PandaX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PandaX | Connected-product cybersecurity evidence</dc:title>
  <dc:subject>University startup pitch</dc:subject>
  <dc:creator>PandaX</dc:creator>
  <cp:lastModifiedBy>Yaheli Levit</cp:lastModifiedBy>
  <cp:revision>22</cp:revision>
  <dcterms:created xsi:type="dcterms:W3CDTF">2026-09-05T15:19:57Z</dcterms:created>
  <dcterms:modified xsi:type="dcterms:W3CDTF">2026-09-07T00:53:12Z</dcterms:modified>
</cp:coreProperties>
</file>