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60" r:id="rId3"/>
    <p:sldId id="257" r:id="rId4"/>
    <p:sldId id="258" r:id="rId5"/>
    <p:sldId id="259" r:id="rId6"/>
    <p:sldId id="263" r:id="rId7"/>
    <p:sldId id="264" r:id="rId8"/>
    <p:sldId id="265" r:id="rId9"/>
    <p:sldId id="262" r:id="rId10"/>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1612"/>
    <a:srgbClr val="C00000"/>
    <a:srgbClr val="C06900"/>
    <a:srgbClr val="962A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visible headlines are unaltered image clippings captured from official government article pages. These U.S. matters illustrate the legal cost of missing vulnerability, evidence, and reporting controls. They are not CRA cases and the settlement structures are not directly comparable. Equifax: https://www.ftc.gov/news-events/news/press-releases/2019/07/equifax-pay-575-million-part-settlement-ftc-cfpb-states-related-2017-data-breach . Uber: https://www.oag.ca.gov/news/press-releases/california-attorney-general-becerra-san-francisco-district-attorney-gasc%C3%B3n . Ring: https://www.ftc.gov/news-events/news/press-releases/2023/05/ftc-says-ring-employees-illegally-surveilled-customers-failed-stop-hackers-taking-control-users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cybersecurity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manual compliance workflow based on the user-supplied problem framing. The slide makes no measured claim about average legal-response duration. Generated lawyer visual created specifically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PandaX continuously extracts firmware components, detects reachable vulnerabilities, and produces CRA-ready evidence before repeating on the next firmware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12880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628581-EAC5-4C54-A39C-2763F221E88E}"/>
              </a:ext>
            </a:extLst>
          </p:cNvPr>
          <p:cNvSpPr>
            <a:spLocks noGrp="1"/>
          </p:cNvSpPr>
          <p:nvPr/>
        </p:nvSpPr>
        <p:spPr>
          <a:xfrm>
            <a:off x="0" y="0"/>
            <a:ext cx="171450" cy="685800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03131B76-98C5-430A-9CE5-7CA9570719EB}"/>
              </a:ext>
            </a:extLst>
          </p:cNvPr>
          <p:cNvSpPr>
            <a:spLocks noGrp="1"/>
          </p:cNvSpPr>
          <p:nvPr/>
        </p:nvSpPr>
        <p:spPr>
          <a:xfrm>
            <a:off x="685800" y="1428750"/>
            <a:ext cx="619125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PandaX</a:t>
            </a:r>
          </a:p>
        </p:txBody>
      </p:sp>
      <p:sp>
        <p:nvSpPr>
          <p:cNvPr id="3" name="Rectangle 2">
            <a:extLst>
              <a:ext uri="{FF2B5EF4-FFF2-40B4-BE49-F238E27FC236}">
                <a16:creationId xmlns:a16="http://schemas.microsoft.com/office/drawing/2014/main" id="{1F5B4054-475A-4F28-9AFA-21522DD68378}"/>
              </a:ext>
            </a:extLst>
          </p:cNvPr>
          <p:cNvSpPr>
            <a:spLocks noGrp="1"/>
          </p:cNvSpPr>
          <p:nvPr/>
        </p:nvSpPr>
        <p:spPr>
          <a:xfrm>
            <a:off x="704850" y="2571750"/>
            <a:ext cx="5905500" cy="1466850"/>
          </a:xfrm>
          <a:prstGeom prst="rect">
            <a:avLst/>
          </a:prstGeom>
          <a:noFill/>
          <a:ln w="0">
            <a:noFill/>
          </a:ln>
        </p:spPr>
        <p:txBody>
          <a:bodyPr wrap="square" lIns="0" tIns="0" rIns="0" bIns="0" anchor="t">
            <a:noAutofit/>
          </a:bodyPr>
          <a:lstStyle/>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CRA-ready</a:t>
            </a:r>
          </a:p>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firmware evidence</a:t>
            </a:r>
          </a:p>
        </p:txBody>
      </p:sp>
      <p:sp>
        <p:nvSpPr>
          <p:cNvPr id="4" name="Rectangle 3">
            <a:extLst>
              <a:ext uri="{FF2B5EF4-FFF2-40B4-BE49-F238E27FC236}">
                <a16:creationId xmlns:a16="http://schemas.microsoft.com/office/drawing/2014/main" id="{98FDC6C5-9121-4E74-9A51-1873BA8F32FD}"/>
              </a:ext>
            </a:extLst>
          </p:cNvPr>
          <p:cNvSpPr>
            <a:spLocks noGrp="1"/>
          </p:cNvSpPr>
          <p:nvPr/>
        </p:nvSpPr>
        <p:spPr>
          <a:xfrm>
            <a:off x="7296150" y="0"/>
            <a:ext cx="4895850" cy="6858000"/>
          </a:xfrm>
          <a:prstGeom prst="rect">
            <a:avLst/>
          </a:prstGeom>
          <a:solidFill>
            <a:srgbClr val="356B3F"/>
          </a:solidFill>
          <a:ln w="0">
            <a:noFill/>
          </a:ln>
        </p:spPr>
        <p:txBody>
          <a:bodyPr/>
          <a:lstStyle/>
          <a:p>
            <a:endParaRPr lang="LID4096"/>
          </a:p>
        </p:txBody>
      </p:sp>
      <p:pic>
        <p:nvPicPr>
          <p:cNvPr id="10" name="Picture 9"/>
          <p:cNvPicPr>
            <a:picLocks noChangeAspect="1"/>
          </p:cNvPicPr>
          <p:nvPr/>
        </p:nvPicPr>
        <p:blipFill>
          <a:blip r:embed="rId3"/>
          <a:stretch/>
        </p:blipFill>
        <p:spPr>
          <a:xfrm>
            <a:off x="7961313" y="781050"/>
            <a:ext cx="3556000" cy="5334000"/>
          </a:xfrm>
          <a:prstGeom prst="rect">
            <a:avLst/>
          </a:prstGeom>
        </p:spPr>
      </p:pic>
    </p:spTree>
    <p:extLst>
      <p:ext uri="{BB962C8B-B14F-4D97-AF65-F5344CB8AC3E}">
        <p14:creationId xmlns:p14="http://schemas.microsoft.com/office/powerpoint/2010/main" val="722801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098CDC5-44BB-4DC5-8455-6CF254572701}"/>
              </a:ext>
            </a:extLst>
          </p:cNvPr>
          <p:cNvSpPr>
            <a:spLocks noGrp="1"/>
          </p:cNvSpPr>
          <p:nvPr/>
        </p:nvSpPr>
        <p:spPr>
          <a:xfrm>
            <a:off x="533400" y="476250"/>
            <a:ext cx="57150" cy="51435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C8406F9E-E692-4482-9817-F0BD2EB5A512}"/>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Security failures become legal costs</a:t>
            </a:r>
          </a:p>
        </p:txBody>
      </p:sp>
      <p:sp>
        <p:nvSpPr>
          <p:cNvPr id="3" name="Rectangle 2">
            <a:extLst>
              <a:ext uri="{FF2B5EF4-FFF2-40B4-BE49-F238E27FC236}">
                <a16:creationId xmlns:a16="http://schemas.microsoft.com/office/drawing/2014/main" id="{A01A2EAC-F94F-4E74-B170-24D90F4164CA}"/>
              </a:ext>
            </a:extLst>
          </p:cNvPr>
          <p:cNvSpPr>
            <a:spLocks noGrp="1"/>
          </p:cNvSpPr>
          <p:nvPr/>
        </p:nvSpPr>
        <p:spPr>
          <a:xfrm>
            <a:off x="685800" y="150018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$575M+</a:t>
            </a:r>
          </a:p>
        </p:txBody>
      </p:sp>
      <p:sp>
        <p:nvSpPr>
          <p:cNvPr id="5" name="Rectangle: Rounded Corners 4">
            <a:extLst>
              <a:ext uri="{FF2B5EF4-FFF2-40B4-BE49-F238E27FC236}">
                <a16:creationId xmlns:a16="http://schemas.microsoft.com/office/drawing/2014/main" id="{BD7E4F24-C26B-44FD-BE3D-FF7F006D575E}"/>
              </a:ext>
            </a:extLst>
          </p:cNvPr>
          <p:cNvSpPr>
            <a:spLocks noGrp="1"/>
          </p:cNvSpPr>
          <p:nvPr/>
        </p:nvSpPr>
        <p:spPr>
          <a:xfrm>
            <a:off x="2857500" y="1381125"/>
            <a:ext cx="8572500" cy="1000125"/>
          </a:xfrm>
          <a:prstGeom prst="roundRect">
            <a:avLst>
              <a:gd name="adj" fmla="val 7619"/>
            </a:avLst>
          </a:prstGeom>
          <a:solidFill>
            <a:srgbClr val="FFFFFF"/>
          </a:solidFill>
          <a:ln w="9525">
            <a:solidFill>
              <a:srgbClr val="D5DDD8"/>
            </a:solidFill>
            <a:prstDash val="solid"/>
          </a:ln>
        </p:spPr>
        <p:txBody>
          <a:bodyPr/>
          <a:lstStyle/>
          <a:p>
            <a:endParaRPr lang="LID4096"/>
          </a:p>
        </p:txBody>
      </p:sp>
      <p:pic>
        <p:nvPicPr>
          <p:cNvPr id="23" name="Picture 22"/>
          <p:cNvPicPr>
            <a:picLocks noChangeAspect="1"/>
          </p:cNvPicPr>
          <p:nvPr/>
        </p:nvPicPr>
        <p:blipFill>
          <a:blip r:embed="rId3"/>
          <a:stretch/>
        </p:blipFill>
        <p:spPr>
          <a:xfrm>
            <a:off x="3439279" y="1476375"/>
            <a:ext cx="7408942" cy="809625"/>
          </a:xfrm>
          <a:prstGeom prst="rect">
            <a:avLst/>
          </a:prstGeom>
        </p:spPr>
      </p:pic>
      <p:sp>
        <p:nvSpPr>
          <p:cNvPr id="7" name="Rectangle 6">
            <a:extLst>
              <a:ext uri="{FF2B5EF4-FFF2-40B4-BE49-F238E27FC236}">
                <a16:creationId xmlns:a16="http://schemas.microsoft.com/office/drawing/2014/main" id="{544DB761-9BD1-4C5E-9AB3-26008376D6D6}"/>
              </a:ext>
            </a:extLst>
          </p:cNvPr>
          <p:cNvSpPr>
            <a:spLocks noGrp="1"/>
          </p:cNvSpPr>
          <p:nvPr/>
        </p:nvSpPr>
        <p:spPr>
          <a:xfrm>
            <a:off x="685800" y="3200400"/>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$148M</a:t>
            </a:r>
          </a:p>
        </p:txBody>
      </p:sp>
      <p:sp>
        <p:nvSpPr>
          <p:cNvPr id="9" name="Rectangle: Rounded Corners 8">
            <a:extLst>
              <a:ext uri="{FF2B5EF4-FFF2-40B4-BE49-F238E27FC236}">
                <a16:creationId xmlns:a16="http://schemas.microsoft.com/office/drawing/2014/main" id="{09632377-95E6-4034-A9BF-AF153F4CC892}"/>
              </a:ext>
            </a:extLst>
          </p:cNvPr>
          <p:cNvSpPr>
            <a:spLocks noGrp="1"/>
          </p:cNvSpPr>
          <p:nvPr/>
        </p:nvSpPr>
        <p:spPr>
          <a:xfrm>
            <a:off x="2857500" y="2533650"/>
            <a:ext cx="8572500" cy="1943101"/>
          </a:xfrm>
          <a:prstGeom prst="roundRect">
            <a:avLst>
              <a:gd name="adj" fmla="val 3636"/>
            </a:avLst>
          </a:prstGeom>
          <a:solidFill>
            <a:srgbClr val="FFFFFF"/>
          </a:solidFill>
          <a:ln w="9525">
            <a:solidFill>
              <a:srgbClr val="D5DDD8"/>
            </a:solidFill>
            <a:prstDash val="solid"/>
          </a:ln>
        </p:spPr>
        <p:txBody>
          <a:bodyPr/>
          <a:lstStyle/>
          <a:p>
            <a:endParaRPr lang="LID4096"/>
          </a:p>
        </p:txBody>
      </p:sp>
      <p:pic>
        <p:nvPicPr>
          <p:cNvPr id="27" name="Picture 26"/>
          <p:cNvPicPr>
            <a:picLocks noChangeAspect="1"/>
          </p:cNvPicPr>
          <p:nvPr/>
        </p:nvPicPr>
        <p:blipFill>
          <a:blip r:embed="rId4"/>
          <a:srcRect b="8029"/>
          <a:stretch>
            <a:fillRect/>
          </a:stretch>
        </p:blipFill>
        <p:spPr>
          <a:xfrm>
            <a:off x="3562832" y="2628900"/>
            <a:ext cx="7161835" cy="1752031"/>
          </a:xfrm>
          <a:prstGeom prst="rect">
            <a:avLst/>
          </a:prstGeom>
        </p:spPr>
      </p:pic>
      <p:sp>
        <p:nvSpPr>
          <p:cNvPr id="11" name="Rectangle 10">
            <a:extLst>
              <a:ext uri="{FF2B5EF4-FFF2-40B4-BE49-F238E27FC236}">
                <a16:creationId xmlns:a16="http://schemas.microsoft.com/office/drawing/2014/main" id="{A7D61BB1-7E11-473D-8528-B972F4DC9989}"/>
              </a:ext>
            </a:extLst>
          </p:cNvPr>
          <p:cNvSpPr>
            <a:spLocks noGrp="1"/>
          </p:cNvSpPr>
          <p:nvPr/>
        </p:nvSpPr>
        <p:spPr>
          <a:xfrm>
            <a:off x="685800" y="475773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dirty="0">
                <a:solidFill>
                  <a:srgbClr val="356B3F"/>
                </a:solidFill>
                <a:latin typeface="Segoe UI"/>
                <a:ea typeface="Segoe UI"/>
                <a:cs typeface="Segoe UI"/>
              </a:rPr>
              <a:t>$5.8M</a:t>
            </a:r>
          </a:p>
        </p:txBody>
      </p:sp>
      <p:sp>
        <p:nvSpPr>
          <p:cNvPr id="13" name="Rectangle: Rounded Corners 12">
            <a:extLst>
              <a:ext uri="{FF2B5EF4-FFF2-40B4-BE49-F238E27FC236}">
                <a16:creationId xmlns:a16="http://schemas.microsoft.com/office/drawing/2014/main" id="{BBA45289-B4AE-4FC4-B7A3-28827A39178C}"/>
              </a:ext>
            </a:extLst>
          </p:cNvPr>
          <p:cNvSpPr>
            <a:spLocks noGrp="1"/>
          </p:cNvSpPr>
          <p:nvPr/>
        </p:nvSpPr>
        <p:spPr>
          <a:xfrm>
            <a:off x="2857500" y="4672013"/>
            <a:ext cx="8572500" cy="1000125"/>
          </a:xfrm>
          <a:prstGeom prst="roundRect">
            <a:avLst>
              <a:gd name="adj" fmla="val 7619"/>
            </a:avLst>
          </a:prstGeom>
          <a:solidFill>
            <a:srgbClr val="FFFFFF"/>
          </a:solidFill>
          <a:ln w="9525">
            <a:solidFill>
              <a:srgbClr val="D5DDD8"/>
            </a:solidFill>
            <a:prstDash val="solid"/>
          </a:ln>
        </p:spPr>
        <p:txBody>
          <a:bodyPr/>
          <a:lstStyle/>
          <a:p>
            <a:endParaRPr lang="LID4096"/>
          </a:p>
        </p:txBody>
      </p:sp>
      <p:pic>
        <p:nvPicPr>
          <p:cNvPr id="31" name="Picture 30"/>
          <p:cNvPicPr>
            <a:picLocks noChangeAspect="1"/>
          </p:cNvPicPr>
          <p:nvPr/>
        </p:nvPicPr>
        <p:blipFill>
          <a:blip r:embed="rId5"/>
          <a:stretch/>
        </p:blipFill>
        <p:spPr>
          <a:xfrm>
            <a:off x="3439279" y="4767263"/>
            <a:ext cx="7408942" cy="809625"/>
          </a:xfrm>
          <a:prstGeom prst="rect">
            <a:avLst/>
          </a:prstGeom>
        </p:spPr>
      </p:pic>
      <p:sp>
        <p:nvSpPr>
          <p:cNvPr id="15" name="Rectangle: Rounded Corners 14">
            <a:extLst>
              <a:ext uri="{FF2B5EF4-FFF2-40B4-BE49-F238E27FC236}">
                <a16:creationId xmlns:a16="http://schemas.microsoft.com/office/drawing/2014/main" id="{7BDA36BB-BA80-4C55-8014-8C3EDC816D45}"/>
              </a:ext>
            </a:extLst>
          </p:cNvPr>
          <p:cNvSpPr>
            <a:spLocks noGrp="1"/>
          </p:cNvSpPr>
          <p:nvPr/>
        </p:nvSpPr>
        <p:spPr>
          <a:xfrm>
            <a:off x="685800" y="5915025"/>
            <a:ext cx="10744200" cy="409575"/>
          </a:xfrm>
          <a:prstGeom prst="roundRect">
            <a:avLst>
              <a:gd name="adj" fmla="val 18605"/>
            </a:avLst>
          </a:prstGeom>
          <a:solidFill>
            <a:srgbClr val="356B3F"/>
          </a:solidFill>
          <a:ln w="0">
            <a:noFill/>
          </a:ln>
        </p:spPr>
        <p:txBody>
          <a:bodyPr/>
          <a:lstStyle/>
          <a:p>
            <a:endParaRPr lang="LID4096"/>
          </a:p>
        </p:txBody>
      </p:sp>
      <p:sp>
        <p:nvSpPr>
          <p:cNvPr id="16" name="Rectangle 15">
            <a:extLst>
              <a:ext uri="{FF2B5EF4-FFF2-40B4-BE49-F238E27FC236}">
                <a16:creationId xmlns:a16="http://schemas.microsoft.com/office/drawing/2014/main" id="{BF05879D-D76F-4F16-9CD3-6A8532BAB323}"/>
              </a:ext>
            </a:extLst>
          </p:cNvPr>
          <p:cNvSpPr>
            <a:spLocks noGrp="1"/>
          </p:cNvSpPr>
          <p:nvPr/>
        </p:nvSpPr>
        <p:spPr>
          <a:xfrm>
            <a:off x="914400" y="5981700"/>
            <a:ext cx="10287000" cy="257175"/>
          </a:xfrm>
          <a:prstGeom prst="rect">
            <a:avLst/>
          </a:prstGeom>
          <a:noFill/>
          <a:ln w="0">
            <a:noFill/>
          </a:ln>
        </p:spPr>
        <p:txBody>
          <a:bodyPr wrap="square" lIns="0" tIns="0" rIns="0" bIns="0" anchor="t">
            <a:noAutofit/>
          </a:bodyPr>
          <a:lstStyle/>
          <a:p>
            <a:pPr algn="ctr">
              <a:lnSpc>
                <a:spcPct val="100000"/>
              </a:lnSpc>
              <a:buNone/>
              <a:defRPr sz="1575" b="1">
                <a:solidFill>
                  <a:srgbClr val="F2F5F9"/>
                </a:solidFill>
                <a:latin typeface="Segoe UI"/>
                <a:ea typeface="Segoe UI"/>
                <a:cs typeface="Segoe UI"/>
              </a:defRPr>
            </a:pPr>
            <a:r>
              <a:rPr sz="1575" b="1" dirty="0">
                <a:solidFill>
                  <a:schemeClr val="tx1">
                    <a:lumMod val="95000"/>
                    <a:lumOff val="5000"/>
                  </a:schemeClr>
                </a:solidFill>
                <a:highlight>
                  <a:srgbClr val="FF0000"/>
                </a:highlight>
                <a:latin typeface="Segoe UI"/>
                <a:ea typeface="Segoe UI"/>
                <a:cs typeface="Segoe UI"/>
              </a:rPr>
              <a:t>€6.31B</a:t>
            </a:r>
            <a:r>
              <a:rPr sz="1575" b="1" dirty="0">
                <a:solidFill>
                  <a:schemeClr val="tx1">
                    <a:lumMod val="95000"/>
                    <a:lumOff val="5000"/>
                  </a:schemeClr>
                </a:solidFill>
                <a:latin typeface="Segoe UI"/>
                <a:ea typeface="Segoe UI"/>
                <a:cs typeface="Segoe UI"/>
              </a:rPr>
              <a:t> </a:t>
            </a:r>
            <a:r>
              <a:rPr sz="1575" b="1" dirty="0">
                <a:solidFill>
                  <a:srgbClr val="F2F5F9"/>
                </a:solidFill>
                <a:latin typeface="Segoe UI"/>
                <a:ea typeface="Segoe UI"/>
                <a:cs typeface="Segoe UI"/>
              </a:rPr>
              <a:t>in tracked GDPR fines</a:t>
            </a:r>
          </a:p>
        </p:txBody>
      </p:sp>
      <p:sp>
        <p:nvSpPr>
          <p:cNvPr id="17" name="Rectangle 16">
            <a:extLst>
              <a:ext uri="{FF2B5EF4-FFF2-40B4-BE49-F238E27FC236}">
                <a16:creationId xmlns:a16="http://schemas.microsoft.com/office/drawing/2014/main" id="{1B071E1E-36FD-4267-A701-D3A81BD9BA68}"/>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02</a:t>
            </a:r>
            <a:endParaRPr sz="1050" b="0">
              <a:solidFill>
                <a:srgbClr val="53605A"/>
              </a:solidFill>
              <a:latin typeface="Cascadia Mono"/>
              <a:ea typeface="Cascadia Mono"/>
              <a:cs typeface="Cascadia Mono"/>
            </a:endParaRPr>
          </a:p>
        </p:txBody>
      </p:sp>
      <p:sp>
        <p:nvSpPr>
          <p:cNvPr id="10" name="Rectangle 9">
            <a:extLst>
              <a:ext uri="{FF2B5EF4-FFF2-40B4-BE49-F238E27FC236}">
                <a16:creationId xmlns:a16="http://schemas.microsoft.com/office/drawing/2014/main" id="{5B5AC134-A8EC-A57E-0A36-5810FD476B44}"/>
              </a:ext>
            </a:extLst>
          </p:cNvPr>
          <p:cNvSpPr>
            <a:spLocks noGrp="1"/>
          </p:cNvSpPr>
          <p:nvPr/>
        </p:nvSpPr>
        <p:spPr>
          <a:xfrm>
            <a:off x="704850" y="3653335"/>
            <a:ext cx="2095500" cy="516341"/>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4000" b="1" baseline="-25000" dirty="0">
                <a:solidFill>
                  <a:srgbClr val="53605A"/>
                </a:solidFill>
                <a:latin typeface="Cascadia Mono"/>
                <a:ea typeface="Cascadia Mono"/>
                <a:cs typeface="Cascadia Mono"/>
              </a:rPr>
              <a:t>UBER</a:t>
            </a:r>
          </a:p>
        </p:txBody>
      </p:sp>
      <p:sp>
        <p:nvSpPr>
          <p:cNvPr id="19" name="Rectangle 18">
            <a:extLst>
              <a:ext uri="{FF2B5EF4-FFF2-40B4-BE49-F238E27FC236}">
                <a16:creationId xmlns:a16="http://schemas.microsoft.com/office/drawing/2014/main" id="{9E965781-B850-4096-258E-01321F3FB25E}"/>
              </a:ext>
            </a:extLst>
          </p:cNvPr>
          <p:cNvSpPr>
            <a:spLocks noGrp="1"/>
          </p:cNvSpPr>
          <p:nvPr/>
        </p:nvSpPr>
        <p:spPr>
          <a:xfrm>
            <a:off x="704849" y="2109788"/>
            <a:ext cx="2152649" cy="81261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2800" b="1" dirty="0">
                <a:solidFill>
                  <a:srgbClr val="53605A"/>
                </a:solidFill>
                <a:latin typeface="Cascadia Mono"/>
                <a:ea typeface="Cascadia Mono"/>
                <a:cs typeface="Cascadia Mono"/>
              </a:rPr>
              <a:t>EQUIFAX</a:t>
            </a:r>
            <a:endParaRPr sz="3600" b="1" dirty="0">
              <a:solidFill>
                <a:srgbClr val="53605A"/>
              </a:solidFill>
              <a:latin typeface="Cascadia Mono"/>
              <a:ea typeface="Cascadia Mono"/>
              <a:cs typeface="Cascadia Mono"/>
            </a:endParaRPr>
          </a:p>
        </p:txBody>
      </p:sp>
      <p:sp>
        <p:nvSpPr>
          <p:cNvPr id="21" name="Rectangle 20">
            <a:extLst>
              <a:ext uri="{FF2B5EF4-FFF2-40B4-BE49-F238E27FC236}">
                <a16:creationId xmlns:a16="http://schemas.microsoft.com/office/drawing/2014/main" id="{BE6378CA-EB54-3E13-1356-78C8D5E92E7F}"/>
              </a:ext>
            </a:extLst>
          </p:cNvPr>
          <p:cNvSpPr>
            <a:spLocks noGrp="1"/>
          </p:cNvSpPr>
          <p:nvPr/>
        </p:nvSpPr>
        <p:spPr>
          <a:xfrm>
            <a:off x="685800" y="5315803"/>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2800" b="1" dirty="0">
                <a:solidFill>
                  <a:srgbClr val="53605A"/>
                </a:solidFill>
                <a:latin typeface="Cascadia Mono"/>
                <a:ea typeface="Cascadia Mono"/>
                <a:cs typeface="Cascadia Mono"/>
              </a:rPr>
              <a:t>RING</a:t>
            </a:r>
          </a:p>
        </p:txBody>
      </p:sp>
    </p:spTree>
    <p:extLst>
      <p:ext uri="{BB962C8B-B14F-4D97-AF65-F5344CB8AC3E}">
        <p14:creationId xmlns:p14="http://schemas.microsoft.com/office/powerpoint/2010/main" val="38822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50"/>
                                        <p:tgtEl>
                                          <p:spTgt spid="7"/>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492" b="2749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6DC3789-322F-42AC-ABAB-43BC6B83163C}"/>
              </a:ext>
            </a:extLst>
          </p:cNvPr>
          <p:cNvSpPr>
            <a:spLocks noGrp="1"/>
          </p:cNvSpPr>
          <p:nvPr/>
        </p:nvSpPr>
        <p:spPr>
          <a:xfrm>
            <a:off x="0" y="0"/>
            <a:ext cx="6858000" cy="6858000"/>
          </a:xfrm>
          <a:prstGeom prst="rect">
            <a:avLst/>
          </a:prstGeom>
          <a:solidFill>
            <a:srgbClr val="F4F7F5"/>
          </a:solidFill>
          <a:ln w="0">
            <a:noFill/>
          </a:ln>
        </p:spPr>
        <p:txBody>
          <a:bodyPr/>
          <a:lstStyle/>
          <a:p>
            <a:endParaRPr lang="LID4096"/>
          </a:p>
        </p:txBody>
      </p:sp>
      <p:sp>
        <p:nvSpPr>
          <p:cNvPr id="3" name="Rectangle 2">
            <a:extLst>
              <a:ext uri="{FF2B5EF4-FFF2-40B4-BE49-F238E27FC236}">
                <a16:creationId xmlns:a16="http://schemas.microsoft.com/office/drawing/2014/main" id="{FE678265-53DD-474E-B3BD-8772284226E9}"/>
              </a:ext>
            </a:extLst>
          </p:cNvPr>
          <p:cNvSpPr>
            <a:spLocks noGrp="1"/>
          </p:cNvSpPr>
          <p:nvPr/>
        </p:nvSpPr>
        <p:spPr>
          <a:xfrm>
            <a:off x="533400" y="552450"/>
            <a:ext cx="57150" cy="514350"/>
          </a:xfrm>
          <a:prstGeom prst="rect">
            <a:avLst/>
          </a:prstGeom>
          <a:solidFill>
            <a:srgbClr val="356B3F"/>
          </a:solidFill>
          <a:ln w="0">
            <a:noFill/>
          </a:ln>
        </p:spPr>
        <p:txBody>
          <a:bodyPr/>
          <a:lstStyle/>
          <a:p>
            <a:endParaRPr lang="LID4096"/>
          </a:p>
        </p:txBody>
      </p:sp>
      <p:sp>
        <p:nvSpPr>
          <p:cNvPr id="4" name="Rectangle 3">
            <a:extLst>
              <a:ext uri="{FF2B5EF4-FFF2-40B4-BE49-F238E27FC236}">
                <a16:creationId xmlns:a16="http://schemas.microsoft.com/office/drawing/2014/main" id="{36DC47BA-E993-439A-BB29-3504377EE645}"/>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Vulnerabilities become legal exposure</a:t>
            </a:r>
          </a:p>
        </p:txBody>
      </p:sp>
      <p:sp>
        <p:nvSpPr>
          <p:cNvPr id="5" name="Rectangle 4">
            <a:extLst>
              <a:ext uri="{FF2B5EF4-FFF2-40B4-BE49-F238E27FC236}">
                <a16:creationId xmlns:a16="http://schemas.microsoft.com/office/drawing/2014/main" id="{D14F8388-9ADD-453A-A3E8-9C73987D6A04}"/>
              </a:ext>
            </a:extLst>
          </p:cNvPr>
          <p:cNvSpPr>
            <a:spLocks noGrp="1"/>
          </p:cNvSpPr>
          <p:nvPr/>
        </p:nvSpPr>
        <p:spPr>
          <a:xfrm>
            <a:off x="781050" y="2076450"/>
            <a:ext cx="2000250" cy="838200"/>
          </a:xfrm>
          <a:prstGeom prst="rect">
            <a:avLst/>
          </a:prstGeom>
          <a:noFill/>
          <a:ln w="0">
            <a:noFill/>
          </a:ln>
        </p:spPr>
        <p:txBody>
          <a:bodyPr wrap="square" lIns="0" tIns="0" rIns="0" bIns="0" anchor="t">
            <a:noAutofit/>
          </a:bodyPr>
          <a:lstStyle/>
          <a:p>
            <a:pPr algn="l">
              <a:lnSpc>
                <a:spcPct val="100000"/>
              </a:lnSpc>
              <a:buNone/>
              <a:defRPr sz="5850" b="1">
                <a:solidFill>
                  <a:srgbClr val="356B3F"/>
                </a:solidFill>
                <a:latin typeface="Segoe UI"/>
                <a:ea typeface="Segoe UI"/>
                <a:cs typeface="Segoe UI"/>
              </a:defRPr>
            </a:pPr>
            <a:r>
              <a:rPr sz="5850" b="1">
                <a:solidFill>
                  <a:srgbClr val="356B3F"/>
                </a:solidFill>
                <a:latin typeface="Segoe UI"/>
                <a:ea typeface="Segoe UI"/>
                <a:cs typeface="Segoe UI"/>
              </a:rPr>
              <a:t>20%</a:t>
            </a:r>
          </a:p>
        </p:txBody>
      </p:sp>
      <p:sp>
        <p:nvSpPr>
          <p:cNvPr id="6" name="Rectangle 5">
            <a:extLst>
              <a:ext uri="{FF2B5EF4-FFF2-40B4-BE49-F238E27FC236}">
                <a16:creationId xmlns:a16="http://schemas.microsoft.com/office/drawing/2014/main" id="{BC5FADD8-AA85-47FA-A1F5-F8080DAA421A}"/>
              </a:ext>
            </a:extLst>
          </p:cNvPr>
          <p:cNvSpPr>
            <a:spLocks noGrp="1"/>
          </p:cNvSpPr>
          <p:nvPr/>
        </p:nvSpPr>
        <p:spPr>
          <a:xfrm>
            <a:off x="2857500" y="2152650"/>
            <a:ext cx="3619500" cy="8382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of breaches began with</a:t>
            </a:r>
          </a:p>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vulnerability exploitation</a:t>
            </a:r>
          </a:p>
        </p:txBody>
      </p:sp>
      <p:sp>
        <p:nvSpPr>
          <p:cNvPr id="7" name="Straight Connector 6">
            <a:extLst>
              <a:ext uri="{FF2B5EF4-FFF2-40B4-BE49-F238E27FC236}">
                <a16:creationId xmlns:a16="http://schemas.microsoft.com/office/drawing/2014/main" id="{8503D975-E64D-48A7-9E4B-72E63C8B6457}"/>
              </a:ext>
            </a:extLst>
          </p:cNvPr>
          <p:cNvSpPr>
            <a:spLocks noGrp="1"/>
          </p:cNvSpPr>
          <p:nvPr/>
        </p:nvSpPr>
        <p:spPr>
          <a:xfrm>
            <a:off x="781050" y="3705225"/>
            <a:ext cx="4953000" cy="0"/>
          </a:xfrm>
          <a:prstGeom prst="line">
            <a:avLst/>
          </a:prstGeom>
          <a:noFill/>
          <a:ln w="19050">
            <a:solidFill>
              <a:srgbClr val="CBD5CF"/>
            </a:solidFill>
            <a:prstDash val="solid"/>
          </a:ln>
        </p:spPr>
        <p:txBody>
          <a:bodyPr/>
          <a:lstStyle/>
          <a:p>
            <a:endParaRPr lang="LID4096"/>
          </a:p>
        </p:txBody>
      </p:sp>
      <p:sp>
        <p:nvSpPr>
          <p:cNvPr id="8" name="Rectangle 7">
            <a:extLst>
              <a:ext uri="{FF2B5EF4-FFF2-40B4-BE49-F238E27FC236}">
                <a16:creationId xmlns:a16="http://schemas.microsoft.com/office/drawing/2014/main" id="{D64CC469-4EB1-4F62-8B78-68951E3D63BB}"/>
              </a:ext>
            </a:extLst>
          </p:cNvPr>
          <p:cNvSpPr>
            <a:spLocks noGrp="1"/>
          </p:cNvSpPr>
          <p:nvPr/>
        </p:nvSpPr>
        <p:spPr>
          <a:xfrm>
            <a:off x="781050" y="411480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+34%</a:t>
            </a:r>
          </a:p>
        </p:txBody>
      </p:sp>
      <p:sp>
        <p:nvSpPr>
          <p:cNvPr id="9" name="Rectangle 8">
            <a:extLst>
              <a:ext uri="{FF2B5EF4-FFF2-40B4-BE49-F238E27FC236}">
                <a16:creationId xmlns:a16="http://schemas.microsoft.com/office/drawing/2014/main" id="{8D1E6E6C-8E06-442F-AB42-1822A43DB9BB}"/>
              </a:ext>
            </a:extLst>
          </p:cNvPr>
          <p:cNvSpPr>
            <a:spLocks noGrp="1"/>
          </p:cNvSpPr>
          <p:nvPr/>
        </p:nvSpPr>
        <p:spPr>
          <a:xfrm>
            <a:off x="2857500" y="4276725"/>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Year over year</a:t>
            </a:r>
          </a:p>
        </p:txBody>
      </p:sp>
      <p:sp>
        <p:nvSpPr>
          <p:cNvPr id="10" name="Rectangle 9">
            <a:extLst>
              <a:ext uri="{FF2B5EF4-FFF2-40B4-BE49-F238E27FC236}">
                <a16:creationId xmlns:a16="http://schemas.microsoft.com/office/drawing/2014/main" id="{B8C37D37-E749-413B-9A32-1FA84EF378A3}"/>
              </a:ext>
            </a:extLst>
          </p:cNvPr>
          <p:cNvSpPr>
            <a:spLocks noGrp="1"/>
          </p:cNvSpPr>
          <p:nvPr/>
        </p:nvSpPr>
        <p:spPr>
          <a:xfrm>
            <a:off x="781050" y="520065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30%</a:t>
            </a:r>
          </a:p>
        </p:txBody>
      </p:sp>
      <p:sp>
        <p:nvSpPr>
          <p:cNvPr id="11" name="Rectangle 10">
            <a:extLst>
              <a:ext uri="{FF2B5EF4-FFF2-40B4-BE49-F238E27FC236}">
                <a16:creationId xmlns:a16="http://schemas.microsoft.com/office/drawing/2014/main" id="{9E5E4077-040C-485E-822D-F82B02B8C4E8}"/>
              </a:ext>
            </a:extLst>
          </p:cNvPr>
          <p:cNvSpPr>
            <a:spLocks noGrp="1"/>
          </p:cNvSpPr>
          <p:nvPr/>
        </p:nvSpPr>
        <p:spPr>
          <a:xfrm>
            <a:off x="2857500" y="536257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Third-party involvement</a:t>
            </a:r>
          </a:p>
        </p:txBody>
      </p:sp>
      <p:sp>
        <p:nvSpPr>
          <p:cNvPr id="12" name="Rectangle 11">
            <a:extLst>
              <a:ext uri="{FF2B5EF4-FFF2-40B4-BE49-F238E27FC236}">
                <a16:creationId xmlns:a16="http://schemas.microsoft.com/office/drawing/2014/main" id="{9EC1B2D8-6942-46AB-AA04-EDDD28A98086}"/>
              </a:ext>
            </a:extLst>
          </p:cNvPr>
          <p:cNvSpPr>
            <a:spLocks noGrp="1"/>
          </p:cNvSpPr>
          <p:nvPr/>
        </p:nvSpPr>
        <p:spPr>
          <a:xfrm>
            <a:off x="781050" y="6191250"/>
            <a:ext cx="2476500" cy="228600"/>
          </a:xfrm>
          <a:prstGeom prst="rect">
            <a:avLst/>
          </a:prstGeom>
          <a:noFill/>
          <a:ln w="0">
            <a:noFill/>
          </a:ln>
        </p:spPr>
        <p:txBody>
          <a:bodyPr wrap="square" lIns="0" tIns="0" rIns="0" bIns="0" anchor="t">
            <a:noAutofit/>
          </a:bodyPr>
          <a:lstStyle/>
          <a:p>
            <a:pPr algn="l">
              <a:lnSpc>
                <a:spcPct val="100000"/>
              </a:lnSpc>
              <a:buNone/>
              <a:defRPr sz="1200" b="1">
                <a:solidFill>
                  <a:srgbClr val="53605A"/>
                </a:solidFill>
                <a:latin typeface="Cascadia Mono"/>
                <a:ea typeface="Cascadia Mono"/>
                <a:cs typeface="Cascadia Mono"/>
              </a:defRPr>
            </a:pPr>
            <a:r>
              <a:rPr sz="1200" b="1">
                <a:solidFill>
                  <a:srgbClr val="53605A"/>
                </a:solidFill>
                <a:latin typeface="Cascadia Mono"/>
                <a:ea typeface="Cascadia Mono"/>
                <a:cs typeface="Cascadia Mono"/>
              </a:rPr>
              <a:t>VERIZON 2025 DBIR</a:t>
            </a:r>
          </a:p>
        </p:txBody>
      </p:sp>
      <p:sp>
        <p:nvSpPr>
          <p:cNvPr id="13" name="Rectangle 12">
            <a:extLst>
              <a:ext uri="{FF2B5EF4-FFF2-40B4-BE49-F238E27FC236}">
                <a16:creationId xmlns:a16="http://schemas.microsoft.com/office/drawing/2014/main" id="{A1C59EF7-F6D3-4C2B-B6E2-45D596D0F83D}"/>
              </a:ext>
            </a:extLst>
          </p:cNvPr>
          <p:cNvSpPr>
            <a:spLocks noGrp="1"/>
          </p:cNvSpPr>
          <p:nvPr/>
        </p:nvSpPr>
        <p:spPr>
          <a:xfrm>
            <a:off x="6334125" y="6477000"/>
            <a:ext cx="333375"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03</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156360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300"/>
                                        <p:tgtEl>
                                          <p:spTgt spid="8"/>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8AC6C0E-CD00-41A6-982F-7144C8F4413C}"/>
              </a:ext>
            </a:extLst>
          </p:cNvPr>
          <p:cNvSpPr>
            <a:spLocks noGrp="1"/>
          </p:cNvSpPr>
          <p:nvPr/>
        </p:nvSpPr>
        <p:spPr>
          <a:xfrm>
            <a:off x="533400" y="476250"/>
            <a:ext cx="57150" cy="51435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DF9FFE60-4BB4-4855-8B38-11A309A27E60}"/>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24 hours to act</a:t>
            </a:r>
          </a:p>
        </p:txBody>
      </p:sp>
      <p:sp>
        <p:nvSpPr>
          <p:cNvPr id="3" name="Rectangle 2">
            <a:extLst>
              <a:ext uri="{FF2B5EF4-FFF2-40B4-BE49-F238E27FC236}">
                <a16:creationId xmlns:a16="http://schemas.microsoft.com/office/drawing/2014/main" id="{ABFBC871-72BF-44C7-9198-CA89837DABCB}"/>
              </a:ext>
            </a:extLst>
          </p:cNvPr>
          <p:cNvSpPr>
            <a:spLocks noGrp="1"/>
          </p:cNvSpPr>
          <p:nvPr/>
        </p:nvSpPr>
        <p:spPr>
          <a:xfrm>
            <a:off x="8382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356B3F"/>
                </a:solidFill>
                <a:latin typeface="Segoe UI"/>
                <a:ea typeface="Segoe UI"/>
                <a:cs typeface="Segoe UI"/>
              </a:defRPr>
            </a:pPr>
            <a:r>
              <a:rPr sz="6900" b="1">
                <a:solidFill>
                  <a:srgbClr val="356B3F"/>
                </a:solidFill>
                <a:latin typeface="Segoe UI"/>
                <a:ea typeface="Segoe UI"/>
                <a:cs typeface="Segoe UI"/>
              </a:rPr>
              <a:t>24H</a:t>
            </a:r>
          </a:p>
        </p:txBody>
      </p:sp>
      <p:sp>
        <p:nvSpPr>
          <p:cNvPr id="4" name="Rectangle 3">
            <a:extLst>
              <a:ext uri="{FF2B5EF4-FFF2-40B4-BE49-F238E27FC236}">
                <a16:creationId xmlns:a16="http://schemas.microsoft.com/office/drawing/2014/main" id="{392160EE-1DD0-4179-BE3E-05176B061035}"/>
              </a:ext>
            </a:extLst>
          </p:cNvPr>
          <p:cNvSpPr>
            <a:spLocks noGrp="1"/>
          </p:cNvSpPr>
          <p:nvPr/>
        </p:nvSpPr>
        <p:spPr>
          <a:xfrm>
            <a:off x="8382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Early warning</a:t>
            </a:r>
          </a:p>
        </p:txBody>
      </p:sp>
      <p:sp>
        <p:nvSpPr>
          <p:cNvPr id="5" name="Straight Connector 4">
            <a:extLst>
              <a:ext uri="{FF2B5EF4-FFF2-40B4-BE49-F238E27FC236}">
                <a16:creationId xmlns:a16="http://schemas.microsoft.com/office/drawing/2014/main" id="{2C4EDBF4-2D81-4401-857D-745B81DD1AFA}"/>
              </a:ext>
            </a:extLst>
          </p:cNvPr>
          <p:cNvSpPr>
            <a:spLocks noGrp="1"/>
          </p:cNvSpPr>
          <p:nvPr/>
        </p:nvSpPr>
        <p:spPr>
          <a:xfrm>
            <a:off x="4286250" y="1952625"/>
            <a:ext cx="0" cy="2095500"/>
          </a:xfrm>
          <a:prstGeom prst="line">
            <a:avLst/>
          </a:prstGeom>
          <a:noFill/>
          <a:ln w="28575">
            <a:solidFill>
              <a:srgbClr val="CBD5CF"/>
            </a:solidFill>
            <a:prstDash val="solid"/>
          </a:ln>
        </p:spPr>
        <p:txBody>
          <a:bodyPr/>
          <a:lstStyle/>
          <a:p>
            <a:endParaRPr lang="LID4096"/>
          </a:p>
        </p:txBody>
      </p:sp>
      <p:sp>
        <p:nvSpPr>
          <p:cNvPr id="6" name="Rectangle 5">
            <a:extLst>
              <a:ext uri="{FF2B5EF4-FFF2-40B4-BE49-F238E27FC236}">
                <a16:creationId xmlns:a16="http://schemas.microsoft.com/office/drawing/2014/main" id="{3FE0F8E5-A349-4554-A88B-B8FAE2933901}"/>
              </a:ext>
            </a:extLst>
          </p:cNvPr>
          <p:cNvSpPr>
            <a:spLocks noGrp="1"/>
          </p:cNvSpPr>
          <p:nvPr/>
        </p:nvSpPr>
        <p:spPr>
          <a:xfrm>
            <a:off x="47625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11713"/>
                </a:solidFill>
                <a:latin typeface="Segoe UI"/>
                <a:ea typeface="Segoe UI"/>
                <a:cs typeface="Segoe UI"/>
              </a:defRPr>
            </a:pPr>
            <a:r>
              <a:rPr sz="6900" b="1">
                <a:solidFill>
                  <a:srgbClr val="111713"/>
                </a:solidFill>
                <a:latin typeface="Segoe UI"/>
                <a:ea typeface="Segoe UI"/>
                <a:cs typeface="Segoe UI"/>
              </a:rPr>
              <a:t>72H</a:t>
            </a:r>
          </a:p>
        </p:txBody>
      </p:sp>
      <p:sp>
        <p:nvSpPr>
          <p:cNvPr id="7" name="Rectangle 6">
            <a:extLst>
              <a:ext uri="{FF2B5EF4-FFF2-40B4-BE49-F238E27FC236}">
                <a16:creationId xmlns:a16="http://schemas.microsoft.com/office/drawing/2014/main" id="{F167C46A-7840-4516-8FFE-7A75E80B9FFF}"/>
              </a:ext>
            </a:extLst>
          </p:cNvPr>
          <p:cNvSpPr>
            <a:spLocks noGrp="1"/>
          </p:cNvSpPr>
          <p:nvPr/>
        </p:nvSpPr>
        <p:spPr>
          <a:xfrm>
            <a:off x="47625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Notification</a:t>
            </a:r>
          </a:p>
        </p:txBody>
      </p:sp>
      <p:sp>
        <p:nvSpPr>
          <p:cNvPr id="8" name="Straight Connector 7">
            <a:extLst>
              <a:ext uri="{FF2B5EF4-FFF2-40B4-BE49-F238E27FC236}">
                <a16:creationId xmlns:a16="http://schemas.microsoft.com/office/drawing/2014/main" id="{506CA167-46DA-4B66-B516-F4CBE5B7C509}"/>
              </a:ext>
            </a:extLst>
          </p:cNvPr>
          <p:cNvSpPr>
            <a:spLocks noGrp="1"/>
          </p:cNvSpPr>
          <p:nvPr/>
        </p:nvSpPr>
        <p:spPr>
          <a:xfrm>
            <a:off x="8210550" y="1952625"/>
            <a:ext cx="0" cy="2095500"/>
          </a:xfrm>
          <a:prstGeom prst="line">
            <a:avLst/>
          </a:prstGeom>
          <a:noFill/>
          <a:ln w="28575">
            <a:solidFill>
              <a:srgbClr val="CBD5CF"/>
            </a:solidFill>
            <a:prstDash val="solid"/>
          </a:ln>
        </p:spPr>
        <p:txBody>
          <a:bodyPr/>
          <a:lstStyle/>
          <a:p>
            <a:endParaRPr lang="LID4096"/>
          </a:p>
        </p:txBody>
      </p:sp>
      <p:sp>
        <p:nvSpPr>
          <p:cNvPr id="9" name="Rectangle 8">
            <a:extLst>
              <a:ext uri="{FF2B5EF4-FFF2-40B4-BE49-F238E27FC236}">
                <a16:creationId xmlns:a16="http://schemas.microsoft.com/office/drawing/2014/main" id="{4F6C1E13-18C2-4A21-955B-31C6B933B6F6}"/>
              </a:ext>
            </a:extLst>
          </p:cNvPr>
          <p:cNvSpPr>
            <a:spLocks noGrp="1"/>
          </p:cNvSpPr>
          <p:nvPr/>
        </p:nvSpPr>
        <p:spPr>
          <a:xfrm>
            <a:off x="8686800" y="1962150"/>
            <a:ext cx="2857500" cy="1104900"/>
          </a:xfrm>
          <a:prstGeom prst="rect">
            <a:avLst/>
          </a:prstGeom>
          <a:noFill/>
          <a:ln w="0">
            <a:noFill/>
          </a:ln>
        </p:spPr>
        <p:txBody>
          <a:bodyPr wrap="square" lIns="0" tIns="0" rIns="0" bIns="0" anchor="t">
            <a:noAutofit/>
          </a:bodyPr>
          <a:lstStyle/>
          <a:p>
            <a:pPr algn="l">
              <a:lnSpc>
                <a:spcPct val="100000"/>
              </a:lnSpc>
              <a:buNone/>
              <a:defRPr sz="6150" b="1">
                <a:solidFill>
                  <a:srgbClr val="111713"/>
                </a:solidFill>
                <a:latin typeface="Segoe UI"/>
                <a:ea typeface="Segoe UI"/>
                <a:cs typeface="Segoe UI"/>
              </a:defRPr>
            </a:pPr>
            <a:r>
              <a:rPr sz="6150" b="1">
                <a:solidFill>
                  <a:srgbClr val="111713"/>
                </a:solidFill>
                <a:latin typeface="Segoe UI"/>
                <a:ea typeface="Segoe UI"/>
                <a:cs typeface="Segoe UI"/>
              </a:rPr>
              <a:t>€15M</a:t>
            </a:r>
          </a:p>
        </p:txBody>
      </p:sp>
      <p:sp>
        <p:nvSpPr>
          <p:cNvPr id="10" name="Rectangle 9">
            <a:extLst>
              <a:ext uri="{FF2B5EF4-FFF2-40B4-BE49-F238E27FC236}">
                <a16:creationId xmlns:a16="http://schemas.microsoft.com/office/drawing/2014/main" id="{B2558CBF-91FC-4E32-B55B-B82F544FC16D}"/>
              </a:ext>
            </a:extLst>
          </p:cNvPr>
          <p:cNvSpPr>
            <a:spLocks noGrp="1"/>
          </p:cNvSpPr>
          <p:nvPr/>
        </p:nvSpPr>
        <p:spPr>
          <a:xfrm>
            <a:off x="8686800" y="3200400"/>
            <a:ext cx="28575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or 2.5%</a:t>
            </a:r>
          </a:p>
        </p:txBody>
      </p:sp>
      <p:sp>
        <p:nvSpPr>
          <p:cNvPr id="11" name="Rectangle: Rounded Corners 10">
            <a:extLst>
              <a:ext uri="{FF2B5EF4-FFF2-40B4-BE49-F238E27FC236}">
                <a16:creationId xmlns:a16="http://schemas.microsoft.com/office/drawing/2014/main" id="{2742FD3D-6D34-468C-A886-BB3A9CABDC8E}"/>
              </a:ext>
            </a:extLst>
          </p:cNvPr>
          <p:cNvSpPr>
            <a:spLocks noGrp="1"/>
          </p:cNvSpPr>
          <p:nvPr/>
        </p:nvSpPr>
        <p:spPr>
          <a:xfrm>
            <a:off x="838200" y="4810125"/>
            <a:ext cx="10706100" cy="895350"/>
          </a:xfrm>
          <a:prstGeom prst="roundRect">
            <a:avLst>
              <a:gd name="adj" fmla="val 8511"/>
            </a:avLst>
          </a:prstGeom>
          <a:solidFill>
            <a:srgbClr val="111713"/>
          </a:solidFill>
          <a:ln w="0">
            <a:noFill/>
          </a:ln>
        </p:spPr>
        <p:txBody>
          <a:bodyPr/>
          <a:lstStyle/>
          <a:p>
            <a:endParaRPr lang="LID4096"/>
          </a:p>
        </p:txBody>
      </p:sp>
      <p:sp>
        <p:nvSpPr>
          <p:cNvPr id="12" name="Rectangle 11">
            <a:extLst>
              <a:ext uri="{FF2B5EF4-FFF2-40B4-BE49-F238E27FC236}">
                <a16:creationId xmlns:a16="http://schemas.microsoft.com/office/drawing/2014/main" id="{0AFFBB03-00B3-4198-B26D-E094820C5ED8}"/>
              </a:ext>
            </a:extLst>
          </p:cNvPr>
          <p:cNvSpPr>
            <a:spLocks noGrp="1"/>
          </p:cNvSpPr>
          <p:nvPr/>
        </p:nvSpPr>
        <p:spPr>
          <a:xfrm>
            <a:off x="1143000" y="5000625"/>
            <a:ext cx="10096500" cy="495300"/>
          </a:xfrm>
          <a:prstGeom prst="rect">
            <a:avLst/>
          </a:prstGeom>
          <a:noFill/>
          <a:ln w="0">
            <a:noFill/>
          </a:ln>
        </p:spPr>
        <p:txBody>
          <a:bodyPr wrap="square" lIns="0" tIns="0" rIns="0" bIns="0" anchor="ctr">
            <a:noAutofit/>
          </a:bodyPr>
          <a:lstStyle/>
          <a:p>
            <a:pPr algn="ctr">
              <a:lnSpc>
                <a:spcPct val="100000"/>
              </a:lnSpc>
              <a:buNone/>
              <a:defRPr sz="2400" b="1">
                <a:solidFill>
                  <a:srgbClr val="F2F5F9"/>
                </a:solidFill>
                <a:latin typeface="Segoe UI"/>
                <a:ea typeface="Segoe UI"/>
                <a:cs typeface="Segoe UI"/>
              </a:defRPr>
            </a:pPr>
            <a:r>
              <a:rPr sz="2400" b="1">
                <a:solidFill>
                  <a:srgbClr val="F2F5F9"/>
                </a:solidFill>
                <a:latin typeface="Segoe UI"/>
                <a:ea typeface="Segoe UI"/>
                <a:cs typeface="Segoe UI"/>
              </a:rPr>
              <a:t>Technical evidence must be ready before legal review</a:t>
            </a:r>
          </a:p>
        </p:txBody>
      </p:sp>
      <p:sp>
        <p:nvSpPr>
          <p:cNvPr id="13" name="Rectangle 12">
            <a:extLst>
              <a:ext uri="{FF2B5EF4-FFF2-40B4-BE49-F238E27FC236}">
                <a16:creationId xmlns:a16="http://schemas.microsoft.com/office/drawing/2014/main" id="{7ECBC764-6568-4F71-846B-695E6BDB0234}"/>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04</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91293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l="4877" r="4877"/>
          <a:stretch>
            <a:fillRect/>
          </a:stretch>
        </p:blipFill>
        <p:spPr>
          <a:xfrm>
            <a:off x="7239000" y="0"/>
            <a:ext cx="4953000" cy="6858000"/>
          </a:xfrm>
          <a:prstGeom prst="rect">
            <a:avLst/>
          </a:prstGeom>
        </p:spPr>
      </p:pic>
      <p:sp>
        <p:nvSpPr>
          <p:cNvPr id="2" name="Rectangle 1">
            <a:extLst>
              <a:ext uri="{FF2B5EF4-FFF2-40B4-BE49-F238E27FC236}">
                <a16:creationId xmlns:a16="http://schemas.microsoft.com/office/drawing/2014/main" id="{9D7103D8-BB85-4E25-ACD2-07FA8F250A51}"/>
              </a:ext>
            </a:extLst>
          </p:cNvPr>
          <p:cNvSpPr>
            <a:spLocks noGrp="1"/>
          </p:cNvSpPr>
          <p:nvPr/>
        </p:nvSpPr>
        <p:spPr>
          <a:xfrm>
            <a:off x="0" y="0"/>
            <a:ext cx="7620000" cy="6858000"/>
          </a:xfrm>
          <a:prstGeom prst="rect">
            <a:avLst/>
          </a:prstGeom>
          <a:solidFill>
            <a:srgbClr val="F4F7F5"/>
          </a:solidFill>
          <a:ln w="0">
            <a:noFill/>
          </a:ln>
        </p:spPr>
        <p:txBody>
          <a:bodyPr/>
          <a:lstStyle/>
          <a:p>
            <a:endParaRPr lang="LID4096"/>
          </a:p>
        </p:txBody>
      </p:sp>
      <p:sp>
        <p:nvSpPr>
          <p:cNvPr id="3" name="Rectangle 2">
            <a:extLst>
              <a:ext uri="{FF2B5EF4-FFF2-40B4-BE49-F238E27FC236}">
                <a16:creationId xmlns:a16="http://schemas.microsoft.com/office/drawing/2014/main" id="{82931B00-1282-4A31-AC05-CBECE2C2B2F4}"/>
              </a:ext>
            </a:extLst>
          </p:cNvPr>
          <p:cNvSpPr>
            <a:spLocks noGrp="1"/>
          </p:cNvSpPr>
          <p:nvPr/>
        </p:nvSpPr>
        <p:spPr>
          <a:xfrm>
            <a:off x="533400" y="552450"/>
            <a:ext cx="57150" cy="514350"/>
          </a:xfrm>
          <a:prstGeom prst="rect">
            <a:avLst/>
          </a:prstGeom>
          <a:solidFill>
            <a:srgbClr val="356B3F"/>
          </a:solidFill>
          <a:ln w="0">
            <a:noFill/>
          </a:ln>
        </p:spPr>
        <p:txBody>
          <a:bodyPr/>
          <a:lstStyle/>
          <a:p>
            <a:endParaRPr lang="LID4096"/>
          </a:p>
        </p:txBody>
      </p:sp>
      <p:sp>
        <p:nvSpPr>
          <p:cNvPr id="4" name="Rectangle 3">
            <a:extLst>
              <a:ext uri="{FF2B5EF4-FFF2-40B4-BE49-F238E27FC236}">
                <a16:creationId xmlns:a16="http://schemas.microsoft.com/office/drawing/2014/main" id="{7C9F655F-C106-4C46-8862-3B07FA7D1693}"/>
              </a:ext>
            </a:extLst>
          </p:cNvPr>
          <p:cNvSpPr>
            <a:spLocks noGrp="1"/>
          </p:cNvSpPr>
          <p:nvPr/>
        </p:nvSpPr>
        <p:spPr>
          <a:xfrm>
            <a:off x="781050" y="485775"/>
            <a:ext cx="5905500" cy="876300"/>
          </a:xfrm>
          <a:prstGeom prst="rect">
            <a:avLst/>
          </a:prstGeom>
          <a:noFill/>
          <a:ln w="0">
            <a:noFill/>
          </a:ln>
        </p:spPr>
        <p:txBody>
          <a:bodyPr wrap="square" lIns="0" tIns="0" rIns="0" bIns="0" anchor="t">
            <a:noAutofit/>
          </a:bodyPr>
          <a:lstStyle/>
          <a:p>
            <a:pPr algn="l">
              <a:lnSpc>
                <a:spcPct val="100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The manual alternative</a:t>
            </a:r>
          </a:p>
        </p:txBody>
      </p:sp>
      <p:sp>
        <p:nvSpPr>
          <p:cNvPr id="5" name="Rectangle 4">
            <a:extLst>
              <a:ext uri="{FF2B5EF4-FFF2-40B4-BE49-F238E27FC236}">
                <a16:creationId xmlns:a16="http://schemas.microsoft.com/office/drawing/2014/main" id="{BD387BD3-4C8C-4E8C-8E5A-1386E270070F}"/>
              </a:ext>
            </a:extLst>
          </p:cNvPr>
          <p:cNvSpPr>
            <a:spLocks noGrp="1"/>
          </p:cNvSpPr>
          <p:nvPr/>
        </p:nvSpPr>
        <p:spPr>
          <a:xfrm>
            <a:off x="781050" y="18478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 gathering</a:t>
            </a:r>
          </a:p>
        </p:txBody>
      </p:sp>
      <p:sp>
        <p:nvSpPr>
          <p:cNvPr id="6" name="Straight Connector 5">
            <a:extLst>
              <a:ext uri="{FF2B5EF4-FFF2-40B4-BE49-F238E27FC236}">
                <a16:creationId xmlns:a16="http://schemas.microsoft.com/office/drawing/2014/main" id="{CF3636FF-8188-4FB5-B2CF-1A2A9D4C709E}"/>
              </a:ext>
            </a:extLst>
          </p:cNvPr>
          <p:cNvSpPr>
            <a:spLocks noGrp="1"/>
          </p:cNvSpPr>
          <p:nvPr/>
        </p:nvSpPr>
        <p:spPr>
          <a:xfrm>
            <a:off x="781050" y="2571750"/>
            <a:ext cx="5429250" cy="0"/>
          </a:xfrm>
          <a:prstGeom prst="line">
            <a:avLst/>
          </a:prstGeom>
          <a:noFill/>
          <a:ln w="19050">
            <a:solidFill>
              <a:srgbClr val="CBD5CF"/>
            </a:solidFill>
            <a:prstDash val="solid"/>
          </a:ln>
        </p:spPr>
        <p:txBody>
          <a:bodyPr/>
          <a:lstStyle/>
          <a:p>
            <a:endParaRPr lang="LID4096"/>
          </a:p>
        </p:txBody>
      </p:sp>
      <p:sp>
        <p:nvSpPr>
          <p:cNvPr id="7" name="Rectangle 6">
            <a:extLst>
              <a:ext uri="{FF2B5EF4-FFF2-40B4-BE49-F238E27FC236}">
                <a16:creationId xmlns:a16="http://schemas.microsoft.com/office/drawing/2014/main" id="{9D58D9EF-4436-462C-BBA1-34FD4FFE6D72}"/>
              </a:ext>
            </a:extLst>
          </p:cNvPr>
          <p:cNvSpPr>
            <a:spLocks noGrp="1"/>
          </p:cNvSpPr>
          <p:nvPr/>
        </p:nvSpPr>
        <p:spPr>
          <a:xfrm>
            <a:off x="781050" y="28575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Legal translation</a:t>
            </a:r>
          </a:p>
        </p:txBody>
      </p:sp>
      <p:sp>
        <p:nvSpPr>
          <p:cNvPr id="8" name="Straight Connector 7">
            <a:extLst>
              <a:ext uri="{FF2B5EF4-FFF2-40B4-BE49-F238E27FC236}">
                <a16:creationId xmlns:a16="http://schemas.microsoft.com/office/drawing/2014/main" id="{21CCB073-6D50-47E0-9FE1-7B9C614518F6}"/>
              </a:ext>
            </a:extLst>
          </p:cNvPr>
          <p:cNvSpPr>
            <a:spLocks noGrp="1"/>
          </p:cNvSpPr>
          <p:nvPr/>
        </p:nvSpPr>
        <p:spPr>
          <a:xfrm>
            <a:off x="781050" y="3581400"/>
            <a:ext cx="5429250" cy="0"/>
          </a:xfrm>
          <a:prstGeom prst="line">
            <a:avLst/>
          </a:prstGeom>
          <a:noFill/>
          <a:ln w="19050">
            <a:solidFill>
              <a:srgbClr val="CBD5CF"/>
            </a:solidFill>
            <a:prstDash val="solid"/>
          </a:ln>
        </p:spPr>
        <p:txBody>
          <a:bodyPr/>
          <a:lstStyle/>
          <a:p>
            <a:endParaRPr lang="LID4096"/>
          </a:p>
        </p:txBody>
      </p:sp>
      <p:sp>
        <p:nvSpPr>
          <p:cNvPr id="9" name="Rectangle 8">
            <a:extLst>
              <a:ext uri="{FF2B5EF4-FFF2-40B4-BE49-F238E27FC236}">
                <a16:creationId xmlns:a16="http://schemas.microsoft.com/office/drawing/2014/main" id="{3B223C9C-8106-487F-BF1E-0F621E91CFB9}"/>
              </a:ext>
            </a:extLst>
          </p:cNvPr>
          <p:cNvSpPr>
            <a:spLocks noGrp="1"/>
          </p:cNvSpPr>
          <p:nvPr/>
        </p:nvSpPr>
        <p:spPr>
          <a:xfrm>
            <a:off x="781050" y="38671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Manual reporting</a:t>
            </a:r>
          </a:p>
        </p:txBody>
      </p:sp>
      <p:sp>
        <p:nvSpPr>
          <p:cNvPr id="10" name="Straight Connector 9">
            <a:extLst>
              <a:ext uri="{FF2B5EF4-FFF2-40B4-BE49-F238E27FC236}">
                <a16:creationId xmlns:a16="http://schemas.microsoft.com/office/drawing/2014/main" id="{A278FC3E-D512-4B05-BBA1-EB829FD09463}"/>
              </a:ext>
            </a:extLst>
          </p:cNvPr>
          <p:cNvSpPr>
            <a:spLocks noGrp="1"/>
          </p:cNvSpPr>
          <p:nvPr/>
        </p:nvSpPr>
        <p:spPr>
          <a:xfrm>
            <a:off x="781050" y="4591050"/>
            <a:ext cx="5429250" cy="0"/>
          </a:xfrm>
          <a:prstGeom prst="line">
            <a:avLst/>
          </a:prstGeom>
          <a:noFill/>
          <a:ln w="19050">
            <a:solidFill>
              <a:srgbClr val="CBD5CF"/>
            </a:solidFill>
            <a:prstDash val="solid"/>
          </a:ln>
        </p:spPr>
        <p:txBody>
          <a:bodyPr/>
          <a:lstStyle/>
          <a:p>
            <a:endParaRPr lang="LID4096"/>
          </a:p>
        </p:txBody>
      </p:sp>
      <p:sp>
        <p:nvSpPr>
          <p:cNvPr id="11" name="Rectangle 10">
            <a:extLst>
              <a:ext uri="{FF2B5EF4-FFF2-40B4-BE49-F238E27FC236}">
                <a16:creationId xmlns:a16="http://schemas.microsoft.com/office/drawing/2014/main" id="{0BCE40DF-C255-464C-B23C-1BC8E8413CC7}"/>
              </a:ext>
            </a:extLst>
          </p:cNvPr>
          <p:cNvSpPr>
            <a:spLocks noGrp="1"/>
          </p:cNvSpPr>
          <p:nvPr/>
        </p:nvSpPr>
        <p:spPr>
          <a:xfrm>
            <a:off x="781050" y="48768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Multiple approvals</a:t>
            </a:r>
          </a:p>
        </p:txBody>
      </p:sp>
      <p:sp>
        <p:nvSpPr>
          <p:cNvPr id="12" name="Rectangle: Rounded Corners 11">
            <a:extLst>
              <a:ext uri="{FF2B5EF4-FFF2-40B4-BE49-F238E27FC236}">
                <a16:creationId xmlns:a16="http://schemas.microsoft.com/office/drawing/2014/main" id="{BB37729D-975A-44BC-BA2A-D2FA055DB7CB}"/>
              </a:ext>
            </a:extLst>
          </p:cNvPr>
          <p:cNvSpPr>
            <a:spLocks noGrp="1"/>
          </p:cNvSpPr>
          <p:nvPr/>
        </p:nvSpPr>
        <p:spPr>
          <a:xfrm>
            <a:off x="781050" y="5695950"/>
            <a:ext cx="5905500" cy="628650"/>
          </a:xfrm>
          <a:prstGeom prst="roundRect">
            <a:avLst>
              <a:gd name="adj" fmla="val 12121"/>
            </a:avLst>
          </a:prstGeom>
          <a:solidFill>
            <a:srgbClr val="111713"/>
          </a:solidFill>
          <a:ln w="0">
            <a:noFill/>
          </a:ln>
        </p:spPr>
        <p:txBody>
          <a:bodyPr/>
          <a:lstStyle/>
          <a:p>
            <a:endParaRPr lang="LID4096"/>
          </a:p>
        </p:txBody>
      </p:sp>
      <p:sp>
        <p:nvSpPr>
          <p:cNvPr id="13" name="Rectangle 12">
            <a:extLst>
              <a:ext uri="{FF2B5EF4-FFF2-40B4-BE49-F238E27FC236}">
                <a16:creationId xmlns:a16="http://schemas.microsoft.com/office/drawing/2014/main" id="{677D00DE-3A65-4C8B-9C1B-4A6F2087D2F7}"/>
              </a:ext>
            </a:extLst>
          </p:cNvPr>
          <p:cNvSpPr>
            <a:spLocks noGrp="1"/>
          </p:cNvSpPr>
          <p:nvPr/>
        </p:nvSpPr>
        <p:spPr>
          <a:xfrm>
            <a:off x="1009650" y="5819775"/>
            <a:ext cx="5448300" cy="381000"/>
          </a:xfrm>
          <a:prstGeom prst="rect">
            <a:avLst/>
          </a:prstGeom>
          <a:noFill/>
          <a:ln w="0">
            <a:noFill/>
          </a:ln>
        </p:spPr>
        <p:txBody>
          <a:bodyPr wrap="square" lIns="0" tIns="0" rIns="0" bIns="0" anchor="ctr">
            <a:noAutofit/>
          </a:bodyPr>
          <a:lstStyle/>
          <a:p>
            <a:pPr algn="ctr">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The 24-hour clock keeps running</a:t>
            </a:r>
          </a:p>
        </p:txBody>
      </p:sp>
      <p:sp>
        <p:nvSpPr>
          <p:cNvPr id="14" name="Rectangle 13">
            <a:extLst>
              <a:ext uri="{FF2B5EF4-FFF2-40B4-BE49-F238E27FC236}">
                <a16:creationId xmlns:a16="http://schemas.microsoft.com/office/drawing/2014/main" id="{21A19E47-DED4-4738-BBA7-D6EFC3544AEB}"/>
              </a:ext>
            </a:extLst>
          </p:cNvPr>
          <p:cNvSpPr>
            <a:spLocks noGrp="1"/>
          </p:cNvSpPr>
          <p:nvPr/>
        </p:nvSpPr>
        <p:spPr>
          <a:xfrm>
            <a:off x="6667500" y="6477000"/>
            <a:ext cx="3429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05</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862115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AD3EBD24-8CF3-47C3-8C89-96F83E183BAA}"/>
              </a:ext>
            </a:extLst>
          </p:cNvPr>
          <p:cNvSpPr>
            <a:spLocks noGrp="1"/>
          </p:cNvSpPr>
          <p:nvPr/>
        </p:nvSpPr>
        <p:spPr>
          <a:xfrm>
            <a:off x="0" y="0"/>
            <a:ext cx="12192000" cy="6858000"/>
          </a:xfrm>
          <a:prstGeom prst="rect">
            <a:avLst/>
          </a:prstGeom>
          <a:solidFill>
            <a:srgbClr val="F4F7F5"/>
          </a:solidFill>
          <a:ln w="0">
            <a:noFill/>
          </a:ln>
        </p:spPr>
      </p:sp>
      <p:sp>
        <p:nvSpPr>
          <p:cNvPr id="2" name="Title accent">
            <a:extLst>
              <a:ext uri="{FF2B5EF4-FFF2-40B4-BE49-F238E27FC236}">
                <a16:creationId xmlns:a16="http://schemas.microsoft.com/office/drawing/2014/main" id="{3DB9DC76-4ABB-4987-9073-243DF440583C}"/>
              </a:ext>
            </a:extLst>
          </p:cNvPr>
          <p:cNvSpPr>
            <a:spLocks noGrp="1"/>
          </p:cNvSpPr>
          <p:nvPr/>
        </p:nvSpPr>
        <p:spPr>
          <a:xfrm>
            <a:off x="533400" y="476250"/>
            <a:ext cx="57150" cy="514350"/>
          </a:xfrm>
          <a:prstGeom prst="rect">
            <a:avLst/>
          </a:prstGeom>
          <a:solidFill>
            <a:srgbClr val="356B3F"/>
          </a:solidFill>
          <a:ln w="0">
            <a:noFill/>
          </a:ln>
        </p:spPr>
      </p:sp>
      <p:sp>
        <p:nvSpPr>
          <p:cNvPr id="3" name="Cycle title">
            <a:extLst>
              <a:ext uri="{FF2B5EF4-FFF2-40B4-BE49-F238E27FC236}">
                <a16:creationId xmlns:a16="http://schemas.microsoft.com/office/drawing/2014/main" id="{E907ADE7-5962-4912-BAA1-6A96BB28D6EE}"/>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defRPr sz="3225" b="1">
                <a:solidFill>
                  <a:srgbClr val="111713"/>
                </a:solidFill>
                <a:latin typeface="Segoe UI"/>
                <a:ea typeface="Segoe UI"/>
                <a:cs typeface="Segoe UI"/>
              </a:defRPr>
            </a:pPr>
            <a:r>
              <a:rPr sz="3225" b="1">
                <a:solidFill>
                  <a:srgbClr val="111713"/>
                </a:solidFill>
                <a:latin typeface="Segoe UI"/>
                <a:ea typeface="Segoe UI"/>
                <a:cs typeface="Segoe UI"/>
              </a:rPr>
              <a:t>One continuous automation loop</a:t>
            </a:r>
          </a:p>
        </p:txBody>
      </p:sp>
      <p:sp>
        <p:nvSpPr>
          <p:cNvPr id="15" name="Footer rule">
            <a:extLst>
              <a:ext uri="{FF2B5EF4-FFF2-40B4-BE49-F238E27FC236}">
                <a16:creationId xmlns:a16="http://schemas.microsoft.com/office/drawing/2014/main" id="{92F28FA8-A9B1-4F7F-8943-942A3BF29191}"/>
              </a:ext>
            </a:extLst>
          </p:cNvPr>
          <p:cNvSpPr>
            <a:spLocks noGrp="1"/>
          </p:cNvSpPr>
          <p:nvPr/>
        </p:nvSpPr>
        <p:spPr>
          <a:xfrm>
            <a:off x="533400" y="6496050"/>
            <a:ext cx="11125200" cy="0"/>
          </a:xfrm>
          <a:prstGeom prst="line">
            <a:avLst/>
          </a:prstGeom>
          <a:noFill/>
          <a:ln w="9525">
            <a:solidFill>
              <a:srgbClr val="D5DDD8"/>
            </a:solidFill>
            <a:prstDash val="solid"/>
          </a:ln>
        </p:spPr>
      </p:sp>
      <p:sp>
        <p:nvSpPr>
          <p:cNvPr id="16" name="Slide number">
            <a:extLst>
              <a:ext uri="{FF2B5EF4-FFF2-40B4-BE49-F238E27FC236}">
                <a16:creationId xmlns:a16="http://schemas.microsoft.com/office/drawing/2014/main" id="{F52D1F59-A820-4439-BE02-4E4BC0C62EED}"/>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06</a:t>
            </a:r>
            <a:endParaRPr sz="1050" b="0">
              <a:solidFill>
                <a:srgbClr val="53605A"/>
              </a:solidFill>
              <a:latin typeface="Cascadia Mono"/>
              <a:ea typeface="Cascadia Mono"/>
              <a:cs typeface="Cascadia Mono"/>
            </a:endParaRPr>
          </a:p>
        </p:txBody>
      </p:sp>
      <p:sp>
        <p:nvSpPr>
          <p:cNvPr id="4" name="Arrow Evidence to Extraction">
            <a:extLst>
              <a:ext uri="{FF2B5EF4-FFF2-40B4-BE49-F238E27FC236}">
                <a16:creationId xmlns:a16="http://schemas.microsoft.com/office/drawing/2014/main" id="{D45EA456-FD0E-D247-E770-AF804033B573}"/>
              </a:ext>
            </a:extLst>
          </p:cNvPr>
          <p:cNvSpPr/>
          <p:nvPr/>
        </p:nvSpPr>
        <p:spPr>
          <a:xfrm>
            <a:off x="4254667" y="2593767"/>
            <a:ext cx="865221" cy="2023864"/>
          </a:xfrm>
          <a:custGeom>
            <a:avLst/>
            <a:gdLst/>
            <a:ahLst/>
            <a:cxnLst/>
            <a:rect l="0" t="0" r="0" b="0"/>
            <a:pathLst>
              <a:path w="865221" h="2023864">
                <a:moveTo>
                  <a:pt x="110889" y="2023863"/>
                </a:moveTo>
                <a:lnTo>
                  <a:pt x="88613" y="1958918"/>
                </a:lnTo>
                <a:lnTo>
                  <a:pt x="68773" y="1893187"/>
                </a:lnTo>
                <a:lnTo>
                  <a:pt x="51398" y="1826763"/>
                </a:lnTo>
                <a:lnTo>
                  <a:pt x="36511" y="1759737"/>
                </a:lnTo>
                <a:lnTo>
                  <a:pt x="24133" y="1692203"/>
                </a:lnTo>
                <a:lnTo>
                  <a:pt x="14281" y="1624254"/>
                </a:lnTo>
                <a:lnTo>
                  <a:pt x="6968" y="1555986"/>
                </a:lnTo>
                <a:lnTo>
                  <a:pt x="2206" y="1487492"/>
                </a:lnTo>
                <a:lnTo>
                  <a:pt x="0" y="1418868"/>
                </a:lnTo>
                <a:lnTo>
                  <a:pt x="355" y="1350210"/>
                </a:lnTo>
                <a:lnTo>
                  <a:pt x="3268" y="1281612"/>
                </a:lnTo>
                <a:lnTo>
                  <a:pt x="8736" y="1213171"/>
                </a:lnTo>
                <a:lnTo>
                  <a:pt x="16752" y="1144981"/>
                </a:lnTo>
                <a:lnTo>
                  <a:pt x="27305" y="1077138"/>
                </a:lnTo>
                <a:lnTo>
                  <a:pt x="40379" y="1009735"/>
                </a:lnTo>
                <a:lnTo>
                  <a:pt x="55956" y="942866"/>
                </a:lnTo>
                <a:lnTo>
                  <a:pt x="74016" y="876624"/>
                </a:lnTo>
                <a:lnTo>
                  <a:pt x="94532" y="811102"/>
                </a:lnTo>
                <a:lnTo>
                  <a:pt x="117477" y="746390"/>
                </a:lnTo>
                <a:lnTo>
                  <a:pt x="142818" y="682578"/>
                </a:lnTo>
                <a:lnTo>
                  <a:pt x="170520" y="619756"/>
                </a:lnTo>
                <a:lnTo>
                  <a:pt x="200544" y="558009"/>
                </a:lnTo>
                <a:lnTo>
                  <a:pt x="19492" y="465759"/>
                </a:lnTo>
                <a:lnTo>
                  <a:pt x="865220" y="0"/>
                </a:lnTo>
                <a:lnTo>
                  <a:pt x="630544" y="777105"/>
                </a:lnTo>
                <a:lnTo>
                  <a:pt x="449492" y="684855"/>
                </a:lnTo>
                <a:lnTo>
                  <a:pt x="449492" y="684855"/>
                </a:lnTo>
                <a:lnTo>
                  <a:pt x="424022" y="737232"/>
                </a:lnTo>
                <a:lnTo>
                  <a:pt x="400523" y="790523"/>
                </a:lnTo>
                <a:lnTo>
                  <a:pt x="379027" y="844653"/>
                </a:lnTo>
                <a:lnTo>
                  <a:pt x="359564" y="899547"/>
                </a:lnTo>
                <a:lnTo>
                  <a:pt x="342160" y="955128"/>
                </a:lnTo>
                <a:lnTo>
                  <a:pt x="326841" y="1011319"/>
                </a:lnTo>
                <a:lnTo>
                  <a:pt x="313627" y="1068042"/>
                </a:lnTo>
                <a:lnTo>
                  <a:pt x="302536" y="1125218"/>
                </a:lnTo>
                <a:lnTo>
                  <a:pt x="293585" y="1182768"/>
                </a:lnTo>
                <a:lnTo>
                  <a:pt x="286785" y="1240612"/>
                </a:lnTo>
                <a:lnTo>
                  <a:pt x="282147" y="1298669"/>
                </a:lnTo>
                <a:lnTo>
                  <a:pt x="279675" y="1356859"/>
                </a:lnTo>
                <a:lnTo>
                  <a:pt x="279375" y="1415100"/>
                </a:lnTo>
                <a:lnTo>
                  <a:pt x="281246" y="1473312"/>
                </a:lnTo>
                <a:lnTo>
                  <a:pt x="285286" y="1531413"/>
                </a:lnTo>
                <a:lnTo>
                  <a:pt x="291488" y="1589324"/>
                </a:lnTo>
                <a:lnTo>
                  <a:pt x="299846" y="1646964"/>
                </a:lnTo>
                <a:lnTo>
                  <a:pt x="310346" y="1704251"/>
                </a:lnTo>
                <a:lnTo>
                  <a:pt x="322975" y="1761107"/>
                </a:lnTo>
                <a:lnTo>
                  <a:pt x="337714" y="1817454"/>
                </a:lnTo>
                <a:lnTo>
                  <a:pt x="354543" y="1873211"/>
                </a:lnTo>
                <a:lnTo>
                  <a:pt x="373439" y="1928303"/>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 name="Arrow Extraction to Detection">
            <a:extLst>
              <a:ext uri="{FF2B5EF4-FFF2-40B4-BE49-F238E27FC236}">
                <a16:creationId xmlns:a16="http://schemas.microsoft.com/office/drawing/2014/main" id="{81C97078-79F3-0560-7871-E3F404B2C990}"/>
              </a:ext>
            </a:extLst>
          </p:cNvPr>
          <p:cNvSpPr/>
          <p:nvPr/>
        </p:nvSpPr>
        <p:spPr>
          <a:xfrm>
            <a:off x="6367256" y="2174277"/>
            <a:ext cx="1443574" cy="1665202"/>
          </a:xfrm>
          <a:custGeom>
            <a:avLst/>
            <a:gdLst/>
            <a:ahLst/>
            <a:cxnLst/>
            <a:rect l="0" t="0" r="0" b="0"/>
            <a:pathLst>
              <a:path w="1443574" h="1665202">
                <a:moveTo>
                  <a:pt x="48517" y="0"/>
                </a:moveTo>
                <a:lnTo>
                  <a:pt x="115899" y="13181"/>
                </a:lnTo>
                <a:lnTo>
                  <a:pt x="182743" y="28864"/>
                </a:lnTo>
                <a:lnTo>
                  <a:pt x="248956" y="47029"/>
                </a:lnTo>
                <a:lnTo>
                  <a:pt x="314445" y="67649"/>
                </a:lnTo>
                <a:lnTo>
                  <a:pt x="379121" y="90696"/>
                </a:lnTo>
                <a:lnTo>
                  <a:pt x="442893" y="116139"/>
                </a:lnTo>
                <a:lnTo>
                  <a:pt x="505671" y="143940"/>
                </a:lnTo>
                <a:lnTo>
                  <a:pt x="567370" y="174063"/>
                </a:lnTo>
                <a:lnTo>
                  <a:pt x="627902" y="206465"/>
                </a:lnTo>
                <a:lnTo>
                  <a:pt x="687185" y="241101"/>
                </a:lnTo>
                <a:lnTo>
                  <a:pt x="745136" y="277922"/>
                </a:lnTo>
                <a:lnTo>
                  <a:pt x="801674" y="316879"/>
                </a:lnTo>
                <a:lnTo>
                  <a:pt x="856719" y="357916"/>
                </a:lnTo>
                <a:lnTo>
                  <a:pt x="910197" y="400976"/>
                </a:lnTo>
                <a:lnTo>
                  <a:pt x="962033" y="446000"/>
                </a:lnTo>
                <a:lnTo>
                  <a:pt x="1012155" y="492925"/>
                </a:lnTo>
                <a:lnTo>
                  <a:pt x="1060491" y="541686"/>
                </a:lnTo>
                <a:lnTo>
                  <a:pt x="1106978" y="592214"/>
                </a:lnTo>
                <a:lnTo>
                  <a:pt x="1151547" y="644441"/>
                </a:lnTo>
                <a:lnTo>
                  <a:pt x="1194139" y="698293"/>
                </a:lnTo>
                <a:lnTo>
                  <a:pt x="1234695" y="753695"/>
                </a:lnTo>
                <a:lnTo>
                  <a:pt x="1273156" y="810570"/>
                </a:lnTo>
                <a:lnTo>
                  <a:pt x="1443573" y="699900"/>
                </a:lnTo>
                <a:lnTo>
                  <a:pt x="1424068" y="1665201"/>
                </a:lnTo>
                <a:lnTo>
                  <a:pt x="868413" y="1073413"/>
                </a:lnTo>
                <a:lnTo>
                  <a:pt x="1038831" y="962742"/>
                </a:lnTo>
                <a:lnTo>
                  <a:pt x="1038831" y="962742"/>
                </a:lnTo>
                <a:lnTo>
                  <a:pt x="1006206" y="914496"/>
                </a:lnTo>
                <a:lnTo>
                  <a:pt x="971804" y="867500"/>
                </a:lnTo>
                <a:lnTo>
                  <a:pt x="935673" y="821819"/>
                </a:lnTo>
                <a:lnTo>
                  <a:pt x="897866" y="777516"/>
                </a:lnTo>
                <a:lnTo>
                  <a:pt x="858433" y="734654"/>
                </a:lnTo>
                <a:lnTo>
                  <a:pt x="817430" y="693291"/>
                </a:lnTo>
                <a:lnTo>
                  <a:pt x="774913" y="653486"/>
                </a:lnTo>
                <a:lnTo>
                  <a:pt x="730943" y="615293"/>
                </a:lnTo>
                <a:lnTo>
                  <a:pt x="685579" y="578766"/>
                </a:lnTo>
                <a:lnTo>
                  <a:pt x="638885" y="543956"/>
                </a:lnTo>
                <a:lnTo>
                  <a:pt x="590925" y="510910"/>
                </a:lnTo>
                <a:lnTo>
                  <a:pt x="541766" y="479675"/>
                </a:lnTo>
                <a:lnTo>
                  <a:pt x="491479" y="450294"/>
                </a:lnTo>
                <a:lnTo>
                  <a:pt x="440130" y="422809"/>
                </a:lnTo>
                <a:lnTo>
                  <a:pt x="387793" y="397256"/>
                </a:lnTo>
                <a:lnTo>
                  <a:pt x="334539" y="373673"/>
                </a:lnTo>
                <a:lnTo>
                  <a:pt x="280444" y="352091"/>
                </a:lnTo>
                <a:lnTo>
                  <a:pt x="225580" y="332540"/>
                </a:lnTo>
                <a:lnTo>
                  <a:pt x="170027" y="315049"/>
                </a:lnTo>
                <a:lnTo>
                  <a:pt x="113860" y="299640"/>
                </a:lnTo>
                <a:lnTo>
                  <a:pt x="57158" y="286336"/>
                </a:lnTo>
                <a:lnTo>
                  <a:pt x="0" y="275155"/>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6" name="Arrow Detection to Evidence">
            <a:extLst>
              <a:ext uri="{FF2B5EF4-FFF2-40B4-BE49-F238E27FC236}">
                <a16:creationId xmlns:a16="http://schemas.microsoft.com/office/drawing/2014/main" id="{3BBA9709-B75B-30EC-59B6-AC34A80E093E}"/>
              </a:ext>
            </a:extLst>
          </p:cNvPr>
          <p:cNvSpPr/>
          <p:nvPr/>
        </p:nvSpPr>
        <p:spPr>
          <a:xfrm>
            <a:off x="5376788" y="4991898"/>
            <a:ext cx="2129883" cy="1037801"/>
          </a:xfrm>
          <a:custGeom>
            <a:avLst/>
            <a:gdLst/>
            <a:ahLst/>
            <a:cxnLst/>
            <a:rect l="0" t="0" r="0" b="0"/>
            <a:pathLst>
              <a:path w="2129883" h="1037801">
                <a:moveTo>
                  <a:pt x="2129882" y="179595"/>
                </a:moveTo>
                <a:lnTo>
                  <a:pt x="2084777" y="231360"/>
                </a:lnTo>
                <a:lnTo>
                  <a:pt x="2037773" y="281406"/>
                </a:lnTo>
                <a:lnTo>
                  <a:pt x="1988934" y="329666"/>
                </a:lnTo>
                <a:lnTo>
                  <a:pt x="1938332" y="376072"/>
                </a:lnTo>
                <a:lnTo>
                  <a:pt x="1886035" y="420558"/>
                </a:lnTo>
                <a:lnTo>
                  <a:pt x="1832115" y="463065"/>
                </a:lnTo>
                <a:lnTo>
                  <a:pt x="1776649" y="503532"/>
                </a:lnTo>
                <a:lnTo>
                  <a:pt x="1719713" y="541903"/>
                </a:lnTo>
                <a:lnTo>
                  <a:pt x="1661386" y="578125"/>
                </a:lnTo>
                <a:lnTo>
                  <a:pt x="1601749" y="612148"/>
                </a:lnTo>
                <a:lnTo>
                  <a:pt x="1540885" y="643923"/>
                </a:lnTo>
                <a:lnTo>
                  <a:pt x="1478880" y="673409"/>
                </a:lnTo>
                <a:lnTo>
                  <a:pt x="1415818" y="700561"/>
                </a:lnTo>
                <a:lnTo>
                  <a:pt x="1351787" y="725344"/>
                </a:lnTo>
                <a:lnTo>
                  <a:pt x="1286877" y="747723"/>
                </a:lnTo>
                <a:lnTo>
                  <a:pt x="1221178" y="767667"/>
                </a:lnTo>
                <a:lnTo>
                  <a:pt x="1154782" y="785148"/>
                </a:lnTo>
                <a:lnTo>
                  <a:pt x="1087779" y="800141"/>
                </a:lnTo>
                <a:lnTo>
                  <a:pt x="1020265" y="812627"/>
                </a:lnTo>
                <a:lnTo>
                  <a:pt x="952332" y="822587"/>
                </a:lnTo>
                <a:lnTo>
                  <a:pt x="884075" y="830007"/>
                </a:lnTo>
                <a:lnTo>
                  <a:pt x="815589" y="834878"/>
                </a:lnTo>
                <a:lnTo>
                  <a:pt x="826223" y="1037800"/>
                </a:lnTo>
                <a:lnTo>
                  <a:pt x="0" y="538257"/>
                </a:lnTo>
                <a:lnTo>
                  <a:pt x="790331" y="352940"/>
                </a:lnTo>
                <a:lnTo>
                  <a:pt x="800966" y="555861"/>
                </a:lnTo>
                <a:lnTo>
                  <a:pt x="800966" y="555861"/>
                </a:lnTo>
                <a:lnTo>
                  <a:pt x="859061" y="551729"/>
                </a:lnTo>
                <a:lnTo>
                  <a:pt x="916962" y="545435"/>
                </a:lnTo>
                <a:lnTo>
                  <a:pt x="974588" y="536986"/>
                </a:lnTo>
                <a:lnTo>
                  <a:pt x="1031859" y="526395"/>
                </a:lnTo>
                <a:lnTo>
                  <a:pt x="1088695" y="513676"/>
                </a:lnTo>
                <a:lnTo>
                  <a:pt x="1145018" y="498848"/>
                </a:lnTo>
                <a:lnTo>
                  <a:pt x="1200748" y="481930"/>
                </a:lnTo>
                <a:lnTo>
                  <a:pt x="1255810" y="462946"/>
                </a:lnTo>
                <a:lnTo>
                  <a:pt x="1310126" y="441923"/>
                </a:lnTo>
                <a:lnTo>
                  <a:pt x="1363619" y="418890"/>
                </a:lnTo>
                <a:lnTo>
                  <a:pt x="1416218" y="393879"/>
                </a:lnTo>
                <a:lnTo>
                  <a:pt x="1467847" y="366925"/>
                </a:lnTo>
                <a:lnTo>
                  <a:pt x="1518435" y="338064"/>
                </a:lnTo>
                <a:lnTo>
                  <a:pt x="1567913" y="307337"/>
                </a:lnTo>
                <a:lnTo>
                  <a:pt x="1616211" y="274788"/>
                </a:lnTo>
                <a:lnTo>
                  <a:pt x="1663261" y="240461"/>
                </a:lnTo>
                <a:lnTo>
                  <a:pt x="1709000" y="204404"/>
                </a:lnTo>
                <a:lnTo>
                  <a:pt x="1753362" y="166667"/>
                </a:lnTo>
                <a:lnTo>
                  <a:pt x="1796287" y="127302"/>
                </a:lnTo>
                <a:lnTo>
                  <a:pt x="1837715" y="86364"/>
                </a:lnTo>
                <a:lnTo>
                  <a:pt x="1877588" y="43911"/>
                </a:lnTo>
                <a:lnTo>
                  <a:pt x="1915850" y="0"/>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8" name="Extraction node">
            <a:extLst>
              <a:ext uri="{FF2B5EF4-FFF2-40B4-BE49-F238E27FC236}">
                <a16:creationId xmlns:a16="http://schemas.microsoft.com/office/drawing/2014/main" id="{5CA63EBD-2AC7-4509-3F34-D84C19B49DED}"/>
              </a:ext>
            </a:extLst>
          </p:cNvPr>
          <p:cNvSpPr/>
          <p:nvPr/>
        </p:nvSpPr>
        <p:spPr>
          <a:xfrm>
            <a:off x="5308600" y="19685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Extraction</a:t>
            </a:r>
            <a:endParaRPr lang="LID4096" sz="2000" b="1">
              <a:solidFill>
                <a:srgbClr val="111713"/>
              </a:solidFill>
              <a:latin typeface="Segoe UI" panose="020B0502040204020203" pitchFamily="34" charset="0"/>
            </a:endParaRPr>
          </a:p>
        </p:txBody>
      </p:sp>
      <p:sp>
        <p:nvSpPr>
          <p:cNvPr id="19" name="Detection node">
            <a:extLst>
              <a:ext uri="{FF2B5EF4-FFF2-40B4-BE49-F238E27FC236}">
                <a16:creationId xmlns:a16="http://schemas.microsoft.com/office/drawing/2014/main" id="{DCDA8E4D-CE2B-6341-61BD-46C8E8C3A417}"/>
              </a:ext>
            </a:extLst>
          </p:cNvPr>
          <p:cNvSpPr/>
          <p:nvPr/>
        </p:nvSpPr>
        <p:spPr>
          <a:xfrm>
            <a:off x="6781800" y="45212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Detection</a:t>
            </a:r>
            <a:endParaRPr lang="LID4096" sz="2000" b="1">
              <a:solidFill>
                <a:srgbClr val="111713"/>
              </a:solidFill>
              <a:latin typeface="Segoe UI" panose="020B0502040204020203" pitchFamily="34" charset="0"/>
            </a:endParaRPr>
          </a:p>
        </p:txBody>
      </p:sp>
      <p:sp>
        <p:nvSpPr>
          <p:cNvPr id="20" name="Evidence node">
            <a:extLst>
              <a:ext uri="{FF2B5EF4-FFF2-40B4-BE49-F238E27FC236}">
                <a16:creationId xmlns:a16="http://schemas.microsoft.com/office/drawing/2014/main" id="{AA445849-AD4C-4595-EBF3-B982BE59464A}"/>
              </a:ext>
            </a:extLst>
          </p:cNvPr>
          <p:cNvSpPr/>
          <p:nvPr/>
        </p:nvSpPr>
        <p:spPr>
          <a:xfrm>
            <a:off x="3835400" y="45212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Evidence</a:t>
            </a:r>
            <a:endParaRPr lang="LID4096" sz="2000" b="1">
              <a:solidFill>
                <a:srgbClr val="111713"/>
              </a:solidFill>
              <a:latin typeface="Segoe UI" panose="020B0502040204020203" pitchFamily="34" charset="0"/>
            </a:endParaRPr>
          </a:p>
        </p:txBody>
      </p:sp>
      <p:sp>
        <p:nvSpPr>
          <p:cNvPr id="21" name="Automated label">
            <a:extLst>
              <a:ext uri="{FF2B5EF4-FFF2-40B4-BE49-F238E27FC236}">
                <a16:creationId xmlns:a16="http://schemas.microsoft.com/office/drawing/2014/main" id="{B79CF01C-8727-7890-5956-56588980CC30}"/>
              </a:ext>
            </a:extLst>
          </p:cNvPr>
          <p:cNvSpPr txBox="1"/>
          <p:nvPr/>
        </p:nvSpPr>
        <p:spPr>
          <a:xfrm>
            <a:off x="5232400" y="3759200"/>
            <a:ext cx="1727200" cy="369332"/>
          </a:xfrm>
          <a:prstGeom prst="rect">
            <a:avLst/>
          </a:prstGeom>
          <a:noFill/>
        </p:spPr>
        <p:txBody>
          <a:bodyPr vert="horz" rtlCol="0" anchor="ctr">
            <a:spAutoFit/>
          </a:bodyPr>
          <a:lstStyle/>
          <a:p>
            <a:pPr algn="ctr"/>
            <a:r>
              <a:rPr lang="en-US" b="1">
                <a:solidFill>
                  <a:srgbClr val="356B3F"/>
                </a:solidFill>
                <a:latin typeface="Cascadia Mono" panose="020B0609020000020004" pitchFamily="49" charset="0"/>
              </a:rPr>
              <a:t>AUTOMATED</a:t>
            </a:r>
            <a:endParaRPr lang="LID4096" b="1">
              <a:solidFill>
                <a:srgbClr val="356B3F"/>
              </a:solidFill>
              <a:latin typeface="Cascadia Mono" panose="020B0609020000020004" pitchFamily="49" charset="0"/>
            </a:endParaRPr>
          </a:p>
        </p:txBody>
      </p:sp>
    </p:spTree>
    <p:extLst>
      <p:ext uri="{BB962C8B-B14F-4D97-AF65-F5344CB8AC3E}">
        <p14:creationId xmlns:p14="http://schemas.microsoft.com/office/powerpoint/2010/main" val="444479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
                                        <p:tgtEl>
                                          <p:spTgt spid="18"/>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
                                        <p:tgtEl>
                                          <p:spTgt spid="5"/>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200"/>
                                        <p:tgtEl>
                                          <p:spTgt spid="19"/>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
                                        <p:tgtEl>
                                          <p:spTgt spid="6"/>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200"/>
                                        <p:tgtEl>
                                          <p:spTgt spid="20"/>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2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8" grpId="0" animBg="1"/>
      <p:bldP spid="19"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2" name="Title accent">
            <a:extLst>
              <a:ext uri="{FF2B5EF4-FFF2-40B4-BE49-F238E27FC236}">
                <a16:creationId xmlns:a16="http://schemas.microsoft.com/office/drawing/2014/main" id="{AF3E60D5-9C98-2B33-B5BE-0364CA71DD8C}"/>
              </a:ext>
            </a:extLst>
          </p:cNvPr>
          <p:cNvSpPr/>
          <p:nvPr/>
        </p:nvSpPr>
        <p:spPr>
          <a:xfrm>
            <a:off x="533400" y="476250"/>
            <a:ext cx="57150" cy="514350"/>
          </a:xfrm>
          <a:prstGeom prst="rect">
            <a:avLst/>
          </a:pr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3" name="Footer rule">
            <a:extLst>
              <a:ext uri="{FF2B5EF4-FFF2-40B4-BE49-F238E27FC236}">
                <a16:creationId xmlns:a16="http://schemas.microsoft.com/office/drawing/2014/main" id="{3AE6015F-FAE2-58E9-B4C4-1F2316AEE6DF}"/>
              </a:ext>
            </a:extLst>
          </p:cNvPr>
          <p:cNvCxnSpPr/>
          <p:nvPr/>
        </p:nvCxnSpPr>
        <p:spPr>
          <a:xfrm>
            <a:off x="533400" y="6496050"/>
            <a:ext cx="11125200" cy="0"/>
          </a:xfrm>
          <a:prstGeom prst="line">
            <a:avLst/>
          </a:prstGeom>
          <a:ln w="9525">
            <a:solidFill>
              <a:srgbClr val="D5DDD8"/>
            </a:solidFill>
          </a:ln>
        </p:spPr>
        <p:style>
          <a:lnRef idx="1">
            <a:schemeClr val="accent1"/>
          </a:lnRef>
          <a:fillRef idx="0">
            <a:schemeClr val="accent1"/>
          </a:fillRef>
          <a:effectRef idx="0">
            <a:schemeClr val="accent1"/>
          </a:effectRef>
          <a:fontRef idx="minor">
            <a:schemeClr val="tx1"/>
          </a:fontRef>
        </p:style>
      </p:cxnSp>
      <p:sp>
        <p:nvSpPr>
          <p:cNvPr id="4" name="Slide number">
            <a:extLst>
              <a:ext uri="{FF2B5EF4-FFF2-40B4-BE49-F238E27FC236}">
                <a16:creationId xmlns:a16="http://schemas.microsoft.com/office/drawing/2014/main" id="{E0F9F518-23D5-26A0-3F26-A26C0C495AC4}"/>
              </a:ext>
            </a:extLst>
          </p:cNvPr>
          <p:cNvSpPr txBox="1"/>
          <p:nvPr/>
        </p:nvSpPr>
        <p:spPr>
          <a:xfrm>
            <a:off x="11049000" y="6563360"/>
            <a:ext cx="609600" cy="161583"/>
          </a:xfrm>
          <a:prstGeom prst="rect">
            <a:avLst/>
          </a:prstGeom>
          <a:noFill/>
        </p:spPr>
        <p:txBody>
          <a:bodyPr vert="horz" lIns="0" tIns="0" rIns="0" bIns="0" rtlCol="0">
            <a:spAutoFit/>
          </a:bodyPr>
          <a:lstStyle/>
          <a:p>
            <a:pPr algn="r"/>
            <a:r>
              <a:rPr lang="en-US" sz="1050">
                <a:solidFill>
                  <a:srgbClr val="53605A"/>
                </a:solidFill>
                <a:latin typeface="Cascadia Mono" panose="020B0609020000020004" pitchFamily="49" charset="0"/>
              </a:rPr>
              <a:t>07</a:t>
            </a:r>
            <a:endParaRPr lang="LID4096" sz="1050">
              <a:solidFill>
                <a:srgbClr val="53605A"/>
              </a:solidFill>
              <a:latin typeface="Cascadia Mono" panose="020B0609020000020004" pitchFamily="49" charset="0"/>
            </a:endParaRPr>
          </a:p>
        </p:txBody>
      </p:sp>
      <p:sp>
        <p:nvSpPr>
          <p:cNvPr id="5" name="Kanban title">
            <a:extLst>
              <a:ext uri="{FF2B5EF4-FFF2-40B4-BE49-F238E27FC236}">
                <a16:creationId xmlns:a16="http://schemas.microsoft.com/office/drawing/2014/main" id="{FEFD5073-6538-2780-4280-8FC6CE0B2AB4}"/>
              </a:ext>
            </a:extLst>
          </p:cNvPr>
          <p:cNvSpPr txBox="1"/>
          <p:nvPr/>
        </p:nvSpPr>
        <p:spPr>
          <a:xfrm>
            <a:off x="762000" y="438150"/>
            <a:ext cx="10718800" cy="496290"/>
          </a:xfrm>
          <a:prstGeom prst="rect">
            <a:avLst/>
          </a:prstGeom>
          <a:noFill/>
        </p:spPr>
        <p:txBody>
          <a:bodyPr vert="horz" lIns="0" tIns="0" rIns="0" bIns="0" rtlCol="0">
            <a:spAutoFit/>
          </a:bodyPr>
          <a:lstStyle/>
          <a:p>
            <a:r>
              <a:rPr lang="en-US" sz="3225" b="1">
                <a:solidFill>
                  <a:srgbClr val="111713"/>
                </a:solidFill>
                <a:latin typeface="Segoe UI" panose="020B0502040204020203" pitchFamily="34" charset="0"/>
              </a:rPr>
              <a:t>PandaX Kanban</a:t>
            </a:r>
            <a:endParaRPr lang="LID4096" sz="3225" b="1">
              <a:solidFill>
                <a:srgbClr val="111713"/>
              </a:solidFill>
              <a:latin typeface="Segoe UI" panose="020B0502040204020203" pitchFamily="34" charset="0"/>
            </a:endParaRPr>
          </a:p>
        </p:txBody>
      </p:sp>
      <p:sp>
        <p:nvSpPr>
          <p:cNvPr id="6" name="Screenshot frame">
            <a:extLst>
              <a:ext uri="{FF2B5EF4-FFF2-40B4-BE49-F238E27FC236}">
                <a16:creationId xmlns:a16="http://schemas.microsoft.com/office/drawing/2014/main" id="{78F613B4-F6FD-4D0F-29E4-E8C37445BE97}"/>
              </a:ext>
            </a:extLst>
          </p:cNvPr>
          <p:cNvSpPr/>
          <p:nvPr/>
        </p:nvSpPr>
        <p:spPr>
          <a:xfrm>
            <a:off x="914400" y="1333500"/>
            <a:ext cx="10363200" cy="4902200"/>
          </a:xfrm>
          <a:prstGeom prst="roundRect">
            <a:avLst/>
          </a:prstGeom>
          <a:solidFill>
            <a:srgbClr val="FFFFFF"/>
          </a:solidFill>
          <a:ln w="13970">
            <a:solidFill>
              <a:srgbClr val="CDD8D0"/>
            </a:solidFill>
          </a:ln>
          <a:effectLst>
            <a:outerShdw blurRad="177800" dist="144802" dir="3127510" rotWithShape="0">
              <a:srgbClr val="23372A">
                <a:alpha val="4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8" name="PandaX Kanban screenshot">
            <a:extLst>
              <a:ext uri="{FF2B5EF4-FFF2-40B4-BE49-F238E27FC236}">
                <a16:creationId xmlns:a16="http://schemas.microsoft.com/office/drawing/2014/main" id="{8E1CCABB-15CA-F200-2B01-1B3F82247876}"/>
              </a:ext>
            </a:extLst>
          </p:cNvPr>
          <p:cNvPicPr>
            <a:picLocks/>
          </p:cNvPicPr>
          <p:nvPr/>
        </p:nvPicPr>
        <p:blipFill>
          <a:blip r:embed="rId2">
            <a:extLst>
              <a:ext uri="{28A0092B-C50C-407E-A947-70E740481C1C}">
                <a14:useLocalDpi xmlns:a14="http://schemas.microsoft.com/office/drawing/2010/main" val="0"/>
              </a:ext>
            </a:extLst>
          </a:blip>
          <a:srcRect b="6949"/>
          <a:stretch>
            <a:fillRect/>
          </a:stretch>
        </p:blipFill>
        <p:spPr>
          <a:xfrm>
            <a:off x="990600" y="1409700"/>
            <a:ext cx="10210800" cy="4699000"/>
          </a:xfrm>
          <a:prstGeom prst="rect">
            <a:avLst/>
          </a:prstGeom>
          <a:ln w="9525">
            <a:solidFill>
              <a:srgbClr val="CDD8D0"/>
            </a:solidFill>
          </a:ln>
        </p:spPr>
      </p:pic>
    </p:spTree>
    <p:extLst>
      <p:ext uri="{BB962C8B-B14F-4D97-AF65-F5344CB8AC3E}">
        <p14:creationId xmlns:p14="http://schemas.microsoft.com/office/powerpoint/2010/main" val="715671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2" name="Title accent">
            <a:extLst>
              <a:ext uri="{FF2B5EF4-FFF2-40B4-BE49-F238E27FC236}">
                <a16:creationId xmlns:a16="http://schemas.microsoft.com/office/drawing/2014/main" id="{9D6CE0DB-2297-2C63-7630-DC6381E9049E}"/>
              </a:ext>
            </a:extLst>
          </p:cNvPr>
          <p:cNvSpPr/>
          <p:nvPr/>
        </p:nvSpPr>
        <p:spPr>
          <a:xfrm>
            <a:off x="533400" y="476250"/>
            <a:ext cx="57150" cy="514350"/>
          </a:xfrm>
          <a:prstGeom prst="rect">
            <a:avLst/>
          </a:pr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cxnSp>
        <p:nvCxnSpPr>
          <p:cNvPr id="3" name="Footer rule">
            <a:extLst>
              <a:ext uri="{FF2B5EF4-FFF2-40B4-BE49-F238E27FC236}">
                <a16:creationId xmlns:a16="http://schemas.microsoft.com/office/drawing/2014/main" id="{1C570AC6-831D-000A-5440-F5A28686EE5C}"/>
              </a:ext>
            </a:extLst>
          </p:cNvPr>
          <p:cNvCxnSpPr/>
          <p:nvPr/>
        </p:nvCxnSpPr>
        <p:spPr>
          <a:xfrm>
            <a:off x="533400" y="6496050"/>
            <a:ext cx="11125200" cy="0"/>
          </a:xfrm>
          <a:prstGeom prst="line">
            <a:avLst/>
          </a:prstGeom>
          <a:ln w="9525">
            <a:solidFill>
              <a:srgbClr val="D5DDD8"/>
            </a:solidFill>
          </a:ln>
        </p:spPr>
        <p:style>
          <a:lnRef idx="1">
            <a:schemeClr val="accent1"/>
          </a:lnRef>
          <a:fillRef idx="0">
            <a:schemeClr val="accent1"/>
          </a:fillRef>
          <a:effectRef idx="0">
            <a:schemeClr val="accent1"/>
          </a:effectRef>
          <a:fontRef idx="minor">
            <a:schemeClr val="tx1"/>
          </a:fontRef>
        </p:style>
      </p:cxnSp>
      <p:sp>
        <p:nvSpPr>
          <p:cNvPr id="4" name="Slide number">
            <a:extLst>
              <a:ext uri="{FF2B5EF4-FFF2-40B4-BE49-F238E27FC236}">
                <a16:creationId xmlns:a16="http://schemas.microsoft.com/office/drawing/2014/main" id="{CF885857-8EBA-0400-0F13-9225D918CC55}"/>
              </a:ext>
            </a:extLst>
          </p:cNvPr>
          <p:cNvSpPr txBox="1"/>
          <p:nvPr/>
        </p:nvSpPr>
        <p:spPr>
          <a:xfrm>
            <a:off x="11049000" y="6563360"/>
            <a:ext cx="609600" cy="161583"/>
          </a:xfrm>
          <a:prstGeom prst="rect">
            <a:avLst/>
          </a:prstGeom>
          <a:noFill/>
        </p:spPr>
        <p:txBody>
          <a:bodyPr vert="horz" lIns="0" tIns="0" rIns="0" bIns="0" rtlCol="0">
            <a:spAutoFit/>
          </a:bodyPr>
          <a:lstStyle/>
          <a:p>
            <a:pPr algn="r"/>
            <a:r>
              <a:rPr lang="en-US" sz="1050">
                <a:solidFill>
                  <a:srgbClr val="53605A"/>
                </a:solidFill>
                <a:latin typeface="Cascadia Mono" panose="020B0609020000020004" pitchFamily="49" charset="0"/>
              </a:rPr>
              <a:t>08</a:t>
            </a:r>
            <a:endParaRPr lang="LID4096" sz="1050">
              <a:solidFill>
                <a:srgbClr val="53605A"/>
              </a:solidFill>
              <a:latin typeface="Cascadia Mono" panose="020B0609020000020004" pitchFamily="49" charset="0"/>
            </a:endParaRPr>
          </a:p>
        </p:txBody>
      </p:sp>
    </p:spTree>
    <p:extLst>
      <p:ext uri="{BB962C8B-B14F-4D97-AF65-F5344CB8AC3E}">
        <p14:creationId xmlns:p14="http://schemas.microsoft.com/office/powerpoint/2010/main" val="1376863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CD9C81-348C-479D-B142-35244E7C8289}"/>
              </a:ext>
            </a:extLst>
          </p:cNvPr>
          <p:cNvSpPr>
            <a:spLocks noGrp="1"/>
          </p:cNvSpPr>
          <p:nvPr/>
        </p:nvSpPr>
        <p:spPr>
          <a:xfrm>
            <a:off x="0" y="0"/>
            <a:ext cx="3333750" cy="6858000"/>
          </a:xfrm>
          <a:prstGeom prst="rect">
            <a:avLst/>
          </a:prstGeom>
          <a:solidFill>
            <a:srgbClr val="356B3F"/>
          </a:solidFill>
          <a:ln w="0">
            <a:noFill/>
          </a:ln>
        </p:spPr>
        <p:txBody>
          <a:bodyPr/>
          <a:lstStyle/>
          <a:p>
            <a:endParaRPr lang="LID4096"/>
          </a:p>
        </p:txBody>
      </p:sp>
      <p:pic>
        <p:nvPicPr>
          <p:cNvPr id="18" name="Picture 17"/>
          <p:cNvPicPr>
            <a:picLocks noChangeAspect="1"/>
          </p:cNvPicPr>
          <p:nvPr/>
        </p:nvPicPr>
        <p:blipFill>
          <a:blip r:embed="rId3"/>
          <a:stretch/>
        </p:blipFill>
        <p:spPr>
          <a:xfrm>
            <a:off x="428625" y="1381125"/>
            <a:ext cx="2476500" cy="3714750"/>
          </a:xfrm>
          <a:prstGeom prst="rect">
            <a:avLst/>
          </a:prstGeom>
        </p:spPr>
      </p:pic>
      <p:sp>
        <p:nvSpPr>
          <p:cNvPr id="3" name="Rectangle 2">
            <a:extLst>
              <a:ext uri="{FF2B5EF4-FFF2-40B4-BE49-F238E27FC236}">
                <a16:creationId xmlns:a16="http://schemas.microsoft.com/office/drawing/2014/main" id="{4F1F07A6-106B-4B38-9BA8-F4ED2DDAD582}"/>
              </a:ext>
            </a:extLst>
          </p:cNvPr>
          <p:cNvSpPr>
            <a:spLocks noGrp="1"/>
          </p:cNvSpPr>
          <p:nvPr/>
        </p:nvSpPr>
        <p:spPr>
          <a:xfrm>
            <a:off x="4000500" y="819150"/>
            <a:ext cx="7239000" cy="7620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Pilot PandaX</a:t>
            </a:r>
          </a:p>
        </p:txBody>
      </p:sp>
      <p:sp>
        <p:nvSpPr>
          <p:cNvPr id="4" name="Rectangle 3">
            <a:extLst>
              <a:ext uri="{FF2B5EF4-FFF2-40B4-BE49-F238E27FC236}">
                <a16:creationId xmlns:a16="http://schemas.microsoft.com/office/drawing/2014/main" id="{9D2EBC01-2CB9-4FE9-A940-ACA9D25146E2}"/>
              </a:ext>
            </a:extLst>
          </p:cNvPr>
          <p:cNvSpPr>
            <a:spLocks noGrp="1"/>
          </p:cNvSpPr>
          <p:nvPr/>
        </p:nvSpPr>
        <p:spPr>
          <a:xfrm>
            <a:off x="4000500" y="1676400"/>
            <a:ext cx="7239000" cy="6858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One product line</a:t>
            </a:r>
          </a:p>
        </p:txBody>
      </p:sp>
      <p:sp>
        <p:nvSpPr>
          <p:cNvPr id="5" name="Straight Connector 4">
            <a:extLst>
              <a:ext uri="{FF2B5EF4-FFF2-40B4-BE49-F238E27FC236}">
                <a16:creationId xmlns:a16="http://schemas.microsoft.com/office/drawing/2014/main" id="{4DD61BF0-6C93-4AF0-B694-912ED42FDB18}"/>
              </a:ext>
            </a:extLst>
          </p:cNvPr>
          <p:cNvSpPr>
            <a:spLocks noGrp="1"/>
          </p:cNvSpPr>
          <p:nvPr/>
        </p:nvSpPr>
        <p:spPr>
          <a:xfrm>
            <a:off x="4000500" y="2743200"/>
            <a:ext cx="7239000" cy="0"/>
          </a:xfrm>
          <a:prstGeom prst="line">
            <a:avLst/>
          </a:prstGeom>
          <a:noFill/>
          <a:ln w="38100">
            <a:solidFill>
              <a:srgbClr val="356B3F"/>
            </a:solidFill>
            <a:prstDash val="solid"/>
          </a:ln>
        </p:spPr>
        <p:txBody>
          <a:bodyPr/>
          <a:lstStyle/>
          <a:p>
            <a:endParaRPr lang="LID4096"/>
          </a:p>
        </p:txBody>
      </p:sp>
      <p:sp>
        <p:nvSpPr>
          <p:cNvPr id="6" name="Rectangle 5">
            <a:extLst>
              <a:ext uri="{FF2B5EF4-FFF2-40B4-BE49-F238E27FC236}">
                <a16:creationId xmlns:a16="http://schemas.microsoft.com/office/drawing/2014/main" id="{5AA19AA8-8DC9-4E19-9421-D39B3AC62A8B}"/>
              </a:ext>
            </a:extLst>
          </p:cNvPr>
          <p:cNvSpPr>
            <a:spLocks noGrp="1"/>
          </p:cNvSpPr>
          <p:nvPr/>
        </p:nvSpPr>
        <p:spPr>
          <a:xfrm>
            <a:off x="4000500" y="3105150"/>
            <a:ext cx="4000500" cy="1257300"/>
          </a:xfrm>
          <a:prstGeom prst="rect">
            <a:avLst/>
          </a:prstGeom>
          <a:noFill/>
          <a:ln w="0">
            <a:noFill/>
          </a:ln>
        </p:spPr>
        <p:txBody>
          <a:bodyPr wrap="square" lIns="0" tIns="0" rIns="0" bIns="0" anchor="t">
            <a:noAutofit/>
          </a:bodyPr>
          <a:lstStyle/>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SKU</a:t>
            </a:r>
          </a:p>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firmware image</a:t>
            </a:r>
          </a:p>
        </p:txBody>
      </p:sp>
      <p:sp>
        <p:nvSpPr>
          <p:cNvPr id="7" name="Rectangle 6">
            <a:extLst>
              <a:ext uri="{FF2B5EF4-FFF2-40B4-BE49-F238E27FC236}">
                <a16:creationId xmlns:a16="http://schemas.microsoft.com/office/drawing/2014/main" id="{48A13D48-D45D-4995-9854-21259F8B967C}"/>
              </a:ext>
            </a:extLst>
          </p:cNvPr>
          <p:cNvSpPr>
            <a:spLocks noGrp="1"/>
          </p:cNvSpPr>
          <p:nvPr/>
        </p:nvSpPr>
        <p:spPr>
          <a:xfrm>
            <a:off x="8382000" y="3105150"/>
            <a:ext cx="2857500" cy="1257300"/>
          </a:xfrm>
          <a:prstGeom prst="rect">
            <a:avLst/>
          </a:prstGeom>
          <a:noFill/>
          <a:ln w="0">
            <a:noFill/>
          </a:ln>
        </p:spPr>
        <p:txBody>
          <a:bodyPr wrap="square" lIns="0" tIns="0" rIns="0" bIns="0" anchor="t">
            <a:noAutofit/>
          </a:bodyPr>
          <a:lstStyle/>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CRA-ready</a:t>
            </a:r>
          </a:p>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a:t>
            </a:r>
          </a:p>
        </p:txBody>
      </p:sp>
      <p:sp>
        <p:nvSpPr>
          <p:cNvPr id="8" name="Rectangle 7">
            <a:extLst>
              <a:ext uri="{FF2B5EF4-FFF2-40B4-BE49-F238E27FC236}">
                <a16:creationId xmlns:a16="http://schemas.microsoft.com/office/drawing/2014/main" id="{8FBB09BC-B54E-4589-919F-65A289E01813}"/>
              </a:ext>
            </a:extLst>
          </p:cNvPr>
          <p:cNvSpPr>
            <a:spLocks noGrp="1"/>
          </p:cNvSpPr>
          <p:nvPr/>
        </p:nvSpPr>
        <p:spPr>
          <a:xfrm>
            <a:off x="40005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Simon Levy</a:t>
            </a:r>
          </a:p>
        </p:txBody>
      </p:sp>
      <p:sp>
        <p:nvSpPr>
          <p:cNvPr id="9" name="Rectangle 8">
            <a:extLst>
              <a:ext uri="{FF2B5EF4-FFF2-40B4-BE49-F238E27FC236}">
                <a16:creationId xmlns:a16="http://schemas.microsoft.com/office/drawing/2014/main" id="{485246EC-5C23-42F1-AC6F-D9C2B2FBFA7F}"/>
              </a:ext>
            </a:extLst>
          </p:cNvPr>
          <p:cNvSpPr>
            <a:spLocks noGrp="1"/>
          </p:cNvSpPr>
          <p:nvPr/>
        </p:nvSpPr>
        <p:spPr>
          <a:xfrm>
            <a:off x="40005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CEO</a:t>
            </a:r>
          </a:p>
        </p:txBody>
      </p:sp>
      <p:sp>
        <p:nvSpPr>
          <p:cNvPr id="10" name="Rectangle 9">
            <a:extLst>
              <a:ext uri="{FF2B5EF4-FFF2-40B4-BE49-F238E27FC236}">
                <a16:creationId xmlns:a16="http://schemas.microsoft.com/office/drawing/2014/main" id="{C1AD9215-465B-42EA-BC3C-B8C903711CF9}"/>
              </a:ext>
            </a:extLst>
          </p:cNvPr>
          <p:cNvSpPr>
            <a:spLocks noGrp="1"/>
          </p:cNvSpPr>
          <p:nvPr/>
        </p:nvSpPr>
        <p:spPr>
          <a:xfrm>
            <a:off x="58102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Yaheli Levit</a:t>
            </a:r>
          </a:p>
        </p:txBody>
      </p:sp>
      <p:sp>
        <p:nvSpPr>
          <p:cNvPr id="11" name="Rectangle 10">
            <a:extLst>
              <a:ext uri="{FF2B5EF4-FFF2-40B4-BE49-F238E27FC236}">
                <a16:creationId xmlns:a16="http://schemas.microsoft.com/office/drawing/2014/main" id="{CBD50030-A99D-4637-B696-E061CEBDEE46}"/>
              </a:ext>
            </a:extLst>
          </p:cNvPr>
          <p:cNvSpPr>
            <a:spLocks noGrp="1"/>
          </p:cNvSpPr>
          <p:nvPr/>
        </p:nvSpPr>
        <p:spPr>
          <a:xfrm>
            <a:off x="58102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CTO</a:t>
            </a:r>
          </a:p>
        </p:txBody>
      </p:sp>
      <p:sp>
        <p:nvSpPr>
          <p:cNvPr id="12" name="Rectangle 11">
            <a:extLst>
              <a:ext uri="{FF2B5EF4-FFF2-40B4-BE49-F238E27FC236}">
                <a16:creationId xmlns:a16="http://schemas.microsoft.com/office/drawing/2014/main" id="{6F059DA3-BFB4-40CF-8FC3-A0A669B409EC}"/>
              </a:ext>
            </a:extLst>
          </p:cNvPr>
          <p:cNvSpPr>
            <a:spLocks noGrp="1"/>
          </p:cNvSpPr>
          <p:nvPr/>
        </p:nvSpPr>
        <p:spPr>
          <a:xfrm>
            <a:off x="76200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Guy Nevo</a:t>
            </a:r>
          </a:p>
        </p:txBody>
      </p:sp>
      <p:sp>
        <p:nvSpPr>
          <p:cNvPr id="13" name="Rectangle 12">
            <a:extLst>
              <a:ext uri="{FF2B5EF4-FFF2-40B4-BE49-F238E27FC236}">
                <a16:creationId xmlns:a16="http://schemas.microsoft.com/office/drawing/2014/main" id="{9199EC71-8DE8-4A0A-9FDC-E405C6882715}"/>
              </a:ext>
            </a:extLst>
          </p:cNvPr>
          <p:cNvSpPr>
            <a:spLocks noGrp="1"/>
          </p:cNvSpPr>
          <p:nvPr/>
        </p:nvSpPr>
        <p:spPr>
          <a:xfrm>
            <a:off x="76200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CPO</a:t>
            </a:r>
          </a:p>
        </p:txBody>
      </p:sp>
      <p:sp>
        <p:nvSpPr>
          <p:cNvPr id="14" name="Rectangle 13">
            <a:extLst>
              <a:ext uri="{FF2B5EF4-FFF2-40B4-BE49-F238E27FC236}">
                <a16:creationId xmlns:a16="http://schemas.microsoft.com/office/drawing/2014/main" id="{C1CA1ECF-9AA9-48A3-B40D-9D0188E36421}"/>
              </a:ext>
            </a:extLst>
          </p:cNvPr>
          <p:cNvSpPr>
            <a:spLocks noGrp="1"/>
          </p:cNvSpPr>
          <p:nvPr/>
        </p:nvSpPr>
        <p:spPr>
          <a:xfrm>
            <a:off x="94297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Eden Gulko</a:t>
            </a:r>
          </a:p>
        </p:txBody>
      </p:sp>
      <p:sp>
        <p:nvSpPr>
          <p:cNvPr id="15" name="Rectangle 14">
            <a:extLst>
              <a:ext uri="{FF2B5EF4-FFF2-40B4-BE49-F238E27FC236}">
                <a16:creationId xmlns:a16="http://schemas.microsoft.com/office/drawing/2014/main" id="{1264AF86-02E5-4800-A754-0FA437341F58}"/>
              </a:ext>
            </a:extLst>
          </p:cNvPr>
          <p:cNvSpPr>
            <a:spLocks noGrp="1"/>
          </p:cNvSpPr>
          <p:nvPr/>
        </p:nvSpPr>
        <p:spPr>
          <a:xfrm>
            <a:off x="94297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CMO</a:t>
            </a:r>
          </a:p>
        </p:txBody>
      </p:sp>
      <p:sp>
        <p:nvSpPr>
          <p:cNvPr id="16" name="Rectangle 15">
            <a:extLst>
              <a:ext uri="{FF2B5EF4-FFF2-40B4-BE49-F238E27FC236}">
                <a16:creationId xmlns:a16="http://schemas.microsoft.com/office/drawing/2014/main" id="{1D4EAA65-7B21-4851-B4B7-79E424941CB2}"/>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09</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3131136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574</Words>
  <Application>Microsoft Office PowerPoint</Application>
  <DocSecurity>0</DocSecurity>
  <PresentationFormat>Widescreen</PresentationFormat>
  <Paragraphs>69</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14</cp:revision>
  <dcterms:created xsi:type="dcterms:W3CDTF">2026-09-09T22:48:33Z</dcterms:created>
  <dcterms:modified xsi:type="dcterms:W3CDTF">2026-09-10T00:41:10Z</dcterms:modified>
</cp:coreProperties>
</file>