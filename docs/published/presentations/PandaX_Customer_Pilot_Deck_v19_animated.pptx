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60" r:id="rId3"/>
    <p:sldId id="257" r:id="rId4"/>
    <p:sldId id="258" r:id="rId5"/>
    <p:sldId id="259" r:id="rId6"/>
    <p:sldId id="263" r:id="rId7"/>
    <p:sldId id="262" r:id="rId8"/>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E1612"/>
    <a:srgbClr val="C00000"/>
    <a:srgbClr val="C06900"/>
    <a:srgbClr val="962A3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0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Audience: prospective industrial and networking equipment customers. No investment request. Brand logo supplied by the user and preserved unchanged.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visible headlines are unaltered image clippings captured from official government article pages. These U.S. matters illustrate the legal cost of missing vulnerability, evidence, and reporting controls. They are not CRA cases and the settlement structures are not directly comparable. Equifax: https://www.ftc.gov/news-events/news/press-releases/2019/07/equifax-pay-575-million-part-settlement-ftc-cfpb-states-related-2017-data-breach . Uber: https://www.oag.ca.gov/news/press-releases/california-attorney-general-becerra-san-francisco-district-attorney-gasc%C3%B3n . Ring: https://www.ftc.gov/news-events/news/press-releases/2023/05/ftc-says-ring-employees-illegally-surveilled-customers-failed-stop-hackers-taking-control-users . GDPR Enforcement Tracker statistics, refreshed 20 August 2026: 3,206 tracked cases across 32 countries and €6.31 billion in tracked fines: https://enforcementtracker.com/statistics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Verizon's 2025 Data Breach Investigations Report analyzed 12,195 confirmed breaches. Exploitation of vulnerabilities accounted for 20% of breaches as an initial-access step and grew 34% year over year; third-party involvement doubled to 30%. Source: https://www.verizon.com/about/news/2025-data-breach-investigations-report . ENISA's independent EU dataset reports vulnerability exploitation as 21.3% of observed intrusion access points: https://www.enisa.europa.eu/publications/enisa-threat-landscape-2025 . Generated cybersecurity visual created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CRA Article 14 establishes staged notifications for actively exploited vulnerabilities and severe incidents, including an early warning within 24 hours and a notification within 72 hours. Article 64 provides fines up to €15,000,000 or 2.5% of worldwide annual turnover for specified non-compliance, whichever is higher. Reporting obligations apply from 11 September 2026. Annex VII specifies technical-documentation content. Sources: https://eur-lex.europa.eu/eli/reg/2024/2847/oj/eng ; https://digital-strategy.ec.europa.eu/en/policies/cra-reporting . PandaX supports evidence and workflow preparation; legal reportability and submission remain human-authorized.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manual compliance workflow based on the user-supplied problem framing. The slide makes no measured claim about average legal-response duration. Generated lawyer visual created specifically for this deck.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PandaX continuously extracts firmware components, detects reachable vulnerabilities, and produces CRA-ready evidence before repeating on the next firmware state.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Founding team and roles supplied by the user. Closing ask: prospective customer pilot. No funding 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2628581-EAC5-4C54-A39C-2763F221E88E}"/>
              </a:ext>
            </a:extLst>
          </p:cNvPr>
          <p:cNvSpPr>
            <a:spLocks noGrp="1"/>
          </p:cNvSpPr>
          <p:nvPr/>
        </p:nvSpPr>
        <p:spPr>
          <a:xfrm>
            <a:off x="0" y="0"/>
            <a:ext cx="171450" cy="685800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03131B76-98C5-430A-9CE5-7CA9570719EB}"/>
              </a:ext>
            </a:extLst>
          </p:cNvPr>
          <p:cNvSpPr>
            <a:spLocks noGrp="1"/>
          </p:cNvSpPr>
          <p:nvPr/>
        </p:nvSpPr>
        <p:spPr>
          <a:xfrm>
            <a:off x="685800" y="1428750"/>
            <a:ext cx="6191250" cy="876300"/>
          </a:xfrm>
          <a:prstGeom prst="rect">
            <a:avLst/>
          </a:prstGeom>
          <a:noFill/>
          <a:ln w="0">
            <a:noFill/>
          </a:ln>
        </p:spPr>
        <p:txBody>
          <a:bodyPr wrap="square" lIns="0" tIns="0" rIns="0" bIns="0" anchor="t">
            <a:noAutofit/>
          </a:bodyPr>
          <a:lstStyle/>
          <a:p>
            <a:pPr algn="l">
              <a:lnSpc>
                <a:spcPct val="100000"/>
              </a:lnSpc>
              <a:buNone/>
              <a:defRPr sz="5850" b="1">
                <a:solidFill>
                  <a:srgbClr val="111713"/>
                </a:solidFill>
                <a:latin typeface="Segoe UI"/>
                <a:ea typeface="Segoe UI"/>
                <a:cs typeface="Segoe UI"/>
              </a:defRPr>
            </a:pPr>
            <a:r>
              <a:rPr sz="5850" b="1">
                <a:solidFill>
                  <a:srgbClr val="111713"/>
                </a:solidFill>
                <a:latin typeface="Segoe UI"/>
                <a:ea typeface="Segoe UI"/>
                <a:cs typeface="Segoe UI"/>
              </a:rPr>
              <a:t>PandaX</a:t>
            </a:r>
          </a:p>
        </p:txBody>
      </p:sp>
      <p:sp>
        <p:nvSpPr>
          <p:cNvPr id="3" name="Rectangle 2">
            <a:extLst>
              <a:ext uri="{FF2B5EF4-FFF2-40B4-BE49-F238E27FC236}">
                <a16:creationId xmlns:a16="http://schemas.microsoft.com/office/drawing/2014/main" id="{1F5B4054-475A-4F28-9AFA-21522DD68378}"/>
              </a:ext>
            </a:extLst>
          </p:cNvPr>
          <p:cNvSpPr>
            <a:spLocks noGrp="1"/>
          </p:cNvSpPr>
          <p:nvPr/>
        </p:nvSpPr>
        <p:spPr>
          <a:xfrm>
            <a:off x="704850" y="2571750"/>
            <a:ext cx="5905500" cy="1466850"/>
          </a:xfrm>
          <a:prstGeom prst="rect">
            <a:avLst/>
          </a:prstGeom>
          <a:noFill/>
          <a:ln w="0">
            <a:noFill/>
          </a:ln>
        </p:spPr>
        <p:txBody>
          <a:bodyPr wrap="square" lIns="0" tIns="0" rIns="0" bIns="0" anchor="t">
            <a:noAutofit/>
          </a:bodyPr>
          <a:lstStyle/>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CRA-ready</a:t>
            </a:r>
          </a:p>
          <a:p>
            <a:pPr algn="l">
              <a:lnSpc>
                <a:spcPct val="92000"/>
              </a:lnSpc>
              <a:buNone/>
              <a:defRPr sz="3900" b="1">
                <a:solidFill>
                  <a:srgbClr val="111713"/>
                </a:solidFill>
                <a:latin typeface="Segoe UI"/>
                <a:ea typeface="Segoe UI"/>
                <a:cs typeface="Segoe UI"/>
              </a:defRPr>
            </a:pPr>
            <a:r>
              <a:rPr sz="3900" b="1">
                <a:solidFill>
                  <a:srgbClr val="111713"/>
                </a:solidFill>
                <a:latin typeface="Segoe UI"/>
                <a:ea typeface="Segoe UI"/>
                <a:cs typeface="Segoe UI"/>
              </a:rPr>
              <a:t>firmware evidence</a:t>
            </a:r>
          </a:p>
        </p:txBody>
      </p:sp>
      <p:sp>
        <p:nvSpPr>
          <p:cNvPr id="4" name="Rectangle 3">
            <a:extLst>
              <a:ext uri="{FF2B5EF4-FFF2-40B4-BE49-F238E27FC236}">
                <a16:creationId xmlns:a16="http://schemas.microsoft.com/office/drawing/2014/main" id="{98FDC6C5-9121-4E74-9A51-1873BA8F32FD}"/>
              </a:ext>
            </a:extLst>
          </p:cNvPr>
          <p:cNvSpPr>
            <a:spLocks noGrp="1"/>
          </p:cNvSpPr>
          <p:nvPr/>
        </p:nvSpPr>
        <p:spPr>
          <a:xfrm>
            <a:off x="7296150" y="0"/>
            <a:ext cx="4895850" cy="6858000"/>
          </a:xfrm>
          <a:prstGeom prst="rect">
            <a:avLst/>
          </a:prstGeom>
          <a:solidFill>
            <a:srgbClr val="356B3F"/>
          </a:solidFill>
          <a:ln w="0">
            <a:noFill/>
          </a:ln>
        </p:spPr>
        <p:txBody>
          <a:bodyPr/>
          <a:lstStyle/>
          <a:p>
            <a:endParaRPr lang="LID4096"/>
          </a:p>
        </p:txBody>
      </p:sp>
      <p:pic>
        <p:nvPicPr>
          <p:cNvPr id="10" name="Picture 9"/>
          <p:cNvPicPr>
            <a:picLocks noChangeAspect="1"/>
          </p:cNvPicPr>
          <p:nvPr/>
        </p:nvPicPr>
        <p:blipFill>
          <a:blip r:embed="rId3"/>
          <a:stretch/>
        </p:blipFill>
        <p:spPr>
          <a:xfrm>
            <a:off x="7961313" y="781050"/>
            <a:ext cx="3556000" cy="5334000"/>
          </a:xfrm>
          <a:prstGeom prst="rect">
            <a:avLst/>
          </a:prstGeom>
        </p:spPr>
      </p:pic>
    </p:spTree>
    <p:extLst>
      <p:ext uri="{BB962C8B-B14F-4D97-AF65-F5344CB8AC3E}">
        <p14:creationId xmlns:p14="http://schemas.microsoft.com/office/powerpoint/2010/main" val="722801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098CDC5-44BB-4DC5-8455-6CF254572701}"/>
              </a:ext>
            </a:extLst>
          </p:cNvPr>
          <p:cNvSpPr>
            <a:spLocks noGrp="1"/>
          </p:cNvSpPr>
          <p:nvPr/>
        </p:nvSpPr>
        <p:spPr>
          <a:xfrm>
            <a:off x="533400" y="476250"/>
            <a:ext cx="57150" cy="51435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C8406F9E-E692-4482-9817-F0BD2EB5A512}"/>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Security failures become legal costs</a:t>
            </a:r>
          </a:p>
        </p:txBody>
      </p:sp>
      <p:sp>
        <p:nvSpPr>
          <p:cNvPr id="3" name="Rectangle 2">
            <a:extLst>
              <a:ext uri="{FF2B5EF4-FFF2-40B4-BE49-F238E27FC236}">
                <a16:creationId xmlns:a16="http://schemas.microsoft.com/office/drawing/2014/main" id="{A01A2EAC-F94F-4E74-B170-24D90F4164CA}"/>
              </a:ext>
            </a:extLst>
          </p:cNvPr>
          <p:cNvSpPr>
            <a:spLocks noGrp="1"/>
          </p:cNvSpPr>
          <p:nvPr/>
        </p:nvSpPr>
        <p:spPr>
          <a:xfrm>
            <a:off x="685800" y="1500188"/>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$575M+</a:t>
            </a:r>
          </a:p>
        </p:txBody>
      </p:sp>
      <p:sp>
        <p:nvSpPr>
          <p:cNvPr id="5" name="Rectangle: Rounded Corners 4">
            <a:extLst>
              <a:ext uri="{FF2B5EF4-FFF2-40B4-BE49-F238E27FC236}">
                <a16:creationId xmlns:a16="http://schemas.microsoft.com/office/drawing/2014/main" id="{BD7E4F24-C26B-44FD-BE3D-FF7F006D575E}"/>
              </a:ext>
            </a:extLst>
          </p:cNvPr>
          <p:cNvSpPr>
            <a:spLocks noGrp="1"/>
          </p:cNvSpPr>
          <p:nvPr/>
        </p:nvSpPr>
        <p:spPr>
          <a:xfrm>
            <a:off x="2857500" y="1381125"/>
            <a:ext cx="8572500" cy="1000125"/>
          </a:xfrm>
          <a:prstGeom prst="roundRect">
            <a:avLst>
              <a:gd name="adj" fmla="val 7619"/>
            </a:avLst>
          </a:prstGeom>
          <a:solidFill>
            <a:srgbClr val="FFFFFF"/>
          </a:solidFill>
          <a:ln w="9525">
            <a:solidFill>
              <a:srgbClr val="D5DDD8"/>
            </a:solidFill>
            <a:prstDash val="solid"/>
          </a:ln>
        </p:spPr>
        <p:txBody>
          <a:bodyPr/>
          <a:lstStyle/>
          <a:p>
            <a:endParaRPr lang="LID4096"/>
          </a:p>
        </p:txBody>
      </p:sp>
      <p:pic>
        <p:nvPicPr>
          <p:cNvPr id="23" name="Picture 22"/>
          <p:cNvPicPr>
            <a:picLocks noChangeAspect="1"/>
          </p:cNvPicPr>
          <p:nvPr/>
        </p:nvPicPr>
        <p:blipFill>
          <a:blip r:embed="rId3"/>
          <a:stretch/>
        </p:blipFill>
        <p:spPr>
          <a:xfrm>
            <a:off x="3439279" y="1476375"/>
            <a:ext cx="7408942" cy="809625"/>
          </a:xfrm>
          <a:prstGeom prst="rect">
            <a:avLst/>
          </a:prstGeom>
        </p:spPr>
      </p:pic>
      <p:sp>
        <p:nvSpPr>
          <p:cNvPr id="7" name="Rectangle 6">
            <a:extLst>
              <a:ext uri="{FF2B5EF4-FFF2-40B4-BE49-F238E27FC236}">
                <a16:creationId xmlns:a16="http://schemas.microsoft.com/office/drawing/2014/main" id="{544DB761-9BD1-4C5E-9AB3-26008376D6D6}"/>
              </a:ext>
            </a:extLst>
          </p:cNvPr>
          <p:cNvSpPr>
            <a:spLocks noGrp="1"/>
          </p:cNvSpPr>
          <p:nvPr/>
        </p:nvSpPr>
        <p:spPr>
          <a:xfrm>
            <a:off x="685800" y="3200400"/>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$148M</a:t>
            </a:r>
          </a:p>
        </p:txBody>
      </p:sp>
      <p:sp>
        <p:nvSpPr>
          <p:cNvPr id="9" name="Rectangle: Rounded Corners 8">
            <a:extLst>
              <a:ext uri="{FF2B5EF4-FFF2-40B4-BE49-F238E27FC236}">
                <a16:creationId xmlns:a16="http://schemas.microsoft.com/office/drawing/2014/main" id="{09632377-95E6-4034-A9BF-AF153F4CC892}"/>
              </a:ext>
            </a:extLst>
          </p:cNvPr>
          <p:cNvSpPr>
            <a:spLocks noGrp="1"/>
          </p:cNvSpPr>
          <p:nvPr/>
        </p:nvSpPr>
        <p:spPr>
          <a:xfrm>
            <a:off x="2857500" y="2533650"/>
            <a:ext cx="8572500" cy="1943101"/>
          </a:xfrm>
          <a:prstGeom prst="roundRect">
            <a:avLst>
              <a:gd name="adj" fmla="val 3636"/>
            </a:avLst>
          </a:prstGeom>
          <a:solidFill>
            <a:srgbClr val="FFFFFF"/>
          </a:solidFill>
          <a:ln w="9525">
            <a:solidFill>
              <a:srgbClr val="D5DDD8"/>
            </a:solidFill>
            <a:prstDash val="solid"/>
          </a:ln>
        </p:spPr>
        <p:txBody>
          <a:bodyPr/>
          <a:lstStyle/>
          <a:p>
            <a:endParaRPr lang="LID4096"/>
          </a:p>
        </p:txBody>
      </p:sp>
      <p:pic>
        <p:nvPicPr>
          <p:cNvPr id="27" name="Picture 26"/>
          <p:cNvPicPr>
            <a:picLocks noChangeAspect="1"/>
          </p:cNvPicPr>
          <p:nvPr/>
        </p:nvPicPr>
        <p:blipFill>
          <a:blip r:embed="rId4"/>
          <a:srcRect b="8029"/>
          <a:stretch>
            <a:fillRect/>
          </a:stretch>
        </p:blipFill>
        <p:spPr>
          <a:xfrm>
            <a:off x="3562832" y="2628900"/>
            <a:ext cx="7161835" cy="1752031"/>
          </a:xfrm>
          <a:prstGeom prst="rect">
            <a:avLst/>
          </a:prstGeom>
        </p:spPr>
      </p:pic>
      <p:sp>
        <p:nvSpPr>
          <p:cNvPr id="11" name="Rectangle 10">
            <a:extLst>
              <a:ext uri="{FF2B5EF4-FFF2-40B4-BE49-F238E27FC236}">
                <a16:creationId xmlns:a16="http://schemas.microsoft.com/office/drawing/2014/main" id="{A7D61BB1-7E11-473D-8528-B972F4DC9989}"/>
              </a:ext>
            </a:extLst>
          </p:cNvPr>
          <p:cNvSpPr>
            <a:spLocks noGrp="1"/>
          </p:cNvSpPr>
          <p:nvPr/>
        </p:nvSpPr>
        <p:spPr>
          <a:xfrm>
            <a:off x="685800" y="4757738"/>
            <a:ext cx="2095500" cy="5715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dirty="0">
                <a:solidFill>
                  <a:srgbClr val="356B3F"/>
                </a:solidFill>
                <a:latin typeface="Segoe UI"/>
                <a:ea typeface="Segoe UI"/>
                <a:cs typeface="Segoe UI"/>
              </a:rPr>
              <a:t>$5.8M</a:t>
            </a:r>
          </a:p>
        </p:txBody>
      </p:sp>
      <p:sp>
        <p:nvSpPr>
          <p:cNvPr id="13" name="Rectangle: Rounded Corners 12">
            <a:extLst>
              <a:ext uri="{FF2B5EF4-FFF2-40B4-BE49-F238E27FC236}">
                <a16:creationId xmlns:a16="http://schemas.microsoft.com/office/drawing/2014/main" id="{BBA45289-B4AE-4FC4-B7A3-28827A39178C}"/>
              </a:ext>
            </a:extLst>
          </p:cNvPr>
          <p:cNvSpPr>
            <a:spLocks noGrp="1"/>
          </p:cNvSpPr>
          <p:nvPr/>
        </p:nvSpPr>
        <p:spPr>
          <a:xfrm>
            <a:off x="2857500" y="4672013"/>
            <a:ext cx="8572500" cy="1000125"/>
          </a:xfrm>
          <a:prstGeom prst="roundRect">
            <a:avLst>
              <a:gd name="adj" fmla="val 7619"/>
            </a:avLst>
          </a:prstGeom>
          <a:solidFill>
            <a:srgbClr val="FFFFFF"/>
          </a:solidFill>
          <a:ln w="9525">
            <a:solidFill>
              <a:srgbClr val="D5DDD8"/>
            </a:solidFill>
            <a:prstDash val="solid"/>
          </a:ln>
        </p:spPr>
        <p:txBody>
          <a:bodyPr/>
          <a:lstStyle/>
          <a:p>
            <a:endParaRPr lang="LID4096"/>
          </a:p>
        </p:txBody>
      </p:sp>
      <p:pic>
        <p:nvPicPr>
          <p:cNvPr id="31" name="Picture 30"/>
          <p:cNvPicPr>
            <a:picLocks noChangeAspect="1"/>
          </p:cNvPicPr>
          <p:nvPr/>
        </p:nvPicPr>
        <p:blipFill>
          <a:blip r:embed="rId5"/>
          <a:stretch/>
        </p:blipFill>
        <p:spPr>
          <a:xfrm>
            <a:off x="3439279" y="4767263"/>
            <a:ext cx="7408942" cy="809625"/>
          </a:xfrm>
          <a:prstGeom prst="rect">
            <a:avLst/>
          </a:prstGeom>
        </p:spPr>
      </p:pic>
      <p:sp>
        <p:nvSpPr>
          <p:cNvPr id="15" name="Rectangle: Rounded Corners 14">
            <a:extLst>
              <a:ext uri="{FF2B5EF4-FFF2-40B4-BE49-F238E27FC236}">
                <a16:creationId xmlns:a16="http://schemas.microsoft.com/office/drawing/2014/main" id="{7BDA36BB-BA80-4C55-8014-8C3EDC816D45}"/>
              </a:ext>
            </a:extLst>
          </p:cNvPr>
          <p:cNvSpPr>
            <a:spLocks noGrp="1"/>
          </p:cNvSpPr>
          <p:nvPr/>
        </p:nvSpPr>
        <p:spPr>
          <a:xfrm>
            <a:off x="685800" y="5915025"/>
            <a:ext cx="10744200" cy="409575"/>
          </a:xfrm>
          <a:prstGeom prst="roundRect">
            <a:avLst>
              <a:gd name="adj" fmla="val 18605"/>
            </a:avLst>
          </a:prstGeom>
          <a:solidFill>
            <a:srgbClr val="356B3F"/>
          </a:solidFill>
          <a:ln w="0">
            <a:noFill/>
          </a:ln>
        </p:spPr>
        <p:txBody>
          <a:bodyPr/>
          <a:lstStyle/>
          <a:p>
            <a:endParaRPr lang="LID4096"/>
          </a:p>
        </p:txBody>
      </p:sp>
      <p:sp>
        <p:nvSpPr>
          <p:cNvPr id="16" name="Rectangle 15">
            <a:extLst>
              <a:ext uri="{FF2B5EF4-FFF2-40B4-BE49-F238E27FC236}">
                <a16:creationId xmlns:a16="http://schemas.microsoft.com/office/drawing/2014/main" id="{BF05879D-D76F-4F16-9CD3-6A8532BAB323}"/>
              </a:ext>
            </a:extLst>
          </p:cNvPr>
          <p:cNvSpPr>
            <a:spLocks noGrp="1"/>
          </p:cNvSpPr>
          <p:nvPr/>
        </p:nvSpPr>
        <p:spPr>
          <a:xfrm>
            <a:off x="914400" y="5981700"/>
            <a:ext cx="10287000" cy="257175"/>
          </a:xfrm>
          <a:prstGeom prst="rect">
            <a:avLst/>
          </a:prstGeom>
          <a:noFill/>
          <a:ln w="0">
            <a:noFill/>
          </a:ln>
        </p:spPr>
        <p:txBody>
          <a:bodyPr wrap="square" lIns="0" tIns="0" rIns="0" bIns="0" anchor="t">
            <a:noAutofit/>
          </a:bodyPr>
          <a:lstStyle/>
          <a:p>
            <a:pPr algn="ctr">
              <a:lnSpc>
                <a:spcPct val="100000"/>
              </a:lnSpc>
              <a:buNone/>
              <a:defRPr sz="1575" b="1">
                <a:solidFill>
                  <a:srgbClr val="F2F5F9"/>
                </a:solidFill>
                <a:latin typeface="Segoe UI"/>
                <a:ea typeface="Segoe UI"/>
                <a:cs typeface="Segoe UI"/>
              </a:defRPr>
            </a:pPr>
            <a:r>
              <a:rPr sz="1575" b="1" dirty="0">
                <a:solidFill>
                  <a:schemeClr val="tx1">
                    <a:lumMod val="95000"/>
                    <a:lumOff val="5000"/>
                  </a:schemeClr>
                </a:solidFill>
                <a:highlight>
                  <a:srgbClr val="FF0000"/>
                </a:highlight>
                <a:latin typeface="Segoe UI"/>
                <a:ea typeface="Segoe UI"/>
                <a:cs typeface="Segoe UI"/>
              </a:rPr>
              <a:t>€6.31B</a:t>
            </a:r>
            <a:r>
              <a:rPr sz="1575" b="1" dirty="0">
                <a:solidFill>
                  <a:schemeClr val="tx1">
                    <a:lumMod val="95000"/>
                    <a:lumOff val="5000"/>
                  </a:schemeClr>
                </a:solidFill>
                <a:latin typeface="Segoe UI"/>
                <a:ea typeface="Segoe UI"/>
                <a:cs typeface="Segoe UI"/>
              </a:rPr>
              <a:t> </a:t>
            </a:r>
            <a:r>
              <a:rPr sz="1575" b="1" dirty="0">
                <a:solidFill>
                  <a:srgbClr val="F2F5F9"/>
                </a:solidFill>
                <a:latin typeface="Segoe UI"/>
                <a:ea typeface="Segoe UI"/>
                <a:cs typeface="Segoe UI"/>
              </a:rPr>
              <a:t>in tracked GDPR fines</a:t>
            </a:r>
          </a:p>
        </p:txBody>
      </p:sp>
      <p:sp>
        <p:nvSpPr>
          <p:cNvPr id="17" name="Rectangle 16">
            <a:extLst>
              <a:ext uri="{FF2B5EF4-FFF2-40B4-BE49-F238E27FC236}">
                <a16:creationId xmlns:a16="http://schemas.microsoft.com/office/drawing/2014/main" id="{1B071E1E-36FD-4267-A701-D3A81BD9BA68}"/>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02</a:t>
            </a:r>
            <a:endParaRPr sz="1050" b="0">
              <a:solidFill>
                <a:srgbClr val="53605A"/>
              </a:solidFill>
              <a:latin typeface="Cascadia Mono"/>
              <a:ea typeface="Cascadia Mono"/>
              <a:cs typeface="Cascadia Mono"/>
            </a:endParaRPr>
          </a:p>
        </p:txBody>
      </p:sp>
      <p:sp>
        <p:nvSpPr>
          <p:cNvPr id="10" name="Rectangle 9">
            <a:extLst>
              <a:ext uri="{FF2B5EF4-FFF2-40B4-BE49-F238E27FC236}">
                <a16:creationId xmlns:a16="http://schemas.microsoft.com/office/drawing/2014/main" id="{5B5AC134-A8EC-A57E-0A36-5810FD476B44}"/>
              </a:ext>
            </a:extLst>
          </p:cNvPr>
          <p:cNvSpPr>
            <a:spLocks noGrp="1"/>
          </p:cNvSpPr>
          <p:nvPr/>
        </p:nvSpPr>
        <p:spPr>
          <a:xfrm>
            <a:off x="704850" y="3653335"/>
            <a:ext cx="2095500" cy="516341"/>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4000" b="1" baseline="-25000" dirty="0">
                <a:solidFill>
                  <a:srgbClr val="53605A"/>
                </a:solidFill>
                <a:latin typeface="Cascadia Mono"/>
                <a:ea typeface="Cascadia Mono"/>
                <a:cs typeface="Cascadia Mono"/>
              </a:rPr>
              <a:t>UBER</a:t>
            </a:r>
          </a:p>
        </p:txBody>
      </p:sp>
      <p:sp>
        <p:nvSpPr>
          <p:cNvPr id="19" name="Rectangle 18">
            <a:extLst>
              <a:ext uri="{FF2B5EF4-FFF2-40B4-BE49-F238E27FC236}">
                <a16:creationId xmlns:a16="http://schemas.microsoft.com/office/drawing/2014/main" id="{9E965781-B850-4096-258E-01321F3FB25E}"/>
              </a:ext>
            </a:extLst>
          </p:cNvPr>
          <p:cNvSpPr>
            <a:spLocks noGrp="1"/>
          </p:cNvSpPr>
          <p:nvPr/>
        </p:nvSpPr>
        <p:spPr>
          <a:xfrm>
            <a:off x="704849" y="2109788"/>
            <a:ext cx="2152649" cy="81261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2800" b="1" dirty="0">
                <a:solidFill>
                  <a:srgbClr val="53605A"/>
                </a:solidFill>
                <a:latin typeface="Cascadia Mono"/>
                <a:ea typeface="Cascadia Mono"/>
                <a:cs typeface="Cascadia Mono"/>
              </a:rPr>
              <a:t>EQUIFAX</a:t>
            </a:r>
            <a:endParaRPr sz="3600" b="1" dirty="0">
              <a:solidFill>
                <a:srgbClr val="53605A"/>
              </a:solidFill>
              <a:latin typeface="Cascadia Mono"/>
              <a:ea typeface="Cascadia Mono"/>
              <a:cs typeface="Cascadia Mono"/>
            </a:endParaRPr>
          </a:p>
        </p:txBody>
      </p:sp>
      <p:sp>
        <p:nvSpPr>
          <p:cNvPr id="21" name="Rectangle 20">
            <a:extLst>
              <a:ext uri="{FF2B5EF4-FFF2-40B4-BE49-F238E27FC236}">
                <a16:creationId xmlns:a16="http://schemas.microsoft.com/office/drawing/2014/main" id="{BE6378CA-EB54-3E13-1356-78C8D5E92E7F}"/>
              </a:ext>
            </a:extLst>
          </p:cNvPr>
          <p:cNvSpPr>
            <a:spLocks noGrp="1"/>
          </p:cNvSpPr>
          <p:nvPr/>
        </p:nvSpPr>
        <p:spPr>
          <a:xfrm>
            <a:off x="685800" y="5315803"/>
            <a:ext cx="2000250" cy="209550"/>
          </a:xfrm>
          <a:prstGeom prst="rect">
            <a:avLst/>
          </a:prstGeom>
          <a:noFill/>
          <a:ln w="0">
            <a:noFill/>
          </a:ln>
        </p:spPr>
        <p:txBody>
          <a:bodyPr wrap="square" lIns="0" tIns="0" rIns="0" bIns="0" anchor="t">
            <a:noAutofit/>
          </a:bodyPr>
          <a:lstStyle/>
          <a:p>
            <a:pPr algn="l">
              <a:lnSpc>
                <a:spcPct val="100000"/>
              </a:lnSpc>
              <a:buNone/>
              <a:defRPr sz="975" b="1">
                <a:solidFill>
                  <a:srgbClr val="53605A"/>
                </a:solidFill>
                <a:latin typeface="Cascadia Mono"/>
                <a:ea typeface="Cascadia Mono"/>
                <a:cs typeface="Cascadia Mono"/>
              </a:defRPr>
            </a:pPr>
            <a:r>
              <a:rPr sz="2800" b="1" dirty="0">
                <a:solidFill>
                  <a:srgbClr val="53605A"/>
                </a:solidFill>
                <a:latin typeface="Cascadia Mono"/>
                <a:ea typeface="Cascadia Mono"/>
                <a:cs typeface="Cascadia Mono"/>
              </a:rPr>
              <a:t>RING</a:t>
            </a:r>
          </a:p>
        </p:txBody>
      </p:sp>
    </p:spTree>
    <p:extLst>
      <p:ext uri="{BB962C8B-B14F-4D97-AF65-F5344CB8AC3E}">
        <p14:creationId xmlns:p14="http://schemas.microsoft.com/office/powerpoint/2010/main" val="388221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childTnLst>
                                </p:cTn>
                              </p:par>
                            </p:childTnLst>
                          </p:cTn>
                        </p:par>
                        <p:par>
                          <p:cTn id="8" fill="hold">
                            <p:stCondLst>
                              <p:cond delay="25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250"/>
                                        <p:tgtEl>
                                          <p:spTgt spid="7"/>
                                        </p:tgtEl>
                                      </p:cBhvr>
                                    </p:animEffect>
                                  </p:childTnLst>
                                </p:cTn>
                              </p:par>
                            </p:childTnLst>
                          </p:cTn>
                        </p:par>
                        <p:par>
                          <p:cTn id="12" fill="hold">
                            <p:stCondLst>
                              <p:cond delay="500"/>
                            </p:stCondLst>
                            <p:childTnLst>
                              <p:par>
                                <p:cTn id="13" presetID="10" presetClass="entr" presetSubtype="0"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2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11"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4" name="Picture 13"/>
          <p:cNvPicPr>
            <a:picLocks noChangeAspect="1"/>
          </p:cNvPicPr>
          <p:nvPr/>
        </p:nvPicPr>
        <p:blipFill>
          <a:blip r:embed="rId3"/>
          <a:srcRect t="27492" b="27492"/>
          <a:stretch>
            <a:fillRect/>
          </a:stretch>
        </p:blipFill>
        <p:spPr>
          <a:xfrm>
            <a:off x="0" y="0"/>
            <a:ext cx="12192000" cy="6858000"/>
          </a:xfrm>
          <a:prstGeom prst="rect">
            <a:avLst/>
          </a:prstGeom>
        </p:spPr>
      </p:pic>
      <p:sp>
        <p:nvSpPr>
          <p:cNvPr id="2" name="Rectangle 1">
            <a:extLst>
              <a:ext uri="{FF2B5EF4-FFF2-40B4-BE49-F238E27FC236}">
                <a16:creationId xmlns:a16="http://schemas.microsoft.com/office/drawing/2014/main" id="{56DC3789-322F-42AC-ABAB-43BC6B83163C}"/>
              </a:ext>
            </a:extLst>
          </p:cNvPr>
          <p:cNvSpPr>
            <a:spLocks noGrp="1"/>
          </p:cNvSpPr>
          <p:nvPr/>
        </p:nvSpPr>
        <p:spPr>
          <a:xfrm>
            <a:off x="0" y="0"/>
            <a:ext cx="6858000" cy="6858000"/>
          </a:xfrm>
          <a:prstGeom prst="rect">
            <a:avLst/>
          </a:prstGeom>
          <a:solidFill>
            <a:srgbClr val="F4F7F5"/>
          </a:solidFill>
          <a:ln w="0">
            <a:noFill/>
          </a:ln>
        </p:spPr>
        <p:txBody>
          <a:bodyPr/>
          <a:lstStyle/>
          <a:p>
            <a:endParaRPr lang="LID4096"/>
          </a:p>
        </p:txBody>
      </p:sp>
      <p:sp>
        <p:nvSpPr>
          <p:cNvPr id="3" name="Rectangle 2">
            <a:extLst>
              <a:ext uri="{FF2B5EF4-FFF2-40B4-BE49-F238E27FC236}">
                <a16:creationId xmlns:a16="http://schemas.microsoft.com/office/drawing/2014/main" id="{FE678265-53DD-474E-B3BD-8772284226E9}"/>
              </a:ext>
            </a:extLst>
          </p:cNvPr>
          <p:cNvSpPr>
            <a:spLocks noGrp="1"/>
          </p:cNvSpPr>
          <p:nvPr/>
        </p:nvSpPr>
        <p:spPr>
          <a:xfrm>
            <a:off x="533400" y="552450"/>
            <a:ext cx="57150" cy="514350"/>
          </a:xfrm>
          <a:prstGeom prst="rect">
            <a:avLst/>
          </a:prstGeom>
          <a:solidFill>
            <a:srgbClr val="356B3F"/>
          </a:solidFill>
          <a:ln w="0">
            <a:noFill/>
          </a:ln>
        </p:spPr>
        <p:txBody>
          <a:bodyPr/>
          <a:lstStyle/>
          <a:p>
            <a:endParaRPr lang="LID4096"/>
          </a:p>
        </p:txBody>
      </p:sp>
      <p:sp>
        <p:nvSpPr>
          <p:cNvPr id="4" name="Rectangle 3">
            <a:extLst>
              <a:ext uri="{FF2B5EF4-FFF2-40B4-BE49-F238E27FC236}">
                <a16:creationId xmlns:a16="http://schemas.microsoft.com/office/drawing/2014/main" id="{36DC47BA-E993-439A-BB29-3504377EE645}"/>
              </a:ext>
            </a:extLst>
          </p:cNvPr>
          <p:cNvSpPr>
            <a:spLocks noGrp="1"/>
          </p:cNvSpPr>
          <p:nvPr/>
        </p:nvSpPr>
        <p:spPr>
          <a:xfrm>
            <a:off x="781050" y="485775"/>
            <a:ext cx="5810250" cy="1104900"/>
          </a:xfrm>
          <a:prstGeom prst="rect">
            <a:avLst/>
          </a:prstGeom>
          <a:noFill/>
          <a:ln w="0">
            <a:noFill/>
          </a:ln>
        </p:spPr>
        <p:txBody>
          <a:bodyPr wrap="square" lIns="0" tIns="0" rIns="0" bIns="0" anchor="t">
            <a:noAutofit/>
          </a:bodyPr>
          <a:lstStyle/>
          <a:p>
            <a:pPr algn="l">
              <a:lnSpc>
                <a:spcPct val="92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Vulnerabilities become legal exposure</a:t>
            </a:r>
          </a:p>
        </p:txBody>
      </p:sp>
      <p:sp>
        <p:nvSpPr>
          <p:cNvPr id="5" name="Rectangle 4">
            <a:extLst>
              <a:ext uri="{FF2B5EF4-FFF2-40B4-BE49-F238E27FC236}">
                <a16:creationId xmlns:a16="http://schemas.microsoft.com/office/drawing/2014/main" id="{D14F8388-9ADD-453A-A3E8-9C73987D6A04}"/>
              </a:ext>
            </a:extLst>
          </p:cNvPr>
          <p:cNvSpPr>
            <a:spLocks noGrp="1"/>
          </p:cNvSpPr>
          <p:nvPr/>
        </p:nvSpPr>
        <p:spPr>
          <a:xfrm>
            <a:off x="781050" y="2076450"/>
            <a:ext cx="2000250" cy="838200"/>
          </a:xfrm>
          <a:prstGeom prst="rect">
            <a:avLst/>
          </a:prstGeom>
          <a:noFill/>
          <a:ln w="0">
            <a:noFill/>
          </a:ln>
        </p:spPr>
        <p:txBody>
          <a:bodyPr wrap="square" lIns="0" tIns="0" rIns="0" bIns="0" anchor="t">
            <a:noAutofit/>
          </a:bodyPr>
          <a:lstStyle/>
          <a:p>
            <a:pPr algn="l">
              <a:lnSpc>
                <a:spcPct val="100000"/>
              </a:lnSpc>
              <a:buNone/>
              <a:defRPr sz="5850" b="1">
                <a:solidFill>
                  <a:srgbClr val="356B3F"/>
                </a:solidFill>
                <a:latin typeface="Segoe UI"/>
                <a:ea typeface="Segoe UI"/>
                <a:cs typeface="Segoe UI"/>
              </a:defRPr>
            </a:pPr>
            <a:r>
              <a:rPr sz="5850" b="1">
                <a:solidFill>
                  <a:srgbClr val="356B3F"/>
                </a:solidFill>
                <a:latin typeface="Segoe UI"/>
                <a:ea typeface="Segoe UI"/>
                <a:cs typeface="Segoe UI"/>
              </a:rPr>
              <a:t>20%</a:t>
            </a:r>
          </a:p>
        </p:txBody>
      </p:sp>
      <p:sp>
        <p:nvSpPr>
          <p:cNvPr id="6" name="Rectangle 5">
            <a:extLst>
              <a:ext uri="{FF2B5EF4-FFF2-40B4-BE49-F238E27FC236}">
                <a16:creationId xmlns:a16="http://schemas.microsoft.com/office/drawing/2014/main" id="{BC5FADD8-AA85-47FA-A1F5-F8080DAA421A}"/>
              </a:ext>
            </a:extLst>
          </p:cNvPr>
          <p:cNvSpPr>
            <a:spLocks noGrp="1"/>
          </p:cNvSpPr>
          <p:nvPr/>
        </p:nvSpPr>
        <p:spPr>
          <a:xfrm>
            <a:off x="2857500" y="2152650"/>
            <a:ext cx="3619500" cy="838200"/>
          </a:xfrm>
          <a:prstGeom prst="rect">
            <a:avLst/>
          </a:prstGeom>
          <a:noFill/>
          <a:ln w="0">
            <a:noFill/>
          </a:ln>
        </p:spPr>
        <p:txBody>
          <a:bodyPr wrap="square" lIns="0" tIns="0" rIns="0" bIns="0" anchor="t">
            <a:noAutofit/>
          </a:bodyPr>
          <a:lstStyle/>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of breaches began with</a:t>
            </a:r>
          </a:p>
          <a:p>
            <a:pPr algn="l">
              <a:lnSpc>
                <a:spcPct val="105000"/>
              </a:lnSpc>
              <a:buNone/>
              <a:defRPr sz="2025" b="1">
                <a:solidFill>
                  <a:srgbClr val="111713"/>
                </a:solidFill>
                <a:latin typeface="Segoe UI"/>
                <a:ea typeface="Segoe UI"/>
                <a:cs typeface="Segoe UI"/>
              </a:defRPr>
            </a:pPr>
            <a:r>
              <a:rPr sz="2025" b="1">
                <a:solidFill>
                  <a:srgbClr val="111713"/>
                </a:solidFill>
                <a:latin typeface="Segoe UI"/>
                <a:ea typeface="Segoe UI"/>
                <a:cs typeface="Segoe UI"/>
              </a:rPr>
              <a:t>vulnerability exploitation</a:t>
            </a:r>
          </a:p>
        </p:txBody>
      </p:sp>
      <p:sp>
        <p:nvSpPr>
          <p:cNvPr id="7" name="Straight Connector 6">
            <a:extLst>
              <a:ext uri="{FF2B5EF4-FFF2-40B4-BE49-F238E27FC236}">
                <a16:creationId xmlns:a16="http://schemas.microsoft.com/office/drawing/2014/main" id="{8503D975-E64D-48A7-9E4B-72E63C8B6457}"/>
              </a:ext>
            </a:extLst>
          </p:cNvPr>
          <p:cNvSpPr>
            <a:spLocks noGrp="1"/>
          </p:cNvSpPr>
          <p:nvPr/>
        </p:nvSpPr>
        <p:spPr>
          <a:xfrm>
            <a:off x="781050" y="3705225"/>
            <a:ext cx="4953000" cy="0"/>
          </a:xfrm>
          <a:prstGeom prst="line">
            <a:avLst/>
          </a:prstGeom>
          <a:noFill/>
          <a:ln w="19050">
            <a:solidFill>
              <a:srgbClr val="CBD5CF"/>
            </a:solidFill>
            <a:prstDash val="solid"/>
          </a:ln>
        </p:spPr>
        <p:txBody>
          <a:bodyPr/>
          <a:lstStyle/>
          <a:p>
            <a:endParaRPr lang="LID4096"/>
          </a:p>
        </p:txBody>
      </p:sp>
      <p:sp>
        <p:nvSpPr>
          <p:cNvPr id="8" name="Rectangle 7">
            <a:extLst>
              <a:ext uri="{FF2B5EF4-FFF2-40B4-BE49-F238E27FC236}">
                <a16:creationId xmlns:a16="http://schemas.microsoft.com/office/drawing/2014/main" id="{D64CC469-4EB1-4F62-8B78-68951E3D63BB}"/>
              </a:ext>
            </a:extLst>
          </p:cNvPr>
          <p:cNvSpPr>
            <a:spLocks noGrp="1"/>
          </p:cNvSpPr>
          <p:nvPr/>
        </p:nvSpPr>
        <p:spPr>
          <a:xfrm>
            <a:off x="781050" y="411480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+34%</a:t>
            </a:r>
          </a:p>
        </p:txBody>
      </p:sp>
      <p:sp>
        <p:nvSpPr>
          <p:cNvPr id="9" name="Rectangle 8">
            <a:extLst>
              <a:ext uri="{FF2B5EF4-FFF2-40B4-BE49-F238E27FC236}">
                <a16:creationId xmlns:a16="http://schemas.microsoft.com/office/drawing/2014/main" id="{8D1E6E6C-8E06-442F-AB42-1822A43DB9BB}"/>
              </a:ext>
            </a:extLst>
          </p:cNvPr>
          <p:cNvSpPr>
            <a:spLocks noGrp="1"/>
          </p:cNvSpPr>
          <p:nvPr/>
        </p:nvSpPr>
        <p:spPr>
          <a:xfrm>
            <a:off x="2857500" y="4276725"/>
            <a:ext cx="31432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Year over year</a:t>
            </a:r>
          </a:p>
        </p:txBody>
      </p:sp>
      <p:sp>
        <p:nvSpPr>
          <p:cNvPr id="10" name="Rectangle 9">
            <a:extLst>
              <a:ext uri="{FF2B5EF4-FFF2-40B4-BE49-F238E27FC236}">
                <a16:creationId xmlns:a16="http://schemas.microsoft.com/office/drawing/2014/main" id="{B8C37D37-E749-413B-9A32-1FA84EF378A3}"/>
              </a:ext>
            </a:extLst>
          </p:cNvPr>
          <p:cNvSpPr>
            <a:spLocks noGrp="1"/>
          </p:cNvSpPr>
          <p:nvPr/>
        </p:nvSpPr>
        <p:spPr>
          <a:xfrm>
            <a:off x="781050" y="5200650"/>
            <a:ext cx="2000250" cy="6858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30%</a:t>
            </a:r>
          </a:p>
        </p:txBody>
      </p:sp>
      <p:sp>
        <p:nvSpPr>
          <p:cNvPr id="11" name="Rectangle 10">
            <a:extLst>
              <a:ext uri="{FF2B5EF4-FFF2-40B4-BE49-F238E27FC236}">
                <a16:creationId xmlns:a16="http://schemas.microsoft.com/office/drawing/2014/main" id="{9E5E4077-040C-485E-822D-F82B02B8C4E8}"/>
              </a:ext>
            </a:extLst>
          </p:cNvPr>
          <p:cNvSpPr>
            <a:spLocks noGrp="1"/>
          </p:cNvSpPr>
          <p:nvPr/>
        </p:nvSpPr>
        <p:spPr>
          <a:xfrm>
            <a:off x="2857500" y="5362575"/>
            <a:ext cx="3333750" cy="400050"/>
          </a:xfrm>
          <a:prstGeom prst="rect">
            <a:avLst/>
          </a:prstGeom>
          <a:noFill/>
          <a:ln w="0">
            <a:noFill/>
          </a:ln>
        </p:spPr>
        <p:txBody>
          <a:bodyPr wrap="square" lIns="0" tIns="0" rIns="0" bIns="0" anchor="t">
            <a:noAutofit/>
          </a:bodyPr>
          <a:lstStyle/>
          <a:p>
            <a:pPr algn="l">
              <a:lnSpc>
                <a:spcPct val="100000"/>
              </a:lnSpc>
              <a:buNone/>
              <a:defRPr sz="2175" b="1">
                <a:solidFill>
                  <a:srgbClr val="111713"/>
                </a:solidFill>
                <a:latin typeface="Segoe UI"/>
                <a:ea typeface="Segoe UI"/>
                <a:cs typeface="Segoe UI"/>
              </a:defRPr>
            </a:pPr>
            <a:r>
              <a:rPr sz="2175" b="1">
                <a:solidFill>
                  <a:srgbClr val="111713"/>
                </a:solidFill>
                <a:latin typeface="Segoe UI"/>
                <a:ea typeface="Segoe UI"/>
                <a:cs typeface="Segoe UI"/>
              </a:rPr>
              <a:t>Third-party involvement</a:t>
            </a:r>
          </a:p>
        </p:txBody>
      </p:sp>
      <p:sp>
        <p:nvSpPr>
          <p:cNvPr id="12" name="Rectangle 11">
            <a:extLst>
              <a:ext uri="{FF2B5EF4-FFF2-40B4-BE49-F238E27FC236}">
                <a16:creationId xmlns:a16="http://schemas.microsoft.com/office/drawing/2014/main" id="{9EC1B2D8-6942-46AB-AA04-EDDD28A98086}"/>
              </a:ext>
            </a:extLst>
          </p:cNvPr>
          <p:cNvSpPr>
            <a:spLocks noGrp="1"/>
          </p:cNvSpPr>
          <p:nvPr/>
        </p:nvSpPr>
        <p:spPr>
          <a:xfrm>
            <a:off x="781050" y="6191250"/>
            <a:ext cx="2476500" cy="228600"/>
          </a:xfrm>
          <a:prstGeom prst="rect">
            <a:avLst/>
          </a:prstGeom>
          <a:noFill/>
          <a:ln w="0">
            <a:noFill/>
          </a:ln>
        </p:spPr>
        <p:txBody>
          <a:bodyPr wrap="square" lIns="0" tIns="0" rIns="0" bIns="0" anchor="t">
            <a:noAutofit/>
          </a:bodyPr>
          <a:lstStyle/>
          <a:p>
            <a:pPr algn="l">
              <a:lnSpc>
                <a:spcPct val="100000"/>
              </a:lnSpc>
              <a:buNone/>
              <a:defRPr sz="1200" b="1">
                <a:solidFill>
                  <a:srgbClr val="53605A"/>
                </a:solidFill>
                <a:latin typeface="Cascadia Mono"/>
                <a:ea typeface="Cascadia Mono"/>
                <a:cs typeface="Cascadia Mono"/>
              </a:defRPr>
            </a:pPr>
            <a:r>
              <a:rPr sz="1200" b="1">
                <a:solidFill>
                  <a:srgbClr val="53605A"/>
                </a:solidFill>
                <a:latin typeface="Cascadia Mono"/>
                <a:ea typeface="Cascadia Mono"/>
                <a:cs typeface="Cascadia Mono"/>
              </a:rPr>
              <a:t>VERIZON 2025 DBIR</a:t>
            </a:r>
          </a:p>
        </p:txBody>
      </p:sp>
      <p:sp>
        <p:nvSpPr>
          <p:cNvPr id="13" name="Rectangle 12">
            <a:extLst>
              <a:ext uri="{FF2B5EF4-FFF2-40B4-BE49-F238E27FC236}">
                <a16:creationId xmlns:a16="http://schemas.microsoft.com/office/drawing/2014/main" id="{A1C59EF7-F6D3-4C2B-B6E2-45D596D0F83D}"/>
              </a:ext>
            </a:extLst>
          </p:cNvPr>
          <p:cNvSpPr>
            <a:spLocks noGrp="1"/>
          </p:cNvSpPr>
          <p:nvPr/>
        </p:nvSpPr>
        <p:spPr>
          <a:xfrm>
            <a:off x="6334125" y="6477000"/>
            <a:ext cx="333375"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03</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156360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300"/>
                                        <p:tgtEl>
                                          <p:spTgt spid="8"/>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3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88AC6C0E-CD00-41A6-982F-7144C8F4413C}"/>
              </a:ext>
            </a:extLst>
          </p:cNvPr>
          <p:cNvSpPr>
            <a:spLocks noGrp="1"/>
          </p:cNvSpPr>
          <p:nvPr/>
        </p:nvSpPr>
        <p:spPr>
          <a:xfrm>
            <a:off x="533400" y="476250"/>
            <a:ext cx="57150" cy="514350"/>
          </a:xfrm>
          <a:prstGeom prst="rect">
            <a:avLst/>
          </a:prstGeom>
          <a:solidFill>
            <a:srgbClr val="356B3F"/>
          </a:solidFill>
          <a:ln w="0">
            <a:noFill/>
          </a:ln>
        </p:spPr>
        <p:txBody>
          <a:bodyPr/>
          <a:lstStyle/>
          <a:p>
            <a:endParaRPr lang="LID4096"/>
          </a:p>
        </p:txBody>
      </p:sp>
      <p:sp>
        <p:nvSpPr>
          <p:cNvPr id="2" name="Rectangle 1">
            <a:extLst>
              <a:ext uri="{FF2B5EF4-FFF2-40B4-BE49-F238E27FC236}">
                <a16:creationId xmlns:a16="http://schemas.microsoft.com/office/drawing/2014/main" id="{DF9FFE60-4BB4-4855-8B38-11A309A27E60}"/>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lnSpc>
                <a:spcPct val="94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24 hours to act</a:t>
            </a:r>
          </a:p>
        </p:txBody>
      </p:sp>
      <p:sp>
        <p:nvSpPr>
          <p:cNvPr id="3" name="Rectangle 2">
            <a:extLst>
              <a:ext uri="{FF2B5EF4-FFF2-40B4-BE49-F238E27FC236}">
                <a16:creationId xmlns:a16="http://schemas.microsoft.com/office/drawing/2014/main" id="{ABFBC871-72BF-44C7-9198-CA89837DABCB}"/>
              </a:ext>
            </a:extLst>
          </p:cNvPr>
          <p:cNvSpPr>
            <a:spLocks noGrp="1"/>
          </p:cNvSpPr>
          <p:nvPr/>
        </p:nvSpPr>
        <p:spPr>
          <a:xfrm>
            <a:off x="8382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356B3F"/>
                </a:solidFill>
                <a:latin typeface="Segoe UI"/>
                <a:ea typeface="Segoe UI"/>
                <a:cs typeface="Segoe UI"/>
              </a:defRPr>
            </a:pPr>
            <a:r>
              <a:rPr sz="6900" b="1">
                <a:solidFill>
                  <a:srgbClr val="356B3F"/>
                </a:solidFill>
                <a:latin typeface="Segoe UI"/>
                <a:ea typeface="Segoe UI"/>
                <a:cs typeface="Segoe UI"/>
              </a:rPr>
              <a:t>24H</a:t>
            </a:r>
          </a:p>
        </p:txBody>
      </p:sp>
      <p:sp>
        <p:nvSpPr>
          <p:cNvPr id="4" name="Rectangle 3">
            <a:extLst>
              <a:ext uri="{FF2B5EF4-FFF2-40B4-BE49-F238E27FC236}">
                <a16:creationId xmlns:a16="http://schemas.microsoft.com/office/drawing/2014/main" id="{392160EE-1DD0-4179-BE3E-05176B061035}"/>
              </a:ext>
            </a:extLst>
          </p:cNvPr>
          <p:cNvSpPr>
            <a:spLocks noGrp="1"/>
          </p:cNvSpPr>
          <p:nvPr/>
        </p:nvSpPr>
        <p:spPr>
          <a:xfrm>
            <a:off x="8382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Early warning</a:t>
            </a:r>
          </a:p>
        </p:txBody>
      </p:sp>
      <p:sp>
        <p:nvSpPr>
          <p:cNvPr id="5" name="Straight Connector 4">
            <a:extLst>
              <a:ext uri="{FF2B5EF4-FFF2-40B4-BE49-F238E27FC236}">
                <a16:creationId xmlns:a16="http://schemas.microsoft.com/office/drawing/2014/main" id="{2C4EDBF4-2D81-4401-857D-745B81DD1AFA}"/>
              </a:ext>
            </a:extLst>
          </p:cNvPr>
          <p:cNvSpPr>
            <a:spLocks noGrp="1"/>
          </p:cNvSpPr>
          <p:nvPr/>
        </p:nvSpPr>
        <p:spPr>
          <a:xfrm>
            <a:off x="4286250" y="1952625"/>
            <a:ext cx="0" cy="2095500"/>
          </a:xfrm>
          <a:prstGeom prst="line">
            <a:avLst/>
          </a:prstGeom>
          <a:noFill/>
          <a:ln w="28575">
            <a:solidFill>
              <a:srgbClr val="CBD5CF"/>
            </a:solidFill>
            <a:prstDash val="solid"/>
          </a:ln>
        </p:spPr>
        <p:txBody>
          <a:bodyPr/>
          <a:lstStyle/>
          <a:p>
            <a:endParaRPr lang="LID4096"/>
          </a:p>
        </p:txBody>
      </p:sp>
      <p:sp>
        <p:nvSpPr>
          <p:cNvPr id="6" name="Rectangle 5">
            <a:extLst>
              <a:ext uri="{FF2B5EF4-FFF2-40B4-BE49-F238E27FC236}">
                <a16:creationId xmlns:a16="http://schemas.microsoft.com/office/drawing/2014/main" id="{3FE0F8E5-A349-4554-A88B-B8FAE2933901}"/>
              </a:ext>
            </a:extLst>
          </p:cNvPr>
          <p:cNvSpPr>
            <a:spLocks noGrp="1"/>
          </p:cNvSpPr>
          <p:nvPr/>
        </p:nvSpPr>
        <p:spPr>
          <a:xfrm>
            <a:off x="4762500" y="1962150"/>
            <a:ext cx="3048000" cy="1104900"/>
          </a:xfrm>
          <a:prstGeom prst="rect">
            <a:avLst/>
          </a:prstGeom>
          <a:noFill/>
          <a:ln w="0">
            <a:noFill/>
          </a:ln>
        </p:spPr>
        <p:txBody>
          <a:bodyPr wrap="square" lIns="0" tIns="0" rIns="0" bIns="0" anchor="t">
            <a:noAutofit/>
          </a:bodyPr>
          <a:lstStyle/>
          <a:p>
            <a:pPr algn="l">
              <a:lnSpc>
                <a:spcPct val="100000"/>
              </a:lnSpc>
              <a:buNone/>
              <a:defRPr sz="6900" b="1">
                <a:solidFill>
                  <a:srgbClr val="111713"/>
                </a:solidFill>
                <a:latin typeface="Segoe UI"/>
                <a:ea typeface="Segoe UI"/>
                <a:cs typeface="Segoe UI"/>
              </a:defRPr>
            </a:pPr>
            <a:r>
              <a:rPr sz="6900" b="1">
                <a:solidFill>
                  <a:srgbClr val="111713"/>
                </a:solidFill>
                <a:latin typeface="Segoe UI"/>
                <a:ea typeface="Segoe UI"/>
                <a:cs typeface="Segoe UI"/>
              </a:rPr>
              <a:t>72H</a:t>
            </a:r>
          </a:p>
        </p:txBody>
      </p:sp>
      <p:sp>
        <p:nvSpPr>
          <p:cNvPr id="7" name="Rectangle 6">
            <a:extLst>
              <a:ext uri="{FF2B5EF4-FFF2-40B4-BE49-F238E27FC236}">
                <a16:creationId xmlns:a16="http://schemas.microsoft.com/office/drawing/2014/main" id="{F167C46A-7840-4516-8FFE-7A75E80B9FFF}"/>
              </a:ext>
            </a:extLst>
          </p:cNvPr>
          <p:cNvSpPr>
            <a:spLocks noGrp="1"/>
          </p:cNvSpPr>
          <p:nvPr/>
        </p:nvSpPr>
        <p:spPr>
          <a:xfrm>
            <a:off x="4762500" y="3200400"/>
            <a:ext cx="30480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Notification</a:t>
            </a:r>
          </a:p>
        </p:txBody>
      </p:sp>
      <p:sp>
        <p:nvSpPr>
          <p:cNvPr id="8" name="Straight Connector 7">
            <a:extLst>
              <a:ext uri="{FF2B5EF4-FFF2-40B4-BE49-F238E27FC236}">
                <a16:creationId xmlns:a16="http://schemas.microsoft.com/office/drawing/2014/main" id="{506CA167-46DA-4B66-B516-F4CBE5B7C509}"/>
              </a:ext>
            </a:extLst>
          </p:cNvPr>
          <p:cNvSpPr>
            <a:spLocks noGrp="1"/>
          </p:cNvSpPr>
          <p:nvPr/>
        </p:nvSpPr>
        <p:spPr>
          <a:xfrm>
            <a:off x="8210550" y="1952625"/>
            <a:ext cx="0" cy="2095500"/>
          </a:xfrm>
          <a:prstGeom prst="line">
            <a:avLst/>
          </a:prstGeom>
          <a:noFill/>
          <a:ln w="28575">
            <a:solidFill>
              <a:srgbClr val="CBD5CF"/>
            </a:solidFill>
            <a:prstDash val="solid"/>
          </a:ln>
        </p:spPr>
        <p:txBody>
          <a:bodyPr/>
          <a:lstStyle/>
          <a:p>
            <a:endParaRPr lang="LID4096"/>
          </a:p>
        </p:txBody>
      </p:sp>
      <p:sp>
        <p:nvSpPr>
          <p:cNvPr id="9" name="Rectangle 8">
            <a:extLst>
              <a:ext uri="{FF2B5EF4-FFF2-40B4-BE49-F238E27FC236}">
                <a16:creationId xmlns:a16="http://schemas.microsoft.com/office/drawing/2014/main" id="{4F6C1E13-18C2-4A21-955B-31C6B933B6F6}"/>
              </a:ext>
            </a:extLst>
          </p:cNvPr>
          <p:cNvSpPr>
            <a:spLocks noGrp="1"/>
          </p:cNvSpPr>
          <p:nvPr/>
        </p:nvSpPr>
        <p:spPr>
          <a:xfrm>
            <a:off x="8686800" y="1962150"/>
            <a:ext cx="2857500" cy="1104900"/>
          </a:xfrm>
          <a:prstGeom prst="rect">
            <a:avLst/>
          </a:prstGeom>
          <a:noFill/>
          <a:ln w="0">
            <a:noFill/>
          </a:ln>
        </p:spPr>
        <p:txBody>
          <a:bodyPr wrap="square" lIns="0" tIns="0" rIns="0" bIns="0" anchor="t">
            <a:noAutofit/>
          </a:bodyPr>
          <a:lstStyle/>
          <a:p>
            <a:pPr algn="l">
              <a:lnSpc>
                <a:spcPct val="100000"/>
              </a:lnSpc>
              <a:buNone/>
              <a:defRPr sz="6150" b="1">
                <a:solidFill>
                  <a:srgbClr val="111713"/>
                </a:solidFill>
                <a:latin typeface="Segoe UI"/>
                <a:ea typeface="Segoe UI"/>
                <a:cs typeface="Segoe UI"/>
              </a:defRPr>
            </a:pPr>
            <a:r>
              <a:rPr sz="6150" b="1">
                <a:solidFill>
                  <a:srgbClr val="111713"/>
                </a:solidFill>
                <a:latin typeface="Segoe UI"/>
                <a:ea typeface="Segoe UI"/>
                <a:cs typeface="Segoe UI"/>
              </a:rPr>
              <a:t>€15M</a:t>
            </a:r>
          </a:p>
        </p:txBody>
      </p:sp>
      <p:sp>
        <p:nvSpPr>
          <p:cNvPr id="10" name="Rectangle 9">
            <a:extLst>
              <a:ext uri="{FF2B5EF4-FFF2-40B4-BE49-F238E27FC236}">
                <a16:creationId xmlns:a16="http://schemas.microsoft.com/office/drawing/2014/main" id="{B2558CBF-91FC-4E32-B55B-B82F544FC16D}"/>
              </a:ext>
            </a:extLst>
          </p:cNvPr>
          <p:cNvSpPr>
            <a:spLocks noGrp="1"/>
          </p:cNvSpPr>
          <p:nvPr/>
        </p:nvSpPr>
        <p:spPr>
          <a:xfrm>
            <a:off x="8686800" y="3200400"/>
            <a:ext cx="2857500" cy="514350"/>
          </a:xfrm>
          <a:prstGeom prst="rect">
            <a:avLst/>
          </a:prstGeom>
          <a:noFill/>
          <a:ln w="0">
            <a:noFill/>
          </a:ln>
        </p:spPr>
        <p:txBody>
          <a:bodyPr wrap="square" lIns="0" tIns="0" rIns="0" bIns="0" anchor="t">
            <a:noAutofit/>
          </a:bodyPr>
          <a:lstStyle/>
          <a:p>
            <a:pPr algn="l">
              <a:lnSpc>
                <a:spcPct val="100000"/>
              </a:lnSpc>
              <a:buNone/>
              <a:defRPr sz="2700" b="1">
                <a:solidFill>
                  <a:srgbClr val="111713"/>
                </a:solidFill>
                <a:latin typeface="Segoe UI"/>
                <a:ea typeface="Segoe UI"/>
                <a:cs typeface="Segoe UI"/>
              </a:defRPr>
            </a:pPr>
            <a:r>
              <a:rPr sz="2700" b="1">
                <a:solidFill>
                  <a:srgbClr val="111713"/>
                </a:solidFill>
                <a:latin typeface="Segoe UI"/>
                <a:ea typeface="Segoe UI"/>
                <a:cs typeface="Segoe UI"/>
              </a:rPr>
              <a:t>or 2.5%</a:t>
            </a:r>
          </a:p>
        </p:txBody>
      </p:sp>
      <p:sp>
        <p:nvSpPr>
          <p:cNvPr id="11" name="Rectangle: Rounded Corners 10">
            <a:extLst>
              <a:ext uri="{FF2B5EF4-FFF2-40B4-BE49-F238E27FC236}">
                <a16:creationId xmlns:a16="http://schemas.microsoft.com/office/drawing/2014/main" id="{2742FD3D-6D34-468C-A886-BB3A9CABDC8E}"/>
              </a:ext>
            </a:extLst>
          </p:cNvPr>
          <p:cNvSpPr>
            <a:spLocks noGrp="1"/>
          </p:cNvSpPr>
          <p:nvPr/>
        </p:nvSpPr>
        <p:spPr>
          <a:xfrm>
            <a:off x="838200" y="4810125"/>
            <a:ext cx="10706100" cy="895350"/>
          </a:xfrm>
          <a:prstGeom prst="roundRect">
            <a:avLst>
              <a:gd name="adj" fmla="val 8511"/>
            </a:avLst>
          </a:prstGeom>
          <a:solidFill>
            <a:srgbClr val="111713"/>
          </a:solidFill>
          <a:ln w="0">
            <a:noFill/>
          </a:ln>
        </p:spPr>
        <p:txBody>
          <a:bodyPr/>
          <a:lstStyle/>
          <a:p>
            <a:endParaRPr lang="LID4096"/>
          </a:p>
        </p:txBody>
      </p:sp>
      <p:sp>
        <p:nvSpPr>
          <p:cNvPr id="12" name="Rectangle 11">
            <a:extLst>
              <a:ext uri="{FF2B5EF4-FFF2-40B4-BE49-F238E27FC236}">
                <a16:creationId xmlns:a16="http://schemas.microsoft.com/office/drawing/2014/main" id="{0AFFBB03-00B3-4198-B26D-E094820C5ED8}"/>
              </a:ext>
            </a:extLst>
          </p:cNvPr>
          <p:cNvSpPr>
            <a:spLocks noGrp="1"/>
          </p:cNvSpPr>
          <p:nvPr/>
        </p:nvSpPr>
        <p:spPr>
          <a:xfrm>
            <a:off x="1143000" y="5000625"/>
            <a:ext cx="10096500" cy="495300"/>
          </a:xfrm>
          <a:prstGeom prst="rect">
            <a:avLst/>
          </a:prstGeom>
          <a:noFill/>
          <a:ln w="0">
            <a:noFill/>
          </a:ln>
        </p:spPr>
        <p:txBody>
          <a:bodyPr wrap="square" lIns="0" tIns="0" rIns="0" bIns="0" anchor="ctr">
            <a:noAutofit/>
          </a:bodyPr>
          <a:lstStyle/>
          <a:p>
            <a:pPr algn="ctr">
              <a:lnSpc>
                <a:spcPct val="100000"/>
              </a:lnSpc>
              <a:buNone/>
              <a:defRPr sz="2400" b="1">
                <a:solidFill>
                  <a:srgbClr val="F2F5F9"/>
                </a:solidFill>
                <a:latin typeface="Segoe UI"/>
                <a:ea typeface="Segoe UI"/>
                <a:cs typeface="Segoe UI"/>
              </a:defRPr>
            </a:pPr>
            <a:r>
              <a:rPr sz="2400" b="1">
                <a:solidFill>
                  <a:srgbClr val="F2F5F9"/>
                </a:solidFill>
                <a:latin typeface="Segoe UI"/>
                <a:ea typeface="Segoe UI"/>
                <a:cs typeface="Segoe UI"/>
              </a:rPr>
              <a:t>Technical evidence must be ready before legal review</a:t>
            </a:r>
          </a:p>
        </p:txBody>
      </p:sp>
      <p:sp>
        <p:nvSpPr>
          <p:cNvPr id="13" name="Rectangle 12">
            <a:extLst>
              <a:ext uri="{FF2B5EF4-FFF2-40B4-BE49-F238E27FC236}">
                <a16:creationId xmlns:a16="http://schemas.microsoft.com/office/drawing/2014/main" id="{7ECBC764-6568-4F71-846B-695E6BDB0234}"/>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04</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912934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par>
                          <p:cTn id="8" fill="hold">
                            <p:stCondLst>
                              <p:cond delay="300"/>
                            </p:stCondLst>
                            <p:childTnLst>
                              <p:par>
                                <p:cTn id="9" presetID="10"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300"/>
                                        <p:tgtEl>
                                          <p:spTgt spid="6"/>
                                        </p:tgtEl>
                                      </p:cBhvr>
                                    </p:animEffect>
                                  </p:childTnLst>
                                </p:cTn>
                              </p:par>
                            </p:childTnLst>
                          </p:cTn>
                        </p:par>
                        <p:par>
                          <p:cTn id="12" fill="hold">
                            <p:stCondLst>
                              <p:cond delay="600"/>
                            </p:stCondLst>
                            <p:childTnLst>
                              <p:par>
                                <p:cTn id="13" presetID="10" presetClass="entr" presetSubtype="0"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pic>
        <p:nvPicPr>
          <p:cNvPr id="15" name="Picture 14"/>
          <p:cNvPicPr>
            <a:picLocks noChangeAspect="1"/>
          </p:cNvPicPr>
          <p:nvPr/>
        </p:nvPicPr>
        <p:blipFill>
          <a:blip r:embed="rId3"/>
          <a:srcRect l="4877" r="4877"/>
          <a:stretch>
            <a:fillRect/>
          </a:stretch>
        </p:blipFill>
        <p:spPr>
          <a:xfrm>
            <a:off x="7239000" y="0"/>
            <a:ext cx="4953000" cy="6858000"/>
          </a:xfrm>
          <a:prstGeom prst="rect">
            <a:avLst/>
          </a:prstGeom>
        </p:spPr>
      </p:pic>
      <p:sp>
        <p:nvSpPr>
          <p:cNvPr id="2" name="Rectangle 1">
            <a:extLst>
              <a:ext uri="{FF2B5EF4-FFF2-40B4-BE49-F238E27FC236}">
                <a16:creationId xmlns:a16="http://schemas.microsoft.com/office/drawing/2014/main" id="{9D7103D8-BB85-4E25-ACD2-07FA8F250A51}"/>
              </a:ext>
            </a:extLst>
          </p:cNvPr>
          <p:cNvSpPr>
            <a:spLocks noGrp="1"/>
          </p:cNvSpPr>
          <p:nvPr/>
        </p:nvSpPr>
        <p:spPr>
          <a:xfrm>
            <a:off x="0" y="0"/>
            <a:ext cx="7620000" cy="6858000"/>
          </a:xfrm>
          <a:prstGeom prst="rect">
            <a:avLst/>
          </a:prstGeom>
          <a:solidFill>
            <a:srgbClr val="F4F7F5"/>
          </a:solidFill>
          <a:ln w="0">
            <a:noFill/>
          </a:ln>
        </p:spPr>
        <p:txBody>
          <a:bodyPr/>
          <a:lstStyle/>
          <a:p>
            <a:endParaRPr lang="LID4096"/>
          </a:p>
        </p:txBody>
      </p:sp>
      <p:sp>
        <p:nvSpPr>
          <p:cNvPr id="3" name="Rectangle 2">
            <a:extLst>
              <a:ext uri="{FF2B5EF4-FFF2-40B4-BE49-F238E27FC236}">
                <a16:creationId xmlns:a16="http://schemas.microsoft.com/office/drawing/2014/main" id="{82931B00-1282-4A31-AC05-CBECE2C2B2F4}"/>
              </a:ext>
            </a:extLst>
          </p:cNvPr>
          <p:cNvSpPr>
            <a:spLocks noGrp="1"/>
          </p:cNvSpPr>
          <p:nvPr/>
        </p:nvSpPr>
        <p:spPr>
          <a:xfrm>
            <a:off x="533400" y="552450"/>
            <a:ext cx="57150" cy="514350"/>
          </a:xfrm>
          <a:prstGeom prst="rect">
            <a:avLst/>
          </a:prstGeom>
          <a:solidFill>
            <a:srgbClr val="356B3F"/>
          </a:solidFill>
          <a:ln w="0">
            <a:noFill/>
          </a:ln>
        </p:spPr>
        <p:txBody>
          <a:bodyPr/>
          <a:lstStyle/>
          <a:p>
            <a:endParaRPr lang="LID4096"/>
          </a:p>
        </p:txBody>
      </p:sp>
      <p:sp>
        <p:nvSpPr>
          <p:cNvPr id="4" name="Rectangle 3">
            <a:extLst>
              <a:ext uri="{FF2B5EF4-FFF2-40B4-BE49-F238E27FC236}">
                <a16:creationId xmlns:a16="http://schemas.microsoft.com/office/drawing/2014/main" id="{7C9F655F-C106-4C46-8862-3B07FA7D1693}"/>
              </a:ext>
            </a:extLst>
          </p:cNvPr>
          <p:cNvSpPr>
            <a:spLocks noGrp="1"/>
          </p:cNvSpPr>
          <p:nvPr/>
        </p:nvSpPr>
        <p:spPr>
          <a:xfrm>
            <a:off x="781050" y="485775"/>
            <a:ext cx="5905500" cy="876300"/>
          </a:xfrm>
          <a:prstGeom prst="rect">
            <a:avLst/>
          </a:prstGeom>
          <a:noFill/>
          <a:ln w="0">
            <a:noFill/>
          </a:ln>
        </p:spPr>
        <p:txBody>
          <a:bodyPr wrap="square" lIns="0" tIns="0" rIns="0" bIns="0" anchor="t">
            <a:noAutofit/>
          </a:bodyPr>
          <a:lstStyle/>
          <a:p>
            <a:pPr algn="l">
              <a:lnSpc>
                <a:spcPct val="100000"/>
              </a:lnSpc>
              <a:buNone/>
              <a:defRPr sz="3225" b="1">
                <a:solidFill>
                  <a:srgbClr val="111713"/>
                </a:solidFill>
                <a:latin typeface="Segoe UI"/>
                <a:ea typeface="Segoe UI"/>
                <a:cs typeface="Segoe UI"/>
              </a:defRPr>
            </a:pPr>
            <a:r>
              <a:rPr sz="3225" b="1">
                <a:solidFill>
                  <a:srgbClr val="111713"/>
                </a:solidFill>
                <a:latin typeface="Segoe UI"/>
                <a:ea typeface="Segoe UI"/>
                <a:cs typeface="Segoe UI"/>
              </a:rPr>
              <a:t>The manual alternative</a:t>
            </a:r>
          </a:p>
        </p:txBody>
      </p:sp>
      <p:sp>
        <p:nvSpPr>
          <p:cNvPr id="5" name="Rectangle 4">
            <a:extLst>
              <a:ext uri="{FF2B5EF4-FFF2-40B4-BE49-F238E27FC236}">
                <a16:creationId xmlns:a16="http://schemas.microsoft.com/office/drawing/2014/main" id="{BD387BD3-4C8C-4E8C-8E5A-1386E270070F}"/>
              </a:ext>
            </a:extLst>
          </p:cNvPr>
          <p:cNvSpPr>
            <a:spLocks noGrp="1"/>
          </p:cNvSpPr>
          <p:nvPr/>
        </p:nvSpPr>
        <p:spPr>
          <a:xfrm>
            <a:off x="781050" y="184785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 gathering</a:t>
            </a:r>
          </a:p>
        </p:txBody>
      </p:sp>
      <p:sp>
        <p:nvSpPr>
          <p:cNvPr id="6" name="Straight Connector 5">
            <a:extLst>
              <a:ext uri="{FF2B5EF4-FFF2-40B4-BE49-F238E27FC236}">
                <a16:creationId xmlns:a16="http://schemas.microsoft.com/office/drawing/2014/main" id="{CF3636FF-8188-4FB5-B2CF-1A2A9D4C709E}"/>
              </a:ext>
            </a:extLst>
          </p:cNvPr>
          <p:cNvSpPr>
            <a:spLocks noGrp="1"/>
          </p:cNvSpPr>
          <p:nvPr/>
        </p:nvSpPr>
        <p:spPr>
          <a:xfrm>
            <a:off x="781050" y="2571750"/>
            <a:ext cx="5429250" cy="0"/>
          </a:xfrm>
          <a:prstGeom prst="line">
            <a:avLst/>
          </a:prstGeom>
          <a:noFill/>
          <a:ln w="19050">
            <a:solidFill>
              <a:srgbClr val="CBD5CF"/>
            </a:solidFill>
            <a:prstDash val="solid"/>
          </a:ln>
        </p:spPr>
        <p:txBody>
          <a:bodyPr/>
          <a:lstStyle/>
          <a:p>
            <a:endParaRPr lang="LID4096"/>
          </a:p>
        </p:txBody>
      </p:sp>
      <p:sp>
        <p:nvSpPr>
          <p:cNvPr id="7" name="Rectangle 6">
            <a:extLst>
              <a:ext uri="{FF2B5EF4-FFF2-40B4-BE49-F238E27FC236}">
                <a16:creationId xmlns:a16="http://schemas.microsoft.com/office/drawing/2014/main" id="{9D58D9EF-4436-462C-BBA1-34FD4FFE6D72}"/>
              </a:ext>
            </a:extLst>
          </p:cNvPr>
          <p:cNvSpPr>
            <a:spLocks noGrp="1"/>
          </p:cNvSpPr>
          <p:nvPr/>
        </p:nvSpPr>
        <p:spPr>
          <a:xfrm>
            <a:off x="781050" y="285750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Legal translation</a:t>
            </a:r>
          </a:p>
        </p:txBody>
      </p:sp>
      <p:sp>
        <p:nvSpPr>
          <p:cNvPr id="8" name="Straight Connector 7">
            <a:extLst>
              <a:ext uri="{FF2B5EF4-FFF2-40B4-BE49-F238E27FC236}">
                <a16:creationId xmlns:a16="http://schemas.microsoft.com/office/drawing/2014/main" id="{21CCB073-6D50-47E0-9FE1-7B9C614518F6}"/>
              </a:ext>
            </a:extLst>
          </p:cNvPr>
          <p:cNvSpPr>
            <a:spLocks noGrp="1"/>
          </p:cNvSpPr>
          <p:nvPr/>
        </p:nvSpPr>
        <p:spPr>
          <a:xfrm>
            <a:off x="781050" y="3581400"/>
            <a:ext cx="5429250" cy="0"/>
          </a:xfrm>
          <a:prstGeom prst="line">
            <a:avLst/>
          </a:prstGeom>
          <a:noFill/>
          <a:ln w="19050">
            <a:solidFill>
              <a:srgbClr val="CBD5CF"/>
            </a:solidFill>
            <a:prstDash val="solid"/>
          </a:ln>
        </p:spPr>
        <p:txBody>
          <a:bodyPr/>
          <a:lstStyle/>
          <a:p>
            <a:endParaRPr lang="LID4096"/>
          </a:p>
        </p:txBody>
      </p:sp>
      <p:sp>
        <p:nvSpPr>
          <p:cNvPr id="9" name="Rectangle 8">
            <a:extLst>
              <a:ext uri="{FF2B5EF4-FFF2-40B4-BE49-F238E27FC236}">
                <a16:creationId xmlns:a16="http://schemas.microsoft.com/office/drawing/2014/main" id="{3B223C9C-8106-487F-BF1E-0F621E91CFB9}"/>
              </a:ext>
            </a:extLst>
          </p:cNvPr>
          <p:cNvSpPr>
            <a:spLocks noGrp="1"/>
          </p:cNvSpPr>
          <p:nvPr/>
        </p:nvSpPr>
        <p:spPr>
          <a:xfrm>
            <a:off x="781050" y="386715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Manual reporting</a:t>
            </a:r>
          </a:p>
        </p:txBody>
      </p:sp>
      <p:sp>
        <p:nvSpPr>
          <p:cNvPr id="10" name="Straight Connector 9">
            <a:extLst>
              <a:ext uri="{FF2B5EF4-FFF2-40B4-BE49-F238E27FC236}">
                <a16:creationId xmlns:a16="http://schemas.microsoft.com/office/drawing/2014/main" id="{A278FC3E-D512-4B05-BBA1-EB829FD09463}"/>
              </a:ext>
            </a:extLst>
          </p:cNvPr>
          <p:cNvSpPr>
            <a:spLocks noGrp="1"/>
          </p:cNvSpPr>
          <p:nvPr/>
        </p:nvSpPr>
        <p:spPr>
          <a:xfrm>
            <a:off x="781050" y="4591050"/>
            <a:ext cx="5429250" cy="0"/>
          </a:xfrm>
          <a:prstGeom prst="line">
            <a:avLst/>
          </a:prstGeom>
          <a:noFill/>
          <a:ln w="19050">
            <a:solidFill>
              <a:srgbClr val="CBD5CF"/>
            </a:solidFill>
            <a:prstDash val="solid"/>
          </a:ln>
        </p:spPr>
        <p:txBody>
          <a:bodyPr/>
          <a:lstStyle/>
          <a:p>
            <a:endParaRPr lang="LID4096"/>
          </a:p>
        </p:txBody>
      </p:sp>
      <p:sp>
        <p:nvSpPr>
          <p:cNvPr id="11" name="Rectangle 10">
            <a:extLst>
              <a:ext uri="{FF2B5EF4-FFF2-40B4-BE49-F238E27FC236}">
                <a16:creationId xmlns:a16="http://schemas.microsoft.com/office/drawing/2014/main" id="{0BCE40DF-C255-464C-B23C-1BC8E8413CC7}"/>
              </a:ext>
            </a:extLst>
          </p:cNvPr>
          <p:cNvSpPr>
            <a:spLocks noGrp="1"/>
          </p:cNvSpPr>
          <p:nvPr/>
        </p:nvSpPr>
        <p:spPr>
          <a:xfrm>
            <a:off x="781050" y="4876800"/>
            <a:ext cx="5619750" cy="533400"/>
          </a:xfrm>
          <a:prstGeom prst="rect">
            <a:avLst/>
          </a:prstGeom>
          <a:noFill/>
          <a:ln w="0">
            <a:noFill/>
          </a:ln>
        </p:spPr>
        <p:txBody>
          <a:bodyPr wrap="square" lIns="0" tIns="0" rIns="0" bIns="0" anchor="t">
            <a:noAutofit/>
          </a:bodyPr>
          <a:lstStyle/>
          <a:p>
            <a:pPr algn="l">
              <a:lnSpc>
                <a:spcPct val="100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Multiple approvals</a:t>
            </a:r>
          </a:p>
        </p:txBody>
      </p:sp>
      <p:sp>
        <p:nvSpPr>
          <p:cNvPr id="12" name="Rectangle: Rounded Corners 11">
            <a:extLst>
              <a:ext uri="{FF2B5EF4-FFF2-40B4-BE49-F238E27FC236}">
                <a16:creationId xmlns:a16="http://schemas.microsoft.com/office/drawing/2014/main" id="{BB37729D-975A-44BC-BA2A-D2FA055DB7CB}"/>
              </a:ext>
            </a:extLst>
          </p:cNvPr>
          <p:cNvSpPr>
            <a:spLocks noGrp="1"/>
          </p:cNvSpPr>
          <p:nvPr/>
        </p:nvSpPr>
        <p:spPr>
          <a:xfrm>
            <a:off x="781050" y="5695950"/>
            <a:ext cx="5905500" cy="628650"/>
          </a:xfrm>
          <a:prstGeom prst="roundRect">
            <a:avLst>
              <a:gd name="adj" fmla="val 12121"/>
            </a:avLst>
          </a:prstGeom>
          <a:solidFill>
            <a:srgbClr val="111713"/>
          </a:solidFill>
          <a:ln w="0">
            <a:noFill/>
          </a:ln>
        </p:spPr>
        <p:txBody>
          <a:bodyPr/>
          <a:lstStyle/>
          <a:p>
            <a:endParaRPr lang="LID4096"/>
          </a:p>
        </p:txBody>
      </p:sp>
      <p:sp>
        <p:nvSpPr>
          <p:cNvPr id="13" name="Rectangle 12">
            <a:extLst>
              <a:ext uri="{FF2B5EF4-FFF2-40B4-BE49-F238E27FC236}">
                <a16:creationId xmlns:a16="http://schemas.microsoft.com/office/drawing/2014/main" id="{677D00DE-3A65-4C8B-9C1B-4A6F2087D2F7}"/>
              </a:ext>
            </a:extLst>
          </p:cNvPr>
          <p:cNvSpPr>
            <a:spLocks noGrp="1"/>
          </p:cNvSpPr>
          <p:nvPr/>
        </p:nvSpPr>
        <p:spPr>
          <a:xfrm>
            <a:off x="1009650" y="5819775"/>
            <a:ext cx="5448300" cy="381000"/>
          </a:xfrm>
          <a:prstGeom prst="rect">
            <a:avLst/>
          </a:prstGeom>
          <a:noFill/>
          <a:ln w="0">
            <a:noFill/>
          </a:ln>
        </p:spPr>
        <p:txBody>
          <a:bodyPr wrap="square" lIns="0" tIns="0" rIns="0" bIns="0" anchor="ctr">
            <a:noAutofit/>
          </a:bodyPr>
          <a:lstStyle/>
          <a:p>
            <a:pPr algn="ctr">
              <a:lnSpc>
                <a:spcPct val="100000"/>
              </a:lnSpc>
              <a:buNone/>
              <a:defRPr sz="2025" b="1">
                <a:solidFill>
                  <a:srgbClr val="F2F5F9"/>
                </a:solidFill>
                <a:latin typeface="Segoe UI"/>
                <a:ea typeface="Segoe UI"/>
                <a:cs typeface="Segoe UI"/>
              </a:defRPr>
            </a:pPr>
            <a:r>
              <a:rPr sz="2025" b="1">
                <a:solidFill>
                  <a:srgbClr val="F2F5F9"/>
                </a:solidFill>
                <a:latin typeface="Segoe UI"/>
                <a:ea typeface="Segoe UI"/>
                <a:cs typeface="Segoe UI"/>
              </a:rPr>
              <a:t>The 24-hour clock keeps running</a:t>
            </a:r>
          </a:p>
        </p:txBody>
      </p:sp>
      <p:sp>
        <p:nvSpPr>
          <p:cNvPr id="14" name="Rectangle 13">
            <a:extLst>
              <a:ext uri="{FF2B5EF4-FFF2-40B4-BE49-F238E27FC236}">
                <a16:creationId xmlns:a16="http://schemas.microsoft.com/office/drawing/2014/main" id="{21A19E47-DED4-4738-BBA7-D6EFC3544AEB}"/>
              </a:ext>
            </a:extLst>
          </p:cNvPr>
          <p:cNvSpPr>
            <a:spLocks noGrp="1"/>
          </p:cNvSpPr>
          <p:nvPr/>
        </p:nvSpPr>
        <p:spPr>
          <a:xfrm>
            <a:off x="6667500" y="6477000"/>
            <a:ext cx="3429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05</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8621155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Background">
            <a:extLst>
              <a:ext uri="{FF2B5EF4-FFF2-40B4-BE49-F238E27FC236}">
                <a16:creationId xmlns:a16="http://schemas.microsoft.com/office/drawing/2014/main" id="{AD3EBD24-8CF3-47C3-8C89-96F83E183BAA}"/>
              </a:ext>
            </a:extLst>
          </p:cNvPr>
          <p:cNvSpPr>
            <a:spLocks noGrp="1"/>
          </p:cNvSpPr>
          <p:nvPr/>
        </p:nvSpPr>
        <p:spPr>
          <a:xfrm>
            <a:off x="0" y="0"/>
            <a:ext cx="12192000" cy="6858000"/>
          </a:xfrm>
          <a:prstGeom prst="rect">
            <a:avLst/>
          </a:prstGeom>
          <a:solidFill>
            <a:srgbClr val="F4F7F5"/>
          </a:solidFill>
          <a:ln w="0">
            <a:noFill/>
          </a:ln>
        </p:spPr>
      </p:sp>
      <p:sp>
        <p:nvSpPr>
          <p:cNvPr id="2" name="Title accent">
            <a:extLst>
              <a:ext uri="{FF2B5EF4-FFF2-40B4-BE49-F238E27FC236}">
                <a16:creationId xmlns:a16="http://schemas.microsoft.com/office/drawing/2014/main" id="{3DB9DC76-4ABB-4987-9073-243DF440583C}"/>
              </a:ext>
            </a:extLst>
          </p:cNvPr>
          <p:cNvSpPr>
            <a:spLocks noGrp="1"/>
          </p:cNvSpPr>
          <p:nvPr/>
        </p:nvSpPr>
        <p:spPr>
          <a:xfrm>
            <a:off x="533400" y="476250"/>
            <a:ext cx="57150" cy="514350"/>
          </a:xfrm>
          <a:prstGeom prst="rect">
            <a:avLst/>
          </a:prstGeom>
          <a:solidFill>
            <a:srgbClr val="356B3F"/>
          </a:solidFill>
          <a:ln w="0">
            <a:noFill/>
          </a:ln>
        </p:spPr>
      </p:sp>
      <p:sp>
        <p:nvSpPr>
          <p:cNvPr id="3" name="Cycle title">
            <a:extLst>
              <a:ext uri="{FF2B5EF4-FFF2-40B4-BE49-F238E27FC236}">
                <a16:creationId xmlns:a16="http://schemas.microsoft.com/office/drawing/2014/main" id="{E907ADE7-5962-4912-BAA1-6A96BB28D6EE}"/>
              </a:ext>
            </a:extLst>
          </p:cNvPr>
          <p:cNvSpPr>
            <a:spLocks noGrp="1"/>
          </p:cNvSpPr>
          <p:nvPr/>
        </p:nvSpPr>
        <p:spPr>
          <a:xfrm>
            <a:off x="762000" y="438150"/>
            <a:ext cx="10715625" cy="647700"/>
          </a:xfrm>
          <a:prstGeom prst="rect">
            <a:avLst/>
          </a:prstGeom>
          <a:noFill/>
          <a:ln w="0">
            <a:noFill/>
          </a:ln>
        </p:spPr>
        <p:txBody>
          <a:bodyPr wrap="square" lIns="0" tIns="0" rIns="0" bIns="0" anchor="t">
            <a:noAutofit/>
          </a:bodyPr>
          <a:lstStyle/>
          <a:p>
            <a:pPr algn="l">
              <a:defRPr sz="3225" b="1">
                <a:solidFill>
                  <a:srgbClr val="111713"/>
                </a:solidFill>
                <a:latin typeface="Segoe UI"/>
                <a:ea typeface="Segoe UI"/>
                <a:cs typeface="Segoe UI"/>
              </a:defRPr>
            </a:pPr>
            <a:r>
              <a:rPr sz="3225" b="1">
                <a:solidFill>
                  <a:srgbClr val="111713"/>
                </a:solidFill>
                <a:latin typeface="Segoe UI"/>
                <a:ea typeface="Segoe UI"/>
                <a:cs typeface="Segoe UI"/>
              </a:rPr>
              <a:t>One continuous automation loop</a:t>
            </a:r>
          </a:p>
        </p:txBody>
      </p:sp>
      <p:sp>
        <p:nvSpPr>
          <p:cNvPr id="15" name="Footer rule">
            <a:extLst>
              <a:ext uri="{FF2B5EF4-FFF2-40B4-BE49-F238E27FC236}">
                <a16:creationId xmlns:a16="http://schemas.microsoft.com/office/drawing/2014/main" id="{92F28FA8-A9B1-4F7F-8943-942A3BF29191}"/>
              </a:ext>
            </a:extLst>
          </p:cNvPr>
          <p:cNvSpPr>
            <a:spLocks noGrp="1"/>
          </p:cNvSpPr>
          <p:nvPr/>
        </p:nvSpPr>
        <p:spPr>
          <a:xfrm>
            <a:off x="533400" y="6496050"/>
            <a:ext cx="11125200" cy="0"/>
          </a:xfrm>
          <a:prstGeom prst="line">
            <a:avLst/>
          </a:prstGeom>
          <a:noFill/>
          <a:ln w="9525">
            <a:solidFill>
              <a:srgbClr val="D5DDD8"/>
            </a:solidFill>
            <a:prstDash val="solid"/>
          </a:ln>
        </p:spPr>
      </p:sp>
      <p:sp>
        <p:nvSpPr>
          <p:cNvPr id="16" name="Slide number">
            <a:extLst>
              <a:ext uri="{FF2B5EF4-FFF2-40B4-BE49-F238E27FC236}">
                <a16:creationId xmlns:a16="http://schemas.microsoft.com/office/drawing/2014/main" id="{F52D1F59-A820-4439-BE02-4E4BC0C62EED}"/>
              </a:ext>
            </a:extLst>
          </p:cNvPr>
          <p:cNvSpPr>
            <a:spLocks noGrp="1"/>
          </p:cNvSpPr>
          <p:nvPr/>
        </p:nvSpPr>
        <p:spPr>
          <a:xfrm>
            <a:off x="11049000" y="6562725"/>
            <a:ext cx="609600" cy="190500"/>
          </a:xfrm>
          <a:prstGeom prst="rect">
            <a:avLst/>
          </a:prstGeom>
          <a:noFill/>
          <a:ln w="0">
            <a:noFill/>
          </a:ln>
        </p:spPr>
        <p:txBody>
          <a:bodyPr wrap="square" lIns="0" tIns="0" rIns="0" bIns="0" anchor="t">
            <a:noAutofit/>
          </a:bodyPr>
          <a:lstStyle/>
          <a:p>
            <a:pPr algn="r">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06</a:t>
            </a:r>
            <a:endParaRPr sz="1050" b="0">
              <a:solidFill>
                <a:srgbClr val="53605A"/>
              </a:solidFill>
              <a:latin typeface="Cascadia Mono"/>
              <a:ea typeface="Cascadia Mono"/>
              <a:cs typeface="Cascadia Mono"/>
            </a:endParaRPr>
          </a:p>
        </p:txBody>
      </p:sp>
      <p:sp>
        <p:nvSpPr>
          <p:cNvPr id="10" name="Arrow Extraction to Detection">
            <a:extLst>
              <a:ext uri="{FF2B5EF4-FFF2-40B4-BE49-F238E27FC236}">
                <a16:creationId xmlns:a16="http://schemas.microsoft.com/office/drawing/2014/main" id="{A4F7DBBD-BAAA-09F7-2D5E-43A29FDFC284}"/>
              </a:ext>
            </a:extLst>
          </p:cNvPr>
          <p:cNvSpPr/>
          <p:nvPr/>
        </p:nvSpPr>
        <p:spPr>
          <a:xfrm>
            <a:off x="6367256" y="2174277"/>
            <a:ext cx="1570227" cy="2395574"/>
          </a:xfrm>
          <a:custGeom>
            <a:avLst/>
            <a:gdLst/>
            <a:ahLst/>
            <a:cxnLst/>
            <a:rect l="0" t="0" r="0" b="0"/>
            <a:pathLst>
              <a:path w="1570227" h="2395574">
                <a:moveTo>
                  <a:pt x="48517" y="0"/>
                </a:moveTo>
                <a:lnTo>
                  <a:pt x="162539" y="23846"/>
                </a:lnTo>
                <a:lnTo>
                  <a:pt x="274825" y="54854"/>
                </a:lnTo>
                <a:lnTo>
                  <a:pt x="384926" y="92899"/>
                </a:lnTo>
                <a:lnTo>
                  <a:pt x="492401" y="137829"/>
                </a:lnTo>
                <a:lnTo>
                  <a:pt x="596821" y="189465"/>
                </a:lnTo>
                <a:lnTo>
                  <a:pt x="697767" y="247599"/>
                </a:lnTo>
                <a:lnTo>
                  <a:pt x="794836" y="312000"/>
                </a:lnTo>
                <a:lnTo>
                  <a:pt x="887638" y="382409"/>
                </a:lnTo>
                <a:lnTo>
                  <a:pt x="975803" y="458544"/>
                </a:lnTo>
                <a:lnTo>
                  <a:pt x="1058978" y="540102"/>
                </a:lnTo>
                <a:lnTo>
                  <a:pt x="1136829" y="626755"/>
                </a:lnTo>
                <a:lnTo>
                  <a:pt x="1209047" y="718157"/>
                </a:lnTo>
                <a:lnTo>
                  <a:pt x="1275340" y="813942"/>
                </a:lnTo>
                <a:lnTo>
                  <a:pt x="1335445" y="913727"/>
                </a:lnTo>
                <a:lnTo>
                  <a:pt x="1389121" y="1017113"/>
                </a:lnTo>
                <a:lnTo>
                  <a:pt x="1436153" y="1123685"/>
                </a:lnTo>
                <a:lnTo>
                  <a:pt x="1476353" y="1233018"/>
                </a:lnTo>
                <a:lnTo>
                  <a:pt x="1509559" y="1344673"/>
                </a:lnTo>
                <a:lnTo>
                  <a:pt x="1535640" y="1458206"/>
                </a:lnTo>
                <a:lnTo>
                  <a:pt x="1554490" y="1573159"/>
                </a:lnTo>
                <a:lnTo>
                  <a:pt x="1566034" y="1689074"/>
                </a:lnTo>
                <a:lnTo>
                  <a:pt x="1570226" y="1805488"/>
                </a:lnTo>
                <a:lnTo>
                  <a:pt x="1567050" y="1921933"/>
                </a:lnTo>
                <a:lnTo>
                  <a:pt x="1556518" y="2037945"/>
                </a:lnTo>
                <a:lnTo>
                  <a:pt x="1327913" y="2395573"/>
                </a:lnTo>
                <a:lnTo>
                  <a:pt x="1279201" y="2003895"/>
                </a:lnTo>
                <a:lnTo>
                  <a:pt x="1288135" y="1905485"/>
                </a:lnTo>
                <a:lnTo>
                  <a:pt x="1290829" y="1806707"/>
                </a:lnTo>
                <a:lnTo>
                  <a:pt x="1287273" y="1707956"/>
                </a:lnTo>
                <a:lnTo>
                  <a:pt x="1277480" y="1609628"/>
                </a:lnTo>
                <a:lnTo>
                  <a:pt x="1261490" y="1512115"/>
                </a:lnTo>
                <a:lnTo>
                  <a:pt x="1239367" y="1415809"/>
                </a:lnTo>
                <a:lnTo>
                  <a:pt x="1211198" y="1321095"/>
                </a:lnTo>
                <a:lnTo>
                  <a:pt x="1177098" y="1228350"/>
                </a:lnTo>
                <a:lnTo>
                  <a:pt x="1137202" y="1137947"/>
                </a:lnTo>
                <a:lnTo>
                  <a:pt x="1091670" y="1050248"/>
                </a:lnTo>
                <a:lnTo>
                  <a:pt x="1040684" y="965602"/>
                </a:lnTo>
                <a:lnTo>
                  <a:pt x="984449" y="884350"/>
                </a:lnTo>
                <a:lnTo>
                  <a:pt x="923189" y="806816"/>
                </a:lnTo>
                <a:lnTo>
                  <a:pt x="857149" y="733310"/>
                </a:lnTo>
                <a:lnTo>
                  <a:pt x="786593" y="664127"/>
                </a:lnTo>
                <a:lnTo>
                  <a:pt x="711806" y="599543"/>
                </a:lnTo>
                <a:lnTo>
                  <a:pt x="633083" y="539817"/>
                </a:lnTo>
                <a:lnTo>
                  <a:pt x="550743" y="485188"/>
                </a:lnTo>
                <a:lnTo>
                  <a:pt x="465113" y="435874"/>
                </a:lnTo>
                <a:lnTo>
                  <a:pt x="376536" y="392073"/>
                </a:lnTo>
                <a:lnTo>
                  <a:pt x="285367" y="353959"/>
                </a:lnTo>
                <a:lnTo>
                  <a:pt x="191972" y="321686"/>
                </a:lnTo>
                <a:lnTo>
                  <a:pt x="96722" y="295383"/>
                </a:lnTo>
                <a:lnTo>
                  <a:pt x="0" y="275155"/>
                </a:lnTo>
                <a:close/>
              </a:path>
            </a:pathLst>
          </a:custGeom>
          <a:solidFill>
            <a:srgbClr val="356B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1" name="Arrow Detection to Evidence">
            <a:extLst>
              <a:ext uri="{FF2B5EF4-FFF2-40B4-BE49-F238E27FC236}">
                <a16:creationId xmlns:a16="http://schemas.microsoft.com/office/drawing/2014/main" id="{CF12E5B0-D99A-C390-94E1-872186D322BB}"/>
              </a:ext>
            </a:extLst>
          </p:cNvPr>
          <p:cNvSpPr/>
          <p:nvPr/>
        </p:nvSpPr>
        <p:spPr>
          <a:xfrm>
            <a:off x="4792345" y="4991898"/>
            <a:ext cx="2714326" cy="837245"/>
          </a:xfrm>
          <a:custGeom>
            <a:avLst/>
            <a:gdLst/>
            <a:ahLst/>
            <a:cxnLst/>
            <a:rect l="0" t="0" r="0" b="0"/>
            <a:pathLst>
              <a:path w="2714326" h="837245">
                <a:moveTo>
                  <a:pt x="2714325" y="179595"/>
                </a:moveTo>
                <a:lnTo>
                  <a:pt x="2636664" y="266418"/>
                </a:lnTo>
                <a:lnTo>
                  <a:pt x="2553666" y="348157"/>
                </a:lnTo>
                <a:lnTo>
                  <a:pt x="2465668" y="424485"/>
                </a:lnTo>
                <a:lnTo>
                  <a:pt x="2373019" y="495096"/>
                </a:lnTo>
                <a:lnTo>
                  <a:pt x="2276092" y="559708"/>
                </a:lnTo>
                <a:lnTo>
                  <a:pt x="2175273" y="618062"/>
                </a:lnTo>
                <a:lnTo>
                  <a:pt x="2070966" y="669926"/>
                </a:lnTo>
                <a:lnTo>
                  <a:pt x="1963590" y="715090"/>
                </a:lnTo>
                <a:lnTo>
                  <a:pt x="1853572" y="753376"/>
                </a:lnTo>
                <a:lnTo>
                  <a:pt x="1741354" y="784628"/>
                </a:lnTo>
                <a:lnTo>
                  <a:pt x="1627384" y="808724"/>
                </a:lnTo>
                <a:lnTo>
                  <a:pt x="1512119" y="825565"/>
                </a:lnTo>
                <a:lnTo>
                  <a:pt x="1396020" y="835084"/>
                </a:lnTo>
                <a:lnTo>
                  <a:pt x="1279551" y="837244"/>
                </a:lnTo>
                <a:lnTo>
                  <a:pt x="1163178" y="832036"/>
                </a:lnTo>
                <a:lnTo>
                  <a:pt x="1047368" y="819481"/>
                </a:lnTo>
                <a:lnTo>
                  <a:pt x="932583" y="799628"/>
                </a:lnTo>
                <a:lnTo>
                  <a:pt x="819283" y="772558"/>
                </a:lnTo>
                <a:lnTo>
                  <a:pt x="707921" y="738378"/>
                </a:lnTo>
                <a:lnTo>
                  <a:pt x="598943" y="697226"/>
                </a:lnTo>
                <a:lnTo>
                  <a:pt x="492786" y="649266"/>
                </a:lnTo>
                <a:lnTo>
                  <a:pt x="389872" y="594690"/>
                </a:lnTo>
                <a:lnTo>
                  <a:pt x="290616" y="533717"/>
                </a:lnTo>
                <a:lnTo>
                  <a:pt x="195413" y="466589"/>
                </a:lnTo>
                <a:lnTo>
                  <a:pt x="0" y="89798"/>
                </a:lnTo>
                <a:lnTo>
                  <a:pt x="363560" y="243451"/>
                </a:lnTo>
                <a:lnTo>
                  <a:pt x="444318" y="300393"/>
                </a:lnTo>
                <a:lnTo>
                  <a:pt x="528515" y="352115"/>
                </a:lnTo>
                <a:lnTo>
                  <a:pt x="615814" y="398411"/>
                </a:lnTo>
                <a:lnTo>
                  <a:pt x="705865" y="439094"/>
                </a:lnTo>
                <a:lnTo>
                  <a:pt x="798308" y="474002"/>
                </a:lnTo>
                <a:lnTo>
                  <a:pt x="892774" y="502996"/>
                </a:lnTo>
                <a:lnTo>
                  <a:pt x="988884" y="525959"/>
                </a:lnTo>
                <a:lnTo>
                  <a:pt x="1086253" y="542800"/>
                </a:lnTo>
                <a:lnTo>
                  <a:pt x="1184492" y="553450"/>
                </a:lnTo>
                <a:lnTo>
                  <a:pt x="1283208" y="557868"/>
                </a:lnTo>
                <a:lnTo>
                  <a:pt x="1382006" y="556036"/>
                </a:lnTo>
                <a:lnTo>
                  <a:pt x="1480490" y="547961"/>
                </a:lnTo>
                <a:lnTo>
                  <a:pt x="1578267" y="533675"/>
                </a:lnTo>
                <a:lnTo>
                  <a:pt x="1674944" y="513235"/>
                </a:lnTo>
                <a:lnTo>
                  <a:pt x="1770136" y="486725"/>
                </a:lnTo>
                <a:lnTo>
                  <a:pt x="1863462" y="454248"/>
                </a:lnTo>
                <a:lnTo>
                  <a:pt x="1954547" y="415936"/>
                </a:lnTo>
                <a:lnTo>
                  <a:pt x="2043028" y="371941"/>
                </a:lnTo>
                <a:lnTo>
                  <a:pt x="2128550" y="322441"/>
                </a:lnTo>
                <a:lnTo>
                  <a:pt x="2210771" y="267632"/>
                </a:lnTo>
                <a:lnTo>
                  <a:pt x="2289362" y="207734"/>
                </a:lnTo>
                <a:lnTo>
                  <a:pt x="2364010" y="142987"/>
                </a:lnTo>
                <a:lnTo>
                  <a:pt x="2434414" y="73650"/>
                </a:lnTo>
                <a:lnTo>
                  <a:pt x="2500293" y="0"/>
                </a:lnTo>
                <a:close/>
              </a:path>
            </a:pathLst>
          </a:custGeom>
          <a:solidFill>
            <a:srgbClr val="356B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18" name="Extraction node">
            <a:extLst>
              <a:ext uri="{FF2B5EF4-FFF2-40B4-BE49-F238E27FC236}">
                <a16:creationId xmlns:a16="http://schemas.microsoft.com/office/drawing/2014/main" id="{5CA63EBD-2AC7-4509-3F34-D84C19B49DED}"/>
              </a:ext>
            </a:extLst>
          </p:cNvPr>
          <p:cNvSpPr/>
          <p:nvPr/>
        </p:nvSpPr>
        <p:spPr>
          <a:xfrm>
            <a:off x="5308600" y="1968500"/>
            <a:ext cx="1574800" cy="635000"/>
          </a:xfrm>
          <a:prstGeom prst="roundRect">
            <a:avLst/>
          </a:prstGeom>
          <a:solidFill>
            <a:srgbClr val="DDEBDD"/>
          </a:solidFill>
          <a:ln w="28575">
            <a:solidFill>
              <a:srgbClr val="356B3F"/>
            </a:solidFill>
          </a:ln>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2000" b="1">
                <a:solidFill>
                  <a:srgbClr val="111713"/>
                </a:solidFill>
                <a:latin typeface="Segoe UI" panose="020B0502040204020203" pitchFamily="34" charset="0"/>
              </a:rPr>
              <a:t>Extraction</a:t>
            </a:r>
            <a:endParaRPr lang="LID4096" sz="2000" b="1">
              <a:solidFill>
                <a:srgbClr val="111713"/>
              </a:solidFill>
              <a:latin typeface="Segoe UI" panose="020B0502040204020203" pitchFamily="34" charset="0"/>
            </a:endParaRPr>
          </a:p>
        </p:txBody>
      </p:sp>
      <p:sp>
        <p:nvSpPr>
          <p:cNvPr id="19" name="Detection node">
            <a:extLst>
              <a:ext uri="{FF2B5EF4-FFF2-40B4-BE49-F238E27FC236}">
                <a16:creationId xmlns:a16="http://schemas.microsoft.com/office/drawing/2014/main" id="{DCDA8E4D-CE2B-6341-61BD-46C8E8C3A417}"/>
              </a:ext>
            </a:extLst>
          </p:cNvPr>
          <p:cNvSpPr/>
          <p:nvPr/>
        </p:nvSpPr>
        <p:spPr>
          <a:xfrm>
            <a:off x="6781800" y="4521200"/>
            <a:ext cx="1574800" cy="635000"/>
          </a:xfrm>
          <a:prstGeom prst="roundRect">
            <a:avLst/>
          </a:prstGeom>
          <a:solidFill>
            <a:srgbClr val="DDEBDD"/>
          </a:solidFill>
          <a:ln w="28575">
            <a:solidFill>
              <a:srgbClr val="356B3F"/>
            </a:solidFill>
          </a:ln>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2000" b="1">
                <a:solidFill>
                  <a:srgbClr val="111713"/>
                </a:solidFill>
                <a:latin typeface="Segoe UI" panose="020B0502040204020203" pitchFamily="34" charset="0"/>
              </a:rPr>
              <a:t>Detection</a:t>
            </a:r>
            <a:endParaRPr lang="LID4096" sz="2000" b="1">
              <a:solidFill>
                <a:srgbClr val="111713"/>
              </a:solidFill>
              <a:latin typeface="Segoe UI" panose="020B0502040204020203" pitchFamily="34" charset="0"/>
            </a:endParaRPr>
          </a:p>
        </p:txBody>
      </p:sp>
      <p:sp>
        <p:nvSpPr>
          <p:cNvPr id="20" name="Evidence node">
            <a:extLst>
              <a:ext uri="{FF2B5EF4-FFF2-40B4-BE49-F238E27FC236}">
                <a16:creationId xmlns:a16="http://schemas.microsoft.com/office/drawing/2014/main" id="{AA445849-AD4C-4595-EBF3-B982BE59464A}"/>
              </a:ext>
            </a:extLst>
          </p:cNvPr>
          <p:cNvSpPr/>
          <p:nvPr/>
        </p:nvSpPr>
        <p:spPr>
          <a:xfrm>
            <a:off x="3835400" y="4521200"/>
            <a:ext cx="1574800" cy="635000"/>
          </a:xfrm>
          <a:prstGeom prst="roundRect">
            <a:avLst/>
          </a:prstGeom>
          <a:solidFill>
            <a:srgbClr val="DDEBDD"/>
          </a:solidFill>
          <a:ln w="28575">
            <a:solidFill>
              <a:srgbClr val="356B3F"/>
            </a:solidFill>
          </a:ln>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US" sz="2000" b="1">
                <a:solidFill>
                  <a:srgbClr val="111713"/>
                </a:solidFill>
                <a:latin typeface="Segoe UI" panose="020B0502040204020203" pitchFamily="34" charset="0"/>
              </a:rPr>
              <a:t>Evidence</a:t>
            </a:r>
            <a:endParaRPr lang="LID4096" sz="2000" b="1">
              <a:solidFill>
                <a:srgbClr val="111713"/>
              </a:solidFill>
              <a:latin typeface="Segoe UI" panose="020B0502040204020203" pitchFamily="34" charset="0"/>
            </a:endParaRPr>
          </a:p>
        </p:txBody>
      </p:sp>
      <p:sp>
        <p:nvSpPr>
          <p:cNvPr id="21" name="Automated label">
            <a:extLst>
              <a:ext uri="{FF2B5EF4-FFF2-40B4-BE49-F238E27FC236}">
                <a16:creationId xmlns:a16="http://schemas.microsoft.com/office/drawing/2014/main" id="{B79CF01C-8727-7890-5956-56588980CC30}"/>
              </a:ext>
            </a:extLst>
          </p:cNvPr>
          <p:cNvSpPr txBox="1"/>
          <p:nvPr/>
        </p:nvSpPr>
        <p:spPr>
          <a:xfrm>
            <a:off x="5232400" y="3759200"/>
            <a:ext cx="1727200" cy="369332"/>
          </a:xfrm>
          <a:prstGeom prst="rect">
            <a:avLst/>
          </a:prstGeom>
          <a:noFill/>
        </p:spPr>
        <p:txBody>
          <a:bodyPr vert="horz" rtlCol="0" anchor="ctr">
            <a:spAutoFit/>
          </a:bodyPr>
          <a:lstStyle/>
          <a:p>
            <a:pPr algn="ctr"/>
            <a:r>
              <a:rPr lang="en-US" b="1">
                <a:solidFill>
                  <a:srgbClr val="356B3F"/>
                </a:solidFill>
                <a:latin typeface="Cascadia Mono" panose="020B0609020000020004" pitchFamily="49" charset="0"/>
              </a:rPr>
              <a:t>AUTOMATED</a:t>
            </a:r>
            <a:endParaRPr lang="LID4096" b="1">
              <a:solidFill>
                <a:srgbClr val="356B3F"/>
              </a:solidFill>
              <a:latin typeface="Cascadia Mono" panose="020B0609020000020004" pitchFamily="49" charset="0"/>
            </a:endParaRPr>
          </a:p>
        </p:txBody>
      </p:sp>
      <p:sp>
        <p:nvSpPr>
          <p:cNvPr id="4" name="Arrow Evidence to Extraction">
            <a:extLst>
              <a:ext uri="{FF2B5EF4-FFF2-40B4-BE49-F238E27FC236}">
                <a16:creationId xmlns:a16="http://schemas.microsoft.com/office/drawing/2014/main" id="{D45EA456-FD0E-D247-E770-AF804033B573}"/>
              </a:ext>
            </a:extLst>
          </p:cNvPr>
          <p:cNvSpPr/>
          <p:nvPr/>
        </p:nvSpPr>
        <p:spPr>
          <a:xfrm>
            <a:off x="4254667" y="2593767"/>
            <a:ext cx="865221" cy="2023864"/>
          </a:xfrm>
          <a:custGeom>
            <a:avLst/>
            <a:gdLst/>
            <a:ahLst/>
            <a:cxnLst/>
            <a:rect l="0" t="0" r="0" b="0"/>
            <a:pathLst>
              <a:path w="865221" h="2023864">
                <a:moveTo>
                  <a:pt x="110889" y="2023863"/>
                </a:moveTo>
                <a:lnTo>
                  <a:pt x="88613" y="1958918"/>
                </a:lnTo>
                <a:lnTo>
                  <a:pt x="68773" y="1893187"/>
                </a:lnTo>
                <a:lnTo>
                  <a:pt x="51398" y="1826763"/>
                </a:lnTo>
                <a:lnTo>
                  <a:pt x="36511" y="1759737"/>
                </a:lnTo>
                <a:lnTo>
                  <a:pt x="24133" y="1692203"/>
                </a:lnTo>
                <a:lnTo>
                  <a:pt x="14281" y="1624254"/>
                </a:lnTo>
                <a:lnTo>
                  <a:pt x="6968" y="1555986"/>
                </a:lnTo>
                <a:lnTo>
                  <a:pt x="2206" y="1487492"/>
                </a:lnTo>
                <a:lnTo>
                  <a:pt x="0" y="1418868"/>
                </a:lnTo>
                <a:lnTo>
                  <a:pt x="355" y="1350210"/>
                </a:lnTo>
                <a:lnTo>
                  <a:pt x="3268" y="1281612"/>
                </a:lnTo>
                <a:lnTo>
                  <a:pt x="8736" y="1213171"/>
                </a:lnTo>
                <a:lnTo>
                  <a:pt x="16752" y="1144981"/>
                </a:lnTo>
                <a:lnTo>
                  <a:pt x="27305" y="1077138"/>
                </a:lnTo>
                <a:lnTo>
                  <a:pt x="40379" y="1009735"/>
                </a:lnTo>
                <a:lnTo>
                  <a:pt x="55956" y="942866"/>
                </a:lnTo>
                <a:lnTo>
                  <a:pt x="74016" y="876624"/>
                </a:lnTo>
                <a:lnTo>
                  <a:pt x="94532" y="811102"/>
                </a:lnTo>
                <a:lnTo>
                  <a:pt x="117477" y="746390"/>
                </a:lnTo>
                <a:lnTo>
                  <a:pt x="142818" y="682578"/>
                </a:lnTo>
                <a:lnTo>
                  <a:pt x="170520" y="619756"/>
                </a:lnTo>
                <a:lnTo>
                  <a:pt x="200544" y="558009"/>
                </a:lnTo>
                <a:lnTo>
                  <a:pt x="19492" y="465759"/>
                </a:lnTo>
                <a:lnTo>
                  <a:pt x="865220" y="0"/>
                </a:lnTo>
                <a:lnTo>
                  <a:pt x="630544" y="777105"/>
                </a:lnTo>
                <a:lnTo>
                  <a:pt x="449492" y="684855"/>
                </a:lnTo>
                <a:lnTo>
                  <a:pt x="449492" y="684855"/>
                </a:lnTo>
                <a:lnTo>
                  <a:pt x="424022" y="737232"/>
                </a:lnTo>
                <a:lnTo>
                  <a:pt x="400523" y="790523"/>
                </a:lnTo>
                <a:lnTo>
                  <a:pt x="379027" y="844653"/>
                </a:lnTo>
                <a:lnTo>
                  <a:pt x="359564" y="899547"/>
                </a:lnTo>
                <a:lnTo>
                  <a:pt x="342160" y="955128"/>
                </a:lnTo>
                <a:lnTo>
                  <a:pt x="326841" y="1011319"/>
                </a:lnTo>
                <a:lnTo>
                  <a:pt x="313627" y="1068042"/>
                </a:lnTo>
                <a:lnTo>
                  <a:pt x="302536" y="1125218"/>
                </a:lnTo>
                <a:lnTo>
                  <a:pt x="293585" y="1182768"/>
                </a:lnTo>
                <a:lnTo>
                  <a:pt x="286785" y="1240612"/>
                </a:lnTo>
                <a:lnTo>
                  <a:pt x="282147" y="1298669"/>
                </a:lnTo>
                <a:lnTo>
                  <a:pt x="279675" y="1356859"/>
                </a:lnTo>
                <a:lnTo>
                  <a:pt x="279375" y="1415100"/>
                </a:lnTo>
                <a:lnTo>
                  <a:pt x="281246" y="1473312"/>
                </a:lnTo>
                <a:lnTo>
                  <a:pt x="285286" y="1531413"/>
                </a:lnTo>
                <a:lnTo>
                  <a:pt x="291488" y="1589324"/>
                </a:lnTo>
                <a:lnTo>
                  <a:pt x="299846" y="1646964"/>
                </a:lnTo>
                <a:lnTo>
                  <a:pt x="310346" y="1704251"/>
                </a:lnTo>
                <a:lnTo>
                  <a:pt x="322975" y="1761107"/>
                </a:lnTo>
                <a:lnTo>
                  <a:pt x="337714" y="1817454"/>
                </a:lnTo>
                <a:lnTo>
                  <a:pt x="354543" y="1873211"/>
                </a:lnTo>
                <a:lnTo>
                  <a:pt x="373439" y="1928303"/>
                </a:lnTo>
                <a:close/>
              </a:path>
            </a:pathLst>
          </a:custGeom>
          <a:solidFill>
            <a:srgbClr val="356B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Tree>
    <p:extLst>
      <p:ext uri="{BB962C8B-B14F-4D97-AF65-F5344CB8AC3E}">
        <p14:creationId xmlns:p14="http://schemas.microsoft.com/office/powerpoint/2010/main" val="444479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
                                        <p:tgtEl>
                                          <p:spTgt spid="18"/>
                                        </p:tgtEl>
                                      </p:cBhvr>
                                    </p:animEffect>
                                  </p:childTnLst>
                                </p:cTn>
                              </p:par>
                            </p:childTnLst>
                          </p:cTn>
                        </p:par>
                        <p:par>
                          <p:cTn id="8" fill="hold">
                            <p:stCondLst>
                              <p:cond delay="2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200"/>
                                        <p:tgtEl>
                                          <p:spTgt spid="10"/>
                                        </p:tgtEl>
                                      </p:cBhvr>
                                    </p:animEffect>
                                  </p:childTnLst>
                                </p:cTn>
                              </p:par>
                            </p:childTnLst>
                          </p:cTn>
                        </p:par>
                        <p:par>
                          <p:cTn id="12" fill="hold">
                            <p:stCondLst>
                              <p:cond delay="400"/>
                            </p:stCondLst>
                            <p:childTnLst>
                              <p:par>
                                <p:cTn id="13" presetID="10" presetClass="entr" presetSubtype="0"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200"/>
                                        <p:tgtEl>
                                          <p:spTgt spid="19"/>
                                        </p:tgtEl>
                                      </p:cBhvr>
                                    </p:animEffect>
                                  </p:childTnLst>
                                </p:cTn>
                              </p:par>
                            </p:childTnLst>
                          </p:cTn>
                        </p:par>
                        <p:par>
                          <p:cTn id="16" fill="hold">
                            <p:stCondLst>
                              <p:cond delay="600"/>
                            </p:stCondLst>
                            <p:childTnLst>
                              <p:par>
                                <p:cTn id="17" presetID="10" presetClass="entr" presetSubtype="0" fill="hold" grpId="0" nodeType="after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200"/>
                                        <p:tgtEl>
                                          <p:spTgt spid="11"/>
                                        </p:tgtEl>
                                      </p:cBhvr>
                                    </p:animEffect>
                                  </p:childTnLst>
                                </p:cTn>
                              </p:par>
                            </p:childTnLst>
                          </p:cTn>
                        </p:par>
                        <p:par>
                          <p:cTn id="20" fill="hold">
                            <p:stCondLst>
                              <p:cond delay="800"/>
                            </p:stCondLst>
                            <p:childTnLst>
                              <p:par>
                                <p:cTn id="21" presetID="10" presetClass="entr" presetSubtype="0" fill="hold" grpId="0" nodeType="after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200"/>
                                        <p:tgtEl>
                                          <p:spTgt spid="20"/>
                                        </p:tgtEl>
                                      </p:cBhvr>
                                    </p:animEffect>
                                  </p:childTnLst>
                                </p:cTn>
                              </p:par>
                            </p:childTnLst>
                          </p:cTn>
                        </p:par>
                        <p:par>
                          <p:cTn id="24" fill="hold">
                            <p:stCondLst>
                              <p:cond delay="1000"/>
                            </p:stCondLst>
                            <p:childTnLst>
                              <p:par>
                                <p:cTn id="25" presetID="10" presetClass="entr" presetSubtype="0" fill="hold" grpId="0" nodeType="after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2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8" grpId="0" animBg="1"/>
      <p:bldP spid="19" grpId="0" animBg="1"/>
      <p:bldP spid="20" grpId="0" animBg="1"/>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5"/>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BCD9C81-348C-479D-B142-35244E7C8289}"/>
              </a:ext>
            </a:extLst>
          </p:cNvPr>
          <p:cNvSpPr>
            <a:spLocks noGrp="1"/>
          </p:cNvSpPr>
          <p:nvPr/>
        </p:nvSpPr>
        <p:spPr>
          <a:xfrm>
            <a:off x="0" y="0"/>
            <a:ext cx="3333750" cy="6858000"/>
          </a:xfrm>
          <a:prstGeom prst="rect">
            <a:avLst/>
          </a:prstGeom>
          <a:solidFill>
            <a:srgbClr val="356B3F"/>
          </a:solidFill>
          <a:ln w="0">
            <a:noFill/>
          </a:ln>
        </p:spPr>
        <p:txBody>
          <a:bodyPr/>
          <a:lstStyle/>
          <a:p>
            <a:endParaRPr lang="LID4096"/>
          </a:p>
        </p:txBody>
      </p:sp>
      <p:pic>
        <p:nvPicPr>
          <p:cNvPr id="18" name="Picture 17"/>
          <p:cNvPicPr>
            <a:picLocks noChangeAspect="1"/>
          </p:cNvPicPr>
          <p:nvPr/>
        </p:nvPicPr>
        <p:blipFill>
          <a:blip r:embed="rId3"/>
          <a:stretch/>
        </p:blipFill>
        <p:spPr>
          <a:xfrm>
            <a:off x="428625" y="1381125"/>
            <a:ext cx="2476500" cy="3714750"/>
          </a:xfrm>
          <a:prstGeom prst="rect">
            <a:avLst/>
          </a:prstGeom>
        </p:spPr>
      </p:pic>
      <p:sp>
        <p:nvSpPr>
          <p:cNvPr id="3" name="Rectangle 2">
            <a:extLst>
              <a:ext uri="{FF2B5EF4-FFF2-40B4-BE49-F238E27FC236}">
                <a16:creationId xmlns:a16="http://schemas.microsoft.com/office/drawing/2014/main" id="{4F1F07A6-106B-4B38-9BA8-F4ED2DDAD582}"/>
              </a:ext>
            </a:extLst>
          </p:cNvPr>
          <p:cNvSpPr>
            <a:spLocks noGrp="1"/>
          </p:cNvSpPr>
          <p:nvPr/>
        </p:nvSpPr>
        <p:spPr>
          <a:xfrm>
            <a:off x="4000500" y="819150"/>
            <a:ext cx="7239000" cy="762000"/>
          </a:xfrm>
          <a:prstGeom prst="rect">
            <a:avLst/>
          </a:prstGeom>
          <a:noFill/>
          <a:ln w="0">
            <a:noFill/>
          </a:ln>
        </p:spPr>
        <p:txBody>
          <a:bodyPr wrap="square" lIns="0" tIns="0" rIns="0" bIns="0" anchor="t">
            <a:noAutofit/>
          </a:bodyPr>
          <a:lstStyle/>
          <a:p>
            <a:pPr algn="l">
              <a:lnSpc>
                <a:spcPct val="100000"/>
              </a:lnSpc>
              <a:buNone/>
              <a:defRPr sz="4650" b="1">
                <a:solidFill>
                  <a:srgbClr val="111713"/>
                </a:solidFill>
                <a:latin typeface="Segoe UI"/>
                <a:ea typeface="Segoe UI"/>
                <a:cs typeface="Segoe UI"/>
              </a:defRPr>
            </a:pPr>
            <a:r>
              <a:rPr sz="4650" b="1">
                <a:solidFill>
                  <a:srgbClr val="111713"/>
                </a:solidFill>
                <a:latin typeface="Segoe UI"/>
                <a:ea typeface="Segoe UI"/>
                <a:cs typeface="Segoe UI"/>
              </a:rPr>
              <a:t>Pilot PandaX</a:t>
            </a:r>
          </a:p>
        </p:txBody>
      </p:sp>
      <p:sp>
        <p:nvSpPr>
          <p:cNvPr id="4" name="Rectangle 3">
            <a:extLst>
              <a:ext uri="{FF2B5EF4-FFF2-40B4-BE49-F238E27FC236}">
                <a16:creationId xmlns:a16="http://schemas.microsoft.com/office/drawing/2014/main" id="{9D2EBC01-2CB9-4FE9-A940-ACA9D25146E2}"/>
              </a:ext>
            </a:extLst>
          </p:cNvPr>
          <p:cNvSpPr>
            <a:spLocks noGrp="1"/>
          </p:cNvSpPr>
          <p:nvPr/>
        </p:nvSpPr>
        <p:spPr>
          <a:xfrm>
            <a:off x="4000500" y="1676400"/>
            <a:ext cx="7239000" cy="685800"/>
          </a:xfrm>
          <a:prstGeom prst="rect">
            <a:avLst/>
          </a:prstGeom>
          <a:noFill/>
          <a:ln w="0">
            <a:noFill/>
          </a:ln>
        </p:spPr>
        <p:txBody>
          <a:bodyPr wrap="square" lIns="0" tIns="0" rIns="0" bIns="0" anchor="t">
            <a:noAutofit/>
          </a:bodyPr>
          <a:lstStyle/>
          <a:p>
            <a:pPr algn="l">
              <a:lnSpc>
                <a:spcPct val="100000"/>
              </a:lnSpc>
              <a:buNone/>
              <a:defRPr sz="3600" b="1">
                <a:solidFill>
                  <a:srgbClr val="356B3F"/>
                </a:solidFill>
                <a:latin typeface="Segoe UI"/>
                <a:ea typeface="Segoe UI"/>
                <a:cs typeface="Segoe UI"/>
              </a:defRPr>
            </a:pPr>
            <a:r>
              <a:rPr sz="3600" b="1">
                <a:solidFill>
                  <a:srgbClr val="356B3F"/>
                </a:solidFill>
                <a:latin typeface="Segoe UI"/>
                <a:ea typeface="Segoe UI"/>
                <a:cs typeface="Segoe UI"/>
              </a:rPr>
              <a:t>One product line</a:t>
            </a:r>
          </a:p>
        </p:txBody>
      </p:sp>
      <p:sp>
        <p:nvSpPr>
          <p:cNvPr id="5" name="Straight Connector 4">
            <a:extLst>
              <a:ext uri="{FF2B5EF4-FFF2-40B4-BE49-F238E27FC236}">
                <a16:creationId xmlns:a16="http://schemas.microsoft.com/office/drawing/2014/main" id="{4DD61BF0-6C93-4AF0-B694-912ED42FDB18}"/>
              </a:ext>
            </a:extLst>
          </p:cNvPr>
          <p:cNvSpPr>
            <a:spLocks noGrp="1"/>
          </p:cNvSpPr>
          <p:nvPr/>
        </p:nvSpPr>
        <p:spPr>
          <a:xfrm>
            <a:off x="4000500" y="2743200"/>
            <a:ext cx="7239000" cy="0"/>
          </a:xfrm>
          <a:prstGeom prst="line">
            <a:avLst/>
          </a:prstGeom>
          <a:noFill/>
          <a:ln w="38100">
            <a:solidFill>
              <a:srgbClr val="356B3F"/>
            </a:solidFill>
            <a:prstDash val="solid"/>
          </a:ln>
        </p:spPr>
        <p:txBody>
          <a:bodyPr/>
          <a:lstStyle/>
          <a:p>
            <a:endParaRPr lang="LID4096"/>
          </a:p>
        </p:txBody>
      </p:sp>
      <p:sp>
        <p:nvSpPr>
          <p:cNvPr id="6" name="Rectangle 5">
            <a:extLst>
              <a:ext uri="{FF2B5EF4-FFF2-40B4-BE49-F238E27FC236}">
                <a16:creationId xmlns:a16="http://schemas.microsoft.com/office/drawing/2014/main" id="{5AA19AA8-8DC9-4E19-9421-D39B3AC62A8B}"/>
              </a:ext>
            </a:extLst>
          </p:cNvPr>
          <p:cNvSpPr>
            <a:spLocks noGrp="1"/>
          </p:cNvSpPr>
          <p:nvPr/>
        </p:nvSpPr>
        <p:spPr>
          <a:xfrm>
            <a:off x="4000500" y="3105150"/>
            <a:ext cx="4000500" cy="1257300"/>
          </a:xfrm>
          <a:prstGeom prst="rect">
            <a:avLst/>
          </a:prstGeom>
          <a:noFill/>
          <a:ln w="0">
            <a:noFill/>
          </a:ln>
        </p:spPr>
        <p:txBody>
          <a:bodyPr wrap="square" lIns="0" tIns="0" rIns="0" bIns="0" anchor="t">
            <a:noAutofit/>
          </a:bodyPr>
          <a:lstStyle/>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SKU</a:t>
            </a:r>
          </a:p>
          <a:p>
            <a:pPr algn="l">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One firmware image</a:t>
            </a:r>
          </a:p>
        </p:txBody>
      </p:sp>
      <p:sp>
        <p:nvSpPr>
          <p:cNvPr id="7" name="Rectangle 6">
            <a:extLst>
              <a:ext uri="{FF2B5EF4-FFF2-40B4-BE49-F238E27FC236}">
                <a16:creationId xmlns:a16="http://schemas.microsoft.com/office/drawing/2014/main" id="{48A13D48-D45D-4995-9854-21259F8B967C}"/>
              </a:ext>
            </a:extLst>
          </p:cNvPr>
          <p:cNvSpPr>
            <a:spLocks noGrp="1"/>
          </p:cNvSpPr>
          <p:nvPr/>
        </p:nvSpPr>
        <p:spPr>
          <a:xfrm>
            <a:off x="8382000" y="3105150"/>
            <a:ext cx="2857500" cy="1257300"/>
          </a:xfrm>
          <a:prstGeom prst="rect">
            <a:avLst/>
          </a:prstGeom>
          <a:noFill/>
          <a:ln w="0">
            <a:noFill/>
          </a:ln>
        </p:spPr>
        <p:txBody>
          <a:bodyPr wrap="square" lIns="0" tIns="0" rIns="0" bIns="0" anchor="t">
            <a:noAutofit/>
          </a:bodyPr>
          <a:lstStyle/>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CRA-ready</a:t>
            </a:r>
          </a:p>
          <a:p>
            <a:pPr algn="r">
              <a:lnSpc>
                <a:spcPct val="115000"/>
              </a:lnSpc>
              <a:buNone/>
              <a:defRPr sz="2850" b="1">
                <a:solidFill>
                  <a:srgbClr val="111713"/>
                </a:solidFill>
                <a:latin typeface="Segoe UI"/>
                <a:ea typeface="Segoe UI"/>
                <a:cs typeface="Segoe UI"/>
              </a:defRPr>
            </a:pPr>
            <a:r>
              <a:rPr sz="2850" b="1">
                <a:solidFill>
                  <a:srgbClr val="111713"/>
                </a:solidFill>
                <a:latin typeface="Segoe UI"/>
                <a:ea typeface="Segoe UI"/>
                <a:cs typeface="Segoe UI"/>
              </a:rPr>
              <a:t>evidence</a:t>
            </a:r>
          </a:p>
        </p:txBody>
      </p:sp>
      <p:sp>
        <p:nvSpPr>
          <p:cNvPr id="8" name="Rectangle 7">
            <a:extLst>
              <a:ext uri="{FF2B5EF4-FFF2-40B4-BE49-F238E27FC236}">
                <a16:creationId xmlns:a16="http://schemas.microsoft.com/office/drawing/2014/main" id="{8FBB09BC-B54E-4589-919F-65A289E01813}"/>
              </a:ext>
            </a:extLst>
          </p:cNvPr>
          <p:cNvSpPr>
            <a:spLocks noGrp="1"/>
          </p:cNvSpPr>
          <p:nvPr/>
        </p:nvSpPr>
        <p:spPr>
          <a:xfrm>
            <a:off x="40005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Simon Levy</a:t>
            </a:r>
          </a:p>
        </p:txBody>
      </p:sp>
      <p:sp>
        <p:nvSpPr>
          <p:cNvPr id="9" name="Rectangle 8">
            <a:extLst>
              <a:ext uri="{FF2B5EF4-FFF2-40B4-BE49-F238E27FC236}">
                <a16:creationId xmlns:a16="http://schemas.microsoft.com/office/drawing/2014/main" id="{485246EC-5C23-42F1-AC6F-D9C2B2FBFA7F}"/>
              </a:ext>
            </a:extLst>
          </p:cNvPr>
          <p:cNvSpPr>
            <a:spLocks noGrp="1"/>
          </p:cNvSpPr>
          <p:nvPr/>
        </p:nvSpPr>
        <p:spPr>
          <a:xfrm>
            <a:off x="40005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CEO</a:t>
            </a:r>
          </a:p>
        </p:txBody>
      </p:sp>
      <p:sp>
        <p:nvSpPr>
          <p:cNvPr id="10" name="Rectangle 9">
            <a:extLst>
              <a:ext uri="{FF2B5EF4-FFF2-40B4-BE49-F238E27FC236}">
                <a16:creationId xmlns:a16="http://schemas.microsoft.com/office/drawing/2014/main" id="{C1AD9215-465B-42EA-BC3C-B8C903711CF9}"/>
              </a:ext>
            </a:extLst>
          </p:cNvPr>
          <p:cNvSpPr>
            <a:spLocks noGrp="1"/>
          </p:cNvSpPr>
          <p:nvPr/>
        </p:nvSpPr>
        <p:spPr>
          <a:xfrm>
            <a:off x="58102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Yaheli Levit</a:t>
            </a:r>
          </a:p>
        </p:txBody>
      </p:sp>
      <p:sp>
        <p:nvSpPr>
          <p:cNvPr id="11" name="Rectangle 10">
            <a:extLst>
              <a:ext uri="{FF2B5EF4-FFF2-40B4-BE49-F238E27FC236}">
                <a16:creationId xmlns:a16="http://schemas.microsoft.com/office/drawing/2014/main" id="{CBD50030-A99D-4637-B696-E061CEBDEE46}"/>
              </a:ext>
            </a:extLst>
          </p:cNvPr>
          <p:cNvSpPr>
            <a:spLocks noGrp="1"/>
          </p:cNvSpPr>
          <p:nvPr/>
        </p:nvSpPr>
        <p:spPr>
          <a:xfrm>
            <a:off x="58102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CTO</a:t>
            </a:r>
          </a:p>
        </p:txBody>
      </p:sp>
      <p:sp>
        <p:nvSpPr>
          <p:cNvPr id="12" name="Rectangle 11">
            <a:extLst>
              <a:ext uri="{FF2B5EF4-FFF2-40B4-BE49-F238E27FC236}">
                <a16:creationId xmlns:a16="http://schemas.microsoft.com/office/drawing/2014/main" id="{6F059DA3-BFB4-40CF-8FC3-A0A669B409EC}"/>
              </a:ext>
            </a:extLst>
          </p:cNvPr>
          <p:cNvSpPr>
            <a:spLocks noGrp="1"/>
          </p:cNvSpPr>
          <p:nvPr/>
        </p:nvSpPr>
        <p:spPr>
          <a:xfrm>
            <a:off x="762000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Guy Nevo</a:t>
            </a:r>
          </a:p>
        </p:txBody>
      </p:sp>
      <p:sp>
        <p:nvSpPr>
          <p:cNvPr id="13" name="Rectangle 12">
            <a:extLst>
              <a:ext uri="{FF2B5EF4-FFF2-40B4-BE49-F238E27FC236}">
                <a16:creationId xmlns:a16="http://schemas.microsoft.com/office/drawing/2014/main" id="{9199EC71-8DE8-4A0A-9FDC-E405C6882715}"/>
              </a:ext>
            </a:extLst>
          </p:cNvPr>
          <p:cNvSpPr>
            <a:spLocks noGrp="1"/>
          </p:cNvSpPr>
          <p:nvPr/>
        </p:nvSpPr>
        <p:spPr>
          <a:xfrm>
            <a:off x="762000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CPO</a:t>
            </a:r>
          </a:p>
        </p:txBody>
      </p:sp>
      <p:sp>
        <p:nvSpPr>
          <p:cNvPr id="14" name="Rectangle 13">
            <a:extLst>
              <a:ext uri="{FF2B5EF4-FFF2-40B4-BE49-F238E27FC236}">
                <a16:creationId xmlns:a16="http://schemas.microsoft.com/office/drawing/2014/main" id="{C1CA1ECF-9AA9-48A3-B40D-9D0188E36421}"/>
              </a:ext>
            </a:extLst>
          </p:cNvPr>
          <p:cNvSpPr>
            <a:spLocks noGrp="1"/>
          </p:cNvSpPr>
          <p:nvPr/>
        </p:nvSpPr>
        <p:spPr>
          <a:xfrm>
            <a:off x="9429750" y="5219700"/>
            <a:ext cx="1571625" cy="323850"/>
          </a:xfrm>
          <a:prstGeom prst="rect">
            <a:avLst/>
          </a:prstGeom>
          <a:noFill/>
          <a:ln w="0">
            <a:noFill/>
          </a:ln>
        </p:spPr>
        <p:txBody>
          <a:bodyPr wrap="square" lIns="0" tIns="0" rIns="0" bIns="0" anchor="t">
            <a:noAutofit/>
          </a:bodyPr>
          <a:lstStyle/>
          <a:p>
            <a:pPr algn="l">
              <a:lnSpc>
                <a:spcPct val="100000"/>
              </a:lnSpc>
              <a:buNone/>
              <a:defRPr sz="1425" b="1">
                <a:solidFill>
                  <a:srgbClr val="111713"/>
                </a:solidFill>
                <a:latin typeface="Segoe UI"/>
                <a:ea typeface="Segoe UI"/>
                <a:cs typeface="Segoe UI"/>
              </a:defRPr>
            </a:pPr>
            <a:r>
              <a:rPr sz="1425" b="1">
                <a:solidFill>
                  <a:srgbClr val="111713"/>
                </a:solidFill>
                <a:latin typeface="Segoe UI"/>
                <a:ea typeface="Segoe UI"/>
                <a:cs typeface="Segoe UI"/>
              </a:rPr>
              <a:t>Eden Gulko</a:t>
            </a:r>
          </a:p>
        </p:txBody>
      </p:sp>
      <p:sp>
        <p:nvSpPr>
          <p:cNvPr id="15" name="Rectangle 14">
            <a:extLst>
              <a:ext uri="{FF2B5EF4-FFF2-40B4-BE49-F238E27FC236}">
                <a16:creationId xmlns:a16="http://schemas.microsoft.com/office/drawing/2014/main" id="{1264AF86-02E5-4800-A754-0FA437341F58}"/>
              </a:ext>
            </a:extLst>
          </p:cNvPr>
          <p:cNvSpPr>
            <a:spLocks noGrp="1"/>
          </p:cNvSpPr>
          <p:nvPr/>
        </p:nvSpPr>
        <p:spPr>
          <a:xfrm>
            <a:off x="9429750" y="5591175"/>
            <a:ext cx="1571625" cy="228600"/>
          </a:xfrm>
          <a:prstGeom prst="rect">
            <a:avLst/>
          </a:prstGeom>
          <a:noFill/>
          <a:ln w="0">
            <a:noFill/>
          </a:ln>
        </p:spPr>
        <p:txBody>
          <a:bodyPr wrap="square" lIns="0" tIns="0" rIns="0" bIns="0" anchor="t">
            <a:noAutofit/>
          </a:bodyPr>
          <a:lstStyle/>
          <a:p>
            <a:pPr algn="l">
              <a:lnSpc>
                <a:spcPct val="100000"/>
              </a:lnSpc>
              <a:buNone/>
              <a:defRPr sz="1125" b="1">
                <a:solidFill>
                  <a:srgbClr val="356B3F"/>
                </a:solidFill>
                <a:latin typeface="Cascadia Mono"/>
                <a:ea typeface="Cascadia Mono"/>
                <a:cs typeface="Cascadia Mono"/>
              </a:defRPr>
            </a:pPr>
            <a:r>
              <a:rPr sz="1125" b="1">
                <a:solidFill>
                  <a:srgbClr val="356B3F"/>
                </a:solidFill>
                <a:latin typeface="Cascadia Mono"/>
                <a:ea typeface="Cascadia Mono"/>
                <a:cs typeface="Cascadia Mono"/>
              </a:rPr>
              <a:t>CMO</a:t>
            </a:r>
          </a:p>
        </p:txBody>
      </p:sp>
      <p:sp>
        <p:nvSpPr>
          <p:cNvPr id="16" name="Rectangle 15">
            <a:extLst>
              <a:ext uri="{FF2B5EF4-FFF2-40B4-BE49-F238E27FC236}">
                <a16:creationId xmlns:a16="http://schemas.microsoft.com/office/drawing/2014/main" id="{1D4EAA65-7B21-4851-B4B7-79E424941CB2}"/>
              </a:ext>
            </a:extLst>
          </p:cNvPr>
          <p:cNvSpPr>
            <a:spLocks noGrp="1"/>
          </p:cNvSpPr>
          <p:nvPr/>
        </p:nvSpPr>
        <p:spPr>
          <a:xfrm>
            <a:off x="11049000" y="6438900"/>
            <a:ext cx="495300" cy="190500"/>
          </a:xfrm>
          <a:prstGeom prst="rect">
            <a:avLst/>
          </a:prstGeom>
          <a:noFill/>
          <a:ln w="0">
            <a:noFill/>
          </a:ln>
        </p:spPr>
        <p:txBody>
          <a:bodyPr wrap="square" lIns="0" tIns="0" rIns="0" bIns="0" anchor="t">
            <a:noAutofit/>
          </a:bodyPr>
          <a:lstStyle/>
          <a:p>
            <a:pPr algn="r">
              <a:lnSpc>
                <a:spcPct val="100000"/>
              </a:lnSpc>
              <a:buNone/>
              <a:defRPr sz="1050" b="0">
                <a:solidFill>
                  <a:srgbClr val="53605A"/>
                </a:solidFill>
                <a:latin typeface="Cascadia Mono"/>
                <a:ea typeface="Cascadia Mono"/>
                <a:cs typeface="Cascadia Mono"/>
              </a:defRPr>
            </a:pPr>
            <a:r>
              <a:rPr lang="en-IL" sz="1050" b="0">
                <a:solidFill>
                  <a:srgbClr val="53605A"/>
                </a:solidFill>
                <a:latin typeface="Cascadia Mono"/>
                <a:ea typeface="Cascadia Mono"/>
                <a:cs typeface="Cascadia Mono"/>
              </a:rPr>
              <a:t>07</a:t>
            </a:r>
            <a:endParaRPr sz="1050" b="0">
              <a:solidFill>
                <a:srgbClr val="53605A"/>
              </a:solidFill>
              <a:latin typeface="Cascadia Mono"/>
              <a:ea typeface="Cascadia Mono"/>
              <a:cs typeface="Cascadia Mono"/>
            </a:endParaRPr>
          </a:p>
        </p:txBody>
      </p:sp>
    </p:spTree>
    <p:extLst>
      <p:ext uri="{BB962C8B-B14F-4D97-AF65-F5344CB8AC3E}">
        <p14:creationId xmlns:p14="http://schemas.microsoft.com/office/powerpoint/2010/main" val="31311363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570</Words>
  <Application>Microsoft Office PowerPoint</Application>
  <DocSecurity>0</DocSecurity>
  <PresentationFormat>Widescreen</PresentationFormat>
  <Paragraphs>66</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Calibri</vt:lpstr>
      <vt:lpstr>Cascadia Mono</vt:lpstr>
      <vt:lpstr>Segoe UI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Yaheli Levit</cp:lastModifiedBy>
  <cp:revision>10</cp:revision>
  <dcterms:created xsi:type="dcterms:W3CDTF">2026-09-09T22:48:33Z</dcterms:created>
  <dcterms:modified xsi:type="dcterms:W3CDTF">2026-09-09T23:58:40Z</dcterms:modified>
</cp:coreProperties>
</file>