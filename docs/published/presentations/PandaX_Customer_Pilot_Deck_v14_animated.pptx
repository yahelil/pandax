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0C83D5-02B6-4A9A-8C0A-CDC2BDCE6F79}"/>
              </a:ext>
            </a:extLst>
          </p:cNvPr>
          <p:cNvSpPr>
            <a:spLocks noGrp="1"/>
          </p:cNvSpPr>
          <p:nvPr/>
        </p:nvSpPr>
        <p:spPr>
          <a:xfrm>
            <a:off x="0" y="0"/>
            <a:ext cx="171450" cy="6858000"/>
          </a:xfrm>
          <a:prstGeom prst="rect">
            <a:avLst/>
          </a:prstGeom>
          <a:solidFill>
            <a:srgbClr val="356B3F"/>
          </a:solidFill>
          <a:ln w="0">
            <a:noFill/>
          </a:ln>
        </p:spPr>
      </p:sp>
      <p:sp>
        <p:nvSpPr>
          <p:cNvPr id="2" name="Rectangle 1">
            <a:extLst>
              <a:ext uri="{FF2B5EF4-FFF2-40B4-BE49-F238E27FC236}">
                <a16:creationId xmlns:a16="http://schemas.microsoft.com/office/drawing/2014/main" id="{F6A36534-9219-496F-9B83-3715729FDAA6}"/>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CC35A94A-40B2-4572-BC18-796E1EE718AF}"/>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F30BF6AA-CDF1-47F7-A96E-73F045339B17}"/>
              </a:ext>
            </a:extLst>
          </p:cNvPr>
          <p:cNvSpPr>
            <a:spLocks noGrp="1"/>
          </p:cNvSpPr>
          <p:nvPr/>
        </p:nvSpPr>
        <p:spPr>
          <a:xfrm>
            <a:off x="7296150" y="0"/>
            <a:ext cx="4895850" cy="6858000"/>
          </a:xfrm>
          <a:prstGeom prst="rect">
            <a:avLst/>
          </a:prstGeom>
          <a:solidFill>
            <a:srgbClr val="356B3F"/>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98821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BF5AB42-7CA1-4679-AC2B-A96E4B6708F7}"/>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A552C138-6188-498D-89D3-1E48590D46DD}"/>
              </a:ext>
            </a:extLst>
          </p:cNvPr>
          <p:cNvSpPr>
            <a:spLocks noGrp="1"/>
          </p:cNvSpPr>
          <p:nvPr/>
        </p:nvSpPr>
        <p:spPr>
          <a:xfrm>
            <a:off x="533400" y="552450"/>
            <a:ext cx="57150" cy="514350"/>
          </a:xfrm>
          <a:prstGeom prst="rect">
            <a:avLst/>
          </a:prstGeom>
          <a:solidFill>
            <a:srgbClr val="356B3F"/>
          </a:solidFill>
          <a:ln w="0">
            <a:noFill/>
          </a:ln>
        </p:spPr>
      </p:sp>
      <p:sp>
        <p:nvSpPr>
          <p:cNvPr id="4" name="Rectangle 3">
            <a:extLst>
              <a:ext uri="{FF2B5EF4-FFF2-40B4-BE49-F238E27FC236}">
                <a16:creationId xmlns:a16="http://schemas.microsoft.com/office/drawing/2014/main" id="{4B3B9CBA-2060-434F-87FF-E4AFA6F565F3}"/>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407D341F-41B1-4BE8-BBB1-8F5ECC8D3B7B}"/>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3F3814F6-B6D4-4423-8761-7EC91AB14644}"/>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D7A7E42B-3C1F-43F7-89F8-0F04D004EBD9}"/>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BC9CDCE7-649C-49C3-8007-B123212CD080}"/>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537DDC48-3E2A-43F3-9386-D92944BE4E4A}"/>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B407DDE-A00E-4C34-9A3C-B64343FF0008}"/>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52C84F28-7CB7-49B8-BA1B-1FB3EFC2F6E9}"/>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A2F98B0B-A3BC-49AE-88B8-A12DC7CED218}"/>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496F10ED-9BDF-450E-B4EE-C174CD722898}"/>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148676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D2031EC-6604-4E80-A4FF-6E9E0396AA25}"/>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DC3B568A-E741-440B-80A6-60FD654F97B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8B11087-340B-44FB-8773-95857A66B547}"/>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634BE0FB-818F-4391-9246-832F6D7413F3}"/>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D6616BAA-11E7-46E9-8587-094B06BF467D}"/>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21DA6861-D72B-4DCE-A241-8C013668EABA}"/>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C18A553A-5220-49AA-BEA1-41D101FC9B31}"/>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D16EF2DF-43D3-4CC2-8DD2-D460838F1F60}"/>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39D98D1F-BA02-4532-954D-EB06E5CD86D3}"/>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AF3A7048-F1AF-4F5E-A240-E5C2736857F0}"/>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CB0591C8-D896-4788-8C8B-FC87FE8D390A}"/>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F6A08704-3CA0-4FB7-BA62-CE7F9E02507B}"/>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5A43B30A-BBB6-464B-B3B1-46E171417990}"/>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164540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71293B2-AE0A-4FFD-B9A3-C8EDF2426508}"/>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4BBC6EE5-B97E-4499-B521-403552C7585B}"/>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2161C27E-0ACE-442B-8A5B-EF0EB6C54514}"/>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4" name="Rectangle 3">
            <a:extLst>
              <a:ext uri="{FF2B5EF4-FFF2-40B4-BE49-F238E27FC236}">
                <a16:creationId xmlns:a16="http://schemas.microsoft.com/office/drawing/2014/main" id="{79A84BCC-3443-449C-BE3D-FC114585435D}"/>
              </a:ext>
            </a:extLst>
          </p:cNvPr>
          <p:cNvSpPr>
            <a:spLocks noGrp="1"/>
          </p:cNvSpPr>
          <p:nvPr/>
        </p:nvSpPr>
        <p:spPr>
          <a:xfrm>
            <a:off x="704850" y="2109788"/>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EQUIFAX</a:t>
            </a:r>
          </a:p>
        </p:txBody>
      </p:sp>
      <p:sp>
        <p:nvSpPr>
          <p:cNvPr id="5" name="Rectangle: Rounded Corners 4">
            <a:extLst>
              <a:ext uri="{FF2B5EF4-FFF2-40B4-BE49-F238E27FC236}">
                <a16:creationId xmlns:a16="http://schemas.microsoft.com/office/drawing/2014/main" id="{B4088317-AE72-4BBA-AB63-8D00BCDA3096}"/>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43EAE767-E0A5-44DB-84F8-2B2627DEBFEB}"/>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8" name="Rectangle 7">
            <a:extLst>
              <a:ext uri="{FF2B5EF4-FFF2-40B4-BE49-F238E27FC236}">
                <a16:creationId xmlns:a16="http://schemas.microsoft.com/office/drawing/2014/main" id="{610A1F91-8A3A-4736-B66C-00707BCB8039}"/>
              </a:ext>
            </a:extLst>
          </p:cNvPr>
          <p:cNvSpPr>
            <a:spLocks noGrp="1"/>
          </p:cNvSpPr>
          <p:nvPr/>
        </p:nvSpPr>
        <p:spPr>
          <a:xfrm>
            <a:off x="704850" y="3810000"/>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CALIFORNIA DOJ  /  UBER</a:t>
            </a:r>
          </a:p>
        </p:txBody>
      </p:sp>
      <p:sp>
        <p:nvSpPr>
          <p:cNvPr id="9" name="Rectangle: Rounded Corners 8">
            <a:extLst>
              <a:ext uri="{FF2B5EF4-FFF2-40B4-BE49-F238E27FC236}">
                <a16:creationId xmlns:a16="http://schemas.microsoft.com/office/drawing/2014/main" id="{DF70A46C-245D-4DC1-876D-25214A4DA20D}"/>
              </a:ext>
            </a:extLst>
          </p:cNvPr>
          <p:cNvSpPr>
            <a:spLocks noGrp="1"/>
          </p:cNvSpPr>
          <p:nvPr/>
        </p:nvSpPr>
        <p:spPr>
          <a:xfrm>
            <a:off x="2857500" y="2533650"/>
            <a:ext cx="8572500" cy="2095500"/>
          </a:xfrm>
          <a:prstGeom prst="roundRect">
            <a:avLst>
              <a:gd name="adj" fmla="val 3636"/>
            </a:avLst>
          </a:prstGeom>
          <a:solidFill>
            <a:srgbClr val="FFFFFF"/>
          </a:solidFill>
          <a:ln w="9525">
            <a:solidFill>
              <a:srgbClr val="D5DDD8"/>
            </a:solidFill>
            <a:prstDash val="solid"/>
          </a:ln>
        </p:spPr>
      </p:sp>
      <p:pic>
        <p:nvPicPr>
          <p:cNvPr id="27" name="Picture 26"/>
          <p:cNvPicPr>
            <a:picLocks noChangeAspect="1"/>
          </p:cNvPicPr>
          <p:nvPr/>
        </p:nvPicPr>
        <p:blipFill>
          <a:blip r:embed="rId4"/>
          <a:stretch/>
        </p:blipFill>
        <p:spPr>
          <a:xfrm>
            <a:off x="3562832" y="2628900"/>
            <a:ext cx="7161835" cy="1905000"/>
          </a:xfrm>
          <a:prstGeom prst="rect">
            <a:avLst/>
          </a:prstGeom>
        </p:spPr>
      </p:pic>
      <p:sp>
        <p:nvSpPr>
          <p:cNvPr id="11" name="Rectangle 10">
            <a:extLst>
              <a:ext uri="{FF2B5EF4-FFF2-40B4-BE49-F238E27FC236}">
                <a16:creationId xmlns:a16="http://schemas.microsoft.com/office/drawing/2014/main" id="{063ACD11-1D8D-4F63-9792-0ECD0BAD4CE0}"/>
              </a:ext>
            </a:extLst>
          </p:cNvPr>
          <p:cNvSpPr>
            <a:spLocks noGrp="1"/>
          </p:cNvSpPr>
          <p:nvPr/>
        </p:nvSpPr>
        <p:spPr>
          <a:xfrm>
            <a:off x="685800" y="4900613"/>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$5.8M</a:t>
            </a:r>
          </a:p>
        </p:txBody>
      </p:sp>
      <p:sp>
        <p:nvSpPr>
          <p:cNvPr id="12" name="Rectangle 11">
            <a:extLst>
              <a:ext uri="{FF2B5EF4-FFF2-40B4-BE49-F238E27FC236}">
                <a16:creationId xmlns:a16="http://schemas.microsoft.com/office/drawing/2014/main" id="{23477E88-A6CE-4F2F-9511-0BD2C90DA8D1}"/>
              </a:ext>
            </a:extLst>
          </p:cNvPr>
          <p:cNvSpPr>
            <a:spLocks noGrp="1"/>
          </p:cNvSpPr>
          <p:nvPr/>
        </p:nvSpPr>
        <p:spPr>
          <a:xfrm>
            <a:off x="704850" y="551021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975" b="1">
                <a:solidFill>
                  <a:srgbClr val="53605A"/>
                </a:solidFill>
                <a:latin typeface="Cascadia Mono"/>
                <a:ea typeface="Cascadia Mono"/>
                <a:cs typeface="Cascadia Mono"/>
              </a:rPr>
              <a:t>FTC  /  RING</a:t>
            </a:r>
          </a:p>
        </p:txBody>
      </p:sp>
      <p:sp>
        <p:nvSpPr>
          <p:cNvPr id="13" name="Rectangle: Rounded Corners 12">
            <a:extLst>
              <a:ext uri="{FF2B5EF4-FFF2-40B4-BE49-F238E27FC236}">
                <a16:creationId xmlns:a16="http://schemas.microsoft.com/office/drawing/2014/main" id="{7D845F07-0291-4E2B-858A-84B6DF8B4322}"/>
              </a:ext>
            </a:extLst>
          </p:cNvPr>
          <p:cNvSpPr>
            <a:spLocks noGrp="1"/>
          </p:cNvSpPr>
          <p:nvPr/>
        </p:nvSpPr>
        <p:spPr>
          <a:xfrm>
            <a:off x="2857500" y="4781550"/>
            <a:ext cx="8572500" cy="1000125"/>
          </a:xfrm>
          <a:prstGeom prst="roundRect">
            <a:avLst>
              <a:gd name="adj" fmla="val 7619"/>
            </a:avLst>
          </a:prstGeom>
          <a:solidFill>
            <a:srgbClr val="FFFFFF"/>
          </a:solidFill>
          <a:ln w="9525">
            <a:solidFill>
              <a:srgbClr val="D5DDD8"/>
            </a:solidFill>
            <a:prstDash val="solid"/>
          </a:ln>
        </p:spPr>
      </p:sp>
      <p:pic>
        <p:nvPicPr>
          <p:cNvPr id="31" name="Picture 30"/>
          <p:cNvPicPr>
            <a:picLocks noChangeAspect="1"/>
          </p:cNvPicPr>
          <p:nvPr/>
        </p:nvPicPr>
        <p:blipFill>
          <a:blip r:embed="rId5"/>
          <a:stretch/>
        </p:blipFill>
        <p:spPr>
          <a:xfrm>
            <a:off x="3439279" y="4876800"/>
            <a:ext cx="7408942" cy="809625"/>
          </a:xfrm>
          <a:prstGeom prst="rect">
            <a:avLst/>
          </a:prstGeom>
        </p:spPr>
      </p:pic>
      <p:sp>
        <p:nvSpPr>
          <p:cNvPr id="15" name="Rectangle: Rounded Corners 14">
            <a:extLst>
              <a:ext uri="{FF2B5EF4-FFF2-40B4-BE49-F238E27FC236}">
                <a16:creationId xmlns:a16="http://schemas.microsoft.com/office/drawing/2014/main" id="{83104BB4-18F4-4508-845D-84FDD5837A6D}"/>
              </a:ext>
            </a:extLst>
          </p:cNvPr>
          <p:cNvSpPr>
            <a:spLocks noGrp="1"/>
          </p:cNvSpPr>
          <p:nvPr/>
        </p:nvSpPr>
        <p:spPr>
          <a:xfrm>
            <a:off x="685800" y="5915025"/>
            <a:ext cx="10744200" cy="409575"/>
          </a:xfrm>
          <a:prstGeom prst="roundRect">
            <a:avLst>
              <a:gd name="adj" fmla="val 18605"/>
            </a:avLst>
          </a:prstGeom>
          <a:solidFill>
            <a:srgbClr val="356B3F"/>
          </a:solidFill>
          <a:ln w="0">
            <a:noFill/>
          </a:ln>
        </p:spPr>
      </p:sp>
      <p:sp>
        <p:nvSpPr>
          <p:cNvPr id="16" name="Rectangle 15">
            <a:extLst>
              <a:ext uri="{FF2B5EF4-FFF2-40B4-BE49-F238E27FC236}">
                <a16:creationId xmlns:a16="http://schemas.microsoft.com/office/drawing/2014/main" id="{D548B8E4-96F7-4109-8F2E-E073E191D04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a:solidFill>
                  <a:srgbClr val="F2F5F9"/>
                </a:solidFill>
                <a:latin typeface="Segoe UI"/>
                <a:ea typeface="Segoe UI"/>
                <a:cs typeface="Segoe UI"/>
              </a:rPr>
              <a:t>€6.31B in tracked GDPR fines</a:t>
            </a:r>
          </a:p>
        </p:txBody>
      </p:sp>
      <p:sp>
        <p:nvSpPr>
          <p:cNvPr id="17" name="Rectangle 16">
            <a:extLst>
              <a:ext uri="{FF2B5EF4-FFF2-40B4-BE49-F238E27FC236}">
                <a16:creationId xmlns:a16="http://schemas.microsoft.com/office/drawing/2014/main" id="{AE8C4676-96D3-49F3-9F23-C3C30783155F}"/>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42769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30235D1-B3AF-45B0-8ADD-F4708D333812}"/>
              </a:ext>
            </a:extLst>
          </p:cNvPr>
          <p:cNvSpPr>
            <a:spLocks noGrp="1"/>
          </p:cNvSpPr>
          <p:nvPr/>
        </p:nvSpPr>
        <p:spPr>
          <a:xfrm>
            <a:off x="533400" y="476250"/>
            <a:ext cx="57150" cy="514350"/>
          </a:xfrm>
          <a:prstGeom prst="rect">
            <a:avLst/>
          </a:prstGeom>
          <a:solidFill>
            <a:srgbClr val="356B3F"/>
          </a:solidFill>
          <a:ln w="0">
            <a:noFill/>
          </a:ln>
        </p:spPr>
      </p:sp>
      <p:sp>
        <p:nvSpPr>
          <p:cNvPr id="2" name="Rectangle 1">
            <a:extLst>
              <a:ext uri="{FF2B5EF4-FFF2-40B4-BE49-F238E27FC236}">
                <a16:creationId xmlns:a16="http://schemas.microsoft.com/office/drawing/2014/main" id="{4370556E-3033-44FA-ADC3-6DF7E9540F91}"/>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7D5E3F0A-B2FA-454B-AD15-72AFF32B5702}"/>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31746AB5-CE09-4C2E-9787-6F3D23E0A0C5}"/>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61626603-C8DA-4831-B889-238732F6BB14}"/>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E54D0431-57FD-493A-8287-94197B6D5FD5}"/>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A7FF1985-4CFA-4A6C-B68D-E0A40D7473C3}"/>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574C2B31-95DE-4286-BB05-7B9D5D3E3E4D}"/>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40A0E02C-9F8C-4FFC-882F-874FD101569B}"/>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665331B3-9973-4714-BBB6-06921F2E6B19}"/>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54CF6AF9-E68F-4618-BFDA-3DA6958D05D2}"/>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9FDB8670-2F97-40AD-921D-FE0F15E7EEB8}"/>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13F742F9-F76A-45D6-A685-613D9BED18AB}"/>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740AD555-6119-4532-BE10-74C592E0034C}"/>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7778E842-7B25-49D9-8E49-BACCF98063A4}"/>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356B3F"/>
                </a:solidFill>
                <a:latin typeface="Cascadia Mono"/>
                <a:ea typeface="Cascadia Mono"/>
                <a:cs typeface="Cascadia Mono"/>
              </a:defRPr>
            </a:pPr>
            <a:r>
              <a:rPr sz="1275" b="1">
                <a:solidFill>
                  <a:srgbClr val="356B3F"/>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D636A331-6DFF-435D-A7BB-3AA5624B6FE8}"/>
              </a:ext>
            </a:extLst>
          </p:cNvPr>
          <p:cNvSpPr>
            <a:spLocks noGrp="1"/>
          </p:cNvSpPr>
          <p:nvPr/>
        </p:nvSpPr>
        <p:spPr>
          <a:xfrm>
            <a:off x="9525000" y="2457450"/>
            <a:ext cx="2038350" cy="0"/>
          </a:xfrm>
          <a:prstGeom prst="line">
            <a:avLst/>
          </a:prstGeom>
          <a:noFill/>
          <a:ln w="47625">
            <a:solidFill>
              <a:srgbClr val="356B3F"/>
            </a:solidFill>
            <a:prstDash val="solid"/>
          </a:ln>
        </p:spPr>
      </p:sp>
      <p:sp>
        <p:nvSpPr>
          <p:cNvPr id="17" name="Rectangle 16">
            <a:extLst>
              <a:ext uri="{FF2B5EF4-FFF2-40B4-BE49-F238E27FC236}">
                <a16:creationId xmlns:a16="http://schemas.microsoft.com/office/drawing/2014/main" id="{0E448FEE-8A1E-492E-976A-4A575B17C26F}"/>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3920C16F-FA1D-4ED6-AB13-67D3EDCDBC23}"/>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F898B181-FB0C-4518-8399-AD73DEDA8C48}"/>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A8C9A8"/>
                </a:solidFill>
                <a:latin typeface="Segoe UI"/>
                <a:ea typeface="Segoe UI"/>
                <a:cs typeface="Segoe UI"/>
              </a:defRPr>
            </a:pPr>
            <a:r>
              <a:rPr sz="2700" b="1">
                <a:solidFill>
                  <a:srgbClr val="A8C9A8"/>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C6381336-EA5D-4988-9358-B061A9AA1850}"/>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6BDEC38B-D100-4C37-9FC0-B6D446DC4F33}"/>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175872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C3AAB7-5D80-4C14-904B-D5588EFA02ED}"/>
              </a:ext>
            </a:extLst>
          </p:cNvPr>
          <p:cNvSpPr>
            <a:spLocks noGrp="1"/>
          </p:cNvSpPr>
          <p:nvPr/>
        </p:nvSpPr>
        <p:spPr>
          <a:xfrm>
            <a:off x="0" y="0"/>
            <a:ext cx="3333750" cy="6858000"/>
          </a:xfrm>
          <a:prstGeom prst="rect">
            <a:avLst/>
          </a:prstGeom>
          <a:solidFill>
            <a:srgbClr val="356B3F"/>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3DFADCEC-E940-4E3D-976B-0B404DD88F05}"/>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6E138537-780B-47F7-9824-87C2230792F3}"/>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E9B400E9-1753-4064-912F-135F3F6F2806}"/>
              </a:ext>
            </a:extLst>
          </p:cNvPr>
          <p:cNvSpPr>
            <a:spLocks noGrp="1"/>
          </p:cNvSpPr>
          <p:nvPr/>
        </p:nvSpPr>
        <p:spPr>
          <a:xfrm>
            <a:off x="4000500" y="2743200"/>
            <a:ext cx="7239000" cy="0"/>
          </a:xfrm>
          <a:prstGeom prst="line">
            <a:avLst/>
          </a:prstGeom>
          <a:noFill/>
          <a:ln w="38100">
            <a:solidFill>
              <a:srgbClr val="356B3F"/>
            </a:solidFill>
            <a:prstDash val="solid"/>
          </a:ln>
        </p:spPr>
      </p:sp>
      <p:sp>
        <p:nvSpPr>
          <p:cNvPr id="6" name="Rectangle 5">
            <a:extLst>
              <a:ext uri="{FF2B5EF4-FFF2-40B4-BE49-F238E27FC236}">
                <a16:creationId xmlns:a16="http://schemas.microsoft.com/office/drawing/2014/main" id="{01C36CE8-750E-452E-AEEB-EC7D49C9908C}"/>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61CBF831-C3CB-4B1E-AECD-2D43E5525835}"/>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C80EF23B-349D-4222-BD0E-982B06F1B279}"/>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9172EEDA-E3B8-4EE4-B4F1-5B15C4926EBA}"/>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BF3FB41E-10E3-42B1-A26B-559ED0697B30}"/>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A3265441-DD16-474B-9AF6-FDC1B78F35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F22F9B4F-8C2A-4B2B-9500-054A16046D88}"/>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3D41D34D-8F3D-48D4-8E6A-6294189E1BDB}"/>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DA71205F-3B2B-4317-8C0A-DB1F7EC36DFA}"/>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02C866A6-5438-4D26-861C-8E8EA3865069}"/>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ABD268D5-221B-4EC8-B249-1F9BC73551CE}"/>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10627618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626</Words>
  <Application>Microsoft Office PowerPoint</Application>
  <DocSecurity>0</DocSecurity>
  <PresentationFormat>Widescreen</PresentationFormat>
  <Paragraphs>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2026-09-09T22:27:24Z</dcterms:created>
  <dcterms:modified xsi:type="dcterms:W3CDTF">2026-09-09T22:27:49Z</dcterms:modified>
</cp:coreProperties>
</file>