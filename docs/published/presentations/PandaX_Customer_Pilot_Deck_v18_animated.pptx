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0" r:id="rId3"/>
    <p:sldId id="257" r:id="rId4"/>
    <p:sldId id="258" r:id="rId5"/>
    <p:sldId id="259" r:id="rId6"/>
    <p:sldId id="263" r:id="rId7"/>
    <p:sldId id="262" r:id="rId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612"/>
    <a:srgbClr val="C00000"/>
    <a:srgbClr val="C06900"/>
    <a:srgbClr val="962A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continuously extracts firmware components, detects reachable vulnerabilities, and produces CRA-ready evidence before repeating on the next firmware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txBody>
          <a:bodyPr/>
          <a:lstStyle/>
          <a:p>
            <a:endParaRPr lang="LID4096"/>
          </a:p>
        </p:txBody>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1943101"/>
          </a:xfrm>
          <a:prstGeom prst="roundRect">
            <a:avLst>
              <a:gd name="adj" fmla="val 3636"/>
            </a:avLst>
          </a:prstGeom>
          <a:solidFill>
            <a:srgbClr val="FFFFFF"/>
          </a:solidFill>
          <a:ln w="9525">
            <a:solidFill>
              <a:srgbClr val="D5DDD8"/>
            </a:solidFill>
            <a:prstDash val="solid"/>
          </a:ln>
        </p:spPr>
        <p:txBody>
          <a:bodyPr/>
          <a:lstStyle/>
          <a:p>
            <a:endParaRPr lang="LID4096"/>
          </a:p>
        </p:txBody>
      </p:sp>
      <p:pic>
        <p:nvPicPr>
          <p:cNvPr id="27" name="Picture 26"/>
          <p:cNvPicPr>
            <a:picLocks noChangeAspect="1"/>
          </p:cNvPicPr>
          <p:nvPr/>
        </p:nvPicPr>
        <p:blipFill>
          <a:blip r:embed="rId4"/>
          <a:srcRect b="8029"/>
          <a:stretch>
            <a:fillRect/>
          </a:stretch>
        </p:blipFill>
        <p:spPr>
          <a:xfrm>
            <a:off x="3562832" y="2628900"/>
            <a:ext cx="7161835" cy="1752031"/>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75773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dirty="0">
                <a:solidFill>
                  <a:srgbClr val="356B3F"/>
                </a:solidFill>
                <a:latin typeface="Segoe UI"/>
                <a:ea typeface="Segoe UI"/>
                <a:cs typeface="Segoe UI"/>
              </a:rPr>
              <a:t>$5.8M</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672013"/>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31" name="Picture 30"/>
          <p:cNvPicPr>
            <a:picLocks noChangeAspect="1"/>
          </p:cNvPicPr>
          <p:nvPr/>
        </p:nvPicPr>
        <p:blipFill>
          <a:blip r:embed="rId5"/>
          <a:stretch/>
        </p:blipFill>
        <p:spPr>
          <a:xfrm>
            <a:off x="3439279" y="4767263"/>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txBody>
          <a:bodyPr/>
          <a:lstStyle/>
          <a:p>
            <a:endParaRPr lang="LID4096"/>
          </a:p>
        </p:txBody>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dirty="0">
                <a:solidFill>
                  <a:schemeClr val="tx1">
                    <a:lumMod val="95000"/>
                    <a:lumOff val="5000"/>
                  </a:schemeClr>
                </a:solidFill>
                <a:highlight>
                  <a:srgbClr val="FF0000"/>
                </a:highlight>
                <a:latin typeface="Segoe UI"/>
                <a:ea typeface="Segoe UI"/>
                <a:cs typeface="Segoe UI"/>
              </a:rPr>
              <a:t>€6.31B</a:t>
            </a:r>
            <a:r>
              <a:rPr sz="1575" b="1" dirty="0">
                <a:solidFill>
                  <a:schemeClr val="tx1">
                    <a:lumMod val="95000"/>
                    <a:lumOff val="5000"/>
                  </a:schemeClr>
                </a:solidFill>
                <a:latin typeface="Segoe UI"/>
                <a:ea typeface="Segoe UI"/>
                <a:cs typeface="Segoe UI"/>
              </a:rPr>
              <a:t> </a:t>
            </a:r>
            <a:r>
              <a:rPr sz="1575" b="1" dirty="0">
                <a:solidFill>
                  <a:srgbClr val="F2F5F9"/>
                </a:solidFill>
                <a:latin typeface="Segoe UI"/>
                <a:ea typeface="Segoe UI"/>
                <a:cs typeface="Segoe UI"/>
              </a:rPr>
              <a:t>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02</a:t>
            </a:r>
            <a:endParaRPr sz="1050" b="0">
              <a:solidFill>
                <a:srgbClr val="53605A"/>
              </a:solidFill>
              <a:latin typeface="Cascadia Mono"/>
              <a:ea typeface="Cascadia Mono"/>
              <a:cs typeface="Cascadia Mono"/>
            </a:endParaRPr>
          </a:p>
        </p:txBody>
      </p:sp>
      <p:sp>
        <p:nvSpPr>
          <p:cNvPr id="10" name="Rectangle 9">
            <a:extLst>
              <a:ext uri="{FF2B5EF4-FFF2-40B4-BE49-F238E27FC236}">
                <a16:creationId xmlns:a16="http://schemas.microsoft.com/office/drawing/2014/main" id="{5B5AC134-A8EC-A57E-0A36-5810FD476B44}"/>
              </a:ext>
            </a:extLst>
          </p:cNvPr>
          <p:cNvSpPr>
            <a:spLocks noGrp="1"/>
          </p:cNvSpPr>
          <p:nvPr/>
        </p:nvSpPr>
        <p:spPr>
          <a:xfrm>
            <a:off x="704850" y="3653335"/>
            <a:ext cx="2095500" cy="516341"/>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4000" b="1" baseline="-25000" dirty="0">
                <a:solidFill>
                  <a:srgbClr val="53605A"/>
                </a:solidFill>
                <a:latin typeface="Cascadia Mono"/>
                <a:ea typeface="Cascadia Mono"/>
                <a:cs typeface="Cascadia Mono"/>
              </a:rPr>
              <a:t>UBER</a:t>
            </a:r>
          </a:p>
        </p:txBody>
      </p:sp>
      <p:sp>
        <p:nvSpPr>
          <p:cNvPr id="19" name="Rectangle 18">
            <a:extLst>
              <a:ext uri="{FF2B5EF4-FFF2-40B4-BE49-F238E27FC236}">
                <a16:creationId xmlns:a16="http://schemas.microsoft.com/office/drawing/2014/main" id="{9E965781-B850-4096-258E-01321F3FB25E}"/>
              </a:ext>
            </a:extLst>
          </p:cNvPr>
          <p:cNvSpPr>
            <a:spLocks noGrp="1"/>
          </p:cNvSpPr>
          <p:nvPr/>
        </p:nvSpPr>
        <p:spPr>
          <a:xfrm>
            <a:off x="704849" y="2109788"/>
            <a:ext cx="2152649" cy="81261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EQUIFAX</a:t>
            </a:r>
            <a:endParaRPr sz="3600" b="1" dirty="0">
              <a:solidFill>
                <a:srgbClr val="53605A"/>
              </a:solidFill>
              <a:latin typeface="Cascadia Mono"/>
              <a:ea typeface="Cascadia Mono"/>
              <a:cs typeface="Cascadia Mono"/>
            </a:endParaRPr>
          </a:p>
        </p:txBody>
      </p:sp>
      <p:sp>
        <p:nvSpPr>
          <p:cNvPr id="21" name="Rectangle 20">
            <a:extLst>
              <a:ext uri="{FF2B5EF4-FFF2-40B4-BE49-F238E27FC236}">
                <a16:creationId xmlns:a16="http://schemas.microsoft.com/office/drawing/2014/main" id="{BE6378CA-EB54-3E13-1356-78C8D5E92E7F}"/>
              </a:ext>
            </a:extLst>
          </p:cNvPr>
          <p:cNvSpPr>
            <a:spLocks noGrp="1"/>
          </p:cNvSpPr>
          <p:nvPr/>
        </p:nvSpPr>
        <p:spPr>
          <a:xfrm>
            <a:off x="685800" y="531580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RING</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txBody>
          <a:bodyPr/>
          <a:lstStyle/>
          <a:p>
            <a:endParaRPr lang="LID4096"/>
          </a:p>
        </p:txBody>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03</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txBody>
          <a:bodyPr/>
          <a:lstStyle/>
          <a:p>
            <a:endParaRPr lang="LID4096"/>
          </a:p>
        </p:txBody>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txBody>
          <a:bodyPr/>
          <a:lstStyle/>
          <a:p>
            <a:endParaRPr lang="LID4096"/>
          </a:p>
        </p:txBody>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04</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txBody>
          <a:bodyPr/>
          <a:lstStyle/>
          <a:p>
            <a:endParaRPr lang="LID4096"/>
          </a:p>
        </p:txBody>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txBody>
          <a:bodyPr/>
          <a:lstStyle/>
          <a:p>
            <a:endParaRPr lang="LID4096"/>
          </a:p>
        </p:txBody>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txBody>
          <a:bodyPr/>
          <a:lstStyle/>
          <a:p>
            <a:endParaRPr lang="LID4096"/>
          </a:p>
        </p:txBody>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05</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86211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D3EBD24-8CF3-47C3-8C89-96F83E183BAA}"/>
              </a:ext>
            </a:extLst>
          </p:cNvPr>
          <p:cNvSpPr>
            <a:spLocks noGrp="1"/>
          </p:cNvSpPr>
          <p:nvPr/>
        </p:nvSpPr>
        <p:spPr>
          <a:xfrm>
            <a:off x="0" y="0"/>
            <a:ext cx="12192000" cy="6858000"/>
          </a:xfrm>
          <a:prstGeom prst="rect">
            <a:avLst/>
          </a:prstGeom>
          <a:solidFill>
            <a:srgbClr val="F4F7F5"/>
          </a:solidFill>
          <a:ln w="0">
            <a:noFill/>
          </a:ln>
        </p:spPr>
      </p:sp>
      <p:sp>
        <p:nvSpPr>
          <p:cNvPr id="2" name="Title accent">
            <a:extLst>
              <a:ext uri="{FF2B5EF4-FFF2-40B4-BE49-F238E27FC236}">
                <a16:creationId xmlns:a16="http://schemas.microsoft.com/office/drawing/2014/main" id="{3DB9DC76-4ABB-4987-9073-243DF440583C}"/>
              </a:ext>
            </a:extLst>
          </p:cNvPr>
          <p:cNvSpPr>
            <a:spLocks noGrp="1"/>
          </p:cNvSpPr>
          <p:nvPr/>
        </p:nvSpPr>
        <p:spPr>
          <a:xfrm>
            <a:off x="533400" y="476250"/>
            <a:ext cx="57150" cy="514350"/>
          </a:xfrm>
          <a:prstGeom prst="rect">
            <a:avLst/>
          </a:prstGeom>
          <a:solidFill>
            <a:srgbClr val="356B3F"/>
          </a:solidFill>
          <a:ln w="0">
            <a:noFill/>
          </a:ln>
        </p:spPr>
      </p:sp>
      <p:sp>
        <p:nvSpPr>
          <p:cNvPr id="3" name="Cycle title">
            <a:extLst>
              <a:ext uri="{FF2B5EF4-FFF2-40B4-BE49-F238E27FC236}">
                <a16:creationId xmlns:a16="http://schemas.microsoft.com/office/drawing/2014/main" id="{E907ADE7-5962-4912-BAA1-6A96BB28D6E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defRPr sz="3225" b="1">
                <a:solidFill>
                  <a:srgbClr val="111713"/>
                </a:solidFill>
                <a:latin typeface="Segoe UI"/>
                <a:ea typeface="Segoe UI"/>
                <a:cs typeface="Segoe UI"/>
              </a:defRPr>
            </a:pPr>
            <a:r>
              <a:rPr sz="3225" b="1">
                <a:solidFill>
                  <a:srgbClr val="111713"/>
                </a:solidFill>
                <a:latin typeface="Segoe UI"/>
                <a:ea typeface="Segoe UI"/>
                <a:cs typeface="Segoe UI"/>
              </a:rPr>
              <a:t>One continuous automation loop</a:t>
            </a:r>
          </a:p>
        </p:txBody>
      </p:sp>
      <p:sp>
        <p:nvSpPr>
          <p:cNvPr id="15" name="Footer rule">
            <a:extLst>
              <a:ext uri="{FF2B5EF4-FFF2-40B4-BE49-F238E27FC236}">
                <a16:creationId xmlns:a16="http://schemas.microsoft.com/office/drawing/2014/main" id="{92F28FA8-A9B1-4F7F-8943-942A3BF29191}"/>
              </a:ext>
            </a:extLst>
          </p:cNvPr>
          <p:cNvSpPr>
            <a:spLocks noGrp="1"/>
          </p:cNvSpPr>
          <p:nvPr/>
        </p:nvSpPr>
        <p:spPr>
          <a:xfrm>
            <a:off x="533400" y="6496050"/>
            <a:ext cx="11125200" cy="0"/>
          </a:xfrm>
          <a:prstGeom prst="line">
            <a:avLst/>
          </a:prstGeom>
          <a:noFill/>
          <a:ln w="9525">
            <a:solidFill>
              <a:srgbClr val="D5DDD8"/>
            </a:solidFill>
            <a:prstDash val="solid"/>
          </a:ln>
        </p:spPr>
      </p:sp>
      <p:sp>
        <p:nvSpPr>
          <p:cNvPr id="16" name="Slide number">
            <a:extLst>
              <a:ext uri="{FF2B5EF4-FFF2-40B4-BE49-F238E27FC236}">
                <a16:creationId xmlns:a16="http://schemas.microsoft.com/office/drawing/2014/main" id="{F52D1F59-A820-4439-BE02-4E4BC0C62EE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06</a:t>
            </a:r>
            <a:endParaRPr sz="1050" b="0">
              <a:solidFill>
                <a:srgbClr val="53605A"/>
              </a:solidFill>
              <a:latin typeface="Cascadia Mono"/>
              <a:ea typeface="Cascadia Mono"/>
              <a:cs typeface="Cascadia Mono"/>
            </a:endParaRPr>
          </a:p>
        </p:txBody>
      </p:sp>
      <p:sp>
        <p:nvSpPr>
          <p:cNvPr id="10" name="Arrow Extraction to Detection">
            <a:extLst>
              <a:ext uri="{FF2B5EF4-FFF2-40B4-BE49-F238E27FC236}">
                <a16:creationId xmlns:a16="http://schemas.microsoft.com/office/drawing/2014/main" id="{A4F7DBBD-BAAA-09F7-2D5E-43A29FDFC284}"/>
              </a:ext>
            </a:extLst>
          </p:cNvPr>
          <p:cNvSpPr/>
          <p:nvPr/>
        </p:nvSpPr>
        <p:spPr>
          <a:xfrm>
            <a:off x="6367256" y="2174277"/>
            <a:ext cx="1570227" cy="2395574"/>
          </a:xfrm>
          <a:custGeom>
            <a:avLst/>
            <a:gdLst/>
            <a:ahLst/>
            <a:cxnLst/>
            <a:rect l="0" t="0" r="0" b="0"/>
            <a:pathLst>
              <a:path w="1570227" h="2395574">
                <a:moveTo>
                  <a:pt x="48517" y="0"/>
                </a:moveTo>
                <a:lnTo>
                  <a:pt x="162539" y="23846"/>
                </a:lnTo>
                <a:lnTo>
                  <a:pt x="274825" y="54854"/>
                </a:lnTo>
                <a:lnTo>
                  <a:pt x="384926" y="92899"/>
                </a:lnTo>
                <a:lnTo>
                  <a:pt x="492401" y="137829"/>
                </a:lnTo>
                <a:lnTo>
                  <a:pt x="596821" y="189465"/>
                </a:lnTo>
                <a:lnTo>
                  <a:pt x="697767" y="247599"/>
                </a:lnTo>
                <a:lnTo>
                  <a:pt x="794836" y="312000"/>
                </a:lnTo>
                <a:lnTo>
                  <a:pt x="887638" y="382409"/>
                </a:lnTo>
                <a:lnTo>
                  <a:pt x="975803" y="458544"/>
                </a:lnTo>
                <a:lnTo>
                  <a:pt x="1058978" y="540102"/>
                </a:lnTo>
                <a:lnTo>
                  <a:pt x="1136829" y="626755"/>
                </a:lnTo>
                <a:lnTo>
                  <a:pt x="1209047" y="718157"/>
                </a:lnTo>
                <a:lnTo>
                  <a:pt x="1275340" y="813942"/>
                </a:lnTo>
                <a:lnTo>
                  <a:pt x="1335445" y="913727"/>
                </a:lnTo>
                <a:lnTo>
                  <a:pt x="1389121" y="1017113"/>
                </a:lnTo>
                <a:lnTo>
                  <a:pt x="1436153" y="1123685"/>
                </a:lnTo>
                <a:lnTo>
                  <a:pt x="1476353" y="1233018"/>
                </a:lnTo>
                <a:lnTo>
                  <a:pt x="1509559" y="1344673"/>
                </a:lnTo>
                <a:lnTo>
                  <a:pt x="1535640" y="1458206"/>
                </a:lnTo>
                <a:lnTo>
                  <a:pt x="1554490" y="1573159"/>
                </a:lnTo>
                <a:lnTo>
                  <a:pt x="1566034" y="1689074"/>
                </a:lnTo>
                <a:lnTo>
                  <a:pt x="1570226" y="1805488"/>
                </a:lnTo>
                <a:lnTo>
                  <a:pt x="1567050" y="1921933"/>
                </a:lnTo>
                <a:lnTo>
                  <a:pt x="1556518" y="2037945"/>
                </a:lnTo>
                <a:lnTo>
                  <a:pt x="1327913" y="2395573"/>
                </a:lnTo>
                <a:lnTo>
                  <a:pt x="1279201" y="2003895"/>
                </a:lnTo>
                <a:lnTo>
                  <a:pt x="1288135" y="1905485"/>
                </a:lnTo>
                <a:lnTo>
                  <a:pt x="1290829" y="1806707"/>
                </a:lnTo>
                <a:lnTo>
                  <a:pt x="1287273" y="1707956"/>
                </a:lnTo>
                <a:lnTo>
                  <a:pt x="1277480" y="1609628"/>
                </a:lnTo>
                <a:lnTo>
                  <a:pt x="1261490" y="1512115"/>
                </a:lnTo>
                <a:lnTo>
                  <a:pt x="1239367" y="1415809"/>
                </a:lnTo>
                <a:lnTo>
                  <a:pt x="1211198" y="1321095"/>
                </a:lnTo>
                <a:lnTo>
                  <a:pt x="1177098" y="1228350"/>
                </a:lnTo>
                <a:lnTo>
                  <a:pt x="1137202" y="1137947"/>
                </a:lnTo>
                <a:lnTo>
                  <a:pt x="1091670" y="1050248"/>
                </a:lnTo>
                <a:lnTo>
                  <a:pt x="1040684" y="965602"/>
                </a:lnTo>
                <a:lnTo>
                  <a:pt x="984449" y="884350"/>
                </a:lnTo>
                <a:lnTo>
                  <a:pt x="923189" y="806816"/>
                </a:lnTo>
                <a:lnTo>
                  <a:pt x="857149" y="733310"/>
                </a:lnTo>
                <a:lnTo>
                  <a:pt x="786593" y="664127"/>
                </a:lnTo>
                <a:lnTo>
                  <a:pt x="711806" y="599543"/>
                </a:lnTo>
                <a:lnTo>
                  <a:pt x="633083" y="539817"/>
                </a:lnTo>
                <a:lnTo>
                  <a:pt x="550743" y="485188"/>
                </a:lnTo>
                <a:lnTo>
                  <a:pt x="465113" y="435874"/>
                </a:lnTo>
                <a:lnTo>
                  <a:pt x="376536" y="392073"/>
                </a:lnTo>
                <a:lnTo>
                  <a:pt x="285367" y="353959"/>
                </a:lnTo>
                <a:lnTo>
                  <a:pt x="191972" y="321686"/>
                </a:lnTo>
                <a:lnTo>
                  <a:pt x="96722" y="295383"/>
                </a:lnTo>
                <a:lnTo>
                  <a:pt x="0" y="275155"/>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Arrow Detection to Evidence">
            <a:extLst>
              <a:ext uri="{FF2B5EF4-FFF2-40B4-BE49-F238E27FC236}">
                <a16:creationId xmlns:a16="http://schemas.microsoft.com/office/drawing/2014/main" id="{CF12E5B0-D99A-C390-94E1-872186D322BB}"/>
              </a:ext>
            </a:extLst>
          </p:cNvPr>
          <p:cNvSpPr/>
          <p:nvPr/>
        </p:nvSpPr>
        <p:spPr>
          <a:xfrm>
            <a:off x="4792345" y="4991898"/>
            <a:ext cx="2714326" cy="837245"/>
          </a:xfrm>
          <a:custGeom>
            <a:avLst/>
            <a:gdLst/>
            <a:ahLst/>
            <a:cxnLst/>
            <a:rect l="0" t="0" r="0" b="0"/>
            <a:pathLst>
              <a:path w="2714326" h="837245">
                <a:moveTo>
                  <a:pt x="2714325" y="179595"/>
                </a:moveTo>
                <a:lnTo>
                  <a:pt x="2636664" y="266418"/>
                </a:lnTo>
                <a:lnTo>
                  <a:pt x="2553666" y="348157"/>
                </a:lnTo>
                <a:lnTo>
                  <a:pt x="2465668" y="424485"/>
                </a:lnTo>
                <a:lnTo>
                  <a:pt x="2373019" y="495096"/>
                </a:lnTo>
                <a:lnTo>
                  <a:pt x="2276092" y="559708"/>
                </a:lnTo>
                <a:lnTo>
                  <a:pt x="2175273" y="618062"/>
                </a:lnTo>
                <a:lnTo>
                  <a:pt x="2070966" y="669926"/>
                </a:lnTo>
                <a:lnTo>
                  <a:pt x="1963590" y="715090"/>
                </a:lnTo>
                <a:lnTo>
                  <a:pt x="1853572" y="753376"/>
                </a:lnTo>
                <a:lnTo>
                  <a:pt x="1741354" y="784628"/>
                </a:lnTo>
                <a:lnTo>
                  <a:pt x="1627384" y="808724"/>
                </a:lnTo>
                <a:lnTo>
                  <a:pt x="1512119" y="825565"/>
                </a:lnTo>
                <a:lnTo>
                  <a:pt x="1396020" y="835084"/>
                </a:lnTo>
                <a:lnTo>
                  <a:pt x="1279551" y="837244"/>
                </a:lnTo>
                <a:lnTo>
                  <a:pt x="1163178" y="832036"/>
                </a:lnTo>
                <a:lnTo>
                  <a:pt x="1047368" y="819481"/>
                </a:lnTo>
                <a:lnTo>
                  <a:pt x="932583" y="799628"/>
                </a:lnTo>
                <a:lnTo>
                  <a:pt x="819283" y="772558"/>
                </a:lnTo>
                <a:lnTo>
                  <a:pt x="707921" y="738378"/>
                </a:lnTo>
                <a:lnTo>
                  <a:pt x="598943" y="697226"/>
                </a:lnTo>
                <a:lnTo>
                  <a:pt x="492786" y="649266"/>
                </a:lnTo>
                <a:lnTo>
                  <a:pt x="389872" y="594690"/>
                </a:lnTo>
                <a:lnTo>
                  <a:pt x="290616" y="533717"/>
                </a:lnTo>
                <a:lnTo>
                  <a:pt x="195413" y="466589"/>
                </a:lnTo>
                <a:lnTo>
                  <a:pt x="0" y="89798"/>
                </a:lnTo>
                <a:lnTo>
                  <a:pt x="363560" y="243451"/>
                </a:lnTo>
                <a:lnTo>
                  <a:pt x="444318" y="300393"/>
                </a:lnTo>
                <a:lnTo>
                  <a:pt x="528515" y="352115"/>
                </a:lnTo>
                <a:lnTo>
                  <a:pt x="615814" y="398411"/>
                </a:lnTo>
                <a:lnTo>
                  <a:pt x="705865" y="439094"/>
                </a:lnTo>
                <a:lnTo>
                  <a:pt x="798308" y="474002"/>
                </a:lnTo>
                <a:lnTo>
                  <a:pt x="892774" y="502996"/>
                </a:lnTo>
                <a:lnTo>
                  <a:pt x="988884" y="525959"/>
                </a:lnTo>
                <a:lnTo>
                  <a:pt x="1086253" y="542800"/>
                </a:lnTo>
                <a:lnTo>
                  <a:pt x="1184492" y="553450"/>
                </a:lnTo>
                <a:lnTo>
                  <a:pt x="1283208" y="557868"/>
                </a:lnTo>
                <a:lnTo>
                  <a:pt x="1382006" y="556036"/>
                </a:lnTo>
                <a:lnTo>
                  <a:pt x="1480490" y="547961"/>
                </a:lnTo>
                <a:lnTo>
                  <a:pt x="1578267" y="533675"/>
                </a:lnTo>
                <a:lnTo>
                  <a:pt x="1674944" y="513235"/>
                </a:lnTo>
                <a:lnTo>
                  <a:pt x="1770136" y="486725"/>
                </a:lnTo>
                <a:lnTo>
                  <a:pt x="1863462" y="454248"/>
                </a:lnTo>
                <a:lnTo>
                  <a:pt x="1954547" y="415936"/>
                </a:lnTo>
                <a:lnTo>
                  <a:pt x="2043028" y="371941"/>
                </a:lnTo>
                <a:lnTo>
                  <a:pt x="2128550" y="322441"/>
                </a:lnTo>
                <a:lnTo>
                  <a:pt x="2210771" y="267632"/>
                </a:lnTo>
                <a:lnTo>
                  <a:pt x="2289362" y="207734"/>
                </a:lnTo>
                <a:lnTo>
                  <a:pt x="2364010" y="142987"/>
                </a:lnTo>
                <a:lnTo>
                  <a:pt x="2434414" y="73650"/>
                </a:lnTo>
                <a:lnTo>
                  <a:pt x="2500293" y="0"/>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Arrow Evidence to Extraction">
            <a:extLst>
              <a:ext uri="{FF2B5EF4-FFF2-40B4-BE49-F238E27FC236}">
                <a16:creationId xmlns:a16="http://schemas.microsoft.com/office/drawing/2014/main" id="{108D1420-B9EB-F16A-070E-4D879FC0A9D2}"/>
              </a:ext>
            </a:extLst>
          </p:cNvPr>
          <p:cNvSpPr/>
          <p:nvPr/>
        </p:nvSpPr>
        <p:spPr>
          <a:xfrm>
            <a:off x="4255359" y="2292690"/>
            <a:ext cx="1545127" cy="2324941"/>
          </a:xfrm>
          <a:custGeom>
            <a:avLst/>
            <a:gdLst/>
            <a:ahLst/>
            <a:cxnLst/>
            <a:rect l="0" t="0" r="0" b="0"/>
            <a:pathLst>
              <a:path w="1545127" h="2324941">
                <a:moveTo>
                  <a:pt x="110197" y="2324940"/>
                </a:moveTo>
                <a:lnTo>
                  <a:pt x="73838" y="2214271"/>
                </a:lnTo>
                <a:lnTo>
                  <a:pt x="44548" y="2101524"/>
                </a:lnTo>
                <a:lnTo>
                  <a:pt x="22446" y="1987151"/>
                </a:lnTo>
                <a:lnTo>
                  <a:pt x="7619" y="1871610"/>
                </a:lnTo>
                <a:lnTo>
                  <a:pt x="127" y="1755362"/>
                </a:lnTo>
                <a:lnTo>
                  <a:pt x="0" y="1638874"/>
                </a:lnTo>
                <a:lnTo>
                  <a:pt x="7238" y="1522610"/>
                </a:lnTo>
                <a:lnTo>
                  <a:pt x="21813" y="1407036"/>
                </a:lnTo>
                <a:lnTo>
                  <a:pt x="43666" y="1292615"/>
                </a:lnTo>
                <a:lnTo>
                  <a:pt x="72709" y="1179805"/>
                </a:lnTo>
                <a:lnTo>
                  <a:pt x="108827" y="1069057"/>
                </a:lnTo>
                <a:lnTo>
                  <a:pt x="151875" y="960814"/>
                </a:lnTo>
                <a:lnTo>
                  <a:pt x="201680" y="855509"/>
                </a:lnTo>
                <a:lnTo>
                  <a:pt x="258044" y="753564"/>
                </a:lnTo>
                <a:lnTo>
                  <a:pt x="320741" y="655386"/>
                </a:lnTo>
                <a:lnTo>
                  <a:pt x="389519" y="561369"/>
                </a:lnTo>
                <a:lnTo>
                  <a:pt x="464104" y="471889"/>
                </a:lnTo>
                <a:lnTo>
                  <a:pt x="544198" y="387304"/>
                </a:lnTo>
                <a:lnTo>
                  <a:pt x="629479" y="307951"/>
                </a:lnTo>
                <a:lnTo>
                  <a:pt x="719607" y="234150"/>
                </a:lnTo>
                <a:lnTo>
                  <a:pt x="814220" y="166194"/>
                </a:lnTo>
                <a:lnTo>
                  <a:pt x="912941" y="104357"/>
                </a:lnTo>
                <a:lnTo>
                  <a:pt x="1015374" y="48885"/>
                </a:lnTo>
                <a:lnTo>
                  <a:pt x="1121110" y="0"/>
                </a:lnTo>
                <a:lnTo>
                  <a:pt x="1545126" y="19164"/>
                </a:lnTo>
                <a:lnTo>
                  <a:pt x="1230280" y="257189"/>
                </a:lnTo>
                <a:lnTo>
                  <a:pt x="1140587" y="298657"/>
                </a:lnTo>
                <a:lnTo>
                  <a:pt x="1053696" y="345713"/>
                </a:lnTo>
                <a:lnTo>
                  <a:pt x="969953" y="398168"/>
                </a:lnTo>
                <a:lnTo>
                  <a:pt x="889695" y="455813"/>
                </a:lnTo>
                <a:lnTo>
                  <a:pt x="813242" y="518417"/>
                </a:lnTo>
                <a:lnTo>
                  <a:pt x="740900" y="585729"/>
                </a:lnTo>
                <a:lnTo>
                  <a:pt x="672958" y="657481"/>
                </a:lnTo>
                <a:lnTo>
                  <a:pt x="609689" y="733385"/>
                </a:lnTo>
                <a:lnTo>
                  <a:pt x="551346" y="813137"/>
                </a:lnTo>
                <a:lnTo>
                  <a:pt x="498162" y="896419"/>
                </a:lnTo>
                <a:lnTo>
                  <a:pt x="450350" y="982896"/>
                </a:lnTo>
                <a:lnTo>
                  <a:pt x="408101" y="1072224"/>
                </a:lnTo>
                <a:lnTo>
                  <a:pt x="371585" y="1164044"/>
                </a:lnTo>
                <a:lnTo>
                  <a:pt x="340947" y="1257989"/>
                </a:lnTo>
                <a:lnTo>
                  <a:pt x="316310" y="1353683"/>
                </a:lnTo>
                <a:lnTo>
                  <a:pt x="297773" y="1450744"/>
                </a:lnTo>
                <a:lnTo>
                  <a:pt x="285410" y="1548782"/>
                </a:lnTo>
                <a:lnTo>
                  <a:pt x="279270" y="1647406"/>
                </a:lnTo>
                <a:lnTo>
                  <a:pt x="279377" y="1746220"/>
                </a:lnTo>
                <a:lnTo>
                  <a:pt x="285732" y="1844831"/>
                </a:lnTo>
                <a:lnTo>
                  <a:pt x="298310" y="1942842"/>
                </a:lnTo>
                <a:lnTo>
                  <a:pt x="317059" y="2039861"/>
                </a:lnTo>
                <a:lnTo>
                  <a:pt x="341904" y="2135502"/>
                </a:lnTo>
                <a:lnTo>
                  <a:pt x="372747" y="2229380"/>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Extraction node">
            <a:extLst>
              <a:ext uri="{FF2B5EF4-FFF2-40B4-BE49-F238E27FC236}">
                <a16:creationId xmlns:a16="http://schemas.microsoft.com/office/drawing/2014/main" id="{5CA63EBD-2AC7-4509-3F34-D84C19B49DED}"/>
              </a:ext>
            </a:extLst>
          </p:cNvPr>
          <p:cNvSpPr/>
          <p:nvPr/>
        </p:nvSpPr>
        <p:spPr>
          <a:xfrm>
            <a:off x="5308600" y="19685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Extraction</a:t>
            </a:r>
            <a:endParaRPr lang="LID4096" sz="2000" b="1">
              <a:solidFill>
                <a:srgbClr val="111713"/>
              </a:solidFill>
              <a:latin typeface="Segoe UI" panose="020B0502040204020203" pitchFamily="34" charset="0"/>
            </a:endParaRPr>
          </a:p>
        </p:txBody>
      </p:sp>
      <p:sp>
        <p:nvSpPr>
          <p:cNvPr id="19" name="Detection node">
            <a:extLst>
              <a:ext uri="{FF2B5EF4-FFF2-40B4-BE49-F238E27FC236}">
                <a16:creationId xmlns:a16="http://schemas.microsoft.com/office/drawing/2014/main" id="{DCDA8E4D-CE2B-6341-61BD-46C8E8C3A417}"/>
              </a:ext>
            </a:extLst>
          </p:cNvPr>
          <p:cNvSpPr/>
          <p:nvPr/>
        </p:nvSpPr>
        <p:spPr>
          <a:xfrm>
            <a:off x="67818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Detection</a:t>
            </a:r>
            <a:endParaRPr lang="LID4096" sz="2000" b="1">
              <a:solidFill>
                <a:srgbClr val="111713"/>
              </a:solidFill>
              <a:latin typeface="Segoe UI" panose="020B0502040204020203" pitchFamily="34" charset="0"/>
            </a:endParaRPr>
          </a:p>
        </p:txBody>
      </p:sp>
      <p:sp>
        <p:nvSpPr>
          <p:cNvPr id="20" name="Evidence node">
            <a:extLst>
              <a:ext uri="{FF2B5EF4-FFF2-40B4-BE49-F238E27FC236}">
                <a16:creationId xmlns:a16="http://schemas.microsoft.com/office/drawing/2014/main" id="{AA445849-AD4C-4595-EBF3-B982BE59464A}"/>
              </a:ext>
            </a:extLst>
          </p:cNvPr>
          <p:cNvSpPr/>
          <p:nvPr/>
        </p:nvSpPr>
        <p:spPr>
          <a:xfrm>
            <a:off x="38354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Evidence</a:t>
            </a:r>
            <a:endParaRPr lang="LID4096" sz="2000" b="1">
              <a:solidFill>
                <a:srgbClr val="111713"/>
              </a:solidFill>
              <a:latin typeface="Segoe UI" panose="020B0502040204020203" pitchFamily="34" charset="0"/>
            </a:endParaRPr>
          </a:p>
        </p:txBody>
      </p:sp>
      <p:sp>
        <p:nvSpPr>
          <p:cNvPr id="21" name="Automated label">
            <a:extLst>
              <a:ext uri="{FF2B5EF4-FFF2-40B4-BE49-F238E27FC236}">
                <a16:creationId xmlns:a16="http://schemas.microsoft.com/office/drawing/2014/main" id="{B79CF01C-8727-7890-5956-56588980CC30}"/>
              </a:ext>
            </a:extLst>
          </p:cNvPr>
          <p:cNvSpPr txBox="1"/>
          <p:nvPr/>
        </p:nvSpPr>
        <p:spPr>
          <a:xfrm>
            <a:off x="5232400" y="3759200"/>
            <a:ext cx="1727200" cy="369332"/>
          </a:xfrm>
          <a:prstGeom prst="rect">
            <a:avLst/>
          </a:prstGeom>
          <a:noFill/>
        </p:spPr>
        <p:txBody>
          <a:bodyPr vert="horz" rtlCol="0" anchor="ctr">
            <a:spAutoFit/>
          </a:bodyPr>
          <a:lstStyle/>
          <a:p>
            <a:pPr algn="ctr"/>
            <a:r>
              <a:rPr lang="en-US" b="1">
                <a:solidFill>
                  <a:srgbClr val="356B3F"/>
                </a:solidFill>
                <a:latin typeface="Cascadia Mono" panose="020B0609020000020004" pitchFamily="49" charset="0"/>
              </a:rPr>
              <a:t>AUTOMATED</a:t>
            </a:r>
            <a:endParaRPr lang="LID4096" b="1">
              <a:solidFill>
                <a:srgbClr val="356B3F"/>
              </a:solidFill>
              <a:latin typeface="Cascadia Mono" panose="020B0609020000020004" pitchFamily="49" charset="0"/>
            </a:endParaRPr>
          </a:p>
        </p:txBody>
      </p:sp>
    </p:spTree>
    <p:extLst>
      <p:ext uri="{BB962C8B-B14F-4D97-AF65-F5344CB8AC3E}">
        <p14:creationId xmlns:p14="http://schemas.microsoft.com/office/powerpoint/2010/main" val="4444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00"/>
                                        <p:tgtEl>
                                          <p:spTgt spid="10"/>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00"/>
                                        <p:tgtEl>
                                          <p:spTgt spid="19"/>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
                                        <p:tgtEl>
                                          <p:spTgt spid="11"/>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00"/>
                                        <p:tgtEl>
                                          <p:spTgt spid="2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txBody>
          <a:bodyPr/>
          <a:lstStyle/>
          <a:p>
            <a:endParaRPr lang="LID4096"/>
          </a:p>
        </p:txBody>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txBody>
          <a:bodyPr/>
          <a:lstStyle/>
          <a:p>
            <a:endParaRPr lang="LID4096"/>
          </a:p>
        </p:txBody>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07</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570</Words>
  <Application>Microsoft Office PowerPoint</Application>
  <DocSecurity>0</DocSecurity>
  <PresentationFormat>Widescreen</PresentationFormat>
  <Paragraphs>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9</cp:revision>
  <dcterms:created xsi:type="dcterms:W3CDTF">2026-09-09T22:48:33Z</dcterms:created>
  <dcterms:modified xsi:type="dcterms:W3CDTF">2026-09-09T23:44:48Z</dcterms:modified>
</cp:coreProperties>
</file>