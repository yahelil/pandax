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Figure 5 reports known initial-access vectors in non-Error, non-Misuse breaches (n=9,891): credential abuse 22%, exploitation of vulnerabilities 20%, and phishing 16%. Source: https://www.verizon.com/business/resources/Tf4a/reports/2025-dbir-data-breach-investigations-report.pdf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C2AC44A-7F55-438A-9FD1-94A6627514D2}"/>
              </a:ext>
            </a:extLst>
          </p:cNvPr>
          <p:cNvSpPr>
            <a:spLocks noGrp="1"/>
          </p:cNvSpPr>
          <p:nvPr/>
        </p:nvSpPr>
        <p:spPr>
          <a:xfrm>
            <a:off x="0" y="0"/>
            <a:ext cx="171450" cy="6858000"/>
          </a:xfrm>
          <a:prstGeom prst="rect">
            <a:avLst/>
          </a:prstGeom>
          <a:solidFill>
            <a:srgbClr val="356B3F"/>
          </a:solidFill>
          <a:ln w="0">
            <a:noFill/>
          </a:ln>
        </p:spPr>
      </p:sp>
      <p:sp>
        <p:nvSpPr>
          <p:cNvPr id="2" name="Rectangle 1">
            <a:extLst>
              <a:ext uri="{FF2B5EF4-FFF2-40B4-BE49-F238E27FC236}">
                <a16:creationId xmlns:a16="http://schemas.microsoft.com/office/drawing/2014/main" id="{7F5A0753-C3FB-4FAE-8318-0CFEEA19B8F5}"/>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C6A23A02-3F40-4BD6-8F93-EDC63F8D631E}"/>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4C23A367-E542-4CA1-A00B-7D3A75470450}"/>
              </a:ext>
            </a:extLst>
          </p:cNvPr>
          <p:cNvSpPr>
            <a:spLocks noGrp="1"/>
          </p:cNvSpPr>
          <p:nvPr/>
        </p:nvSpPr>
        <p:spPr>
          <a:xfrm>
            <a:off x="7296150" y="0"/>
            <a:ext cx="4895850" cy="6858000"/>
          </a:xfrm>
          <a:prstGeom prst="rect">
            <a:avLst/>
          </a:prstGeom>
          <a:solidFill>
            <a:srgbClr val="356B3F"/>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528232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CEB4E01-F775-4555-A1B1-EBF48889453C}"/>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95F65F1A-234C-456A-8F6C-78ACB03786A8}"/>
              </a:ext>
            </a:extLst>
          </p:cNvPr>
          <p:cNvSpPr>
            <a:spLocks noGrp="1"/>
          </p:cNvSpPr>
          <p:nvPr/>
        </p:nvSpPr>
        <p:spPr>
          <a:xfrm>
            <a:off x="533400" y="552450"/>
            <a:ext cx="57150" cy="514350"/>
          </a:xfrm>
          <a:prstGeom prst="rect">
            <a:avLst/>
          </a:prstGeom>
          <a:solidFill>
            <a:srgbClr val="356B3F"/>
          </a:solidFill>
          <a:ln w="0">
            <a:noFill/>
          </a:ln>
        </p:spPr>
      </p:sp>
      <p:sp>
        <p:nvSpPr>
          <p:cNvPr id="4" name="Rectangle 3">
            <a:extLst>
              <a:ext uri="{FF2B5EF4-FFF2-40B4-BE49-F238E27FC236}">
                <a16:creationId xmlns:a16="http://schemas.microsoft.com/office/drawing/2014/main" id="{B4D41143-AB41-4188-8603-AED4FA200D6C}"/>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How breaches begin</a:t>
            </a:r>
          </a:p>
        </p:txBody>
      </p:sp>
      <p:sp>
        <p:nvSpPr>
          <p:cNvPr id="5" name="Rectangle 4">
            <a:extLst>
              <a:ext uri="{FF2B5EF4-FFF2-40B4-BE49-F238E27FC236}">
                <a16:creationId xmlns:a16="http://schemas.microsoft.com/office/drawing/2014/main" id="{B5B8DFEC-F7FC-4B7C-A618-071E1B111BBF}"/>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22%</a:t>
            </a:r>
          </a:p>
        </p:txBody>
      </p:sp>
      <p:sp>
        <p:nvSpPr>
          <p:cNvPr id="6" name="Rectangle 5">
            <a:extLst>
              <a:ext uri="{FF2B5EF4-FFF2-40B4-BE49-F238E27FC236}">
                <a16:creationId xmlns:a16="http://schemas.microsoft.com/office/drawing/2014/main" id="{6221EAD5-D130-407F-A1F5-E5A6B8300E69}"/>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Compromised</a:t>
            </a:r>
          </a:p>
          <a:p>
            <a:pPr algn="l">
              <a:lnSpc>
                <a:spcPct val="105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credentials</a:t>
            </a:r>
          </a:p>
        </p:txBody>
      </p:sp>
      <p:sp>
        <p:nvSpPr>
          <p:cNvPr id="7" name="Straight Connector 6">
            <a:extLst>
              <a:ext uri="{FF2B5EF4-FFF2-40B4-BE49-F238E27FC236}">
                <a16:creationId xmlns:a16="http://schemas.microsoft.com/office/drawing/2014/main" id="{9B414145-8D78-4786-A7F4-40DA0379467F}"/>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AE7A59D4-1EF5-46AE-BBB6-C76A0307DC96}"/>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20%</a:t>
            </a:r>
          </a:p>
        </p:txBody>
      </p:sp>
      <p:sp>
        <p:nvSpPr>
          <p:cNvPr id="9" name="Rectangle 8">
            <a:extLst>
              <a:ext uri="{FF2B5EF4-FFF2-40B4-BE49-F238E27FC236}">
                <a16:creationId xmlns:a16="http://schemas.microsoft.com/office/drawing/2014/main" id="{9CC46670-2C5A-4CF4-A49E-6B66F9F0A68E}"/>
              </a:ext>
            </a:extLst>
          </p:cNvPr>
          <p:cNvSpPr>
            <a:spLocks noGrp="1"/>
          </p:cNvSpPr>
          <p:nvPr/>
        </p:nvSpPr>
        <p:spPr>
          <a:xfrm>
            <a:off x="2857500" y="427672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Vulnerability exploitation</a:t>
            </a:r>
          </a:p>
        </p:txBody>
      </p:sp>
      <p:sp>
        <p:nvSpPr>
          <p:cNvPr id="10" name="Rectangle 9">
            <a:extLst>
              <a:ext uri="{FF2B5EF4-FFF2-40B4-BE49-F238E27FC236}">
                <a16:creationId xmlns:a16="http://schemas.microsoft.com/office/drawing/2014/main" id="{788E50AD-0F50-4ADE-922E-F5B337388D54}"/>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16%</a:t>
            </a:r>
          </a:p>
        </p:txBody>
      </p:sp>
      <p:sp>
        <p:nvSpPr>
          <p:cNvPr id="11" name="Rectangle 10">
            <a:extLst>
              <a:ext uri="{FF2B5EF4-FFF2-40B4-BE49-F238E27FC236}">
                <a16:creationId xmlns:a16="http://schemas.microsoft.com/office/drawing/2014/main" id="{140A6DE5-39E8-484D-BDBC-1BD1C0B1ABB1}"/>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Phishing</a:t>
            </a:r>
          </a:p>
        </p:txBody>
      </p:sp>
      <p:sp>
        <p:nvSpPr>
          <p:cNvPr id="12" name="Rectangle 11">
            <a:extLst>
              <a:ext uri="{FF2B5EF4-FFF2-40B4-BE49-F238E27FC236}">
                <a16:creationId xmlns:a16="http://schemas.microsoft.com/office/drawing/2014/main" id="{4B4DD595-B99D-4DF8-A306-6587A7D41DAA}"/>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275CDF69-7DFD-4876-BEEB-82AD85D22228}"/>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204141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24BC68-C001-435E-B9F1-5BA244581C66}"/>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69462E07-90D2-496A-891F-68E32071A4A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E6790767-EB0B-4362-B25E-303928592184}"/>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A26BF784-BA0F-4B10-85F8-3905CC92CC0F}"/>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CA512D0F-5176-43ED-B7EB-E2402F7B91DA}"/>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FD05E0F7-DE4D-470D-84D4-24F406F020CF}"/>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4A0527BE-C78D-4D28-B104-FC78F79EBD10}"/>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FA559E91-55A0-4E48-B7B1-F28C1091DB61}"/>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207BFE44-C413-4D4D-A937-FEF2A44D58A5}"/>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A6F2979A-5C47-48F2-82BD-A5338956A177}"/>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0BFB7776-CC95-4624-9F74-CFB354B1C3F3}"/>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77CAF6A5-B920-4ABF-965D-3891612A0CF1}"/>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33B8596-1A18-4BF5-850C-74EF6FFA4BEF}"/>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157237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6E9FD86-9655-488A-96F5-01B835B7D00F}"/>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E7D4AA9D-0CEC-4641-B890-8355D7953976}"/>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BBC2518F-A1B2-4CA9-A6A2-54DBF6072C33}"/>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4" name="Rectangle 3">
            <a:extLst>
              <a:ext uri="{FF2B5EF4-FFF2-40B4-BE49-F238E27FC236}">
                <a16:creationId xmlns:a16="http://schemas.microsoft.com/office/drawing/2014/main" id="{A8599C04-D429-42D9-971D-C46EAD0CEF15}"/>
              </a:ext>
            </a:extLst>
          </p:cNvPr>
          <p:cNvSpPr>
            <a:spLocks noGrp="1"/>
          </p:cNvSpPr>
          <p:nvPr/>
        </p:nvSpPr>
        <p:spPr>
          <a:xfrm>
            <a:off x="704850" y="2109788"/>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EQUIFAX</a:t>
            </a:r>
          </a:p>
        </p:txBody>
      </p:sp>
      <p:sp>
        <p:nvSpPr>
          <p:cNvPr id="5" name="Rectangle: Rounded Corners 4">
            <a:extLst>
              <a:ext uri="{FF2B5EF4-FFF2-40B4-BE49-F238E27FC236}">
                <a16:creationId xmlns:a16="http://schemas.microsoft.com/office/drawing/2014/main" id="{27EBD959-D121-4C71-B37D-75F29312D4BA}"/>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A25A9360-8804-4CB8-8C0D-4763124EB137}"/>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8" name="Rectangle 7">
            <a:extLst>
              <a:ext uri="{FF2B5EF4-FFF2-40B4-BE49-F238E27FC236}">
                <a16:creationId xmlns:a16="http://schemas.microsoft.com/office/drawing/2014/main" id="{FF235653-97A8-4A7E-918A-84F1F082B65B}"/>
              </a:ext>
            </a:extLst>
          </p:cNvPr>
          <p:cNvSpPr>
            <a:spLocks noGrp="1"/>
          </p:cNvSpPr>
          <p:nvPr/>
        </p:nvSpPr>
        <p:spPr>
          <a:xfrm>
            <a:off x="704850" y="3810000"/>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CALIFORNIA DOJ  /  UBER</a:t>
            </a:r>
          </a:p>
        </p:txBody>
      </p:sp>
      <p:sp>
        <p:nvSpPr>
          <p:cNvPr id="9" name="Rectangle: Rounded Corners 8">
            <a:extLst>
              <a:ext uri="{FF2B5EF4-FFF2-40B4-BE49-F238E27FC236}">
                <a16:creationId xmlns:a16="http://schemas.microsoft.com/office/drawing/2014/main" id="{FA83A471-F138-45E4-90FF-0478702EBE8D}"/>
              </a:ext>
            </a:extLst>
          </p:cNvPr>
          <p:cNvSpPr>
            <a:spLocks noGrp="1"/>
          </p:cNvSpPr>
          <p:nvPr/>
        </p:nvSpPr>
        <p:spPr>
          <a:xfrm>
            <a:off x="2857500" y="2533650"/>
            <a:ext cx="8572500" cy="2095500"/>
          </a:xfrm>
          <a:prstGeom prst="roundRect">
            <a:avLst>
              <a:gd name="adj" fmla="val 3636"/>
            </a:avLst>
          </a:prstGeom>
          <a:solidFill>
            <a:srgbClr val="FFFFFF"/>
          </a:solidFill>
          <a:ln w="9525">
            <a:solidFill>
              <a:srgbClr val="D5DDD8"/>
            </a:solidFill>
            <a:prstDash val="solid"/>
          </a:ln>
        </p:spPr>
      </p:sp>
      <p:pic>
        <p:nvPicPr>
          <p:cNvPr id="27" name="Picture 26"/>
          <p:cNvPicPr>
            <a:picLocks noChangeAspect="1"/>
          </p:cNvPicPr>
          <p:nvPr/>
        </p:nvPicPr>
        <p:blipFill>
          <a:blip r:embed="rId4"/>
          <a:stretch/>
        </p:blipFill>
        <p:spPr>
          <a:xfrm>
            <a:off x="3562832" y="2628900"/>
            <a:ext cx="7161835" cy="1905000"/>
          </a:xfrm>
          <a:prstGeom prst="rect">
            <a:avLst/>
          </a:prstGeom>
        </p:spPr>
      </p:pic>
      <p:sp>
        <p:nvSpPr>
          <p:cNvPr id="11" name="Rectangle 10">
            <a:extLst>
              <a:ext uri="{FF2B5EF4-FFF2-40B4-BE49-F238E27FC236}">
                <a16:creationId xmlns:a16="http://schemas.microsoft.com/office/drawing/2014/main" id="{D19E69BF-E3C9-4DEE-965F-D7A7DA06F4BF}"/>
              </a:ext>
            </a:extLst>
          </p:cNvPr>
          <p:cNvSpPr>
            <a:spLocks noGrp="1"/>
          </p:cNvSpPr>
          <p:nvPr/>
        </p:nvSpPr>
        <p:spPr>
          <a:xfrm>
            <a:off x="685800" y="4900613"/>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$5.8M</a:t>
            </a:r>
          </a:p>
        </p:txBody>
      </p:sp>
      <p:sp>
        <p:nvSpPr>
          <p:cNvPr id="12" name="Rectangle 11">
            <a:extLst>
              <a:ext uri="{FF2B5EF4-FFF2-40B4-BE49-F238E27FC236}">
                <a16:creationId xmlns:a16="http://schemas.microsoft.com/office/drawing/2014/main" id="{6462E30D-8C03-408C-A721-506E5C93A1C4}"/>
              </a:ext>
            </a:extLst>
          </p:cNvPr>
          <p:cNvSpPr>
            <a:spLocks noGrp="1"/>
          </p:cNvSpPr>
          <p:nvPr/>
        </p:nvSpPr>
        <p:spPr>
          <a:xfrm>
            <a:off x="704850" y="551021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RING</a:t>
            </a:r>
          </a:p>
        </p:txBody>
      </p:sp>
      <p:sp>
        <p:nvSpPr>
          <p:cNvPr id="13" name="Rectangle: Rounded Corners 12">
            <a:extLst>
              <a:ext uri="{FF2B5EF4-FFF2-40B4-BE49-F238E27FC236}">
                <a16:creationId xmlns:a16="http://schemas.microsoft.com/office/drawing/2014/main" id="{05D888BA-7792-464B-9E48-3FBF87CCC3C7}"/>
              </a:ext>
            </a:extLst>
          </p:cNvPr>
          <p:cNvSpPr>
            <a:spLocks noGrp="1"/>
          </p:cNvSpPr>
          <p:nvPr/>
        </p:nvSpPr>
        <p:spPr>
          <a:xfrm>
            <a:off x="2857500" y="4781550"/>
            <a:ext cx="8572500" cy="1000125"/>
          </a:xfrm>
          <a:prstGeom prst="roundRect">
            <a:avLst>
              <a:gd name="adj" fmla="val 7619"/>
            </a:avLst>
          </a:prstGeom>
          <a:solidFill>
            <a:srgbClr val="FFFFFF"/>
          </a:solidFill>
          <a:ln w="9525">
            <a:solidFill>
              <a:srgbClr val="D5DDD8"/>
            </a:solidFill>
            <a:prstDash val="solid"/>
          </a:ln>
        </p:spPr>
      </p:sp>
      <p:pic>
        <p:nvPicPr>
          <p:cNvPr id="31" name="Picture 30"/>
          <p:cNvPicPr>
            <a:picLocks noChangeAspect="1"/>
          </p:cNvPicPr>
          <p:nvPr/>
        </p:nvPicPr>
        <p:blipFill>
          <a:blip r:embed="rId5"/>
          <a:stretch/>
        </p:blipFill>
        <p:spPr>
          <a:xfrm>
            <a:off x="3439279" y="4876800"/>
            <a:ext cx="7408942" cy="809625"/>
          </a:xfrm>
          <a:prstGeom prst="rect">
            <a:avLst/>
          </a:prstGeom>
        </p:spPr>
      </p:pic>
      <p:sp>
        <p:nvSpPr>
          <p:cNvPr id="15" name="Rectangle: Rounded Corners 14">
            <a:extLst>
              <a:ext uri="{FF2B5EF4-FFF2-40B4-BE49-F238E27FC236}">
                <a16:creationId xmlns:a16="http://schemas.microsoft.com/office/drawing/2014/main" id="{1DE3930C-D8C2-4A31-ACD6-4EF4B5D9D55E}"/>
              </a:ext>
            </a:extLst>
          </p:cNvPr>
          <p:cNvSpPr>
            <a:spLocks noGrp="1"/>
          </p:cNvSpPr>
          <p:nvPr/>
        </p:nvSpPr>
        <p:spPr>
          <a:xfrm>
            <a:off x="685800" y="5915025"/>
            <a:ext cx="10744200" cy="409575"/>
          </a:xfrm>
          <a:prstGeom prst="roundRect">
            <a:avLst>
              <a:gd name="adj" fmla="val 18605"/>
            </a:avLst>
          </a:prstGeom>
          <a:solidFill>
            <a:srgbClr val="356B3F"/>
          </a:solidFill>
          <a:ln w="0">
            <a:noFill/>
          </a:ln>
        </p:spPr>
      </p:sp>
      <p:sp>
        <p:nvSpPr>
          <p:cNvPr id="16" name="Rectangle 15">
            <a:extLst>
              <a:ext uri="{FF2B5EF4-FFF2-40B4-BE49-F238E27FC236}">
                <a16:creationId xmlns:a16="http://schemas.microsoft.com/office/drawing/2014/main" id="{63927000-75B6-4252-8257-C2EA29F1B40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a:solidFill>
                  <a:srgbClr val="F2F5F9"/>
                </a:solidFill>
                <a:latin typeface="Segoe UI"/>
                <a:ea typeface="Segoe UI"/>
                <a:cs typeface="Segoe UI"/>
              </a:rPr>
              <a:t>€6.31B in tracked GDPR fines</a:t>
            </a:r>
          </a:p>
        </p:txBody>
      </p:sp>
      <p:sp>
        <p:nvSpPr>
          <p:cNvPr id="17" name="Rectangle 16">
            <a:extLst>
              <a:ext uri="{FF2B5EF4-FFF2-40B4-BE49-F238E27FC236}">
                <a16:creationId xmlns:a16="http://schemas.microsoft.com/office/drawing/2014/main" id="{1D08B37E-1695-4B98-B051-D34520075B65}"/>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68095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850A01F-9163-4E46-9D72-F615AFCE3965}"/>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25F6B55D-EA5D-4A6E-BFA7-F00FCD5B2FF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A10E2178-B6EF-4BB5-B5BC-47999CB44D42}"/>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334F2EDA-545F-42D7-A735-1802F03F4704}"/>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39049F30-3023-4E69-B5BE-A84BDD833875}"/>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60278CEB-8840-4E88-A432-B66DEB9476A9}"/>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BFBC92D0-9D8B-4278-9EEF-5086EB0B3A6B}"/>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74FE325C-1486-4C1F-AEA4-43E7D4EADB11}"/>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45A176DB-1A68-43A3-9C81-F900B145E1E6}"/>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98C00BBF-1E5D-4377-99A7-8B69FEC7C9A3}"/>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D66BBBF1-FEA7-4D9B-8428-89631E0FFF02}"/>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AC8F4FF4-ACE3-48EA-9536-1906D7DB7AC9}"/>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5C301436-C17B-4206-989D-6EE97A22BF11}"/>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E55D86A0-835D-42D8-ACE8-C2FF79A790EF}"/>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2658F8D9-AD6C-486D-958C-20EFE3C75C72}"/>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189AFDA8-3720-4515-B26D-8EA2A2C991D2}"/>
              </a:ext>
            </a:extLst>
          </p:cNvPr>
          <p:cNvSpPr>
            <a:spLocks noGrp="1"/>
          </p:cNvSpPr>
          <p:nvPr/>
        </p:nvSpPr>
        <p:spPr>
          <a:xfrm>
            <a:off x="9525000" y="2457450"/>
            <a:ext cx="2038350" cy="0"/>
          </a:xfrm>
          <a:prstGeom prst="line">
            <a:avLst/>
          </a:prstGeom>
          <a:noFill/>
          <a:ln w="47625">
            <a:solidFill>
              <a:srgbClr val="356B3F"/>
            </a:solidFill>
            <a:prstDash val="solid"/>
          </a:ln>
        </p:spPr>
      </p:sp>
      <p:sp>
        <p:nvSpPr>
          <p:cNvPr id="17" name="Rectangle 16">
            <a:extLst>
              <a:ext uri="{FF2B5EF4-FFF2-40B4-BE49-F238E27FC236}">
                <a16:creationId xmlns:a16="http://schemas.microsoft.com/office/drawing/2014/main" id="{67337F75-1790-4928-A3B0-F6D00B3ADA47}"/>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B1606598-76A6-4AED-BC3F-F3B2A1ABB0B3}"/>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AD70FEDB-F8B6-4D42-81EE-69EE08978949}"/>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A8C9A8"/>
                </a:solidFill>
                <a:latin typeface="Segoe UI"/>
                <a:ea typeface="Segoe UI"/>
                <a:cs typeface="Segoe UI"/>
              </a:defRPr>
            </a:pPr>
            <a:r>
              <a:rPr sz="2700" b="1">
                <a:solidFill>
                  <a:srgbClr val="A8C9A8"/>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ABC41662-64AE-452B-9171-9506F790AF92}"/>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FC88590E-06C6-4904-8532-B24937CAA346}"/>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160512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820E870-AFE8-448D-8B4D-DD9C842E87AA}"/>
              </a:ext>
            </a:extLst>
          </p:cNvPr>
          <p:cNvSpPr>
            <a:spLocks noGrp="1"/>
          </p:cNvSpPr>
          <p:nvPr/>
        </p:nvSpPr>
        <p:spPr>
          <a:xfrm>
            <a:off x="0" y="0"/>
            <a:ext cx="3333750" cy="6858000"/>
          </a:xfrm>
          <a:prstGeom prst="rect">
            <a:avLst/>
          </a:prstGeom>
          <a:solidFill>
            <a:srgbClr val="356B3F"/>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EF16315C-75BA-4C7F-ABA5-B3F1DC85ECDD}"/>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D7B9EADB-9AB1-43A6-9162-3AEA9DC6FE1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CA01C0ED-71B6-40E9-99B2-4CDDF1D31C3F}"/>
              </a:ext>
            </a:extLst>
          </p:cNvPr>
          <p:cNvSpPr>
            <a:spLocks noGrp="1"/>
          </p:cNvSpPr>
          <p:nvPr/>
        </p:nvSpPr>
        <p:spPr>
          <a:xfrm>
            <a:off x="4000500" y="2743200"/>
            <a:ext cx="7239000" cy="0"/>
          </a:xfrm>
          <a:prstGeom prst="line">
            <a:avLst/>
          </a:prstGeom>
          <a:noFill/>
          <a:ln w="38100">
            <a:solidFill>
              <a:srgbClr val="356B3F"/>
            </a:solidFill>
            <a:prstDash val="solid"/>
          </a:ln>
        </p:spPr>
      </p:sp>
      <p:sp>
        <p:nvSpPr>
          <p:cNvPr id="6" name="Rectangle 5">
            <a:extLst>
              <a:ext uri="{FF2B5EF4-FFF2-40B4-BE49-F238E27FC236}">
                <a16:creationId xmlns:a16="http://schemas.microsoft.com/office/drawing/2014/main" id="{2421CFA7-2789-47F8-8213-5898A1F052E6}"/>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26CB5906-FDFA-4772-BBD2-A3B7B3ACC4D0}"/>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AF8FCBA3-8543-4FEF-8DBD-95AFC8DDB922}"/>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84540AAA-6793-4CD2-ACF5-91FB318E5C7D}"/>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6B196818-87FA-4BFF-8730-DEA79BBF4298}"/>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D6F66FF4-A7DC-44BE-AEBC-F909D99737BB}"/>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B9BF4396-5E40-429E-89C8-EA9E71F8939F}"/>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15BE3322-C89C-46CD-B3DE-5FE98105CA1E}"/>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842EF901-FDE2-4D2C-9957-B90DCEC9B492}"/>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FD4BBE22-F40E-40C0-9FC5-6A372C3A8213}"/>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77E995BD-F444-4867-91D3-DABEF8440807}"/>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16706132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591</Words>
  <Application>Microsoft Office PowerPoint</Application>
  <DocSecurity>0</DocSecurity>
  <PresentationFormat>Widescreen</PresentationFormat>
  <Paragraphs>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2026-09-09T22:17:12Z</dcterms:created>
  <dcterms:modified xsi:type="dcterms:W3CDTF">2026-09-09T22:17:43Z</dcterms:modified>
</cp:coreProperties>
</file>