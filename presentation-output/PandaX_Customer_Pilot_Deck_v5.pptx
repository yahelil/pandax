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70bd8d7b5141c9" /><Relationship Type="http://schemas.openxmlformats.org/officeDocument/2006/relationships/extended-properties" Target="/docProps/app.xml" Id="R531fdad1310c42d2" /><Relationship Type="http://schemas.openxmlformats.org/officeDocument/2006/relationships/officeDocument" Target="/ppt/presentation.xml" Id="R2a96362157074361" /></Relationships>
</file>

<file path=ppt/presentation.xml><?xml version="1.0" encoding="utf-8"?>
<p:presentation xmlns:p="http://schemas.openxmlformats.org/presentationml/2006/main">
  <p:sldMasterIdLst>
    <p:sldMasterId xmlns:r="http://schemas.openxmlformats.org/officeDocument/2006/relationships" id="2147483648" r:id="R294b99abd6fa43fa"/>
  </p:sldMasterIdLst>
  <p:notesMasterIdLst>
    <p:notesMasterId xmlns:r="http://schemas.openxmlformats.org/officeDocument/2006/relationships" r:id="Rf000591950a44be0"/>
  </p:notesMasterIdLst>
  <p:sldIdLst>
    <p:sldId xmlns:r="http://schemas.openxmlformats.org/officeDocument/2006/relationships" id="256" r:id="Rf0ad8e398b7b47ad"/>
    <p:sldId xmlns:r="http://schemas.openxmlformats.org/officeDocument/2006/relationships" id="257" r:id="Rb460976891944b87"/>
    <p:sldId xmlns:r="http://schemas.openxmlformats.org/officeDocument/2006/relationships" id="258" r:id="R3e83febc319c4a5b"/>
    <p:sldId xmlns:r="http://schemas.openxmlformats.org/officeDocument/2006/relationships" id="259" r:id="Rdacf27c9f5c8482c"/>
    <p:sldId xmlns:r="http://schemas.openxmlformats.org/officeDocument/2006/relationships" id="260" r:id="R23ea81eac3514e23"/>
    <p:sldId xmlns:r="http://schemas.openxmlformats.org/officeDocument/2006/relationships" id="261" r:id="Rcc58d63385064cdf"/>
    <p:sldId xmlns:r="http://schemas.openxmlformats.org/officeDocument/2006/relationships" id="262" r:id="R25107490bfed4e80"/>
    <p:sldId xmlns:r="http://schemas.openxmlformats.org/officeDocument/2006/relationships" id="263" r:id="R9e353dba75864851"/>
    <p:sldId xmlns:r="http://schemas.openxmlformats.org/officeDocument/2006/relationships" id="264" r:id="R0f3c30fcc16240a7"/>
    <p:sldId xmlns:r="http://schemas.openxmlformats.org/officeDocument/2006/relationships" id="265" r:id="R4f91311665984c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cc8143c72e4aca" /><Relationship Type="http://schemas.openxmlformats.org/officeDocument/2006/relationships/slideMaster" Target="/ppt/slideMasters/slideMaster1.xml" Id="R294b99abd6fa43fa" /><Relationship Type="http://schemas.openxmlformats.org/officeDocument/2006/relationships/notesMaster" Target="/ppt/notesMasters/notesMaster1.xml" Id="Rf000591950a44be0" /><Relationship Type="http://schemas.openxmlformats.org/officeDocument/2006/relationships/presProps" Target="/ppt/presProps.xml" Id="Racd6570e90e843b7" /><Relationship Type="http://schemas.openxmlformats.org/officeDocument/2006/relationships/tableStyles" Target="/ppt/tableStyles.xml" Id="Rb6f0406b3eb5401b" /><Relationship Type="http://schemas.openxmlformats.org/officeDocument/2006/relationships/slide" Target="/ppt/slides/slide1.xml" Id="Rf0ad8e398b7b47ad" /><Relationship Type="http://schemas.openxmlformats.org/officeDocument/2006/relationships/slide" Target="/ppt/slides/slide2.xml" Id="Rb460976891944b87" /><Relationship Type="http://schemas.openxmlformats.org/officeDocument/2006/relationships/slide" Target="/ppt/slides/slide3.xml" Id="R3e83febc319c4a5b" /><Relationship Type="http://schemas.openxmlformats.org/officeDocument/2006/relationships/slide" Target="/ppt/slides/slide4.xml" Id="Rdacf27c9f5c8482c" /><Relationship Type="http://schemas.openxmlformats.org/officeDocument/2006/relationships/slide" Target="/ppt/slides/slide5.xml" Id="R23ea81eac3514e23" /><Relationship Type="http://schemas.openxmlformats.org/officeDocument/2006/relationships/slide" Target="/ppt/slides/slide6.xml" Id="Rcc58d63385064cdf" /><Relationship Type="http://schemas.openxmlformats.org/officeDocument/2006/relationships/slide" Target="/ppt/slides/slide7.xml" Id="R25107490bfed4e80" /><Relationship Type="http://schemas.openxmlformats.org/officeDocument/2006/relationships/slide" Target="/ppt/slides/slide8.xml" Id="R9e353dba75864851" /><Relationship Type="http://schemas.openxmlformats.org/officeDocument/2006/relationships/slide" Target="/ppt/slides/slide9.xml" Id="R0f3c30fcc16240a7" /><Relationship Type="http://schemas.openxmlformats.org/officeDocument/2006/relationships/slide" Target="/ppt/slides/slide10.xml" Id="R4f91311665984c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aec66407ee45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96c31afee94acc" /><Relationship Type="http://schemas.openxmlformats.org/officeDocument/2006/relationships/notesMaster" Target="/ppt/notesMasters/notesMaster1.xml" Id="Rf2162987406647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0fb5200fcb4ac1" /><Relationship Type="http://schemas.openxmlformats.org/officeDocument/2006/relationships/notesMaster" Target="/ppt/notesMasters/notesMaster1.xml" Id="R444093ec59a44e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c58cf1fafb410a" /><Relationship Type="http://schemas.openxmlformats.org/officeDocument/2006/relationships/notesMaster" Target="/ppt/notesMasters/notesMaster1.xml" Id="Rdd6632df391642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f87f4ff35441c4" /><Relationship Type="http://schemas.openxmlformats.org/officeDocument/2006/relationships/notesMaster" Target="/ppt/notesMasters/notesMaster1.xml" Id="R1eab77be44eb4a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ea0ec29330434d" /><Relationship Type="http://schemas.openxmlformats.org/officeDocument/2006/relationships/notesMaster" Target="/ppt/notesMasters/notesMaster1.xml" Id="R2a5fec4c0a4b46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89f77283504a90" /><Relationship Type="http://schemas.openxmlformats.org/officeDocument/2006/relationships/notesMaster" Target="/ppt/notesMasters/notesMaster1.xml" Id="Re03b274a760d41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d33f104b6a4d28" /><Relationship Type="http://schemas.openxmlformats.org/officeDocument/2006/relationships/notesMaster" Target="/ppt/notesMasters/notesMaster1.xml" Id="Rfc8b5e5dc5304b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a06560c3114e72" /><Relationship Type="http://schemas.openxmlformats.org/officeDocument/2006/relationships/notesMaster" Target="/ppt/notesMasters/notesMaster1.xml" Id="R667186d940a142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2de7cfc15c4608" /><Relationship Type="http://schemas.openxmlformats.org/officeDocument/2006/relationships/notesMaster" Target="/ppt/notesMasters/notesMaster1.xml" Id="R95dcf2a655fc45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e32b64694ad4260" /><Relationship Type="http://schemas.openxmlformats.org/officeDocument/2006/relationships/notesMaster" Target="/ppt/notesMasters/notesMaster1.xml" Id="Ra38a943c569646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Audience: prospective industrial and networking equipment customers. No investment request. Brand logo supplied by the user and preserved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industrial-control visual created for this deck. Product-lifecycle framing reflects the user's stated target market and the CRA manufacturer's lifecycle obligations. CRA: https://eur-lex.europa.eu/eli/reg/2024/2847/oj/eng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CRA Article 14 establishes staged notifications for actively exploited vulnerabilities and severe incidents. Article 64 provides fines up to €15,000,000 or 2.5% of worldwide annual turnover for specified non-compliance, whichever is higher. Reporting obligations apply from 11 September 2026. Sources: https://eur-lex.europa.eu/eli/reg/2024/2847/oj/eng ; https://digital-strategy.ec.europa.eu/en/policies/cra-reporting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U.S. matters illustrate the legal cost of missing vulnerability, evidence, and reporting controls. They are not CRA cases and the settlement structures are not directly comparable. Equifax agreed to pay at least $575 million, potentially up to $700 million; the FTC alleged an alerted critical vulnerability remained unpatched and that asset inventory and scanner coverage were incomplete: https://www.ftc.gov/news-events/news/press-releases/2019/07/equifax-pay-575-million-part-settlement-ftc-cfpb-states-related-2017-data-breach . Uber agreed to a $148 million nationwide settlement over the 2016 breach and alleged cover-up: https://www.oag.ca.gov/news/press-releases/california-attorney-general-becerra-san-francisco-district-attorney-gasc%C3%B3n . Ring agreed to pay $5.8 million for consumer refunds; the FTC alleged failures that enabled hackers to access accounts, cameras, and videos: https://www.ftc.gov/legal-library/browse/cases-proceedings/2023113-ring-llc . GDPR Enforcement Tracker statistics, refreshed 20 August 2026: 3,206 tracked cases across 32 countries and €6.31 billion in tracked fines: https://enforcementtracker.com/statistics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workflow and monitoring behavior based on the user-supplied completed PoC specification. Intelligence sources: OSV https://osv.dev/ ; CISA Known Exploited Vulnerabilities Catalog https://www.cisa.gov/known-exploited-vulnerabilities-catalog ; EPSS https://www.first.org/epss/ . PandaX prepares evidence and documentation; it does not automatically determine legal reportability in every case. Reports may be approved, exported, and recorded as manually submitted. Direct ENISA API submission is not claimed. Current PoC monitoring means refreshed external intelligence, not runtime device telemetry or live attack detection.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differentiation supplied by the user: PandaX does not convert extraction failure into a clean result and does not claim universal exploitability proof. Automatic findings, external intelligence, human decisions, and unknown coverage remain explicitly labeled.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Acceptance results are user-supplied completed-PoC results: 76/76 checks, 34/34 negative controls, blind supported-image acceptance, restart persistence, both Article 14 workflow types, PDF/A-2b validation, and external signature verification behavior. Observed local sample was run through the PandaX dashboard on 8 September 2026: OpenWrt 19.07.1; timestamps 01:27:04.274Z to 01:27:24.154Z (19.88 seconds); 118 components; 2 findings; 952 files sealed. This sample is not a performance guarantee. Separate dossier-only generation time was unavailable and was not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Category-level positioning based on the user's product comparison. This is not a claim about every individual vendor. Validate named competitors before using a named-vendor version externally.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scope supplied by the user. The ask is a structured pilot, not investment or a large procurement commitment. Simulated submissions and receipts must remain visibly labeled as simulations.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Founding team and roles supplied by the user. Closing ask: prospective customer pilot. No funding 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30dabad5ca4d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cbcd8720c64afa" /><Relationship Type="http://schemas.openxmlformats.org/officeDocument/2006/relationships/slideLayout" Target="/ppt/slideLayouts/slideLayout1.xml" Id="R8a880d85fe414d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880d85fe414d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495fe8e4034d64" /><Relationship Type="http://schemas.openxmlformats.org/officeDocument/2006/relationships/image" Target="/ppt/media/image.png" Id="Rf7d6fa091af34781" /><Relationship Type="http://schemas.openxmlformats.org/officeDocument/2006/relationships/notesSlide" Target="/ppt/notesSlides/notesSlide1.xml" Id="Rdf7e5abce44141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9ff0c2e00c34bb5" /><Relationship Type="http://schemas.openxmlformats.org/officeDocument/2006/relationships/image" Target="/ppt/media/image2.png" Id="R4771425f2fc64d73" /><Relationship Type="http://schemas.openxmlformats.org/officeDocument/2006/relationships/notesSlide" Target="/ppt/notesSlides/notesSlide2.xml" Id="R613782f73e1642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ecdfff402ad4f47" /><Relationship Type="http://schemas.openxmlformats.org/officeDocument/2006/relationships/notesSlide" Target="/ppt/notesSlides/notesSlide3.xml" Id="Ra0a64a4503f441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6e22404c08b4fd9" /><Relationship Type="http://schemas.openxmlformats.org/officeDocument/2006/relationships/notesSlide" Target="/ppt/notesSlides/notesSlide4.xml" Id="R38ac5fa3591a4b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068ee245058465e" /><Relationship Type="http://schemas.openxmlformats.org/officeDocument/2006/relationships/notesSlide" Target="/ppt/notesSlides/notesSlide5.xml" Id="R4b870df3e65f4f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cd5538fd77a49a8" /><Relationship Type="http://schemas.openxmlformats.org/officeDocument/2006/relationships/notesSlide" Target="/ppt/notesSlides/notesSlide6.xml" Id="R6443ff2aeb1a4b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f3878c130a4000" /><Relationship Type="http://schemas.openxmlformats.org/officeDocument/2006/relationships/notesSlide" Target="/ppt/notesSlides/notesSlide7.xml" Id="R1f90fadecf2247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fb36c0b71164461" /><Relationship Type="http://schemas.openxmlformats.org/officeDocument/2006/relationships/notesSlide" Target="/ppt/notesSlides/notesSlide8.xml" Id="R726c2aa6d6504c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d4237d28e5b4812" /><Relationship Type="http://schemas.openxmlformats.org/officeDocument/2006/relationships/notesSlide" Target="/ppt/notesSlides/notesSlide9.xml" Id="R3bef66ede2a64a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732ec3567574811" /><Relationship Type="http://schemas.openxmlformats.org/officeDocument/2006/relationships/image" Target="/ppt/media/image3.png" Id="Re26dcb743cbc4ca6" /><Relationship Type="http://schemas.openxmlformats.org/officeDocument/2006/relationships/notesSlide" Target="/ppt/notesSlides/notesSlide10.xml" Id="R1a9abad0215e42e9" /></Relationships>
</file>

<file path=ppt/slides/slide1.xml><?xml version="1.0" encoding="utf-8"?>
<p:sld xmlns:p="http://schemas.openxmlformats.org/presentationml/2006/main">
  <p:cSld>
    <p:bg>
      <p:bgPr>
        <a:solidFill xmlns:a="http://schemas.openxmlformats.org/drawingml/2006/main">
          <a:srgbClr val="0A0B0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8E3431-53C1-45FD-9989-0B5FB704E55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ED8A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A699A4-3B83-4F1A-8EC3-03904808A0CA}"/>
              </a:ext>
            </a:extLst>
          </p:cNvPr>
          <p:cNvSpPr>
            <a:spLocks xmlns:a="http://schemas.openxmlformats.org/drawingml/2006/main" noGrp="1"/>
          </p:cNvSpPr>
          <p:nvPr/>
        </p:nvSpPr>
        <p:spPr>
          <a:xfrm xmlns:a="http://schemas.openxmlformats.org/drawingml/2006/main">
            <a:off x="666750" y="1181100"/>
            <a:ext cx="619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5400" b="1">
                <a:solidFill>
                  <a:srgbClr val="F2F5F9"/>
                </a:solidFill>
                <a:latin typeface="Segoe UI"/>
                <a:ea typeface="Segoe UI"/>
                <a:cs typeface="Segoe UI"/>
              </a:defRPr>
            </a:pPr>
            <a:r>
              <a:rPr sz="5400" b="1">
                <a:solidFill>
                  <a:srgbClr val="F2F5F9"/>
                </a:solidFill>
                <a:latin typeface="Segoe UI"/>
                <a:ea typeface="Segoe UI"/>
                <a:cs typeface="Segoe UI"/>
              </a:rPr>
              <a:t>PandaX</a:t>
            </a:r>
          </a:p>
        </p:txBody>
      </p:sp>
      <p:sp>
        <p:nvSpPr>
          <p:cNvPr id="3" name="">
            <a:extLst xmlns:a="http://schemas.openxmlformats.org/drawingml/2006/main">
              <a:ext uri="{FF2B5EF4-FFF2-40B4-BE49-F238E27FC236}">
                <a16:creationId xmlns:a16="http://schemas.microsoft.com/office/drawing/2014/main" id="{A2E6F7AF-53F5-4626-857F-7276D52ADC23}"/>
              </a:ext>
            </a:extLst>
          </p:cNvPr>
          <p:cNvSpPr>
            <a:spLocks xmlns:a="http://schemas.openxmlformats.org/drawingml/2006/main" noGrp="1"/>
          </p:cNvSpPr>
          <p:nvPr/>
        </p:nvSpPr>
        <p:spPr>
          <a:xfrm xmlns:a="http://schemas.openxmlformats.org/drawingml/2006/main">
            <a:off x="685800" y="2190750"/>
            <a:ext cx="619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3300" b="1">
                <a:solidFill>
                  <a:srgbClr val="F2F5F9"/>
                </a:solidFill>
                <a:latin typeface="Segoe UI"/>
                <a:ea typeface="Segoe UI"/>
                <a:cs typeface="Segoe UI"/>
              </a:defRPr>
            </a:pPr>
            <a:r>
              <a:rPr sz="3300" b="1">
                <a:solidFill>
                  <a:srgbClr val="F2F5F9"/>
                </a:solidFill>
                <a:latin typeface="Segoe UI"/>
                <a:ea typeface="Segoe UI"/>
                <a:cs typeface="Segoe UI"/>
              </a:rPr>
              <a:t>Firmware evidence for CRA readiness</a:t>
            </a:r>
          </a:p>
        </p:txBody>
      </p:sp>
      <p:sp>
        <p:nvSpPr>
          <p:cNvPr id="4" name="">
            <a:extLst xmlns:a="http://schemas.openxmlformats.org/drawingml/2006/main">
              <a:ext uri="{FF2B5EF4-FFF2-40B4-BE49-F238E27FC236}">
                <a16:creationId xmlns:a16="http://schemas.microsoft.com/office/drawing/2014/main" id="{3205E4DB-49CE-4FBF-825A-C0E7BA89DEC3}"/>
              </a:ext>
            </a:extLst>
          </p:cNvPr>
          <p:cNvSpPr>
            <a:spLocks xmlns:a="http://schemas.openxmlformats.org/drawingml/2006/main" noGrp="1"/>
          </p:cNvSpPr>
          <p:nvPr/>
        </p:nvSpPr>
        <p:spPr>
          <a:xfrm xmlns:a="http://schemas.openxmlformats.org/drawingml/2006/main">
            <a:off x="704850" y="352425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0">
                <a:solidFill>
                  <a:srgbClr val="A9B3C1"/>
                </a:solidFill>
                <a:latin typeface="Segoe UI"/>
                <a:ea typeface="Segoe UI"/>
                <a:cs typeface="Segoe UI"/>
              </a:defRPr>
            </a:pPr>
            <a:r>
              <a:rPr sz="1800" b="0">
                <a:solidFill>
                  <a:srgbClr val="A9B3C1"/>
                </a:solidFill>
                <a:latin typeface="Segoe UI"/>
                <a:ea typeface="Segoe UI"/>
                <a:cs typeface="Segoe UI"/>
              </a:rPr>
              <a:t>Customer pilot presentation for industrial and connected-product teams</a:t>
            </a:r>
          </a:p>
        </p:txBody>
      </p:sp>
      <p:sp>
        <p:nvSpPr>
          <p:cNvPr id="5" name="">
            <a:extLst xmlns:a="http://schemas.openxmlformats.org/drawingml/2006/main">
              <a:ext uri="{FF2B5EF4-FFF2-40B4-BE49-F238E27FC236}">
                <a16:creationId xmlns:a16="http://schemas.microsoft.com/office/drawing/2014/main" id="{059B4F5C-B6D5-484D-B3C8-7748D89EC234}"/>
              </a:ext>
            </a:extLst>
          </p:cNvPr>
          <p:cNvSpPr>
            <a:spLocks xmlns:a="http://schemas.openxmlformats.org/drawingml/2006/main" noGrp="1"/>
          </p:cNvSpPr>
          <p:nvPr/>
        </p:nvSpPr>
        <p:spPr>
          <a:xfrm xmlns:a="http://schemas.openxmlformats.org/drawingml/2006/main">
            <a:off x="704850" y="4629150"/>
            <a:ext cx="2000250" cy="285750"/>
          </a:xfrm>
          <a:prstGeom xmlns:a="http://schemas.openxmlformats.org/drawingml/2006/main" prst="roundRect">
            <a:avLst>
              <a:gd name="adj" fmla="val 26667"/>
            </a:avLst>
          </a:prstGeom>
          <a:solidFill xmlns:a="http://schemas.openxmlformats.org/drawingml/2006/main">
            <a:srgbClr val="171A20"/>
          </a:solidFill>
          <a:ln xmlns:a="http://schemas.openxmlformats.org/drawingml/2006/main" w="9525">
            <a:solidFill>
              <a:srgbClr val="2A2F36"/>
            </a:solidFill>
            <a:prstDash val="solid"/>
          </a:ln>
        </p:spPr>
        <p:txBody>
          <a:bodyPr xmlns:a="http://schemas.openxmlformats.org/drawingml/2006/main" lIns="47625" tIns="0" rIns="47625" bIns="0" anchor="ctr">
            <a:noAutofit/>
          </a:bodyPr>
          <a:lstStyle xmlns:a="http://schemas.openxmlformats.org/drawingml/2006/main"/>
          <a:p xmlns:a="http://schemas.openxmlformats.org/drawingml/2006/main">
            <a:pPr algn="ctr">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LOCAL / ON-PREMISES</a:t>
            </a:r>
          </a:p>
        </p:txBody>
      </p:sp>
      <p:sp>
        <p:nvSpPr>
          <p:cNvPr id="6" name="">
            <a:extLst xmlns:a="http://schemas.openxmlformats.org/drawingml/2006/main">
              <a:ext uri="{FF2B5EF4-FFF2-40B4-BE49-F238E27FC236}">
                <a16:creationId xmlns:a16="http://schemas.microsoft.com/office/drawing/2014/main" id="{B370C910-613B-4F6A-A8B8-EAABEB5A47E6}"/>
              </a:ext>
            </a:extLst>
          </p:cNvPr>
          <p:cNvSpPr>
            <a:spLocks xmlns:a="http://schemas.openxmlformats.org/drawingml/2006/main" noGrp="1"/>
          </p:cNvSpPr>
          <p:nvPr/>
        </p:nvSpPr>
        <p:spPr>
          <a:xfrm xmlns:a="http://schemas.openxmlformats.org/drawingml/2006/main">
            <a:off x="2857500" y="4629150"/>
            <a:ext cx="1809750" cy="285750"/>
          </a:xfrm>
          <a:prstGeom xmlns:a="http://schemas.openxmlformats.org/drawingml/2006/main" prst="roundRect">
            <a:avLst>
              <a:gd name="adj" fmla="val 26667"/>
            </a:avLst>
          </a:prstGeom>
          <a:solidFill xmlns:a="http://schemas.openxmlformats.org/drawingml/2006/main">
            <a:srgbClr val="171A20"/>
          </a:solidFill>
          <a:ln xmlns:a="http://schemas.openxmlformats.org/drawingml/2006/main" w="9525">
            <a:solidFill>
              <a:srgbClr val="2A2F36"/>
            </a:solidFill>
            <a:prstDash val="solid"/>
          </a:ln>
        </p:spPr>
        <p:txBody>
          <a:bodyPr xmlns:a="http://schemas.openxmlformats.org/drawingml/2006/main" lIns="47625" tIns="0" rIns="47625" bIns="0" anchor="ctr">
            <a:noAutofit/>
          </a:bodyPr>
          <a:lstStyle xmlns:a="http://schemas.openxmlformats.org/drawingml/2006/main"/>
          <a:p xmlns:a="http://schemas.openxmlformats.org/drawingml/2006/main">
            <a:pPr algn="ctr">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CRA ARTICLE 14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7d6fa091af34781"/>
          <a:stretch xmlns:a="http://schemas.openxmlformats.org/drawingml/2006/main"/>
        </p:blipFill>
        <p:spPr>
          <a:xfrm xmlns:a="http://schemas.openxmlformats.org/drawingml/2006/main">
            <a:off x="7524750" y="533400"/>
            <a:ext cx="3810000" cy="5715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D86A32D-1643-4607-AB44-071CB211E188}"/>
              </a:ext>
            </a:extLst>
          </p:cNvPr>
          <p:cNvSpPr>
            <a:spLocks xmlns:a="http://schemas.openxmlformats.org/drawingml/2006/main" noGrp="1"/>
          </p:cNvSpPr>
          <p:nvPr/>
        </p:nvSpPr>
        <p:spPr>
          <a:xfrm xmlns:a="http://schemas.openxmlformats.org/drawingml/2006/main">
            <a:off x="704850" y="61912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27D8C"/>
                </a:solidFill>
                <a:latin typeface="Cascadia Mono"/>
                <a:ea typeface="Cascadia Mono"/>
                <a:cs typeface="Cascadia Mono"/>
              </a:defRPr>
            </a:pPr>
            <a:r>
              <a:rPr sz="1050" b="0">
                <a:solidFill>
                  <a:srgbClr val="727D8C"/>
                </a:solidFill>
                <a:latin typeface="Cascadia Mono"/>
                <a:ea typeface="Cascadia Mono"/>
                <a:cs typeface="Cascadia Mono"/>
              </a:rPr>
              <a:t>Prepared 9 September 2026</a:t>
            </a:r>
          </a:p>
        </p:txBody>
      </p:sp>
    </p:spTree>
    <p:extLst>
      <p:ext uri="{BB962C8B-B14F-4D97-AF65-F5344CB8AC3E}">
        <p14:creationId xmlns:p14="http://schemas.microsoft.com/office/powerpoint/2010/main" val="1965903627"/>
      </p:ext>
    </p:extLst>
  </p:cSld>
</p:sld>
</file>

<file path=ppt/slides/slide2.xml><?xml version="1.0" encoding="utf-8"?>
<p:sld xmlns:p="http://schemas.openxmlformats.org/presentationml/2006/main">
  <p:cSld>
    <p:bg>
      <p:bgPr>
        <a:solidFill xmlns:a="http://schemas.openxmlformats.org/drawingml/2006/main">
          <a:srgbClr val="0A0B0D"/>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771425f2fc64d7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C111C69-737A-42EC-ADFD-D5FBE1F904DD}"/>
              </a:ext>
            </a:extLst>
          </p:cNvPr>
          <p:cNvSpPr>
            <a:spLocks xmlns:a="http://schemas.openxmlformats.org/drawingml/2006/main" noGrp="1"/>
          </p:cNvSpPr>
          <p:nvPr/>
        </p:nvSpPr>
        <p:spPr>
          <a:xfrm xmlns:a="http://schemas.openxmlformats.org/drawingml/2006/main">
            <a:off x="0" y="0"/>
            <a:ext cx="6334125" cy="6858000"/>
          </a:xfrm>
          <a:prstGeom xmlns:a="http://schemas.openxmlformats.org/drawingml/2006/main" prst="rect">
            <a:avLst/>
          </a:prstGeom>
          <a:solidFill xmlns:a="http://schemas.openxmlformats.org/drawingml/2006/main">
            <a:srgbClr val="0A0B0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EFBF9FC-9650-4234-A8F1-9F6B85035D1E}"/>
              </a:ext>
            </a:extLst>
          </p:cNvPr>
          <p:cNvSpPr>
            <a:spLocks xmlns:a="http://schemas.openxmlformats.org/drawingml/2006/main" noGrp="1"/>
          </p:cNvSpPr>
          <p:nvPr/>
        </p:nvSpPr>
        <p:spPr>
          <a:xfrm xmlns:a="http://schemas.openxmlformats.org/drawingml/2006/main">
            <a:off x="533400" y="552450"/>
            <a:ext cx="57150" cy="514350"/>
          </a:xfrm>
          <a:prstGeom xmlns:a="http://schemas.openxmlformats.org/drawingml/2006/main" prst="rect">
            <a:avLst/>
          </a:prstGeom>
          <a:solidFill xmlns:a="http://schemas.openxmlformats.org/drawingml/2006/main">
            <a:srgbClr val="4ED8A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7265CE9-6DDC-46DC-83FF-279940D6B784}"/>
              </a:ext>
            </a:extLst>
          </p:cNvPr>
          <p:cNvSpPr>
            <a:spLocks xmlns:a="http://schemas.openxmlformats.org/drawingml/2006/main" noGrp="1"/>
          </p:cNvSpPr>
          <p:nvPr/>
        </p:nvSpPr>
        <p:spPr>
          <a:xfrm xmlns:a="http://schemas.openxmlformats.org/drawingml/2006/main">
            <a:off x="781050" y="485775"/>
            <a:ext cx="5429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3225" b="1">
                <a:solidFill>
                  <a:srgbClr val="F2F5F9"/>
                </a:solidFill>
                <a:latin typeface="Segoe UI"/>
                <a:ea typeface="Segoe UI"/>
                <a:cs typeface="Segoe UI"/>
              </a:defRPr>
            </a:pPr>
            <a:r>
              <a:rPr sz="3225" b="1">
                <a:solidFill>
                  <a:srgbClr val="F2F5F9"/>
                </a:solidFill>
                <a:latin typeface="Segoe UI"/>
                <a:ea typeface="Segoe UI"/>
                <a:cs typeface="Segoe UI"/>
              </a:rPr>
              <a:t>Industrial firmware outlives the records around it</a:t>
            </a:r>
          </a:p>
        </p:txBody>
      </p:sp>
      <p:sp>
        <p:nvSpPr>
          <p:cNvPr id="5" name="">
            <a:extLst xmlns:a="http://schemas.openxmlformats.org/drawingml/2006/main">
              <a:ext uri="{FF2B5EF4-FFF2-40B4-BE49-F238E27FC236}">
                <a16:creationId xmlns:a16="http://schemas.microsoft.com/office/drawing/2014/main" id="{4E6FA2FE-1CD9-4D38-AB80-3147DC12E519}"/>
              </a:ext>
            </a:extLst>
          </p:cNvPr>
          <p:cNvSpPr>
            <a:spLocks xmlns:a="http://schemas.openxmlformats.org/drawingml/2006/main" noGrp="1"/>
          </p:cNvSpPr>
          <p:nvPr/>
        </p:nvSpPr>
        <p:spPr>
          <a:xfrm xmlns:a="http://schemas.openxmlformats.org/drawingml/2006/main">
            <a:off x="781050" y="1962150"/>
            <a:ext cx="4857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2325" b="1">
                <a:solidFill>
                  <a:srgbClr val="F2F5F9"/>
                </a:solidFill>
                <a:latin typeface="Segoe UI"/>
                <a:ea typeface="Segoe UI"/>
                <a:cs typeface="Segoe UI"/>
              </a:defRPr>
            </a:pPr>
            <a:r>
              <a:rPr sz="2325" b="1">
                <a:solidFill>
                  <a:srgbClr val="F2F5F9"/>
                </a:solidFill>
                <a:latin typeface="Segoe UI"/>
                <a:ea typeface="Segoe UI"/>
                <a:cs typeface="Segoe UI"/>
              </a:rPr>
              <a:t>A vulnerability can become a regulatory case before the organization has finished determining what is inside its own product.</a:t>
            </a:r>
          </a:p>
        </p:txBody>
      </p:sp>
      <p:sp>
        <p:nvSpPr>
          <p:cNvPr id="6" name="">
            <a:extLst xmlns:a="http://schemas.openxmlformats.org/drawingml/2006/main">
              <a:ext uri="{FF2B5EF4-FFF2-40B4-BE49-F238E27FC236}">
                <a16:creationId xmlns:a16="http://schemas.microsoft.com/office/drawing/2014/main" id="{36E9E176-2C50-4DA2-93A7-7EBB239A925E}"/>
              </a:ext>
            </a:extLst>
          </p:cNvPr>
          <p:cNvSpPr>
            <a:spLocks xmlns:a="http://schemas.openxmlformats.org/drawingml/2006/main" noGrp="1"/>
          </p:cNvSpPr>
          <p:nvPr/>
        </p:nvSpPr>
        <p:spPr>
          <a:xfrm xmlns:a="http://schemas.openxmlformats.org/drawingml/2006/main">
            <a:off x="781050" y="3981450"/>
            <a:ext cx="4343400" cy="0"/>
          </a:xfrm>
          <a:prstGeom xmlns:a="http://schemas.openxmlformats.org/drawingml/2006/main" prst="line">
            <a:avLst/>
          </a:prstGeom>
          <a:noFill xmlns:a="http://schemas.openxmlformats.org/drawingml/2006/main"/>
          <a:ln xmlns:a="http://schemas.openxmlformats.org/drawingml/2006/main" w="19050">
            <a:solidFill>
              <a:srgbClr val="4ED8A0"/>
            </a:solidFill>
            <a:prstDash val="solid"/>
          </a:ln>
        </p:spPr>
      </p:sp>
      <p:sp>
        <p:nvSpPr>
          <p:cNvPr id="7" name="">
            <a:extLst xmlns:a="http://schemas.openxmlformats.org/drawingml/2006/main">
              <a:ext uri="{FF2B5EF4-FFF2-40B4-BE49-F238E27FC236}">
                <a16:creationId xmlns:a16="http://schemas.microsoft.com/office/drawing/2014/main" id="{D6E152C8-9A6A-41C4-A76C-6E8AD7D09526}"/>
              </a:ext>
            </a:extLst>
          </p:cNvPr>
          <p:cNvSpPr>
            <a:spLocks xmlns:a="http://schemas.openxmlformats.org/drawingml/2006/main" noGrp="1"/>
          </p:cNvSpPr>
          <p:nvPr/>
        </p:nvSpPr>
        <p:spPr>
          <a:xfrm xmlns:a="http://schemas.openxmlformats.org/drawingml/2006/main">
            <a:off x="781050" y="4257675"/>
            <a:ext cx="4000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650" b="0">
                <a:solidFill>
                  <a:srgbClr val="A9B3C1"/>
                </a:solidFill>
                <a:latin typeface="Segoe UI"/>
                <a:ea typeface="Segoe UI"/>
                <a:cs typeface="Segoe UI"/>
              </a:defRPr>
            </a:pPr>
            <a:r>
              <a:rPr sz="1650" b="0">
                <a:solidFill>
                  <a:srgbClr val="A9B3C1"/>
                </a:solidFill>
                <a:latin typeface="Segoe UI"/>
                <a:ea typeface="Segoe UI"/>
                <a:cs typeface="Segoe UI"/>
              </a:rPr>
              <a:t>Long support periods</a:t>
            </a:r>
          </a:p>
          <a:p xmlns:a="http://schemas.openxmlformats.org/drawingml/2006/main">
            <a:pPr algn="l">
              <a:lnSpc>
                <a:spcPct val="125000"/>
              </a:lnSpc>
              <a:buNone/>
              <a:defRPr sz="1650" b="0">
                <a:solidFill>
                  <a:srgbClr val="A9B3C1"/>
                </a:solidFill>
                <a:latin typeface="Segoe UI"/>
                <a:ea typeface="Segoe UI"/>
                <a:cs typeface="Segoe UI"/>
              </a:defRPr>
            </a:pPr>
            <a:r>
              <a:rPr sz="1650" b="0">
                <a:solidFill>
                  <a:srgbClr val="A9B3C1"/>
                </a:solidFill>
                <a:latin typeface="Segoe UI"/>
                <a:ea typeface="Segoe UI"/>
                <a:cs typeface="Segoe UI"/>
              </a:rPr>
              <a:t>Third-party firmware</a:t>
            </a:r>
          </a:p>
          <a:p xmlns:a="http://schemas.openxmlformats.org/drawingml/2006/main">
            <a:pPr algn="l">
              <a:lnSpc>
                <a:spcPct val="125000"/>
              </a:lnSpc>
              <a:buNone/>
              <a:defRPr sz="1650" b="0">
                <a:solidFill>
                  <a:srgbClr val="A9B3C1"/>
                </a:solidFill>
                <a:latin typeface="Segoe UI"/>
                <a:ea typeface="Segoe UI"/>
                <a:cs typeface="Segoe UI"/>
              </a:defRPr>
            </a:pPr>
            <a:r>
              <a:rPr sz="1650" b="0">
                <a:solidFill>
                  <a:srgbClr val="A9B3C1"/>
                </a:solidFill>
                <a:latin typeface="Segoe UI"/>
                <a:ea typeface="Segoe UI"/>
                <a:cs typeface="Segoe UI"/>
              </a:rPr>
              <a:t>Limited patchability</a:t>
            </a:r>
          </a:p>
          <a:p xmlns:a="http://schemas.openxmlformats.org/drawingml/2006/main">
            <a:pPr algn="l">
              <a:lnSpc>
                <a:spcPct val="125000"/>
              </a:lnSpc>
              <a:buNone/>
              <a:defRPr sz="1650" b="0">
                <a:solidFill>
                  <a:srgbClr val="A9B3C1"/>
                </a:solidFill>
                <a:latin typeface="Segoe UI"/>
                <a:ea typeface="Segoe UI"/>
                <a:cs typeface="Segoe UI"/>
              </a:defRPr>
            </a:pPr>
            <a:r>
              <a:rPr sz="1650" b="0">
                <a:solidFill>
                  <a:srgbClr val="A9B3C1"/>
                </a:solidFill>
                <a:latin typeface="Segoe UI"/>
                <a:ea typeface="Segoe UI"/>
                <a:cs typeface="Segoe UI"/>
              </a:rPr>
              <a:t>Fragmented ownership</a:t>
            </a:r>
          </a:p>
        </p:txBody>
      </p:sp>
      <p:sp>
        <p:nvSpPr>
          <p:cNvPr id="8" name="">
            <a:extLst xmlns:a="http://schemas.openxmlformats.org/drawingml/2006/main">
              <a:ext uri="{FF2B5EF4-FFF2-40B4-BE49-F238E27FC236}">
                <a16:creationId xmlns:a16="http://schemas.microsoft.com/office/drawing/2014/main" id="{DB4097DC-E9EA-4549-856A-70EA4C5DA779}"/>
              </a:ext>
            </a:extLst>
          </p:cNvPr>
          <p:cNvSpPr>
            <a:spLocks xmlns:a="http://schemas.openxmlformats.org/drawingml/2006/main" noGrp="1"/>
          </p:cNvSpPr>
          <p:nvPr/>
        </p:nvSpPr>
        <p:spPr>
          <a:xfrm xmlns:a="http://schemas.openxmlformats.org/drawingml/2006/main">
            <a:off x="533400" y="6496050"/>
            <a:ext cx="11125200" cy="0"/>
          </a:xfrm>
          <a:prstGeom xmlns:a="http://schemas.openxmlformats.org/drawingml/2006/main" prst="line">
            <a:avLst/>
          </a:prstGeom>
          <a:noFill xmlns:a="http://schemas.openxmlformats.org/drawingml/2006/main"/>
          <a:ln xmlns:a="http://schemas.openxmlformats.org/drawingml/2006/main" w="9525">
            <a:solidFill>
              <a:srgbClr val="2A2F36"/>
            </a:solidFill>
            <a:prstDash val="solid"/>
          </a:ln>
        </p:spPr>
      </p:sp>
      <p:sp>
        <p:nvSpPr>
          <p:cNvPr id="9" name="">
            <a:extLst xmlns:a="http://schemas.openxmlformats.org/drawingml/2006/main">
              <a:ext uri="{FF2B5EF4-FFF2-40B4-BE49-F238E27FC236}">
                <a16:creationId xmlns:a16="http://schemas.microsoft.com/office/drawing/2014/main" id="{DCCA2EB8-D362-4B58-846D-6C6520088EF8}"/>
              </a:ext>
            </a:extLst>
          </p:cNvPr>
          <p:cNvSpPr>
            <a:spLocks xmlns:a="http://schemas.openxmlformats.org/drawingml/2006/main" noGrp="1"/>
          </p:cNvSpPr>
          <p:nvPr/>
        </p:nvSpPr>
        <p:spPr>
          <a:xfrm xmlns:a="http://schemas.openxmlformats.org/drawingml/2006/main">
            <a:off x="533400" y="6572250"/>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727D8C"/>
                </a:solidFill>
                <a:latin typeface="Cascadia Mono"/>
                <a:ea typeface="Cascadia Mono"/>
                <a:cs typeface="Cascadia Mono"/>
              </a:defRPr>
            </a:pPr>
            <a:r>
              <a:rPr sz="975" b="0">
                <a:solidFill>
                  <a:srgbClr val="727D8C"/>
                </a:solidFill>
                <a:latin typeface="Cascadia Mono"/>
                <a:ea typeface="Cascadia Mono"/>
                <a:cs typeface="Cascadia Mono"/>
              </a:rPr>
              <a:t>PandaX  /  Customer pilot presentation</a:t>
            </a:r>
          </a:p>
        </p:txBody>
      </p:sp>
      <p:sp>
        <p:nvSpPr>
          <p:cNvPr id="10" name="">
            <a:extLst xmlns:a="http://schemas.openxmlformats.org/drawingml/2006/main">
              <a:ext uri="{FF2B5EF4-FFF2-40B4-BE49-F238E27FC236}">
                <a16:creationId xmlns:a16="http://schemas.microsoft.com/office/drawing/2014/main" id="{9A929965-3FD4-457A-9776-5EAD1EB335B8}"/>
              </a:ext>
            </a:extLst>
          </p:cNvPr>
          <p:cNvSpPr>
            <a:spLocks xmlns:a="http://schemas.openxmlformats.org/drawingml/2006/main" noGrp="1"/>
          </p:cNvSpPr>
          <p:nvPr/>
        </p:nvSpPr>
        <p:spPr>
          <a:xfrm xmlns:a="http://schemas.openxmlformats.org/drawingml/2006/main">
            <a:off x="11049000" y="6562725"/>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0">
                <a:solidFill>
                  <a:srgbClr val="727D8C"/>
                </a:solidFill>
                <a:latin typeface="Cascadia Mono"/>
                <a:ea typeface="Cascadia Mono"/>
                <a:cs typeface="Cascadia Mono"/>
              </a:defRPr>
            </a:pPr>
            <a:r>
              <a:rPr sz="1050" b="0">
                <a:solidFill>
                  <a:srgbClr val="727D8C"/>
                </a:solidFill>
                <a:latin typeface="Cascadia Mono"/>
                <a:ea typeface="Cascadia Mono"/>
                <a:cs typeface="Cascadia Mono"/>
              </a:rPr>
              <a:t>02</a:t>
            </a:r>
          </a:p>
        </p:txBody>
      </p:sp>
    </p:spTree>
    <p:extLst>
      <p:ext uri="{BB962C8B-B14F-4D97-AF65-F5344CB8AC3E}">
        <p14:creationId xmlns:p14="http://schemas.microsoft.com/office/powerpoint/2010/main" val="1898152200"/>
      </p:ext>
    </p:extLst>
  </p:cSld>
</p:sld>
</file>

<file path=ppt/slides/slide3.xml><?xml version="1.0" encoding="utf-8"?>
<p:sld xmlns:p="http://schemas.openxmlformats.org/presentationml/2006/main">
  <p:cSld>
    <p:bg>
      <p:bgPr>
        <a:solidFill xmlns:a="http://schemas.openxmlformats.org/drawingml/2006/main">
          <a:srgbClr val="F4F7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4F33960-BFE1-430F-B0A7-84F4DCF453CD}"/>
              </a:ext>
            </a:extLst>
          </p:cNvPr>
          <p:cNvSpPr>
            <a:spLocks xmlns:a="http://schemas.openxmlformats.org/drawingml/2006/main" noGrp="1"/>
          </p:cNvSpPr>
          <p:nvPr/>
        </p:nvSpPr>
        <p:spPr>
          <a:xfrm xmlns:a="http://schemas.openxmlformats.org/drawingml/2006/main">
            <a:off x="533400" y="476250"/>
            <a:ext cx="57150" cy="514350"/>
          </a:xfrm>
          <a:prstGeom xmlns:a="http://schemas.openxmlformats.org/drawingml/2006/main" prst="rect">
            <a:avLst/>
          </a:prstGeom>
          <a:solidFill xmlns:a="http://schemas.openxmlformats.org/drawingml/2006/main">
            <a:srgbClr val="4ED8A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1BFF9D-FA12-4E5D-8F93-6E92E64933FE}"/>
              </a:ext>
            </a:extLst>
          </p:cNvPr>
          <p:cNvSpPr>
            <a:spLocks xmlns:a="http://schemas.openxmlformats.org/drawingml/2006/main" noGrp="1"/>
          </p:cNvSpPr>
          <p:nvPr/>
        </p:nvSpPr>
        <p:spPr>
          <a:xfrm xmlns:a="http://schemas.openxmlformats.org/drawingml/2006/main">
            <a:off x="762000" y="43815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The compliance clock starts at awareness</a:t>
            </a:r>
          </a:p>
        </p:txBody>
      </p:sp>
      <p:sp>
        <p:nvSpPr>
          <p:cNvPr id="3" name="">
            <a:extLst xmlns:a="http://schemas.openxmlformats.org/drawingml/2006/main">
              <a:ext uri="{FF2B5EF4-FFF2-40B4-BE49-F238E27FC236}">
                <a16:creationId xmlns:a16="http://schemas.microsoft.com/office/drawing/2014/main" id="{DE4E9B38-5E52-49D7-B7CD-EDB2B58D15E1}"/>
              </a:ext>
            </a:extLst>
          </p:cNvPr>
          <p:cNvSpPr>
            <a:spLocks xmlns:a="http://schemas.openxmlformats.org/drawingml/2006/main" noGrp="1"/>
          </p:cNvSpPr>
          <p:nvPr/>
        </p:nvSpPr>
        <p:spPr>
          <a:xfrm xmlns:a="http://schemas.openxmlformats.org/drawingml/2006/main">
            <a:off x="666750" y="1790700"/>
            <a:ext cx="5810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950" b="1">
                <a:solidFill>
                  <a:srgbClr val="111713"/>
                </a:solidFill>
                <a:latin typeface="Segoe UI"/>
                <a:ea typeface="Segoe UI"/>
                <a:cs typeface="Segoe UI"/>
              </a:defRPr>
            </a:pPr>
            <a:r>
              <a:rPr sz="4950" b="1">
                <a:solidFill>
                  <a:srgbClr val="111713"/>
                </a:solidFill>
                <a:latin typeface="Segoe UI"/>
                <a:ea typeface="Segoe UI"/>
                <a:cs typeface="Segoe UI"/>
              </a:rPr>
              <a:t>€15 million</a:t>
            </a:r>
          </a:p>
        </p:txBody>
      </p:sp>
      <p:sp>
        <p:nvSpPr>
          <p:cNvPr id="4" name="">
            <a:extLst xmlns:a="http://schemas.openxmlformats.org/drawingml/2006/main">
              <a:ext uri="{FF2B5EF4-FFF2-40B4-BE49-F238E27FC236}">
                <a16:creationId xmlns:a16="http://schemas.microsoft.com/office/drawing/2014/main" id="{FB3F76C2-2F86-49A2-B93D-E17860503C6A}"/>
              </a:ext>
            </a:extLst>
          </p:cNvPr>
          <p:cNvSpPr>
            <a:spLocks xmlns:a="http://schemas.openxmlformats.org/drawingml/2006/main" noGrp="1"/>
          </p:cNvSpPr>
          <p:nvPr/>
        </p:nvSpPr>
        <p:spPr>
          <a:xfrm xmlns:a="http://schemas.openxmlformats.org/drawingml/2006/main">
            <a:off x="666750" y="2686050"/>
            <a:ext cx="400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600" b="1">
                <a:solidFill>
                  <a:srgbClr val="167A57"/>
                </a:solidFill>
                <a:latin typeface="Segoe UI"/>
                <a:ea typeface="Segoe UI"/>
                <a:cs typeface="Segoe UI"/>
              </a:defRPr>
            </a:pPr>
            <a:r>
              <a:rPr sz="3600" b="1">
                <a:solidFill>
                  <a:srgbClr val="167A57"/>
                </a:solidFill>
                <a:latin typeface="Segoe UI"/>
                <a:ea typeface="Segoe UI"/>
                <a:cs typeface="Segoe UI"/>
              </a:rPr>
              <a:t>or 2.5%</a:t>
            </a:r>
          </a:p>
        </p:txBody>
      </p:sp>
      <p:sp>
        <p:nvSpPr>
          <p:cNvPr id="5" name="">
            <a:extLst xmlns:a="http://schemas.openxmlformats.org/drawingml/2006/main">
              <a:ext uri="{FF2B5EF4-FFF2-40B4-BE49-F238E27FC236}">
                <a16:creationId xmlns:a16="http://schemas.microsoft.com/office/drawing/2014/main" id="{E19D0EED-8790-4726-8D17-1EA654FABEC5}"/>
              </a:ext>
            </a:extLst>
          </p:cNvPr>
          <p:cNvSpPr>
            <a:spLocks xmlns:a="http://schemas.openxmlformats.org/drawingml/2006/main" noGrp="1"/>
          </p:cNvSpPr>
          <p:nvPr/>
        </p:nvSpPr>
        <p:spPr>
          <a:xfrm xmlns:a="http://schemas.openxmlformats.org/drawingml/2006/main">
            <a:off x="685800" y="3352800"/>
            <a:ext cx="4667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53605A"/>
                </a:solidFill>
                <a:latin typeface="Segoe UI"/>
                <a:ea typeface="Segoe UI"/>
                <a:cs typeface="Segoe UI"/>
              </a:defRPr>
            </a:pPr>
            <a:r>
              <a:rPr sz="1800" b="0">
                <a:solidFill>
                  <a:srgbClr val="53605A"/>
                </a:solidFill>
                <a:latin typeface="Segoe UI"/>
                <a:ea typeface="Segoe UI"/>
                <a:cs typeface="Segoe UI"/>
              </a:rPr>
              <a:t>of total worldwide annual turnover</a:t>
            </a:r>
          </a:p>
          <a:p xmlns:a="http://schemas.openxmlformats.org/drawingml/2006/main">
            <a:pPr algn="l">
              <a:lnSpc>
                <a:spcPct val="108000"/>
              </a:lnSpc>
              <a:buNone/>
              <a:defRPr sz="1800" b="0">
                <a:solidFill>
                  <a:srgbClr val="53605A"/>
                </a:solidFill>
                <a:latin typeface="Segoe UI"/>
                <a:ea typeface="Segoe UI"/>
                <a:cs typeface="Segoe UI"/>
              </a:defRPr>
            </a:pPr>
            <a:r>
              <a:rPr sz="1800" b="0">
                <a:solidFill>
                  <a:srgbClr val="53605A"/>
                </a:solidFill>
                <a:latin typeface="Segoe UI"/>
                <a:ea typeface="Segoe UI"/>
                <a:cs typeface="Segoe UI"/>
              </a:rPr>
              <a:t>whichever is higher</a:t>
            </a:r>
          </a:p>
        </p:txBody>
      </p:sp>
      <p:sp>
        <p:nvSpPr>
          <p:cNvPr id="6" name="">
            <a:extLst xmlns:a="http://schemas.openxmlformats.org/drawingml/2006/main">
              <a:ext uri="{FF2B5EF4-FFF2-40B4-BE49-F238E27FC236}">
                <a16:creationId xmlns:a16="http://schemas.microsoft.com/office/drawing/2014/main" id="{4699AC88-41F1-4D2F-B464-E3140A958B0A}"/>
              </a:ext>
            </a:extLst>
          </p:cNvPr>
          <p:cNvSpPr>
            <a:spLocks xmlns:a="http://schemas.openxmlformats.org/drawingml/2006/main" noGrp="1"/>
          </p:cNvSpPr>
          <p:nvPr/>
        </p:nvSpPr>
        <p:spPr>
          <a:xfrm xmlns:a="http://schemas.openxmlformats.org/drawingml/2006/main">
            <a:off x="5953125" y="1714500"/>
            <a:ext cx="0" cy="3009900"/>
          </a:xfrm>
          <a:prstGeom xmlns:a="http://schemas.openxmlformats.org/drawingml/2006/main" prst="line">
            <a:avLst/>
          </a:prstGeom>
          <a:noFill xmlns:a="http://schemas.openxmlformats.org/drawingml/2006/main"/>
          <a:ln xmlns:a="http://schemas.openxmlformats.org/drawingml/2006/main" w="9525">
            <a:solidFill>
              <a:srgbClr val="CBD5CF"/>
            </a:solidFill>
            <a:prstDash val="solid"/>
          </a:ln>
        </p:spPr>
      </p:sp>
      <p:sp>
        <p:nvSpPr>
          <p:cNvPr id="7" name="">
            <a:extLst xmlns:a="http://schemas.openxmlformats.org/drawingml/2006/main">
              <a:ext uri="{FF2B5EF4-FFF2-40B4-BE49-F238E27FC236}">
                <a16:creationId xmlns:a16="http://schemas.microsoft.com/office/drawing/2014/main" id="{6A54DAF6-3AEF-4BF5-80C9-2B9C63254E24}"/>
              </a:ext>
            </a:extLst>
          </p:cNvPr>
          <p:cNvSpPr>
            <a:spLocks xmlns:a="http://schemas.openxmlformats.org/drawingml/2006/main" noGrp="1"/>
          </p:cNvSpPr>
          <p:nvPr/>
        </p:nvSpPr>
        <p:spPr>
          <a:xfrm xmlns:a="http://schemas.openxmlformats.org/drawingml/2006/main">
            <a:off x="6667500" y="1771650"/>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5850" b="1">
                <a:solidFill>
                  <a:srgbClr val="111713"/>
                </a:solidFill>
                <a:latin typeface="Segoe UI"/>
                <a:ea typeface="Segoe UI"/>
                <a:cs typeface="Segoe UI"/>
              </a:defRPr>
            </a:pPr>
            <a:r>
              <a:rPr sz="5850" b="1">
                <a:solidFill>
                  <a:srgbClr val="111713"/>
                </a:solidFill>
                <a:latin typeface="Segoe UI"/>
                <a:ea typeface="Segoe UI"/>
                <a:cs typeface="Segoe UI"/>
              </a:rPr>
              <a:t>24</a:t>
            </a:r>
          </a:p>
        </p:txBody>
      </p:sp>
      <p:sp>
        <p:nvSpPr>
          <p:cNvPr id="8" name="">
            <a:extLst xmlns:a="http://schemas.openxmlformats.org/drawingml/2006/main">
              <a:ext uri="{FF2B5EF4-FFF2-40B4-BE49-F238E27FC236}">
                <a16:creationId xmlns:a16="http://schemas.microsoft.com/office/drawing/2014/main" id="{8A080C4A-62B5-432B-8D23-BB0736F66282}"/>
              </a:ext>
            </a:extLst>
          </p:cNvPr>
          <p:cNvSpPr>
            <a:spLocks xmlns:a="http://schemas.openxmlformats.org/drawingml/2006/main" noGrp="1"/>
          </p:cNvSpPr>
          <p:nvPr/>
        </p:nvSpPr>
        <p:spPr>
          <a:xfrm xmlns:a="http://schemas.openxmlformats.org/drawingml/2006/main">
            <a:off x="8267700" y="217170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111713"/>
                </a:solidFill>
                <a:latin typeface="Segoe UI"/>
                <a:ea typeface="Segoe UI"/>
                <a:cs typeface="Segoe UI"/>
              </a:defRPr>
            </a:pPr>
            <a:r>
              <a:rPr sz="2100" b="1">
                <a:solidFill>
                  <a:srgbClr val="111713"/>
                </a:solidFill>
                <a:latin typeface="Segoe UI"/>
                <a:ea typeface="Segoe UI"/>
                <a:cs typeface="Segoe UI"/>
              </a:rPr>
              <a:t>hours</a:t>
            </a:r>
          </a:p>
        </p:txBody>
      </p:sp>
      <p:sp>
        <p:nvSpPr>
          <p:cNvPr id="9" name="">
            <a:extLst xmlns:a="http://schemas.openxmlformats.org/drawingml/2006/main">
              <a:ext uri="{FF2B5EF4-FFF2-40B4-BE49-F238E27FC236}">
                <a16:creationId xmlns:a16="http://schemas.microsoft.com/office/drawing/2014/main" id="{3C006BC7-8077-474D-B2F4-D1A58AC198F6}"/>
              </a:ext>
            </a:extLst>
          </p:cNvPr>
          <p:cNvSpPr>
            <a:spLocks xmlns:a="http://schemas.openxmlformats.org/drawingml/2006/main" noGrp="1"/>
          </p:cNvSpPr>
          <p:nvPr/>
        </p:nvSpPr>
        <p:spPr>
          <a:xfrm xmlns:a="http://schemas.openxmlformats.org/drawingml/2006/main">
            <a:off x="8267700" y="26289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3605A"/>
                </a:solidFill>
                <a:latin typeface="Segoe UI"/>
                <a:ea typeface="Segoe UI"/>
                <a:cs typeface="Segoe UI"/>
              </a:defRPr>
            </a:pPr>
            <a:r>
              <a:rPr sz="1575" b="0">
                <a:solidFill>
                  <a:srgbClr val="53605A"/>
                </a:solidFill>
                <a:latin typeface="Segoe UI"/>
                <a:ea typeface="Segoe UI"/>
                <a:cs typeface="Segoe UI"/>
              </a:rPr>
              <a:t>Early warning</a:t>
            </a:r>
          </a:p>
        </p:txBody>
      </p:sp>
      <p:sp>
        <p:nvSpPr>
          <p:cNvPr id="10" name="">
            <a:extLst xmlns:a="http://schemas.openxmlformats.org/drawingml/2006/main">
              <a:ext uri="{FF2B5EF4-FFF2-40B4-BE49-F238E27FC236}">
                <a16:creationId xmlns:a16="http://schemas.microsoft.com/office/drawing/2014/main" id="{F6899208-4A78-45B1-87D1-18B68FC2684A}"/>
              </a:ext>
            </a:extLst>
          </p:cNvPr>
          <p:cNvSpPr>
            <a:spLocks xmlns:a="http://schemas.openxmlformats.org/drawingml/2006/main" noGrp="1"/>
          </p:cNvSpPr>
          <p:nvPr/>
        </p:nvSpPr>
        <p:spPr>
          <a:xfrm xmlns:a="http://schemas.openxmlformats.org/drawingml/2006/main">
            <a:off x="6667500" y="3219450"/>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5850" b="1">
                <a:solidFill>
                  <a:srgbClr val="167A57"/>
                </a:solidFill>
                <a:latin typeface="Segoe UI"/>
                <a:ea typeface="Segoe UI"/>
                <a:cs typeface="Segoe UI"/>
              </a:defRPr>
            </a:pPr>
            <a:r>
              <a:rPr sz="5850" b="1">
                <a:solidFill>
                  <a:srgbClr val="167A57"/>
                </a:solidFill>
                <a:latin typeface="Segoe UI"/>
                <a:ea typeface="Segoe UI"/>
                <a:cs typeface="Segoe UI"/>
              </a:rPr>
              <a:t>72</a:t>
            </a:r>
          </a:p>
        </p:txBody>
      </p:sp>
      <p:sp>
        <p:nvSpPr>
          <p:cNvPr id="11" name="">
            <a:extLst xmlns:a="http://schemas.openxmlformats.org/drawingml/2006/main">
              <a:ext uri="{FF2B5EF4-FFF2-40B4-BE49-F238E27FC236}">
                <a16:creationId xmlns:a16="http://schemas.microsoft.com/office/drawing/2014/main" id="{AE1CEA34-48D7-4BAF-A889-D70DCD40517F}"/>
              </a:ext>
            </a:extLst>
          </p:cNvPr>
          <p:cNvSpPr>
            <a:spLocks xmlns:a="http://schemas.openxmlformats.org/drawingml/2006/main" noGrp="1"/>
          </p:cNvSpPr>
          <p:nvPr/>
        </p:nvSpPr>
        <p:spPr>
          <a:xfrm xmlns:a="http://schemas.openxmlformats.org/drawingml/2006/main">
            <a:off x="8267700" y="361950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111713"/>
                </a:solidFill>
                <a:latin typeface="Segoe UI"/>
                <a:ea typeface="Segoe UI"/>
                <a:cs typeface="Segoe UI"/>
              </a:defRPr>
            </a:pPr>
            <a:r>
              <a:rPr sz="2100" b="1">
                <a:solidFill>
                  <a:srgbClr val="111713"/>
                </a:solidFill>
                <a:latin typeface="Segoe UI"/>
                <a:ea typeface="Segoe UI"/>
                <a:cs typeface="Segoe UI"/>
              </a:rPr>
              <a:t>hours</a:t>
            </a:r>
          </a:p>
        </p:txBody>
      </p:sp>
      <p:sp>
        <p:nvSpPr>
          <p:cNvPr id="12" name="">
            <a:extLst xmlns:a="http://schemas.openxmlformats.org/drawingml/2006/main">
              <a:ext uri="{FF2B5EF4-FFF2-40B4-BE49-F238E27FC236}">
                <a16:creationId xmlns:a16="http://schemas.microsoft.com/office/drawing/2014/main" id="{F58E8C5D-B60B-417C-B444-835CAA34586C}"/>
              </a:ext>
            </a:extLst>
          </p:cNvPr>
          <p:cNvSpPr>
            <a:spLocks xmlns:a="http://schemas.openxmlformats.org/drawingml/2006/main" noGrp="1"/>
          </p:cNvSpPr>
          <p:nvPr/>
        </p:nvSpPr>
        <p:spPr>
          <a:xfrm xmlns:a="http://schemas.openxmlformats.org/drawingml/2006/main">
            <a:off x="8267700" y="4076700"/>
            <a:ext cx="304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3605A"/>
                </a:solidFill>
                <a:latin typeface="Segoe UI"/>
                <a:ea typeface="Segoe UI"/>
                <a:cs typeface="Segoe UI"/>
              </a:defRPr>
            </a:pPr>
            <a:r>
              <a:rPr sz="1575" b="0">
                <a:solidFill>
                  <a:srgbClr val="53605A"/>
                </a:solidFill>
                <a:latin typeface="Segoe UI"/>
                <a:ea typeface="Segoe UI"/>
                <a:cs typeface="Segoe UI"/>
              </a:rPr>
              <a:t>Vulnerability or incident notification</a:t>
            </a:r>
          </a:p>
        </p:txBody>
      </p:sp>
      <p:sp>
        <p:nvSpPr>
          <p:cNvPr id="13" name="">
            <a:extLst xmlns:a="http://schemas.openxmlformats.org/drawingml/2006/main">
              <a:ext uri="{FF2B5EF4-FFF2-40B4-BE49-F238E27FC236}">
                <a16:creationId xmlns:a16="http://schemas.microsoft.com/office/drawing/2014/main" id="{CF49AFFB-D699-474F-8591-A4A52F715F7A}"/>
              </a:ext>
            </a:extLst>
          </p:cNvPr>
          <p:cNvSpPr>
            <a:spLocks xmlns:a="http://schemas.openxmlformats.org/drawingml/2006/main" noGrp="1"/>
          </p:cNvSpPr>
          <p:nvPr/>
        </p:nvSpPr>
        <p:spPr>
          <a:xfrm xmlns:a="http://schemas.openxmlformats.org/drawingml/2006/main">
            <a:off x="666750" y="5048250"/>
            <a:ext cx="10572750" cy="800100"/>
          </a:xfrm>
          <a:prstGeom xmlns:a="http://schemas.openxmlformats.org/drawingml/2006/main" prst="rect">
            <a:avLst/>
          </a:prstGeom>
          <a:solidFill xmlns:a="http://schemas.openxmlformats.org/drawingml/2006/main">
            <a:srgbClr val="11171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5E34145-68BA-4CB4-B4B3-C83A26DA2CD4}"/>
              </a:ext>
            </a:extLst>
          </p:cNvPr>
          <p:cNvSpPr>
            <a:spLocks xmlns:a="http://schemas.openxmlformats.org/drawingml/2006/main" noGrp="1"/>
          </p:cNvSpPr>
          <p:nvPr/>
        </p:nvSpPr>
        <p:spPr>
          <a:xfrm xmlns:a="http://schemas.openxmlformats.org/drawingml/2006/main">
            <a:off x="914400" y="5248275"/>
            <a:ext cx="10077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500" b="0">
                <a:solidFill>
                  <a:srgbClr val="F2F5F9"/>
                </a:solidFill>
                <a:latin typeface="Segoe UI"/>
                <a:ea typeface="Segoe UI"/>
                <a:cs typeface="Segoe UI"/>
              </a:defRPr>
            </a:pPr>
            <a:r>
              <a:rPr sz="1500" b="0">
                <a:solidFill>
                  <a:srgbClr val="F2F5F9"/>
                </a:solidFill>
                <a:latin typeface="Segoe UI"/>
                <a:ea typeface="Segoe UI"/>
                <a:cs typeface="Segoe UI"/>
              </a:rPr>
              <a:t>Maximum administrative fine for non-compliance with specified CRA cybersecurity and reporting obligations</a:t>
            </a:r>
          </a:p>
        </p:txBody>
      </p:sp>
      <p:sp>
        <p:nvSpPr>
          <p:cNvPr id="15" name="">
            <a:extLst xmlns:a="http://schemas.openxmlformats.org/drawingml/2006/main">
              <a:ext uri="{FF2B5EF4-FFF2-40B4-BE49-F238E27FC236}">
                <a16:creationId xmlns:a16="http://schemas.microsoft.com/office/drawing/2014/main" id="{273E0E38-2ED5-404F-9A23-07C2A7D0D2D1}"/>
              </a:ext>
            </a:extLst>
          </p:cNvPr>
          <p:cNvSpPr>
            <a:spLocks xmlns:a="http://schemas.openxmlformats.org/drawingml/2006/main" noGrp="1"/>
          </p:cNvSpPr>
          <p:nvPr/>
        </p:nvSpPr>
        <p:spPr>
          <a:xfrm xmlns:a="http://schemas.openxmlformats.org/drawingml/2006/main">
            <a:off x="533400" y="6496050"/>
            <a:ext cx="11125200" cy="0"/>
          </a:xfrm>
          <a:prstGeom xmlns:a="http://schemas.openxmlformats.org/drawingml/2006/main" prst="line">
            <a:avLst/>
          </a:prstGeom>
          <a:noFill xmlns:a="http://schemas.openxmlformats.org/drawingml/2006/main"/>
          <a:ln xmlns:a="http://schemas.openxmlformats.org/drawingml/2006/main" w="9525">
            <a:solidFill>
              <a:srgbClr val="D5DDD8"/>
            </a:solidFill>
            <a:prstDash val="solid"/>
          </a:ln>
        </p:spPr>
      </p:sp>
      <p:sp>
        <p:nvSpPr>
          <p:cNvPr id="16" name="">
            <a:extLst xmlns:a="http://schemas.openxmlformats.org/drawingml/2006/main">
              <a:ext uri="{FF2B5EF4-FFF2-40B4-BE49-F238E27FC236}">
                <a16:creationId xmlns:a16="http://schemas.microsoft.com/office/drawing/2014/main" id="{B3AA7C1A-2CCF-4512-8E48-162D862BEE5F}"/>
              </a:ext>
            </a:extLst>
          </p:cNvPr>
          <p:cNvSpPr>
            <a:spLocks xmlns:a="http://schemas.openxmlformats.org/drawingml/2006/main" noGrp="1"/>
          </p:cNvSpPr>
          <p:nvPr/>
        </p:nvSpPr>
        <p:spPr>
          <a:xfrm xmlns:a="http://schemas.openxmlformats.org/drawingml/2006/main">
            <a:off x="533400" y="6572250"/>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53605A"/>
                </a:solidFill>
                <a:latin typeface="Cascadia Mono"/>
                <a:ea typeface="Cascadia Mono"/>
                <a:cs typeface="Cascadia Mono"/>
              </a:defRPr>
            </a:pPr>
            <a:r>
              <a:rPr sz="975" b="0">
                <a:solidFill>
                  <a:srgbClr val="53605A"/>
                </a:solidFill>
                <a:latin typeface="Cascadia Mono"/>
                <a:ea typeface="Cascadia Mono"/>
                <a:cs typeface="Cascadia Mono"/>
              </a:rPr>
              <a:t>PandaX  /  CRA Article 14 and Article 64</a:t>
            </a:r>
          </a:p>
        </p:txBody>
      </p:sp>
      <p:sp>
        <p:nvSpPr>
          <p:cNvPr id="17" name="">
            <a:extLst xmlns:a="http://schemas.openxmlformats.org/drawingml/2006/main">
              <a:ext uri="{FF2B5EF4-FFF2-40B4-BE49-F238E27FC236}">
                <a16:creationId xmlns:a16="http://schemas.microsoft.com/office/drawing/2014/main" id="{3E0AD410-B6CE-4E76-BE64-600F771D33F3}"/>
              </a:ext>
            </a:extLst>
          </p:cNvPr>
          <p:cNvSpPr>
            <a:spLocks xmlns:a="http://schemas.openxmlformats.org/drawingml/2006/main" noGrp="1"/>
          </p:cNvSpPr>
          <p:nvPr/>
        </p:nvSpPr>
        <p:spPr>
          <a:xfrm xmlns:a="http://schemas.openxmlformats.org/drawingml/2006/main">
            <a:off x="11049000" y="6562725"/>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03</a:t>
            </a:r>
          </a:p>
        </p:txBody>
      </p:sp>
    </p:spTree>
    <p:extLst>
      <p:ext uri="{BB962C8B-B14F-4D97-AF65-F5344CB8AC3E}">
        <p14:creationId xmlns:p14="http://schemas.microsoft.com/office/powerpoint/2010/main" val="311425324"/>
      </p:ext>
    </p:extLst>
  </p:cSld>
</p:sld>
</file>

<file path=ppt/slides/slide4.xml><?xml version="1.0" encoding="utf-8"?>
<p:sld xmlns:p="http://schemas.openxmlformats.org/presentationml/2006/main">
  <p:cSld>
    <p:bg>
      <p:bgPr>
        <a:solidFill xmlns:a="http://schemas.openxmlformats.org/drawingml/2006/main">
          <a:srgbClr val="0A0B0D"/>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A905D60-9A4B-42C2-8982-3CFC127505B3}"/>
              </a:ext>
            </a:extLst>
          </p:cNvPr>
          <p:cNvSpPr>
            <a:spLocks xmlns:a="http://schemas.openxmlformats.org/drawingml/2006/main" noGrp="1"/>
          </p:cNvSpPr>
          <p:nvPr/>
        </p:nvSpPr>
        <p:spPr>
          <a:xfrm xmlns:a="http://schemas.openxmlformats.org/drawingml/2006/main">
            <a:off x="533400" y="476250"/>
            <a:ext cx="57150" cy="514350"/>
          </a:xfrm>
          <a:prstGeom xmlns:a="http://schemas.openxmlformats.org/drawingml/2006/main" prst="rect">
            <a:avLst/>
          </a:prstGeom>
          <a:solidFill xmlns:a="http://schemas.openxmlformats.org/drawingml/2006/main">
            <a:srgbClr val="4ED8A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9CA386-9370-474A-9986-B6CD50889465}"/>
              </a:ext>
            </a:extLst>
          </p:cNvPr>
          <p:cNvSpPr>
            <a:spLocks xmlns:a="http://schemas.openxmlformats.org/drawingml/2006/main" noGrp="1"/>
          </p:cNvSpPr>
          <p:nvPr/>
        </p:nvSpPr>
        <p:spPr>
          <a:xfrm xmlns:a="http://schemas.openxmlformats.org/drawingml/2006/main">
            <a:off x="762000" y="43815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3225" b="1">
                <a:solidFill>
                  <a:srgbClr val="F2F5F9"/>
                </a:solidFill>
                <a:latin typeface="Segoe UI"/>
                <a:ea typeface="Segoe UI"/>
                <a:cs typeface="Segoe UI"/>
              </a:defRPr>
            </a:pPr>
            <a:r>
              <a:rPr sz="3225" b="1">
                <a:solidFill>
                  <a:srgbClr val="F2F5F9"/>
                </a:solidFill>
                <a:latin typeface="Segoe UI"/>
                <a:ea typeface="Segoe UI"/>
                <a:cs typeface="Segoe UI"/>
              </a:rPr>
              <a:t>Legal exposure already reaches billions</a:t>
            </a:r>
          </a:p>
        </p:txBody>
      </p:sp>
      <p:sp>
        <p:nvSpPr>
          <p:cNvPr id="3" name="">
            <a:extLst xmlns:a="http://schemas.openxmlformats.org/drawingml/2006/main">
              <a:ext uri="{FF2B5EF4-FFF2-40B4-BE49-F238E27FC236}">
                <a16:creationId xmlns:a16="http://schemas.microsoft.com/office/drawing/2014/main" id="{41552229-01BC-4AA6-8D62-89870CD6ED1C}"/>
              </a:ext>
            </a:extLst>
          </p:cNvPr>
          <p:cNvSpPr>
            <a:spLocks xmlns:a="http://schemas.openxmlformats.org/drawingml/2006/main" noGrp="1"/>
          </p:cNvSpPr>
          <p:nvPr/>
        </p:nvSpPr>
        <p:spPr>
          <a:xfrm xmlns:a="http://schemas.openxmlformats.org/drawingml/2006/main">
            <a:off x="762000" y="10763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A9B3C1"/>
                </a:solidFill>
                <a:latin typeface="Segoe UI"/>
                <a:ea typeface="Segoe UI"/>
                <a:cs typeface="Segoe UI"/>
              </a:defRPr>
            </a:pPr>
            <a:r>
              <a:rPr sz="1500" b="0">
                <a:solidFill>
                  <a:srgbClr val="A9B3C1"/>
                </a:solidFill>
                <a:latin typeface="Segoe UI"/>
                <a:ea typeface="Segoe UI"/>
                <a:cs typeface="Segoe UI"/>
              </a:rPr>
              <a:t>Cybersecurity settlements and GDPR enforcement provide context. None are CRA precedents.</a:t>
            </a:r>
          </a:p>
        </p:txBody>
      </p:sp>
      <p:sp>
        <p:nvSpPr>
          <p:cNvPr id="4" name="">
            <a:extLst xmlns:a="http://schemas.openxmlformats.org/drawingml/2006/main">
              <a:ext uri="{FF2B5EF4-FFF2-40B4-BE49-F238E27FC236}">
                <a16:creationId xmlns:a16="http://schemas.microsoft.com/office/drawing/2014/main" id="{3A41F19F-7A8E-4617-9AD6-2D8F46FF51E1}"/>
              </a:ext>
            </a:extLst>
          </p:cNvPr>
          <p:cNvSpPr>
            <a:spLocks xmlns:a="http://schemas.openxmlformats.org/drawingml/2006/main" noGrp="1"/>
          </p:cNvSpPr>
          <p:nvPr/>
        </p:nvSpPr>
        <p:spPr>
          <a:xfrm xmlns:a="http://schemas.openxmlformats.org/drawingml/2006/main">
            <a:off x="685800" y="175260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975" b="1">
                <a:solidFill>
                  <a:srgbClr val="4ED8A0"/>
                </a:solidFill>
                <a:latin typeface="Segoe UI"/>
                <a:ea typeface="Segoe UI"/>
                <a:cs typeface="Segoe UI"/>
              </a:defRPr>
            </a:pPr>
            <a:r>
              <a:rPr sz="3975" b="1">
                <a:solidFill>
                  <a:srgbClr val="4ED8A0"/>
                </a:solidFill>
                <a:latin typeface="Segoe UI"/>
                <a:ea typeface="Segoe UI"/>
                <a:cs typeface="Segoe UI"/>
              </a:rPr>
              <a:t>$575M+</a:t>
            </a:r>
          </a:p>
        </p:txBody>
      </p:sp>
      <p:sp>
        <p:nvSpPr>
          <p:cNvPr id="5" name="">
            <a:extLst xmlns:a="http://schemas.openxmlformats.org/drawingml/2006/main">
              <a:ext uri="{FF2B5EF4-FFF2-40B4-BE49-F238E27FC236}">
                <a16:creationId xmlns:a16="http://schemas.microsoft.com/office/drawing/2014/main" id="{8ACB1D63-84D1-42B4-B03E-618C63DE15EC}"/>
              </a:ext>
            </a:extLst>
          </p:cNvPr>
          <p:cNvSpPr>
            <a:spLocks xmlns:a="http://schemas.openxmlformats.org/drawingml/2006/main" noGrp="1"/>
          </p:cNvSpPr>
          <p:nvPr/>
        </p:nvSpPr>
        <p:spPr>
          <a:xfrm xmlns:a="http://schemas.openxmlformats.org/drawingml/2006/main">
            <a:off x="685800" y="25336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75" b="1">
                <a:solidFill>
                  <a:srgbClr val="F2F5F9"/>
                </a:solidFill>
                <a:latin typeface="Segoe UI"/>
                <a:ea typeface="Segoe UI"/>
                <a:cs typeface="Segoe UI"/>
              </a:defRPr>
            </a:pPr>
            <a:r>
              <a:rPr sz="2175" b="1">
                <a:solidFill>
                  <a:srgbClr val="F2F5F9"/>
                </a:solidFill>
                <a:latin typeface="Segoe UI"/>
                <a:ea typeface="Segoe UI"/>
                <a:cs typeface="Segoe UI"/>
              </a:rPr>
              <a:t>Equifax</a:t>
            </a:r>
          </a:p>
        </p:txBody>
      </p:sp>
      <p:sp>
        <p:nvSpPr>
          <p:cNvPr id="6" name="">
            <a:extLst xmlns:a="http://schemas.openxmlformats.org/drawingml/2006/main">
              <a:ext uri="{FF2B5EF4-FFF2-40B4-BE49-F238E27FC236}">
                <a16:creationId xmlns:a16="http://schemas.microsoft.com/office/drawing/2014/main" id="{C8FC7622-B4F7-4157-A2F3-8D859969A5B3}"/>
              </a:ext>
            </a:extLst>
          </p:cNvPr>
          <p:cNvSpPr>
            <a:spLocks xmlns:a="http://schemas.openxmlformats.org/drawingml/2006/main" noGrp="1"/>
          </p:cNvSpPr>
          <p:nvPr/>
        </p:nvSpPr>
        <p:spPr>
          <a:xfrm xmlns:a="http://schemas.openxmlformats.org/drawingml/2006/main">
            <a:off x="685800" y="3105150"/>
            <a:ext cx="3067050" cy="0"/>
          </a:xfrm>
          <a:prstGeom xmlns:a="http://schemas.openxmlformats.org/drawingml/2006/main" prst="line">
            <a:avLst/>
          </a:prstGeom>
          <a:noFill xmlns:a="http://schemas.openxmlformats.org/drawingml/2006/main"/>
          <a:ln xmlns:a="http://schemas.openxmlformats.org/drawingml/2006/main" w="19050">
            <a:solidFill>
              <a:srgbClr val="2A2F36"/>
            </a:solidFill>
            <a:prstDash val="solid"/>
          </a:ln>
        </p:spPr>
      </p:sp>
      <p:sp>
        <p:nvSpPr>
          <p:cNvPr id="7" name="">
            <a:extLst xmlns:a="http://schemas.openxmlformats.org/drawingml/2006/main">
              <a:ext uri="{FF2B5EF4-FFF2-40B4-BE49-F238E27FC236}">
                <a16:creationId xmlns:a16="http://schemas.microsoft.com/office/drawing/2014/main" id="{578F6B24-9A9F-46BA-BAF7-B6B9289B47D5}"/>
              </a:ext>
            </a:extLst>
          </p:cNvPr>
          <p:cNvSpPr>
            <a:spLocks xmlns:a="http://schemas.openxmlformats.org/drawingml/2006/main" noGrp="1"/>
          </p:cNvSpPr>
          <p:nvPr/>
        </p:nvSpPr>
        <p:spPr>
          <a:xfrm xmlns:a="http://schemas.openxmlformats.org/drawingml/2006/main">
            <a:off x="685800" y="3333750"/>
            <a:ext cx="3067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725" b="1">
                <a:solidFill>
                  <a:srgbClr val="F2F5F9"/>
                </a:solidFill>
                <a:latin typeface="Segoe UI"/>
                <a:ea typeface="Segoe UI"/>
                <a:cs typeface="Segoe UI"/>
              </a:defRPr>
            </a:pPr>
            <a:r>
              <a:rPr sz="1725" b="1">
                <a:solidFill>
                  <a:srgbClr val="F2F5F9"/>
                </a:solidFill>
                <a:latin typeface="Segoe UI"/>
                <a:ea typeface="Segoe UI"/>
                <a:cs typeface="Segoe UI"/>
              </a:rPr>
              <a:t>Known vulnerability remained unpatched</a:t>
            </a:r>
          </a:p>
        </p:txBody>
      </p:sp>
      <p:sp>
        <p:nvSpPr>
          <p:cNvPr id="8" name="">
            <a:extLst xmlns:a="http://schemas.openxmlformats.org/drawingml/2006/main">
              <a:ext uri="{FF2B5EF4-FFF2-40B4-BE49-F238E27FC236}">
                <a16:creationId xmlns:a16="http://schemas.microsoft.com/office/drawing/2014/main" id="{EB64D242-B683-4FD7-B21E-3F442042FA83}"/>
              </a:ext>
            </a:extLst>
          </p:cNvPr>
          <p:cNvSpPr>
            <a:spLocks xmlns:a="http://schemas.openxmlformats.org/drawingml/2006/main" noGrp="1"/>
          </p:cNvSpPr>
          <p:nvPr/>
        </p:nvSpPr>
        <p:spPr>
          <a:xfrm xmlns:a="http://schemas.openxmlformats.org/drawingml/2006/main">
            <a:off x="685800" y="4286250"/>
            <a:ext cx="30670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9B3C1"/>
                </a:solidFill>
                <a:latin typeface="Segoe UI"/>
                <a:ea typeface="Segoe UI"/>
                <a:cs typeface="Segoe UI"/>
              </a:defRPr>
            </a:pPr>
            <a:r>
              <a:rPr sz="1425" b="0">
                <a:solidFill>
                  <a:srgbClr val="A9B3C1"/>
                </a:solidFill>
                <a:latin typeface="Segoe UI"/>
                <a:ea typeface="Segoe UI"/>
                <a:cs typeface="Segoe UI"/>
              </a:rPr>
              <a:t>FTC alleged gaps in asset inventory, patch follow-through, and scanner coverage.</a:t>
            </a:r>
          </a:p>
        </p:txBody>
      </p:sp>
      <p:sp>
        <p:nvSpPr>
          <p:cNvPr id="9" name="">
            <a:extLst xmlns:a="http://schemas.openxmlformats.org/drawingml/2006/main">
              <a:ext uri="{FF2B5EF4-FFF2-40B4-BE49-F238E27FC236}">
                <a16:creationId xmlns:a16="http://schemas.microsoft.com/office/drawing/2014/main" id="{76E3C28B-A073-4B93-9DF6-4BDF31EC2B8D}"/>
              </a:ext>
            </a:extLst>
          </p:cNvPr>
          <p:cNvSpPr>
            <a:spLocks xmlns:a="http://schemas.openxmlformats.org/drawingml/2006/main" noGrp="1"/>
          </p:cNvSpPr>
          <p:nvPr/>
        </p:nvSpPr>
        <p:spPr>
          <a:xfrm xmlns:a="http://schemas.openxmlformats.org/drawingml/2006/main">
            <a:off x="4210050" y="175260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975" b="1">
                <a:solidFill>
                  <a:srgbClr val="4ED8A0"/>
                </a:solidFill>
                <a:latin typeface="Segoe UI"/>
                <a:ea typeface="Segoe UI"/>
                <a:cs typeface="Segoe UI"/>
              </a:defRPr>
            </a:pPr>
            <a:r>
              <a:rPr sz="3975" b="1">
                <a:solidFill>
                  <a:srgbClr val="4ED8A0"/>
                </a:solidFill>
                <a:latin typeface="Segoe UI"/>
                <a:ea typeface="Segoe UI"/>
                <a:cs typeface="Segoe UI"/>
              </a:rPr>
              <a:t>$148M</a:t>
            </a:r>
          </a:p>
        </p:txBody>
      </p:sp>
      <p:sp>
        <p:nvSpPr>
          <p:cNvPr id="10" name="">
            <a:extLst xmlns:a="http://schemas.openxmlformats.org/drawingml/2006/main">
              <a:ext uri="{FF2B5EF4-FFF2-40B4-BE49-F238E27FC236}">
                <a16:creationId xmlns:a16="http://schemas.microsoft.com/office/drawing/2014/main" id="{9CF3923E-3111-42F3-9246-2380CA25A811}"/>
              </a:ext>
            </a:extLst>
          </p:cNvPr>
          <p:cNvSpPr>
            <a:spLocks xmlns:a="http://schemas.openxmlformats.org/drawingml/2006/main" noGrp="1"/>
          </p:cNvSpPr>
          <p:nvPr/>
        </p:nvSpPr>
        <p:spPr>
          <a:xfrm xmlns:a="http://schemas.openxmlformats.org/drawingml/2006/main">
            <a:off x="4210050" y="25336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75" b="1">
                <a:solidFill>
                  <a:srgbClr val="F2F5F9"/>
                </a:solidFill>
                <a:latin typeface="Segoe UI"/>
                <a:ea typeface="Segoe UI"/>
                <a:cs typeface="Segoe UI"/>
              </a:defRPr>
            </a:pPr>
            <a:r>
              <a:rPr sz="2175" b="1">
                <a:solidFill>
                  <a:srgbClr val="F2F5F9"/>
                </a:solidFill>
                <a:latin typeface="Segoe UI"/>
                <a:ea typeface="Segoe UI"/>
                <a:cs typeface="Segoe UI"/>
              </a:rPr>
              <a:t>Uber</a:t>
            </a:r>
          </a:p>
        </p:txBody>
      </p:sp>
      <p:sp>
        <p:nvSpPr>
          <p:cNvPr id="11" name="">
            <a:extLst xmlns:a="http://schemas.openxmlformats.org/drawingml/2006/main">
              <a:ext uri="{FF2B5EF4-FFF2-40B4-BE49-F238E27FC236}">
                <a16:creationId xmlns:a16="http://schemas.microsoft.com/office/drawing/2014/main" id="{E1272250-8C8C-415B-9DDE-A13088C30BB8}"/>
              </a:ext>
            </a:extLst>
          </p:cNvPr>
          <p:cNvSpPr>
            <a:spLocks xmlns:a="http://schemas.openxmlformats.org/drawingml/2006/main" noGrp="1"/>
          </p:cNvSpPr>
          <p:nvPr/>
        </p:nvSpPr>
        <p:spPr>
          <a:xfrm xmlns:a="http://schemas.openxmlformats.org/drawingml/2006/main">
            <a:off x="4210050" y="3105150"/>
            <a:ext cx="3067050" cy="0"/>
          </a:xfrm>
          <a:prstGeom xmlns:a="http://schemas.openxmlformats.org/drawingml/2006/main" prst="line">
            <a:avLst/>
          </a:prstGeom>
          <a:noFill xmlns:a="http://schemas.openxmlformats.org/drawingml/2006/main"/>
          <a:ln xmlns:a="http://schemas.openxmlformats.org/drawingml/2006/main" w="19050">
            <a:solidFill>
              <a:srgbClr val="2A2F36"/>
            </a:solidFill>
            <a:prstDash val="solid"/>
          </a:ln>
        </p:spPr>
      </p:sp>
      <p:sp>
        <p:nvSpPr>
          <p:cNvPr id="12" name="">
            <a:extLst xmlns:a="http://schemas.openxmlformats.org/drawingml/2006/main">
              <a:ext uri="{FF2B5EF4-FFF2-40B4-BE49-F238E27FC236}">
                <a16:creationId xmlns:a16="http://schemas.microsoft.com/office/drawing/2014/main" id="{F27FCB05-6347-4E95-B074-CE58C461E997}"/>
              </a:ext>
            </a:extLst>
          </p:cNvPr>
          <p:cNvSpPr>
            <a:spLocks xmlns:a="http://schemas.openxmlformats.org/drawingml/2006/main" noGrp="1"/>
          </p:cNvSpPr>
          <p:nvPr/>
        </p:nvSpPr>
        <p:spPr>
          <a:xfrm xmlns:a="http://schemas.openxmlformats.org/drawingml/2006/main">
            <a:off x="4210050" y="3333750"/>
            <a:ext cx="3067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725" b="1">
                <a:solidFill>
                  <a:srgbClr val="F2F5F9"/>
                </a:solidFill>
                <a:latin typeface="Segoe UI"/>
                <a:ea typeface="Segoe UI"/>
                <a:cs typeface="Segoe UI"/>
              </a:defRPr>
            </a:pPr>
            <a:r>
              <a:rPr sz="1725" b="1">
                <a:solidFill>
                  <a:srgbClr val="F2F5F9"/>
                </a:solidFill>
                <a:latin typeface="Segoe UI"/>
                <a:ea typeface="Segoe UI"/>
                <a:cs typeface="Segoe UI"/>
              </a:rPr>
              <a:t>Breach reporting was delayed</a:t>
            </a:r>
          </a:p>
        </p:txBody>
      </p:sp>
      <p:sp>
        <p:nvSpPr>
          <p:cNvPr id="13" name="">
            <a:extLst xmlns:a="http://schemas.openxmlformats.org/drawingml/2006/main">
              <a:ext uri="{FF2B5EF4-FFF2-40B4-BE49-F238E27FC236}">
                <a16:creationId xmlns:a16="http://schemas.microsoft.com/office/drawing/2014/main" id="{3CA17CAA-CDE7-402B-9597-DE2103327FA5}"/>
              </a:ext>
            </a:extLst>
          </p:cNvPr>
          <p:cNvSpPr>
            <a:spLocks xmlns:a="http://schemas.openxmlformats.org/drawingml/2006/main" noGrp="1"/>
          </p:cNvSpPr>
          <p:nvPr/>
        </p:nvSpPr>
        <p:spPr>
          <a:xfrm xmlns:a="http://schemas.openxmlformats.org/drawingml/2006/main">
            <a:off x="4210050" y="4286250"/>
            <a:ext cx="30670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9B3C1"/>
                </a:solidFill>
                <a:latin typeface="Segoe UI"/>
                <a:ea typeface="Segoe UI"/>
                <a:cs typeface="Segoe UI"/>
              </a:defRPr>
            </a:pPr>
            <a:r>
              <a:rPr sz="1425" b="0">
                <a:solidFill>
                  <a:srgbClr val="A9B3C1"/>
                </a:solidFill>
                <a:latin typeface="Segoe UI"/>
                <a:ea typeface="Segoe UI"/>
                <a:cs typeface="Segoe UI"/>
              </a:rPr>
              <a:t>Nationwide settlement addressed the 2016 breach and alleged cover-up.</a:t>
            </a:r>
          </a:p>
        </p:txBody>
      </p:sp>
      <p:sp>
        <p:nvSpPr>
          <p:cNvPr id="14" name="">
            <a:extLst xmlns:a="http://schemas.openxmlformats.org/drawingml/2006/main">
              <a:ext uri="{FF2B5EF4-FFF2-40B4-BE49-F238E27FC236}">
                <a16:creationId xmlns:a16="http://schemas.microsoft.com/office/drawing/2014/main" id="{779AAD54-31D6-4061-9E6A-DA71FBB8C800}"/>
              </a:ext>
            </a:extLst>
          </p:cNvPr>
          <p:cNvSpPr>
            <a:spLocks xmlns:a="http://schemas.openxmlformats.org/drawingml/2006/main" noGrp="1"/>
          </p:cNvSpPr>
          <p:nvPr/>
        </p:nvSpPr>
        <p:spPr>
          <a:xfrm xmlns:a="http://schemas.openxmlformats.org/drawingml/2006/main">
            <a:off x="7734300" y="175260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975" b="1">
                <a:solidFill>
                  <a:srgbClr val="4ED8A0"/>
                </a:solidFill>
                <a:latin typeface="Segoe UI"/>
                <a:ea typeface="Segoe UI"/>
                <a:cs typeface="Segoe UI"/>
              </a:defRPr>
            </a:pPr>
            <a:r>
              <a:rPr sz="3975" b="1">
                <a:solidFill>
                  <a:srgbClr val="4ED8A0"/>
                </a:solidFill>
                <a:latin typeface="Segoe UI"/>
                <a:ea typeface="Segoe UI"/>
                <a:cs typeface="Segoe UI"/>
              </a:rPr>
              <a:t>$5.8M</a:t>
            </a:r>
          </a:p>
        </p:txBody>
      </p:sp>
      <p:sp>
        <p:nvSpPr>
          <p:cNvPr id="15" name="">
            <a:extLst xmlns:a="http://schemas.openxmlformats.org/drawingml/2006/main">
              <a:ext uri="{FF2B5EF4-FFF2-40B4-BE49-F238E27FC236}">
                <a16:creationId xmlns:a16="http://schemas.microsoft.com/office/drawing/2014/main" id="{902F85C4-4693-481B-8042-1F280E6FD2C6}"/>
              </a:ext>
            </a:extLst>
          </p:cNvPr>
          <p:cNvSpPr>
            <a:spLocks xmlns:a="http://schemas.openxmlformats.org/drawingml/2006/main" noGrp="1"/>
          </p:cNvSpPr>
          <p:nvPr/>
        </p:nvSpPr>
        <p:spPr>
          <a:xfrm xmlns:a="http://schemas.openxmlformats.org/drawingml/2006/main">
            <a:off x="7734300" y="25336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75" b="1">
                <a:solidFill>
                  <a:srgbClr val="F2F5F9"/>
                </a:solidFill>
                <a:latin typeface="Segoe UI"/>
                <a:ea typeface="Segoe UI"/>
                <a:cs typeface="Segoe UI"/>
              </a:defRPr>
            </a:pPr>
            <a:r>
              <a:rPr sz="2175" b="1">
                <a:solidFill>
                  <a:srgbClr val="F2F5F9"/>
                </a:solidFill>
                <a:latin typeface="Segoe UI"/>
                <a:ea typeface="Segoe UI"/>
                <a:cs typeface="Segoe UI"/>
              </a:rPr>
              <a:t>Ring</a:t>
            </a:r>
          </a:p>
        </p:txBody>
      </p:sp>
      <p:sp>
        <p:nvSpPr>
          <p:cNvPr id="16" name="">
            <a:extLst xmlns:a="http://schemas.openxmlformats.org/drawingml/2006/main">
              <a:ext uri="{FF2B5EF4-FFF2-40B4-BE49-F238E27FC236}">
                <a16:creationId xmlns:a16="http://schemas.microsoft.com/office/drawing/2014/main" id="{31746C8C-D269-4C01-B97B-96CD9A3EB28C}"/>
              </a:ext>
            </a:extLst>
          </p:cNvPr>
          <p:cNvSpPr>
            <a:spLocks xmlns:a="http://schemas.openxmlformats.org/drawingml/2006/main" noGrp="1"/>
          </p:cNvSpPr>
          <p:nvPr/>
        </p:nvSpPr>
        <p:spPr>
          <a:xfrm xmlns:a="http://schemas.openxmlformats.org/drawingml/2006/main">
            <a:off x="7734300" y="3105150"/>
            <a:ext cx="3067050" cy="0"/>
          </a:xfrm>
          <a:prstGeom xmlns:a="http://schemas.openxmlformats.org/drawingml/2006/main" prst="line">
            <a:avLst/>
          </a:prstGeom>
          <a:noFill xmlns:a="http://schemas.openxmlformats.org/drawingml/2006/main"/>
          <a:ln xmlns:a="http://schemas.openxmlformats.org/drawingml/2006/main" w="19050">
            <a:solidFill>
              <a:srgbClr val="2A2F36"/>
            </a:solidFill>
            <a:prstDash val="solid"/>
          </a:ln>
        </p:spPr>
      </p:sp>
      <p:sp>
        <p:nvSpPr>
          <p:cNvPr id="17" name="">
            <a:extLst xmlns:a="http://schemas.openxmlformats.org/drawingml/2006/main">
              <a:ext uri="{FF2B5EF4-FFF2-40B4-BE49-F238E27FC236}">
                <a16:creationId xmlns:a16="http://schemas.microsoft.com/office/drawing/2014/main" id="{83A90689-42C7-4143-A34F-023E1C65A898}"/>
              </a:ext>
            </a:extLst>
          </p:cNvPr>
          <p:cNvSpPr>
            <a:spLocks xmlns:a="http://schemas.openxmlformats.org/drawingml/2006/main" noGrp="1"/>
          </p:cNvSpPr>
          <p:nvPr/>
        </p:nvSpPr>
        <p:spPr>
          <a:xfrm xmlns:a="http://schemas.openxmlformats.org/drawingml/2006/main">
            <a:off x="7734300" y="3333750"/>
            <a:ext cx="3067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725" b="1">
                <a:solidFill>
                  <a:srgbClr val="F2F5F9"/>
                </a:solidFill>
                <a:latin typeface="Segoe UI"/>
                <a:ea typeface="Segoe UI"/>
                <a:cs typeface="Segoe UI"/>
              </a:defRPr>
            </a:pPr>
            <a:r>
              <a:rPr sz="1725" b="1">
                <a:solidFill>
                  <a:srgbClr val="F2F5F9"/>
                </a:solidFill>
                <a:latin typeface="Segoe UI"/>
                <a:ea typeface="Segoe UI"/>
                <a:cs typeface="Segoe UI"/>
              </a:rPr>
              <a:t>Connected devices lacked basic safeguards</a:t>
            </a:r>
          </a:p>
        </p:txBody>
      </p:sp>
      <p:sp>
        <p:nvSpPr>
          <p:cNvPr id="18" name="">
            <a:extLst xmlns:a="http://schemas.openxmlformats.org/drawingml/2006/main">
              <a:ext uri="{FF2B5EF4-FFF2-40B4-BE49-F238E27FC236}">
                <a16:creationId xmlns:a16="http://schemas.microsoft.com/office/drawing/2014/main" id="{986B5B9F-88C5-4E4A-9A99-1A69E0678B3A}"/>
              </a:ext>
            </a:extLst>
          </p:cNvPr>
          <p:cNvSpPr>
            <a:spLocks xmlns:a="http://schemas.openxmlformats.org/drawingml/2006/main" noGrp="1"/>
          </p:cNvSpPr>
          <p:nvPr/>
        </p:nvSpPr>
        <p:spPr>
          <a:xfrm xmlns:a="http://schemas.openxmlformats.org/drawingml/2006/main">
            <a:off x="7734300" y="4286250"/>
            <a:ext cx="30670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9B3C1"/>
                </a:solidFill>
                <a:latin typeface="Segoe UI"/>
                <a:ea typeface="Segoe UI"/>
                <a:cs typeface="Segoe UI"/>
              </a:defRPr>
            </a:pPr>
            <a:r>
              <a:rPr sz="1425" b="0">
                <a:solidFill>
                  <a:srgbClr val="A9B3C1"/>
                </a:solidFill>
                <a:latin typeface="Segoe UI"/>
                <a:ea typeface="Segoe UI"/>
                <a:cs typeface="Segoe UI"/>
              </a:rPr>
              <a:t>FTC alleged security failures exposed customer cameras and videos to attackers.</a:t>
            </a:r>
          </a:p>
        </p:txBody>
      </p:sp>
      <p:sp>
        <p:nvSpPr>
          <p:cNvPr id="19" name="">
            <a:extLst xmlns:a="http://schemas.openxmlformats.org/drawingml/2006/main">
              <a:ext uri="{FF2B5EF4-FFF2-40B4-BE49-F238E27FC236}">
                <a16:creationId xmlns:a16="http://schemas.microsoft.com/office/drawing/2014/main" id="{ACC84196-F97D-4BD5-BA86-F770467AEE19}"/>
              </a:ext>
            </a:extLst>
          </p:cNvPr>
          <p:cNvSpPr>
            <a:spLocks xmlns:a="http://schemas.openxmlformats.org/drawingml/2006/main" noGrp="1"/>
          </p:cNvSpPr>
          <p:nvPr/>
        </p:nvSpPr>
        <p:spPr>
          <a:xfrm xmlns:a="http://schemas.openxmlformats.org/drawingml/2006/main">
            <a:off x="685800" y="5543550"/>
            <a:ext cx="10820400" cy="685800"/>
          </a:xfrm>
          <a:prstGeom xmlns:a="http://schemas.openxmlformats.org/drawingml/2006/main" prst="roundRect">
            <a:avLst>
              <a:gd name="adj" fmla="val 11111"/>
            </a:avLst>
          </a:prstGeom>
          <a:solidFill xmlns:a="http://schemas.openxmlformats.org/drawingml/2006/main">
            <a:srgbClr val="171A20"/>
          </a:solidFill>
          <a:ln xmlns:a="http://schemas.openxmlformats.org/drawingml/2006/main" w="9525">
            <a:solidFill>
              <a:srgbClr val="2A2F36"/>
            </a:solidFill>
            <a:prstDash val="solid"/>
          </a:ln>
        </p:spPr>
      </p:sp>
      <p:sp>
        <p:nvSpPr>
          <p:cNvPr id="20" name="">
            <a:extLst xmlns:a="http://schemas.openxmlformats.org/drawingml/2006/main">
              <a:ext uri="{FF2B5EF4-FFF2-40B4-BE49-F238E27FC236}">
                <a16:creationId xmlns:a16="http://schemas.microsoft.com/office/drawing/2014/main" id="{B72D6A76-43FE-4464-8710-DEACFB1805A7}"/>
              </a:ext>
            </a:extLst>
          </p:cNvPr>
          <p:cNvSpPr>
            <a:spLocks xmlns:a="http://schemas.openxmlformats.org/drawingml/2006/main" noGrp="1"/>
          </p:cNvSpPr>
          <p:nvPr/>
        </p:nvSpPr>
        <p:spPr>
          <a:xfrm xmlns:a="http://schemas.openxmlformats.org/drawingml/2006/main">
            <a:off x="933450" y="567690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GDPR ENFORCEMENT TRACKER</a:t>
            </a:r>
          </a:p>
        </p:txBody>
      </p:sp>
      <p:sp>
        <p:nvSpPr>
          <p:cNvPr id="21" name="">
            <a:extLst xmlns:a="http://schemas.openxmlformats.org/drawingml/2006/main">
              <a:ext uri="{FF2B5EF4-FFF2-40B4-BE49-F238E27FC236}">
                <a16:creationId xmlns:a16="http://schemas.microsoft.com/office/drawing/2014/main" id="{ED8271A6-50C9-41DB-850D-653EACF27FF7}"/>
              </a:ext>
            </a:extLst>
          </p:cNvPr>
          <p:cNvSpPr>
            <a:spLocks xmlns:a="http://schemas.openxmlformats.org/drawingml/2006/main" noGrp="1"/>
          </p:cNvSpPr>
          <p:nvPr/>
        </p:nvSpPr>
        <p:spPr>
          <a:xfrm xmlns:a="http://schemas.openxmlformats.org/drawingml/2006/main">
            <a:off x="3219450" y="5657850"/>
            <a:ext cx="338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F2F5F9"/>
                </a:solidFill>
                <a:latin typeface="Segoe UI"/>
                <a:ea typeface="Segoe UI"/>
                <a:cs typeface="Segoe UI"/>
              </a:defRPr>
            </a:pPr>
            <a:r>
              <a:rPr sz="1725" b="1">
                <a:solidFill>
                  <a:srgbClr val="F2F5F9"/>
                </a:solidFill>
                <a:latin typeface="Segoe UI"/>
                <a:ea typeface="Segoe UI"/>
                <a:cs typeface="Segoe UI"/>
              </a:rPr>
              <a:t>3,206 cases across 32 countries</a:t>
            </a:r>
          </a:p>
        </p:txBody>
      </p:sp>
      <p:sp>
        <p:nvSpPr>
          <p:cNvPr id="22" name="">
            <a:extLst xmlns:a="http://schemas.openxmlformats.org/drawingml/2006/main">
              <a:ext uri="{FF2B5EF4-FFF2-40B4-BE49-F238E27FC236}">
                <a16:creationId xmlns:a16="http://schemas.microsoft.com/office/drawing/2014/main" id="{1E5FD611-72E8-49AD-80FD-31E95A2FB4B8}"/>
              </a:ext>
            </a:extLst>
          </p:cNvPr>
          <p:cNvSpPr>
            <a:spLocks xmlns:a="http://schemas.openxmlformats.org/drawingml/2006/main" noGrp="1"/>
          </p:cNvSpPr>
          <p:nvPr/>
        </p:nvSpPr>
        <p:spPr>
          <a:xfrm xmlns:a="http://schemas.openxmlformats.org/drawingml/2006/main">
            <a:off x="6800850" y="5676900"/>
            <a:ext cx="0" cy="361950"/>
          </a:xfrm>
          <a:prstGeom xmlns:a="http://schemas.openxmlformats.org/drawingml/2006/main" prst="line">
            <a:avLst/>
          </a:prstGeom>
          <a:noFill xmlns:a="http://schemas.openxmlformats.org/drawingml/2006/main"/>
          <a:ln xmlns:a="http://schemas.openxmlformats.org/drawingml/2006/main" w="19050">
            <a:solidFill>
              <a:srgbClr val="2A2F36"/>
            </a:solidFill>
            <a:prstDash val="solid"/>
          </a:ln>
        </p:spPr>
      </p:sp>
      <p:sp>
        <p:nvSpPr>
          <p:cNvPr id="23" name="">
            <a:extLst xmlns:a="http://schemas.openxmlformats.org/drawingml/2006/main">
              <a:ext uri="{FF2B5EF4-FFF2-40B4-BE49-F238E27FC236}">
                <a16:creationId xmlns:a16="http://schemas.microsoft.com/office/drawing/2014/main" id="{99BF81AE-38B6-4FE3-82A4-3257421E0F33}"/>
              </a:ext>
            </a:extLst>
          </p:cNvPr>
          <p:cNvSpPr>
            <a:spLocks xmlns:a="http://schemas.openxmlformats.org/drawingml/2006/main" noGrp="1"/>
          </p:cNvSpPr>
          <p:nvPr/>
        </p:nvSpPr>
        <p:spPr>
          <a:xfrm xmlns:a="http://schemas.openxmlformats.org/drawingml/2006/main">
            <a:off x="7086600" y="56578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F2F5F9"/>
                </a:solidFill>
                <a:latin typeface="Segoe UI"/>
                <a:ea typeface="Segoe UI"/>
                <a:cs typeface="Segoe UI"/>
              </a:defRPr>
            </a:pPr>
            <a:r>
              <a:rPr sz="1725" b="1">
                <a:solidFill>
                  <a:srgbClr val="F2F5F9"/>
                </a:solidFill>
                <a:latin typeface="Segoe UI"/>
                <a:ea typeface="Segoe UI"/>
                <a:cs typeface="Segoe UI"/>
              </a:rPr>
              <a:t>€6.31B in tracked fines</a:t>
            </a:r>
          </a:p>
        </p:txBody>
      </p:sp>
      <p:sp>
        <p:nvSpPr>
          <p:cNvPr id="24" name="">
            <a:extLst xmlns:a="http://schemas.openxmlformats.org/drawingml/2006/main">
              <a:ext uri="{FF2B5EF4-FFF2-40B4-BE49-F238E27FC236}">
                <a16:creationId xmlns:a16="http://schemas.microsoft.com/office/drawing/2014/main" id="{CB48AD27-550B-480E-B5BD-9ABFEFD85064}"/>
              </a:ext>
            </a:extLst>
          </p:cNvPr>
          <p:cNvSpPr>
            <a:spLocks xmlns:a="http://schemas.openxmlformats.org/drawingml/2006/main" noGrp="1"/>
          </p:cNvSpPr>
          <p:nvPr/>
        </p:nvSpPr>
        <p:spPr>
          <a:xfrm xmlns:a="http://schemas.openxmlformats.org/drawingml/2006/main">
            <a:off x="10096500" y="5629275"/>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900" b="0">
                <a:solidFill>
                  <a:srgbClr val="727D8C"/>
                </a:solidFill>
                <a:latin typeface="Cascadia Mono"/>
                <a:ea typeface="Cascadia Mono"/>
                <a:cs typeface="Cascadia Mono"/>
              </a:defRPr>
            </a:pPr>
            <a:r>
              <a:rPr sz="900" b="0">
                <a:solidFill>
                  <a:srgbClr val="727D8C"/>
                </a:solidFill>
                <a:latin typeface="Cascadia Mono"/>
                <a:ea typeface="Cascadia Mono"/>
                <a:cs typeface="Cascadia Mono"/>
              </a:rPr>
              <a:t>Refreshed</a:t>
            </a:r>
          </a:p>
          <a:p xmlns:a="http://schemas.openxmlformats.org/drawingml/2006/main">
            <a:pPr algn="r">
              <a:lnSpc>
                <a:spcPct val="105000"/>
              </a:lnSpc>
              <a:buNone/>
              <a:defRPr sz="900" b="0">
                <a:solidFill>
                  <a:srgbClr val="727D8C"/>
                </a:solidFill>
                <a:latin typeface="Cascadia Mono"/>
                <a:ea typeface="Cascadia Mono"/>
                <a:cs typeface="Cascadia Mono"/>
              </a:defRPr>
            </a:pPr>
            <a:r>
              <a:rPr sz="900" b="0">
                <a:solidFill>
                  <a:srgbClr val="727D8C"/>
                </a:solidFill>
                <a:latin typeface="Cascadia Mono"/>
                <a:ea typeface="Cascadia Mono"/>
                <a:cs typeface="Cascadia Mono"/>
              </a:rPr>
              <a:t>20 Aug 2026</a:t>
            </a:r>
          </a:p>
        </p:txBody>
      </p:sp>
      <p:sp>
        <p:nvSpPr>
          <p:cNvPr id="25" name="">
            <a:extLst xmlns:a="http://schemas.openxmlformats.org/drawingml/2006/main">
              <a:ext uri="{FF2B5EF4-FFF2-40B4-BE49-F238E27FC236}">
                <a16:creationId xmlns:a16="http://schemas.microsoft.com/office/drawing/2014/main" id="{F552B015-96A4-4FC1-A015-FA4125BC96B0}"/>
              </a:ext>
            </a:extLst>
          </p:cNvPr>
          <p:cNvSpPr>
            <a:spLocks xmlns:a="http://schemas.openxmlformats.org/drawingml/2006/main" noGrp="1"/>
          </p:cNvSpPr>
          <p:nvPr/>
        </p:nvSpPr>
        <p:spPr>
          <a:xfrm xmlns:a="http://schemas.openxmlformats.org/drawingml/2006/main">
            <a:off x="533400" y="6496050"/>
            <a:ext cx="11125200" cy="0"/>
          </a:xfrm>
          <a:prstGeom xmlns:a="http://schemas.openxmlformats.org/drawingml/2006/main" prst="line">
            <a:avLst/>
          </a:prstGeom>
          <a:noFill xmlns:a="http://schemas.openxmlformats.org/drawingml/2006/main"/>
          <a:ln xmlns:a="http://schemas.openxmlformats.org/drawingml/2006/main" w="9525">
            <a:solidFill>
              <a:srgbClr val="2A2F36"/>
            </a:solidFill>
            <a:prstDash val="solid"/>
          </a:ln>
        </p:spPr>
      </p:sp>
      <p:sp>
        <p:nvSpPr>
          <p:cNvPr id="26" name="">
            <a:extLst xmlns:a="http://schemas.openxmlformats.org/drawingml/2006/main">
              <a:ext uri="{FF2B5EF4-FFF2-40B4-BE49-F238E27FC236}">
                <a16:creationId xmlns:a16="http://schemas.microsoft.com/office/drawing/2014/main" id="{0F973790-5DCD-437E-8AB7-57253211A505}"/>
              </a:ext>
            </a:extLst>
          </p:cNvPr>
          <p:cNvSpPr>
            <a:spLocks xmlns:a="http://schemas.openxmlformats.org/drawingml/2006/main" noGrp="1"/>
          </p:cNvSpPr>
          <p:nvPr/>
        </p:nvSpPr>
        <p:spPr>
          <a:xfrm xmlns:a="http://schemas.openxmlformats.org/drawingml/2006/main">
            <a:off x="533400" y="6572250"/>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727D8C"/>
                </a:solidFill>
                <a:latin typeface="Cascadia Mono"/>
                <a:ea typeface="Cascadia Mono"/>
                <a:cs typeface="Cascadia Mono"/>
              </a:defRPr>
            </a:pPr>
            <a:r>
              <a:rPr sz="975" b="0">
                <a:solidFill>
                  <a:srgbClr val="727D8C"/>
                </a:solidFill>
                <a:latin typeface="Cascadia Mono"/>
                <a:ea typeface="Cascadia Mono"/>
                <a:cs typeface="Cascadia Mono"/>
              </a:rPr>
              <a:t>PandaX  /  Cybersecurity and GDPR context — not CRA precedents</a:t>
            </a:r>
          </a:p>
        </p:txBody>
      </p:sp>
      <p:sp>
        <p:nvSpPr>
          <p:cNvPr id="27" name="">
            <a:extLst xmlns:a="http://schemas.openxmlformats.org/drawingml/2006/main">
              <a:ext uri="{FF2B5EF4-FFF2-40B4-BE49-F238E27FC236}">
                <a16:creationId xmlns:a16="http://schemas.microsoft.com/office/drawing/2014/main" id="{113445C6-0DF5-461B-BBD5-A9EECAF98761}"/>
              </a:ext>
            </a:extLst>
          </p:cNvPr>
          <p:cNvSpPr>
            <a:spLocks xmlns:a="http://schemas.openxmlformats.org/drawingml/2006/main" noGrp="1"/>
          </p:cNvSpPr>
          <p:nvPr/>
        </p:nvSpPr>
        <p:spPr>
          <a:xfrm xmlns:a="http://schemas.openxmlformats.org/drawingml/2006/main">
            <a:off x="11049000" y="6562725"/>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0">
                <a:solidFill>
                  <a:srgbClr val="727D8C"/>
                </a:solidFill>
                <a:latin typeface="Cascadia Mono"/>
                <a:ea typeface="Cascadia Mono"/>
                <a:cs typeface="Cascadia Mono"/>
              </a:defRPr>
            </a:pPr>
            <a:r>
              <a:rPr sz="1050" b="0">
                <a:solidFill>
                  <a:srgbClr val="727D8C"/>
                </a:solidFill>
                <a:latin typeface="Cascadia Mono"/>
                <a:ea typeface="Cascadia Mono"/>
                <a:cs typeface="Cascadia Mono"/>
              </a:rPr>
              <a:t>04</a:t>
            </a:r>
          </a:p>
        </p:txBody>
      </p:sp>
    </p:spTree>
    <p:extLst>
      <p:ext uri="{BB962C8B-B14F-4D97-AF65-F5344CB8AC3E}">
        <p14:creationId xmlns:p14="http://schemas.microsoft.com/office/powerpoint/2010/main" val="1649158402"/>
      </p:ext>
    </p:extLst>
  </p:cSld>
</p:sld>
</file>

<file path=ppt/slides/slide5.xml><?xml version="1.0" encoding="utf-8"?>
<p:sld xmlns:p="http://schemas.openxmlformats.org/presentationml/2006/main">
  <p:cSld>
    <p:bg>
      <p:bgPr>
        <a:solidFill xmlns:a="http://schemas.openxmlformats.org/drawingml/2006/main">
          <a:srgbClr val="F4F7F5"/>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E87439C3-74DE-4904-B62F-1E7D7A875EF8}"/>
              </a:ext>
            </a:extLst>
          </p:cNvPr>
          <p:cNvSpPr>
            <a:spLocks xmlns:a="http://schemas.openxmlformats.org/drawingml/2006/main" noGrp="1"/>
          </p:cNvSpPr>
          <p:nvPr/>
        </p:nvSpPr>
        <p:spPr>
          <a:xfrm xmlns:a="http://schemas.openxmlformats.org/drawingml/2006/main">
            <a:off x="533400" y="476250"/>
            <a:ext cx="57150" cy="514350"/>
          </a:xfrm>
          <a:prstGeom xmlns:a="http://schemas.openxmlformats.org/drawingml/2006/main" prst="rect">
            <a:avLst/>
          </a:prstGeom>
          <a:solidFill xmlns:a="http://schemas.openxmlformats.org/drawingml/2006/main">
            <a:srgbClr val="4ED8A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96E7E7-E783-4868-A614-F5893E380949}"/>
              </a:ext>
            </a:extLst>
          </p:cNvPr>
          <p:cNvSpPr>
            <a:spLocks xmlns:a="http://schemas.openxmlformats.org/drawingml/2006/main" noGrp="1"/>
          </p:cNvSpPr>
          <p:nvPr/>
        </p:nvSpPr>
        <p:spPr>
          <a:xfrm xmlns:a="http://schemas.openxmlformats.org/drawingml/2006/main">
            <a:off x="762000" y="43815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PandaX connects firmware evidence to CRA workflow</a:t>
            </a:r>
          </a:p>
        </p:txBody>
      </p:sp>
      <p:sp>
        <p:nvSpPr>
          <p:cNvPr id="3" name="">
            <a:extLst xmlns:a="http://schemas.openxmlformats.org/drawingml/2006/main">
              <a:ext uri="{FF2B5EF4-FFF2-40B4-BE49-F238E27FC236}">
                <a16:creationId xmlns:a16="http://schemas.microsoft.com/office/drawing/2014/main" id="{6548C8B2-D58F-45E0-A5CA-6944325E82AE}"/>
              </a:ext>
            </a:extLst>
          </p:cNvPr>
          <p:cNvSpPr>
            <a:spLocks xmlns:a="http://schemas.openxmlformats.org/drawingml/2006/main" noGrp="1"/>
          </p:cNvSpPr>
          <p:nvPr/>
        </p:nvSpPr>
        <p:spPr>
          <a:xfrm xmlns:a="http://schemas.openxmlformats.org/drawingml/2006/main">
            <a:off x="609600" y="19621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167A57"/>
                </a:solidFill>
                <a:latin typeface="Cascadia Mono"/>
                <a:ea typeface="Cascadia Mono"/>
                <a:cs typeface="Cascadia Mono"/>
              </a:defRPr>
            </a:pPr>
            <a:r>
              <a:rPr sz="1050" b="1">
                <a:solidFill>
                  <a:srgbClr val="167A57"/>
                </a:solidFill>
                <a:latin typeface="Cascadia Mono"/>
                <a:ea typeface="Cascadia Mono"/>
                <a:cs typeface="Cascadia Mono"/>
              </a:rPr>
              <a:t>01</a:t>
            </a:r>
          </a:p>
        </p:txBody>
      </p:sp>
      <p:sp>
        <p:nvSpPr>
          <p:cNvPr id="4" name="">
            <a:extLst xmlns:a="http://schemas.openxmlformats.org/drawingml/2006/main">
              <a:ext uri="{FF2B5EF4-FFF2-40B4-BE49-F238E27FC236}">
                <a16:creationId xmlns:a16="http://schemas.microsoft.com/office/drawing/2014/main" id="{B4E81591-46B4-43A0-9133-669B9C885D18}"/>
              </a:ext>
            </a:extLst>
          </p:cNvPr>
          <p:cNvSpPr>
            <a:spLocks xmlns:a="http://schemas.openxmlformats.org/drawingml/2006/main" noGrp="1"/>
          </p:cNvSpPr>
          <p:nvPr/>
        </p:nvSpPr>
        <p:spPr>
          <a:xfrm xmlns:a="http://schemas.openxmlformats.org/drawingml/2006/main">
            <a:off x="609600" y="2314575"/>
            <a:ext cx="1724025" cy="0"/>
          </a:xfrm>
          <a:prstGeom xmlns:a="http://schemas.openxmlformats.org/drawingml/2006/main" prst="line">
            <a:avLst/>
          </a:prstGeom>
          <a:noFill xmlns:a="http://schemas.openxmlformats.org/drawingml/2006/main"/>
          <a:ln xmlns:a="http://schemas.openxmlformats.org/drawingml/2006/main" w="28575">
            <a:solidFill>
              <a:srgbClr val="B9C5BE"/>
            </a:solidFill>
            <a:prstDash val="solid"/>
          </a:ln>
        </p:spPr>
      </p:sp>
      <p:sp>
        <p:nvSpPr>
          <p:cNvPr id="5" name="">
            <a:extLst xmlns:a="http://schemas.openxmlformats.org/drawingml/2006/main">
              <a:ext uri="{FF2B5EF4-FFF2-40B4-BE49-F238E27FC236}">
                <a16:creationId xmlns:a16="http://schemas.microsoft.com/office/drawing/2014/main" id="{6D8D0D29-D539-487C-8602-E3BAE576137F}"/>
              </a:ext>
            </a:extLst>
          </p:cNvPr>
          <p:cNvSpPr>
            <a:spLocks xmlns:a="http://schemas.openxmlformats.org/drawingml/2006/main" noGrp="1"/>
          </p:cNvSpPr>
          <p:nvPr/>
        </p:nvSpPr>
        <p:spPr>
          <a:xfrm xmlns:a="http://schemas.openxmlformats.org/drawingml/2006/main">
            <a:off x="609600" y="2609850"/>
            <a:ext cx="1724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Firmware</a:t>
            </a:r>
          </a:p>
        </p:txBody>
      </p:sp>
      <p:sp>
        <p:nvSpPr>
          <p:cNvPr id="6" name="">
            <a:extLst xmlns:a="http://schemas.openxmlformats.org/drawingml/2006/main">
              <a:ext uri="{FF2B5EF4-FFF2-40B4-BE49-F238E27FC236}">
                <a16:creationId xmlns:a16="http://schemas.microsoft.com/office/drawing/2014/main" id="{7E3A292B-6805-4A44-9A57-43575B09292C}"/>
              </a:ext>
            </a:extLst>
          </p:cNvPr>
          <p:cNvSpPr>
            <a:spLocks xmlns:a="http://schemas.openxmlformats.org/drawingml/2006/main" noGrp="1"/>
          </p:cNvSpPr>
          <p:nvPr/>
        </p:nvSpPr>
        <p:spPr>
          <a:xfrm xmlns:a="http://schemas.openxmlformats.org/drawingml/2006/main">
            <a:off x="609600" y="3181350"/>
            <a:ext cx="1647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3605A"/>
                </a:solidFill>
                <a:latin typeface="Segoe UI"/>
                <a:ea typeface="Segoe UI"/>
                <a:cs typeface="Segoe UI"/>
              </a:defRPr>
            </a:pPr>
            <a:r>
              <a:rPr sz="1350" b="0">
                <a:solidFill>
                  <a:srgbClr val="53605A"/>
                </a:solidFill>
                <a:latin typeface="Segoe UI"/>
                <a:ea typeface="Segoe UI"/>
                <a:cs typeface="Segoe UI"/>
              </a:rPr>
              <a:t>Supported image or existing SBOM</a:t>
            </a:r>
          </a:p>
        </p:txBody>
      </p:sp>
      <p:sp>
        <p:nvSpPr>
          <p:cNvPr id="7" name="">
            <a:extLst xmlns:a="http://schemas.openxmlformats.org/drawingml/2006/main">
              <a:ext uri="{FF2B5EF4-FFF2-40B4-BE49-F238E27FC236}">
                <a16:creationId xmlns:a16="http://schemas.microsoft.com/office/drawing/2014/main" id="{48ECBE2E-554F-4845-BB0B-05A3C2A6A671}"/>
              </a:ext>
            </a:extLst>
          </p:cNvPr>
          <p:cNvSpPr>
            <a:spLocks xmlns:a="http://schemas.openxmlformats.org/drawingml/2006/main" noGrp="1"/>
          </p:cNvSpPr>
          <p:nvPr/>
        </p:nvSpPr>
        <p:spPr>
          <a:xfrm xmlns:a="http://schemas.openxmlformats.org/drawingml/2006/main">
            <a:off x="2466975" y="19621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167A57"/>
                </a:solidFill>
                <a:latin typeface="Cascadia Mono"/>
                <a:ea typeface="Cascadia Mono"/>
                <a:cs typeface="Cascadia Mono"/>
              </a:defRPr>
            </a:pPr>
            <a:r>
              <a:rPr sz="1050" b="1">
                <a:solidFill>
                  <a:srgbClr val="167A57"/>
                </a:solidFill>
                <a:latin typeface="Cascadia Mono"/>
                <a:ea typeface="Cascadia Mono"/>
                <a:cs typeface="Cascadia Mono"/>
              </a:rPr>
              <a:t>02</a:t>
            </a:r>
          </a:p>
        </p:txBody>
      </p:sp>
      <p:sp>
        <p:nvSpPr>
          <p:cNvPr id="8" name="">
            <a:extLst xmlns:a="http://schemas.openxmlformats.org/drawingml/2006/main">
              <a:ext uri="{FF2B5EF4-FFF2-40B4-BE49-F238E27FC236}">
                <a16:creationId xmlns:a16="http://schemas.microsoft.com/office/drawing/2014/main" id="{69320CD1-8B5D-4254-905E-7B3514830F00}"/>
              </a:ext>
            </a:extLst>
          </p:cNvPr>
          <p:cNvSpPr>
            <a:spLocks xmlns:a="http://schemas.openxmlformats.org/drawingml/2006/main" noGrp="1"/>
          </p:cNvSpPr>
          <p:nvPr/>
        </p:nvSpPr>
        <p:spPr>
          <a:xfrm xmlns:a="http://schemas.openxmlformats.org/drawingml/2006/main">
            <a:off x="2466975" y="2314575"/>
            <a:ext cx="1724025" cy="0"/>
          </a:xfrm>
          <a:prstGeom xmlns:a="http://schemas.openxmlformats.org/drawingml/2006/main" prst="line">
            <a:avLst/>
          </a:prstGeom>
          <a:noFill xmlns:a="http://schemas.openxmlformats.org/drawingml/2006/main"/>
          <a:ln xmlns:a="http://schemas.openxmlformats.org/drawingml/2006/main" w="28575">
            <a:solidFill>
              <a:srgbClr val="B9C5BE"/>
            </a:solidFill>
            <a:prstDash val="solid"/>
          </a:ln>
        </p:spPr>
      </p:sp>
      <p:sp>
        <p:nvSpPr>
          <p:cNvPr id="9" name="">
            <a:extLst xmlns:a="http://schemas.openxmlformats.org/drawingml/2006/main">
              <a:ext uri="{FF2B5EF4-FFF2-40B4-BE49-F238E27FC236}">
                <a16:creationId xmlns:a16="http://schemas.microsoft.com/office/drawing/2014/main" id="{AB957D42-74E0-46FE-A019-3F0FD50D566E}"/>
              </a:ext>
            </a:extLst>
          </p:cNvPr>
          <p:cNvSpPr>
            <a:spLocks xmlns:a="http://schemas.openxmlformats.org/drawingml/2006/main" noGrp="1"/>
          </p:cNvSpPr>
          <p:nvPr/>
        </p:nvSpPr>
        <p:spPr>
          <a:xfrm xmlns:a="http://schemas.openxmlformats.org/drawingml/2006/main">
            <a:off x="2466975" y="2609850"/>
            <a:ext cx="1724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Inventory</a:t>
            </a:r>
          </a:p>
        </p:txBody>
      </p:sp>
      <p:sp>
        <p:nvSpPr>
          <p:cNvPr id="10" name="">
            <a:extLst xmlns:a="http://schemas.openxmlformats.org/drawingml/2006/main">
              <a:ext uri="{FF2B5EF4-FFF2-40B4-BE49-F238E27FC236}">
                <a16:creationId xmlns:a16="http://schemas.microsoft.com/office/drawing/2014/main" id="{42E95F09-E9F5-45EB-993E-6FF458F4A91D}"/>
              </a:ext>
            </a:extLst>
          </p:cNvPr>
          <p:cNvSpPr>
            <a:spLocks xmlns:a="http://schemas.openxmlformats.org/drawingml/2006/main" noGrp="1"/>
          </p:cNvSpPr>
          <p:nvPr/>
        </p:nvSpPr>
        <p:spPr>
          <a:xfrm xmlns:a="http://schemas.openxmlformats.org/drawingml/2006/main">
            <a:off x="2466975" y="3181350"/>
            <a:ext cx="1647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3605A"/>
                </a:solidFill>
                <a:latin typeface="Segoe UI"/>
                <a:ea typeface="Segoe UI"/>
                <a:cs typeface="Segoe UI"/>
              </a:defRPr>
            </a:pPr>
            <a:r>
              <a:rPr sz="1350" b="0">
                <a:solidFill>
                  <a:srgbClr val="53605A"/>
                </a:solidFill>
                <a:latin typeface="Segoe UI"/>
                <a:ea typeface="Segoe UI"/>
                <a:cs typeface="Segoe UI"/>
              </a:rPr>
              <a:t>CycloneDX 1.6 SBOM</a:t>
            </a:r>
          </a:p>
        </p:txBody>
      </p:sp>
      <p:sp>
        <p:nvSpPr>
          <p:cNvPr id="11" name="">
            <a:extLst xmlns:a="http://schemas.openxmlformats.org/drawingml/2006/main">
              <a:ext uri="{FF2B5EF4-FFF2-40B4-BE49-F238E27FC236}">
                <a16:creationId xmlns:a16="http://schemas.microsoft.com/office/drawing/2014/main" id="{23B41C31-92F6-40FE-83E8-ACC752E9594C}"/>
              </a:ext>
            </a:extLst>
          </p:cNvPr>
          <p:cNvSpPr>
            <a:spLocks xmlns:a="http://schemas.openxmlformats.org/drawingml/2006/main" noGrp="1"/>
          </p:cNvSpPr>
          <p:nvPr/>
        </p:nvSpPr>
        <p:spPr>
          <a:xfrm xmlns:a="http://schemas.openxmlformats.org/drawingml/2006/main">
            <a:off x="4324350" y="19621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167A57"/>
                </a:solidFill>
                <a:latin typeface="Cascadia Mono"/>
                <a:ea typeface="Cascadia Mono"/>
                <a:cs typeface="Cascadia Mono"/>
              </a:defRPr>
            </a:pPr>
            <a:r>
              <a:rPr sz="1050" b="1">
                <a:solidFill>
                  <a:srgbClr val="167A57"/>
                </a:solidFill>
                <a:latin typeface="Cascadia Mono"/>
                <a:ea typeface="Cascadia Mono"/>
                <a:cs typeface="Cascadia Mono"/>
              </a:rPr>
              <a:t>03</a:t>
            </a:r>
          </a:p>
        </p:txBody>
      </p:sp>
      <p:sp>
        <p:nvSpPr>
          <p:cNvPr id="12" name="">
            <a:extLst xmlns:a="http://schemas.openxmlformats.org/drawingml/2006/main">
              <a:ext uri="{FF2B5EF4-FFF2-40B4-BE49-F238E27FC236}">
                <a16:creationId xmlns:a16="http://schemas.microsoft.com/office/drawing/2014/main" id="{DCFF7BD6-05AB-4CF4-B8B1-2E1C513A5F13}"/>
              </a:ext>
            </a:extLst>
          </p:cNvPr>
          <p:cNvSpPr>
            <a:spLocks xmlns:a="http://schemas.openxmlformats.org/drawingml/2006/main" noGrp="1"/>
          </p:cNvSpPr>
          <p:nvPr/>
        </p:nvSpPr>
        <p:spPr>
          <a:xfrm xmlns:a="http://schemas.openxmlformats.org/drawingml/2006/main">
            <a:off x="4324350" y="2314575"/>
            <a:ext cx="1724025" cy="0"/>
          </a:xfrm>
          <a:prstGeom xmlns:a="http://schemas.openxmlformats.org/drawingml/2006/main" prst="line">
            <a:avLst/>
          </a:prstGeom>
          <a:noFill xmlns:a="http://schemas.openxmlformats.org/drawingml/2006/main"/>
          <a:ln xmlns:a="http://schemas.openxmlformats.org/drawingml/2006/main" w="28575">
            <a:solidFill>
              <a:srgbClr val="B9C5BE"/>
            </a:solidFill>
            <a:prstDash val="solid"/>
          </a:ln>
        </p:spPr>
      </p:sp>
      <p:sp>
        <p:nvSpPr>
          <p:cNvPr id="13" name="">
            <a:extLst xmlns:a="http://schemas.openxmlformats.org/drawingml/2006/main">
              <a:ext uri="{FF2B5EF4-FFF2-40B4-BE49-F238E27FC236}">
                <a16:creationId xmlns:a16="http://schemas.microsoft.com/office/drawing/2014/main" id="{34986790-85EB-4F22-AF8D-EAF12B2BF2ED}"/>
              </a:ext>
            </a:extLst>
          </p:cNvPr>
          <p:cNvSpPr>
            <a:spLocks xmlns:a="http://schemas.openxmlformats.org/drawingml/2006/main" noGrp="1"/>
          </p:cNvSpPr>
          <p:nvPr/>
        </p:nvSpPr>
        <p:spPr>
          <a:xfrm xmlns:a="http://schemas.openxmlformats.org/drawingml/2006/main">
            <a:off x="4324350" y="2609850"/>
            <a:ext cx="1724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Evidence</a:t>
            </a:r>
          </a:p>
        </p:txBody>
      </p:sp>
      <p:sp>
        <p:nvSpPr>
          <p:cNvPr id="14" name="">
            <a:extLst xmlns:a="http://schemas.openxmlformats.org/drawingml/2006/main">
              <a:ext uri="{FF2B5EF4-FFF2-40B4-BE49-F238E27FC236}">
                <a16:creationId xmlns:a16="http://schemas.microsoft.com/office/drawing/2014/main" id="{A52EC361-D879-4FA4-B6AD-54E7701ECA44}"/>
              </a:ext>
            </a:extLst>
          </p:cNvPr>
          <p:cNvSpPr>
            <a:spLocks xmlns:a="http://schemas.openxmlformats.org/drawingml/2006/main" noGrp="1"/>
          </p:cNvSpPr>
          <p:nvPr/>
        </p:nvSpPr>
        <p:spPr>
          <a:xfrm xmlns:a="http://schemas.openxmlformats.org/drawingml/2006/main">
            <a:off x="4324350" y="3181350"/>
            <a:ext cx="1647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3605A"/>
                </a:solidFill>
                <a:latin typeface="Segoe UI"/>
                <a:ea typeface="Segoe UI"/>
                <a:cs typeface="Segoe UI"/>
              </a:defRPr>
            </a:pPr>
            <a:r>
              <a:rPr sz="1350" b="0">
                <a:solidFill>
                  <a:srgbClr val="53605A"/>
                </a:solidFill>
                <a:latin typeface="Segoe UI"/>
                <a:ea typeface="Segoe UI"/>
                <a:cs typeface="Segoe UI"/>
              </a:rPr>
              <a:t>Affectedness and coverage</a:t>
            </a:r>
          </a:p>
        </p:txBody>
      </p:sp>
      <p:sp>
        <p:nvSpPr>
          <p:cNvPr id="15" name="">
            <a:extLst xmlns:a="http://schemas.openxmlformats.org/drawingml/2006/main">
              <a:ext uri="{FF2B5EF4-FFF2-40B4-BE49-F238E27FC236}">
                <a16:creationId xmlns:a16="http://schemas.microsoft.com/office/drawing/2014/main" id="{0915A51B-D6C1-4664-9905-4595278921E1}"/>
              </a:ext>
            </a:extLst>
          </p:cNvPr>
          <p:cNvSpPr>
            <a:spLocks xmlns:a="http://schemas.openxmlformats.org/drawingml/2006/main" noGrp="1"/>
          </p:cNvSpPr>
          <p:nvPr/>
        </p:nvSpPr>
        <p:spPr>
          <a:xfrm xmlns:a="http://schemas.openxmlformats.org/drawingml/2006/main">
            <a:off x="6181725" y="19621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167A57"/>
                </a:solidFill>
                <a:latin typeface="Cascadia Mono"/>
                <a:ea typeface="Cascadia Mono"/>
                <a:cs typeface="Cascadia Mono"/>
              </a:defRPr>
            </a:pPr>
            <a:r>
              <a:rPr sz="1050" b="1">
                <a:solidFill>
                  <a:srgbClr val="167A57"/>
                </a:solidFill>
                <a:latin typeface="Cascadia Mono"/>
                <a:ea typeface="Cascadia Mono"/>
                <a:cs typeface="Cascadia Mono"/>
              </a:rPr>
              <a:t>04</a:t>
            </a:r>
          </a:p>
        </p:txBody>
      </p:sp>
      <p:sp>
        <p:nvSpPr>
          <p:cNvPr id="16" name="">
            <a:extLst xmlns:a="http://schemas.openxmlformats.org/drawingml/2006/main">
              <a:ext uri="{FF2B5EF4-FFF2-40B4-BE49-F238E27FC236}">
                <a16:creationId xmlns:a16="http://schemas.microsoft.com/office/drawing/2014/main" id="{6AC31824-51BE-4927-9EA8-F0842402301E}"/>
              </a:ext>
            </a:extLst>
          </p:cNvPr>
          <p:cNvSpPr>
            <a:spLocks xmlns:a="http://schemas.openxmlformats.org/drawingml/2006/main" noGrp="1"/>
          </p:cNvSpPr>
          <p:nvPr/>
        </p:nvSpPr>
        <p:spPr>
          <a:xfrm xmlns:a="http://schemas.openxmlformats.org/drawingml/2006/main">
            <a:off x="6181725" y="2314575"/>
            <a:ext cx="1724025" cy="0"/>
          </a:xfrm>
          <a:prstGeom xmlns:a="http://schemas.openxmlformats.org/drawingml/2006/main" prst="line">
            <a:avLst/>
          </a:prstGeom>
          <a:noFill xmlns:a="http://schemas.openxmlformats.org/drawingml/2006/main"/>
          <a:ln xmlns:a="http://schemas.openxmlformats.org/drawingml/2006/main" w="28575">
            <a:solidFill>
              <a:srgbClr val="B9C5BE"/>
            </a:solidFill>
            <a:prstDash val="solid"/>
          </a:ln>
        </p:spPr>
      </p:sp>
      <p:sp>
        <p:nvSpPr>
          <p:cNvPr id="17" name="">
            <a:extLst xmlns:a="http://schemas.openxmlformats.org/drawingml/2006/main">
              <a:ext uri="{FF2B5EF4-FFF2-40B4-BE49-F238E27FC236}">
                <a16:creationId xmlns:a16="http://schemas.microsoft.com/office/drawing/2014/main" id="{159D9B60-4867-42C2-A9E1-EE314474475B}"/>
              </a:ext>
            </a:extLst>
          </p:cNvPr>
          <p:cNvSpPr>
            <a:spLocks xmlns:a="http://schemas.openxmlformats.org/drawingml/2006/main" noGrp="1"/>
          </p:cNvSpPr>
          <p:nvPr/>
        </p:nvSpPr>
        <p:spPr>
          <a:xfrm xmlns:a="http://schemas.openxmlformats.org/drawingml/2006/main">
            <a:off x="6181725" y="2609850"/>
            <a:ext cx="1724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Case</a:t>
            </a:r>
          </a:p>
        </p:txBody>
      </p:sp>
      <p:sp>
        <p:nvSpPr>
          <p:cNvPr id="18" name="">
            <a:extLst xmlns:a="http://schemas.openxmlformats.org/drawingml/2006/main">
              <a:ext uri="{FF2B5EF4-FFF2-40B4-BE49-F238E27FC236}">
                <a16:creationId xmlns:a16="http://schemas.microsoft.com/office/drawing/2014/main" id="{217FAC86-9B55-45D8-ABF7-9414E0BD8917}"/>
              </a:ext>
            </a:extLst>
          </p:cNvPr>
          <p:cNvSpPr>
            <a:spLocks xmlns:a="http://schemas.openxmlformats.org/drawingml/2006/main" noGrp="1"/>
          </p:cNvSpPr>
          <p:nvPr/>
        </p:nvSpPr>
        <p:spPr>
          <a:xfrm xmlns:a="http://schemas.openxmlformats.org/drawingml/2006/main">
            <a:off x="6181725" y="3181350"/>
            <a:ext cx="1647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3605A"/>
                </a:solidFill>
                <a:latin typeface="Segoe UI"/>
                <a:ea typeface="Segoe UI"/>
                <a:cs typeface="Segoe UI"/>
              </a:defRPr>
            </a:pPr>
            <a:r>
              <a:rPr sz="1350" b="0">
                <a:solidFill>
                  <a:srgbClr val="53605A"/>
                </a:solidFill>
                <a:latin typeface="Segoe UI"/>
                <a:ea typeface="Segoe UI"/>
                <a:cs typeface="Segoe UI"/>
              </a:rPr>
              <a:t>Awareness and deadlines</a:t>
            </a:r>
          </a:p>
        </p:txBody>
      </p:sp>
      <p:sp>
        <p:nvSpPr>
          <p:cNvPr id="19" name="">
            <a:extLst xmlns:a="http://schemas.openxmlformats.org/drawingml/2006/main">
              <a:ext uri="{FF2B5EF4-FFF2-40B4-BE49-F238E27FC236}">
                <a16:creationId xmlns:a16="http://schemas.microsoft.com/office/drawing/2014/main" id="{425C24EA-34BD-4607-8C21-C3B936636F1E}"/>
              </a:ext>
            </a:extLst>
          </p:cNvPr>
          <p:cNvSpPr>
            <a:spLocks xmlns:a="http://schemas.openxmlformats.org/drawingml/2006/main" noGrp="1"/>
          </p:cNvSpPr>
          <p:nvPr/>
        </p:nvSpPr>
        <p:spPr>
          <a:xfrm xmlns:a="http://schemas.openxmlformats.org/drawingml/2006/main">
            <a:off x="8039100" y="19621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167A57"/>
                </a:solidFill>
                <a:latin typeface="Cascadia Mono"/>
                <a:ea typeface="Cascadia Mono"/>
                <a:cs typeface="Cascadia Mono"/>
              </a:defRPr>
            </a:pPr>
            <a:r>
              <a:rPr sz="1050" b="1">
                <a:solidFill>
                  <a:srgbClr val="167A57"/>
                </a:solidFill>
                <a:latin typeface="Cascadia Mono"/>
                <a:ea typeface="Cascadia Mono"/>
                <a:cs typeface="Cascadia Mono"/>
              </a:rPr>
              <a:t>05</a:t>
            </a:r>
          </a:p>
        </p:txBody>
      </p:sp>
      <p:sp>
        <p:nvSpPr>
          <p:cNvPr id="20" name="">
            <a:extLst xmlns:a="http://schemas.openxmlformats.org/drawingml/2006/main">
              <a:ext uri="{FF2B5EF4-FFF2-40B4-BE49-F238E27FC236}">
                <a16:creationId xmlns:a16="http://schemas.microsoft.com/office/drawing/2014/main" id="{01E1B99B-D1FB-48E4-A967-EA40C68CB75A}"/>
              </a:ext>
            </a:extLst>
          </p:cNvPr>
          <p:cNvSpPr>
            <a:spLocks xmlns:a="http://schemas.openxmlformats.org/drawingml/2006/main" noGrp="1"/>
          </p:cNvSpPr>
          <p:nvPr/>
        </p:nvSpPr>
        <p:spPr>
          <a:xfrm xmlns:a="http://schemas.openxmlformats.org/drawingml/2006/main">
            <a:off x="8039100" y="2314575"/>
            <a:ext cx="1724025" cy="0"/>
          </a:xfrm>
          <a:prstGeom xmlns:a="http://schemas.openxmlformats.org/drawingml/2006/main" prst="line">
            <a:avLst/>
          </a:prstGeom>
          <a:noFill xmlns:a="http://schemas.openxmlformats.org/drawingml/2006/main"/>
          <a:ln xmlns:a="http://schemas.openxmlformats.org/drawingml/2006/main" w="28575">
            <a:solidFill>
              <a:srgbClr val="B9C5BE"/>
            </a:solidFill>
            <a:prstDash val="solid"/>
          </a:ln>
        </p:spPr>
      </p:sp>
      <p:sp>
        <p:nvSpPr>
          <p:cNvPr id="21" name="">
            <a:extLst xmlns:a="http://schemas.openxmlformats.org/drawingml/2006/main">
              <a:ext uri="{FF2B5EF4-FFF2-40B4-BE49-F238E27FC236}">
                <a16:creationId xmlns:a16="http://schemas.microsoft.com/office/drawing/2014/main" id="{439E6714-D972-40C5-BB62-EA3BA58D02D8}"/>
              </a:ext>
            </a:extLst>
          </p:cNvPr>
          <p:cNvSpPr>
            <a:spLocks xmlns:a="http://schemas.openxmlformats.org/drawingml/2006/main" noGrp="1"/>
          </p:cNvSpPr>
          <p:nvPr/>
        </p:nvSpPr>
        <p:spPr>
          <a:xfrm xmlns:a="http://schemas.openxmlformats.org/drawingml/2006/main">
            <a:off x="8039100" y="2609850"/>
            <a:ext cx="1724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Reports</a:t>
            </a:r>
          </a:p>
        </p:txBody>
      </p:sp>
      <p:sp>
        <p:nvSpPr>
          <p:cNvPr id="22" name="">
            <a:extLst xmlns:a="http://schemas.openxmlformats.org/drawingml/2006/main">
              <a:ext uri="{FF2B5EF4-FFF2-40B4-BE49-F238E27FC236}">
                <a16:creationId xmlns:a16="http://schemas.microsoft.com/office/drawing/2014/main" id="{F62EF88D-CD46-41FD-BC70-EB7F9E7E88A5}"/>
              </a:ext>
            </a:extLst>
          </p:cNvPr>
          <p:cNvSpPr>
            <a:spLocks xmlns:a="http://schemas.openxmlformats.org/drawingml/2006/main" noGrp="1"/>
          </p:cNvSpPr>
          <p:nvPr/>
        </p:nvSpPr>
        <p:spPr>
          <a:xfrm xmlns:a="http://schemas.openxmlformats.org/drawingml/2006/main">
            <a:off x="8039100" y="3181350"/>
            <a:ext cx="1647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3605A"/>
                </a:solidFill>
                <a:latin typeface="Segoe UI"/>
                <a:ea typeface="Segoe UI"/>
                <a:cs typeface="Segoe UI"/>
              </a:defRPr>
            </a:pPr>
            <a:r>
              <a:rPr sz="1350" b="0">
                <a:solidFill>
                  <a:srgbClr val="53605A"/>
                </a:solidFill>
                <a:latin typeface="Segoe UI"/>
                <a:ea typeface="Segoe UI"/>
                <a:cs typeface="Segoe UI"/>
              </a:rPr>
              <a:t>Review-ready packages</a:t>
            </a:r>
          </a:p>
        </p:txBody>
      </p:sp>
      <p:sp>
        <p:nvSpPr>
          <p:cNvPr id="23" name="">
            <a:extLst xmlns:a="http://schemas.openxmlformats.org/drawingml/2006/main">
              <a:ext uri="{FF2B5EF4-FFF2-40B4-BE49-F238E27FC236}">
                <a16:creationId xmlns:a16="http://schemas.microsoft.com/office/drawing/2014/main" id="{42CECD3C-8283-440E-9522-05B084715E19}"/>
              </a:ext>
            </a:extLst>
          </p:cNvPr>
          <p:cNvSpPr>
            <a:spLocks xmlns:a="http://schemas.openxmlformats.org/drawingml/2006/main" noGrp="1"/>
          </p:cNvSpPr>
          <p:nvPr/>
        </p:nvSpPr>
        <p:spPr>
          <a:xfrm xmlns:a="http://schemas.openxmlformats.org/drawingml/2006/main">
            <a:off x="9896475" y="19621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167A57"/>
                </a:solidFill>
                <a:latin typeface="Cascadia Mono"/>
                <a:ea typeface="Cascadia Mono"/>
                <a:cs typeface="Cascadia Mono"/>
              </a:defRPr>
            </a:pPr>
            <a:r>
              <a:rPr sz="1050" b="1">
                <a:solidFill>
                  <a:srgbClr val="167A57"/>
                </a:solidFill>
                <a:latin typeface="Cascadia Mono"/>
                <a:ea typeface="Cascadia Mono"/>
                <a:cs typeface="Cascadia Mono"/>
              </a:rPr>
              <a:t>06</a:t>
            </a:r>
          </a:p>
        </p:txBody>
      </p:sp>
      <p:sp>
        <p:nvSpPr>
          <p:cNvPr id="24" name="">
            <a:extLst xmlns:a="http://schemas.openxmlformats.org/drawingml/2006/main">
              <a:ext uri="{FF2B5EF4-FFF2-40B4-BE49-F238E27FC236}">
                <a16:creationId xmlns:a16="http://schemas.microsoft.com/office/drawing/2014/main" id="{48AAE900-860B-45BF-ACB6-8E15EDB08C03}"/>
              </a:ext>
            </a:extLst>
          </p:cNvPr>
          <p:cNvSpPr>
            <a:spLocks xmlns:a="http://schemas.openxmlformats.org/drawingml/2006/main" noGrp="1"/>
          </p:cNvSpPr>
          <p:nvPr/>
        </p:nvSpPr>
        <p:spPr>
          <a:xfrm xmlns:a="http://schemas.openxmlformats.org/drawingml/2006/main">
            <a:off x="9896475" y="2314575"/>
            <a:ext cx="1724025" cy="0"/>
          </a:xfrm>
          <a:prstGeom xmlns:a="http://schemas.openxmlformats.org/drawingml/2006/main" prst="line">
            <a:avLst/>
          </a:prstGeom>
          <a:noFill xmlns:a="http://schemas.openxmlformats.org/drawingml/2006/main"/>
          <a:ln xmlns:a="http://schemas.openxmlformats.org/drawingml/2006/main" w="28575">
            <a:solidFill>
              <a:srgbClr val="4ED8A0"/>
            </a:solidFill>
            <a:prstDash val="solid"/>
          </a:ln>
        </p:spPr>
      </p:sp>
      <p:sp>
        <p:nvSpPr>
          <p:cNvPr id="25" name="">
            <a:extLst xmlns:a="http://schemas.openxmlformats.org/drawingml/2006/main">
              <a:ext uri="{FF2B5EF4-FFF2-40B4-BE49-F238E27FC236}">
                <a16:creationId xmlns:a16="http://schemas.microsoft.com/office/drawing/2014/main" id="{B0460EE2-2FBE-40B5-A68F-6041C5A1A6EB}"/>
              </a:ext>
            </a:extLst>
          </p:cNvPr>
          <p:cNvSpPr>
            <a:spLocks xmlns:a="http://schemas.openxmlformats.org/drawingml/2006/main" noGrp="1"/>
          </p:cNvSpPr>
          <p:nvPr/>
        </p:nvSpPr>
        <p:spPr>
          <a:xfrm xmlns:a="http://schemas.openxmlformats.org/drawingml/2006/main">
            <a:off x="9896475" y="2609850"/>
            <a:ext cx="1724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Seal</a:t>
            </a:r>
          </a:p>
        </p:txBody>
      </p:sp>
      <p:sp>
        <p:nvSpPr>
          <p:cNvPr id="26" name="">
            <a:extLst xmlns:a="http://schemas.openxmlformats.org/drawingml/2006/main">
              <a:ext uri="{FF2B5EF4-FFF2-40B4-BE49-F238E27FC236}">
                <a16:creationId xmlns:a16="http://schemas.microsoft.com/office/drawing/2014/main" id="{3050B0EA-1C8A-4B05-8662-5E96B8247504}"/>
              </a:ext>
            </a:extLst>
          </p:cNvPr>
          <p:cNvSpPr>
            <a:spLocks xmlns:a="http://schemas.openxmlformats.org/drawingml/2006/main" noGrp="1"/>
          </p:cNvSpPr>
          <p:nvPr/>
        </p:nvSpPr>
        <p:spPr>
          <a:xfrm xmlns:a="http://schemas.openxmlformats.org/drawingml/2006/main">
            <a:off x="9896475" y="3181350"/>
            <a:ext cx="1647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3605A"/>
                </a:solidFill>
                <a:latin typeface="Segoe UI"/>
                <a:ea typeface="Segoe UI"/>
                <a:cs typeface="Segoe UI"/>
              </a:defRPr>
            </a:pPr>
            <a:r>
              <a:rPr sz="1350" b="0">
                <a:solidFill>
                  <a:srgbClr val="53605A"/>
                </a:solidFill>
                <a:latin typeface="Segoe UI"/>
                <a:ea typeface="Segoe UI"/>
                <a:cs typeface="Segoe UI"/>
              </a:rPr>
              <a:t>Independent verification</a:t>
            </a:r>
          </a:p>
        </p:txBody>
      </p:sp>
      <p:sp>
        <p:nvSpPr>
          <p:cNvPr id="27" name="">
            <a:extLst xmlns:a="http://schemas.openxmlformats.org/drawingml/2006/main">
              <a:ext uri="{FF2B5EF4-FFF2-40B4-BE49-F238E27FC236}">
                <a16:creationId xmlns:a16="http://schemas.microsoft.com/office/drawing/2014/main" id="{2A77CEC4-1B93-4165-951B-0774C46D32F1}"/>
              </a:ext>
            </a:extLst>
          </p:cNvPr>
          <p:cNvSpPr>
            <a:spLocks xmlns:a="http://schemas.openxmlformats.org/drawingml/2006/main" noGrp="1"/>
          </p:cNvSpPr>
          <p:nvPr/>
        </p:nvSpPr>
        <p:spPr>
          <a:xfrm xmlns:a="http://schemas.openxmlformats.org/drawingml/2006/main">
            <a:off x="628650" y="415290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167A57"/>
                </a:solidFill>
                <a:latin typeface="Cascadia Mono"/>
                <a:ea typeface="Cascadia Mono"/>
                <a:cs typeface="Cascadia Mono"/>
              </a:defRPr>
            </a:pPr>
            <a:r>
              <a:rPr sz="1050" b="1">
                <a:solidFill>
                  <a:srgbClr val="167A57"/>
                </a:solidFill>
                <a:latin typeface="Cascadia Mono"/>
                <a:ea typeface="Cascadia Mono"/>
                <a:cs typeface="Cascadia Mono"/>
              </a:rPr>
              <a:t>INTELLIGENCE</a:t>
            </a:r>
          </a:p>
        </p:txBody>
      </p:sp>
      <p:sp>
        <p:nvSpPr>
          <p:cNvPr id="28" name="">
            <a:extLst xmlns:a="http://schemas.openxmlformats.org/drawingml/2006/main">
              <a:ext uri="{FF2B5EF4-FFF2-40B4-BE49-F238E27FC236}">
                <a16:creationId xmlns:a16="http://schemas.microsoft.com/office/drawing/2014/main" id="{665AFB14-E624-4B9C-86B4-79FB1A053B25}"/>
              </a:ext>
            </a:extLst>
          </p:cNvPr>
          <p:cNvSpPr>
            <a:spLocks xmlns:a="http://schemas.openxmlformats.org/drawingml/2006/main" noGrp="1"/>
          </p:cNvSpPr>
          <p:nvPr/>
        </p:nvSpPr>
        <p:spPr>
          <a:xfrm xmlns:a="http://schemas.openxmlformats.org/drawingml/2006/main">
            <a:off x="2190750" y="4124325"/>
            <a:ext cx="847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1">
                <a:solidFill>
                  <a:srgbClr val="167A57"/>
                </a:solidFill>
                <a:latin typeface="Cascadia Mono"/>
                <a:ea typeface="Cascadia Mono"/>
                <a:cs typeface="Cascadia Mono"/>
              </a:defRPr>
            </a:pPr>
            <a:r>
              <a:rPr sz="1275" b="1">
                <a:solidFill>
                  <a:srgbClr val="167A57"/>
                </a:solidFill>
                <a:latin typeface="Cascadia Mono"/>
                <a:ea typeface="Cascadia Mono"/>
                <a:cs typeface="Cascadia Mono"/>
              </a:rPr>
              <a:t>OSV     CISA KEV     EPSS     VENDOR ADVISORIES</a:t>
            </a:r>
          </a:p>
        </p:txBody>
      </p:sp>
      <p:sp>
        <p:nvSpPr>
          <p:cNvPr id="29" name="">
            <a:extLst xmlns:a="http://schemas.openxmlformats.org/drawingml/2006/main">
              <a:ext uri="{FF2B5EF4-FFF2-40B4-BE49-F238E27FC236}">
                <a16:creationId xmlns:a16="http://schemas.microsoft.com/office/drawing/2014/main" id="{00875902-66EE-4988-AF5A-65757DACA9AB}"/>
              </a:ext>
            </a:extLst>
          </p:cNvPr>
          <p:cNvSpPr>
            <a:spLocks xmlns:a="http://schemas.openxmlformats.org/drawingml/2006/main" noGrp="1"/>
          </p:cNvSpPr>
          <p:nvPr/>
        </p:nvSpPr>
        <p:spPr>
          <a:xfrm xmlns:a="http://schemas.openxmlformats.org/drawingml/2006/main">
            <a:off x="628650" y="4495800"/>
            <a:ext cx="10953750" cy="0"/>
          </a:xfrm>
          <a:prstGeom xmlns:a="http://schemas.openxmlformats.org/drawingml/2006/main" prst="line">
            <a:avLst/>
          </a:prstGeom>
          <a:noFill xmlns:a="http://schemas.openxmlformats.org/drawingml/2006/main"/>
          <a:ln xmlns:a="http://schemas.openxmlformats.org/drawingml/2006/main" w="9525">
            <a:solidFill>
              <a:srgbClr val="CBD5CF"/>
            </a:solidFill>
            <a:prstDash val="solid"/>
          </a:ln>
        </p:spPr>
      </p:sp>
      <p:sp>
        <p:nvSpPr>
          <p:cNvPr id="30" name="">
            <a:extLst xmlns:a="http://schemas.openxmlformats.org/drawingml/2006/main">
              <a:ext uri="{FF2B5EF4-FFF2-40B4-BE49-F238E27FC236}">
                <a16:creationId xmlns:a16="http://schemas.microsoft.com/office/drawing/2014/main" id="{CA6B736D-79FD-4C71-AE80-E091C81F4B30}"/>
              </a:ext>
            </a:extLst>
          </p:cNvPr>
          <p:cNvSpPr>
            <a:spLocks xmlns:a="http://schemas.openxmlformats.org/drawingml/2006/main" noGrp="1"/>
          </p:cNvSpPr>
          <p:nvPr/>
        </p:nvSpPr>
        <p:spPr>
          <a:xfrm xmlns:a="http://schemas.openxmlformats.org/drawingml/2006/main">
            <a:off x="2190750" y="4591050"/>
            <a:ext cx="847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3605A"/>
                </a:solidFill>
                <a:latin typeface="Segoe UI"/>
                <a:ea typeface="Segoe UI"/>
                <a:cs typeface="Segoe UI"/>
              </a:defRPr>
            </a:pPr>
            <a:r>
              <a:rPr sz="1275" b="0">
                <a:solidFill>
                  <a:srgbClr val="53605A"/>
                </a:solidFill>
                <a:latin typeface="Segoe UI"/>
                <a:ea typeface="Segoe UI"/>
                <a:cs typeface="Segoe UI"/>
              </a:rPr>
              <a:t>Hourly while running, manual refresh, catch-up after restart</a:t>
            </a:r>
          </a:p>
        </p:txBody>
      </p:sp>
      <p:sp>
        <p:nvSpPr>
          <p:cNvPr id="31" name="">
            <a:extLst xmlns:a="http://schemas.openxmlformats.org/drawingml/2006/main">
              <a:ext uri="{FF2B5EF4-FFF2-40B4-BE49-F238E27FC236}">
                <a16:creationId xmlns:a16="http://schemas.microsoft.com/office/drawing/2014/main" id="{D5D268BF-EC93-4896-B50B-D9131828B11C}"/>
              </a:ext>
            </a:extLst>
          </p:cNvPr>
          <p:cNvSpPr>
            <a:spLocks xmlns:a="http://schemas.openxmlformats.org/drawingml/2006/main" noGrp="1"/>
          </p:cNvSpPr>
          <p:nvPr/>
        </p:nvSpPr>
        <p:spPr>
          <a:xfrm xmlns:a="http://schemas.openxmlformats.org/drawingml/2006/main">
            <a:off x="628650" y="5010150"/>
            <a:ext cx="10953750" cy="800100"/>
          </a:xfrm>
          <a:prstGeom xmlns:a="http://schemas.openxmlformats.org/drawingml/2006/main" prst="rect">
            <a:avLst/>
          </a:prstGeom>
          <a:solidFill xmlns:a="http://schemas.openxmlformats.org/drawingml/2006/main">
            <a:srgbClr val="11171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FCFBB53-77EC-4978-B967-953376358A76}"/>
              </a:ext>
            </a:extLst>
          </p:cNvPr>
          <p:cNvSpPr>
            <a:spLocks xmlns:a="http://schemas.openxmlformats.org/drawingml/2006/main" noGrp="1"/>
          </p:cNvSpPr>
          <p:nvPr/>
        </p:nvSpPr>
        <p:spPr>
          <a:xfrm xmlns:a="http://schemas.openxmlformats.org/drawingml/2006/main">
            <a:off x="933450" y="516255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650" b="1">
                <a:solidFill>
                  <a:srgbClr val="F2F5F9"/>
                </a:solidFill>
                <a:latin typeface="Segoe UI"/>
                <a:ea typeface="Segoe UI"/>
                <a:cs typeface="Segoe UI"/>
              </a:defRPr>
            </a:pPr>
            <a:r>
              <a:rPr sz="1650" b="1">
                <a:solidFill>
                  <a:srgbClr val="F2F5F9"/>
                </a:solidFill>
                <a:latin typeface="Segoe UI"/>
                <a:ea typeface="Segoe UI"/>
                <a:cs typeface="Segoe UI"/>
              </a:rPr>
              <a:t>One persistent case keeps evidence, deadlines, document versions, and approvals together. Export remains human-authorized.</a:t>
            </a:r>
          </a:p>
        </p:txBody>
      </p:sp>
      <p:sp>
        <p:nvSpPr>
          <p:cNvPr id="33" name="">
            <a:extLst xmlns:a="http://schemas.openxmlformats.org/drawingml/2006/main">
              <a:ext uri="{FF2B5EF4-FFF2-40B4-BE49-F238E27FC236}">
                <a16:creationId xmlns:a16="http://schemas.microsoft.com/office/drawing/2014/main" id="{86917202-1B94-47A3-AFE0-2A50DEDB8FFE}"/>
              </a:ext>
            </a:extLst>
          </p:cNvPr>
          <p:cNvSpPr>
            <a:spLocks xmlns:a="http://schemas.openxmlformats.org/drawingml/2006/main" noGrp="1"/>
          </p:cNvSpPr>
          <p:nvPr/>
        </p:nvSpPr>
        <p:spPr>
          <a:xfrm xmlns:a="http://schemas.openxmlformats.org/drawingml/2006/main">
            <a:off x="533400" y="6496050"/>
            <a:ext cx="11125200" cy="0"/>
          </a:xfrm>
          <a:prstGeom xmlns:a="http://schemas.openxmlformats.org/drawingml/2006/main" prst="line">
            <a:avLst/>
          </a:prstGeom>
          <a:noFill xmlns:a="http://schemas.openxmlformats.org/drawingml/2006/main"/>
          <a:ln xmlns:a="http://schemas.openxmlformats.org/drawingml/2006/main" w="9525">
            <a:solidFill>
              <a:srgbClr val="D5DDD8"/>
            </a:solidFill>
            <a:prstDash val="solid"/>
          </a:ln>
        </p:spPr>
      </p:sp>
      <p:sp>
        <p:nvSpPr>
          <p:cNvPr id="34" name="">
            <a:extLst xmlns:a="http://schemas.openxmlformats.org/drawingml/2006/main">
              <a:ext uri="{FF2B5EF4-FFF2-40B4-BE49-F238E27FC236}">
                <a16:creationId xmlns:a16="http://schemas.microsoft.com/office/drawing/2014/main" id="{A0C7A0CB-0F0D-42A5-84A4-4231495DAA3E}"/>
              </a:ext>
            </a:extLst>
          </p:cNvPr>
          <p:cNvSpPr>
            <a:spLocks xmlns:a="http://schemas.openxmlformats.org/drawingml/2006/main" noGrp="1"/>
          </p:cNvSpPr>
          <p:nvPr/>
        </p:nvSpPr>
        <p:spPr>
          <a:xfrm xmlns:a="http://schemas.openxmlformats.org/drawingml/2006/main">
            <a:off x="533400" y="6572250"/>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53605A"/>
                </a:solidFill>
                <a:latin typeface="Cascadia Mono"/>
                <a:ea typeface="Cascadia Mono"/>
                <a:cs typeface="Cascadia Mono"/>
              </a:defRPr>
            </a:pPr>
            <a:r>
              <a:rPr sz="975" b="0">
                <a:solidFill>
                  <a:srgbClr val="53605A"/>
                </a:solidFill>
                <a:latin typeface="Cascadia Mono"/>
                <a:ea typeface="Cascadia Mono"/>
                <a:cs typeface="Cascadia Mono"/>
              </a:rPr>
              <a:t>PandaX  /  Customer pilot presentation</a:t>
            </a:r>
          </a:p>
        </p:txBody>
      </p:sp>
      <p:sp>
        <p:nvSpPr>
          <p:cNvPr id="35" name="">
            <a:extLst xmlns:a="http://schemas.openxmlformats.org/drawingml/2006/main">
              <a:ext uri="{FF2B5EF4-FFF2-40B4-BE49-F238E27FC236}">
                <a16:creationId xmlns:a16="http://schemas.microsoft.com/office/drawing/2014/main" id="{9137FA0A-5274-4AB7-9822-60A4A9CDF371}"/>
              </a:ext>
            </a:extLst>
          </p:cNvPr>
          <p:cNvSpPr>
            <a:spLocks xmlns:a="http://schemas.openxmlformats.org/drawingml/2006/main" noGrp="1"/>
          </p:cNvSpPr>
          <p:nvPr/>
        </p:nvSpPr>
        <p:spPr>
          <a:xfrm xmlns:a="http://schemas.openxmlformats.org/drawingml/2006/main">
            <a:off x="11049000" y="6562725"/>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05</a:t>
            </a:r>
          </a:p>
        </p:txBody>
      </p:sp>
    </p:spTree>
    <p:extLst>
      <p:ext uri="{BB962C8B-B14F-4D97-AF65-F5344CB8AC3E}">
        <p14:creationId xmlns:p14="http://schemas.microsoft.com/office/powerpoint/2010/main" val="1558941015"/>
      </p:ext>
    </p:extLst>
  </p:cSld>
</p:sld>
</file>

<file path=ppt/slides/slide6.xml><?xml version="1.0" encoding="utf-8"?>
<p:sld xmlns:p="http://schemas.openxmlformats.org/presentationml/2006/main">
  <p:cSld>
    <p:bg>
      <p:bgPr>
        <a:solidFill xmlns:a="http://schemas.openxmlformats.org/drawingml/2006/main">
          <a:srgbClr val="0A0B0D"/>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18DFF0B-3879-4751-8EAD-8DE60603ABDF}"/>
              </a:ext>
            </a:extLst>
          </p:cNvPr>
          <p:cNvSpPr>
            <a:spLocks xmlns:a="http://schemas.openxmlformats.org/drawingml/2006/main" noGrp="1"/>
          </p:cNvSpPr>
          <p:nvPr/>
        </p:nvSpPr>
        <p:spPr>
          <a:xfrm xmlns:a="http://schemas.openxmlformats.org/drawingml/2006/main">
            <a:off x="533400" y="476250"/>
            <a:ext cx="57150" cy="514350"/>
          </a:xfrm>
          <a:prstGeom xmlns:a="http://schemas.openxmlformats.org/drawingml/2006/main" prst="rect">
            <a:avLst/>
          </a:prstGeom>
          <a:solidFill xmlns:a="http://schemas.openxmlformats.org/drawingml/2006/main">
            <a:srgbClr val="4ED8A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D016CC-71FA-4510-B68C-E264A4FED78F}"/>
              </a:ext>
            </a:extLst>
          </p:cNvPr>
          <p:cNvSpPr>
            <a:spLocks xmlns:a="http://schemas.openxmlformats.org/drawingml/2006/main" noGrp="1"/>
          </p:cNvSpPr>
          <p:nvPr/>
        </p:nvSpPr>
        <p:spPr>
          <a:xfrm xmlns:a="http://schemas.openxmlformats.org/drawingml/2006/main">
            <a:off x="762000" y="43815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3225" b="1">
                <a:solidFill>
                  <a:srgbClr val="F2F5F9"/>
                </a:solidFill>
                <a:latin typeface="Segoe UI"/>
                <a:ea typeface="Segoe UI"/>
                <a:cs typeface="Segoe UI"/>
              </a:defRPr>
            </a:pPr>
            <a:r>
              <a:rPr sz="3225" b="1">
                <a:solidFill>
                  <a:srgbClr val="F2F5F9"/>
                </a:solidFill>
                <a:latin typeface="Segoe UI"/>
                <a:ea typeface="Segoe UI"/>
                <a:cs typeface="Segoe UI"/>
              </a:rPr>
              <a:t>The evidence model preserves uncertainty</a:t>
            </a:r>
          </a:p>
        </p:txBody>
      </p:sp>
      <p:sp>
        <p:nvSpPr>
          <p:cNvPr id="3" name="">
            <a:extLst xmlns:a="http://schemas.openxmlformats.org/drawingml/2006/main">
              <a:ext uri="{FF2B5EF4-FFF2-40B4-BE49-F238E27FC236}">
                <a16:creationId xmlns:a16="http://schemas.microsoft.com/office/drawing/2014/main" id="{8FD40810-F6AB-43FD-9D08-8A3A8F0CD567}"/>
              </a:ext>
            </a:extLst>
          </p:cNvPr>
          <p:cNvSpPr>
            <a:spLocks xmlns:a="http://schemas.openxmlformats.org/drawingml/2006/main" noGrp="1"/>
          </p:cNvSpPr>
          <p:nvPr/>
        </p:nvSpPr>
        <p:spPr>
          <a:xfrm xmlns:a="http://schemas.openxmlformats.org/drawingml/2006/main">
            <a:off x="762000" y="10763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A9B3C1"/>
                </a:solidFill>
                <a:latin typeface="Segoe UI"/>
                <a:ea typeface="Segoe UI"/>
                <a:cs typeface="Segoe UI"/>
              </a:defRPr>
            </a:pPr>
            <a:r>
              <a:rPr sz="1500" b="0">
                <a:solidFill>
                  <a:srgbClr val="A9B3C1"/>
                </a:solidFill>
                <a:latin typeface="Segoe UI"/>
                <a:ea typeface="Segoe UI"/>
                <a:cs typeface="Segoe UI"/>
              </a:rPr>
              <a:t>PandaX keeps technical facts, external intelligence, and manufacturer decisions distinct.</a:t>
            </a:r>
          </a:p>
        </p:txBody>
      </p:sp>
      <p:sp>
        <p:nvSpPr>
          <p:cNvPr id="4" name="">
            <a:extLst xmlns:a="http://schemas.openxmlformats.org/drawingml/2006/main">
              <a:ext uri="{FF2B5EF4-FFF2-40B4-BE49-F238E27FC236}">
                <a16:creationId xmlns:a16="http://schemas.microsoft.com/office/drawing/2014/main" id="{84FC1AF7-1C07-4951-81C7-F63B838114A8}"/>
              </a:ext>
            </a:extLst>
          </p:cNvPr>
          <p:cNvSpPr>
            <a:spLocks xmlns:a="http://schemas.openxmlformats.org/drawingml/2006/main" noGrp="1"/>
          </p:cNvSpPr>
          <p:nvPr/>
        </p:nvSpPr>
        <p:spPr>
          <a:xfrm xmlns:a="http://schemas.openxmlformats.org/drawingml/2006/main">
            <a:off x="685800" y="2209800"/>
            <a:ext cx="10620375" cy="0"/>
          </a:xfrm>
          <a:prstGeom xmlns:a="http://schemas.openxmlformats.org/drawingml/2006/main" prst="line">
            <a:avLst/>
          </a:prstGeom>
          <a:noFill xmlns:a="http://schemas.openxmlformats.org/drawingml/2006/main"/>
          <a:ln xmlns:a="http://schemas.openxmlformats.org/drawingml/2006/main" w="9525">
            <a:solidFill>
              <a:srgbClr val="2A2F36"/>
            </a:solidFill>
            <a:prstDash val="solid"/>
          </a:ln>
        </p:spPr>
      </p:sp>
      <p:sp>
        <p:nvSpPr>
          <p:cNvPr id="5" name="">
            <a:extLst xmlns:a="http://schemas.openxmlformats.org/drawingml/2006/main">
              <a:ext uri="{FF2B5EF4-FFF2-40B4-BE49-F238E27FC236}">
                <a16:creationId xmlns:a16="http://schemas.microsoft.com/office/drawing/2014/main" id="{AEFCD5EC-1FE0-4E92-9F87-9046D405C35D}"/>
              </a:ext>
            </a:extLst>
          </p:cNvPr>
          <p:cNvSpPr>
            <a:spLocks xmlns:a="http://schemas.openxmlformats.org/drawingml/2006/main" noGrp="1"/>
          </p:cNvSpPr>
          <p:nvPr/>
        </p:nvSpPr>
        <p:spPr>
          <a:xfrm xmlns:a="http://schemas.openxmlformats.org/drawingml/2006/main">
            <a:off x="685800" y="16764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A9B3C1"/>
                </a:solidFill>
                <a:latin typeface="Cascadia Mono"/>
                <a:ea typeface="Cascadia Mono"/>
                <a:cs typeface="Cascadia Mono"/>
              </a:defRPr>
            </a:pPr>
            <a:r>
              <a:rPr sz="1275" b="1">
                <a:solidFill>
                  <a:srgbClr val="A9B3C1"/>
                </a:solidFill>
                <a:latin typeface="Cascadia Mono"/>
                <a:ea typeface="Cascadia Mono"/>
                <a:cs typeface="Cascadia Mono"/>
              </a:rPr>
              <a:t>COMPONENT PRESENCE</a:t>
            </a:r>
          </a:p>
        </p:txBody>
      </p:sp>
      <p:sp>
        <p:nvSpPr>
          <p:cNvPr id="6" name="">
            <a:extLst xmlns:a="http://schemas.openxmlformats.org/drawingml/2006/main">
              <a:ext uri="{FF2B5EF4-FFF2-40B4-BE49-F238E27FC236}">
                <a16:creationId xmlns:a16="http://schemas.microsoft.com/office/drawing/2014/main" id="{B7D52C62-285F-4AC5-8624-554AECE2F570}"/>
              </a:ext>
            </a:extLst>
          </p:cNvPr>
          <p:cNvSpPr>
            <a:spLocks xmlns:a="http://schemas.openxmlformats.org/drawingml/2006/main" noGrp="1"/>
          </p:cNvSpPr>
          <p:nvPr/>
        </p:nvSpPr>
        <p:spPr>
          <a:xfrm xmlns:a="http://schemas.openxmlformats.org/drawingml/2006/main">
            <a:off x="3905250" y="165735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F2F5F9"/>
                </a:solidFill>
                <a:latin typeface="Segoe UI"/>
                <a:ea typeface="Segoe UI"/>
                <a:cs typeface="Segoe UI"/>
              </a:defRPr>
            </a:pPr>
            <a:r>
              <a:rPr sz="1650" b="0">
                <a:solidFill>
                  <a:srgbClr val="F2F5F9"/>
                </a:solidFill>
                <a:latin typeface="Segoe UI"/>
                <a:ea typeface="Segoe UI"/>
                <a:cs typeface="Segoe UI"/>
              </a:rPr>
              <a:t>What the analyzed firmware inventory contains</a:t>
            </a:r>
          </a:p>
        </p:txBody>
      </p:sp>
      <p:sp>
        <p:nvSpPr>
          <p:cNvPr id="7" name="">
            <a:extLst xmlns:a="http://schemas.openxmlformats.org/drawingml/2006/main">
              <a:ext uri="{FF2B5EF4-FFF2-40B4-BE49-F238E27FC236}">
                <a16:creationId xmlns:a16="http://schemas.microsoft.com/office/drawing/2014/main" id="{35D08203-E2D4-4113-96CA-3459543B98F9}"/>
              </a:ext>
            </a:extLst>
          </p:cNvPr>
          <p:cNvSpPr>
            <a:spLocks xmlns:a="http://schemas.openxmlformats.org/drawingml/2006/main" noGrp="1"/>
          </p:cNvSpPr>
          <p:nvPr/>
        </p:nvSpPr>
        <p:spPr>
          <a:xfrm xmlns:a="http://schemas.openxmlformats.org/drawingml/2006/main">
            <a:off x="9906000" y="1647825"/>
            <a:ext cx="1381125" cy="285750"/>
          </a:xfrm>
          <a:prstGeom xmlns:a="http://schemas.openxmlformats.org/drawingml/2006/main" prst="roundRect">
            <a:avLst>
              <a:gd name="adj" fmla="val 26667"/>
            </a:avLst>
          </a:prstGeom>
          <a:solidFill xmlns:a="http://schemas.openxmlformats.org/drawingml/2006/main">
            <a:srgbClr val="171A20"/>
          </a:solidFill>
          <a:ln xmlns:a="http://schemas.openxmlformats.org/drawingml/2006/main" w="9525">
            <a:solidFill>
              <a:srgbClr val="2A2F36"/>
            </a:solidFill>
            <a:prstDash val="solid"/>
          </a:ln>
        </p:spPr>
        <p:txBody>
          <a:bodyPr xmlns:a="http://schemas.openxmlformats.org/drawingml/2006/main" lIns="47625" tIns="0" rIns="47625" bIns="0" anchor="ctr">
            <a:noAutofit/>
          </a:bodyPr>
          <a:lstStyle xmlns:a="http://schemas.openxmlformats.org/drawingml/2006/main"/>
          <a:p xmlns:a="http://schemas.openxmlformats.org/drawingml/2006/main">
            <a:pPr algn="ctr">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AUTO</a:t>
            </a:r>
          </a:p>
        </p:txBody>
      </p:sp>
      <p:sp>
        <p:nvSpPr>
          <p:cNvPr id="8" name="">
            <a:extLst xmlns:a="http://schemas.openxmlformats.org/drawingml/2006/main">
              <a:ext uri="{FF2B5EF4-FFF2-40B4-BE49-F238E27FC236}">
                <a16:creationId xmlns:a16="http://schemas.microsoft.com/office/drawing/2014/main" id="{4CD3F03D-8051-4333-A613-79106D7722D5}"/>
              </a:ext>
            </a:extLst>
          </p:cNvPr>
          <p:cNvSpPr>
            <a:spLocks xmlns:a="http://schemas.openxmlformats.org/drawingml/2006/main" noGrp="1"/>
          </p:cNvSpPr>
          <p:nvPr/>
        </p:nvSpPr>
        <p:spPr>
          <a:xfrm xmlns:a="http://schemas.openxmlformats.org/drawingml/2006/main">
            <a:off x="685800" y="2905125"/>
            <a:ext cx="10620375" cy="0"/>
          </a:xfrm>
          <a:prstGeom xmlns:a="http://schemas.openxmlformats.org/drawingml/2006/main" prst="line">
            <a:avLst/>
          </a:prstGeom>
          <a:noFill xmlns:a="http://schemas.openxmlformats.org/drawingml/2006/main"/>
          <a:ln xmlns:a="http://schemas.openxmlformats.org/drawingml/2006/main" w="9525">
            <a:solidFill>
              <a:srgbClr val="2A2F36"/>
            </a:solidFill>
            <a:prstDash val="solid"/>
          </a:ln>
        </p:spPr>
      </p:sp>
      <p:sp>
        <p:nvSpPr>
          <p:cNvPr id="9" name="">
            <a:extLst xmlns:a="http://schemas.openxmlformats.org/drawingml/2006/main">
              <a:ext uri="{FF2B5EF4-FFF2-40B4-BE49-F238E27FC236}">
                <a16:creationId xmlns:a16="http://schemas.microsoft.com/office/drawing/2014/main" id="{60DFF5AE-FC7E-4632-80D4-5BD151C06FF1}"/>
              </a:ext>
            </a:extLst>
          </p:cNvPr>
          <p:cNvSpPr>
            <a:spLocks xmlns:a="http://schemas.openxmlformats.org/drawingml/2006/main" noGrp="1"/>
          </p:cNvSpPr>
          <p:nvPr/>
        </p:nvSpPr>
        <p:spPr>
          <a:xfrm xmlns:a="http://schemas.openxmlformats.org/drawingml/2006/main">
            <a:off x="685800" y="237172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A9B3C1"/>
                </a:solidFill>
                <a:latin typeface="Cascadia Mono"/>
                <a:ea typeface="Cascadia Mono"/>
                <a:cs typeface="Cascadia Mono"/>
              </a:defRPr>
            </a:pPr>
            <a:r>
              <a:rPr sz="1275" b="1">
                <a:solidFill>
                  <a:srgbClr val="A9B3C1"/>
                </a:solidFill>
                <a:latin typeface="Cascadia Mono"/>
                <a:ea typeface="Cascadia Mono"/>
                <a:cs typeface="Cascadia Mono"/>
              </a:rPr>
              <a:t>VULNERABILITY AFFECTEDNESS</a:t>
            </a:r>
          </a:p>
        </p:txBody>
      </p:sp>
      <p:sp>
        <p:nvSpPr>
          <p:cNvPr id="10" name="">
            <a:extLst xmlns:a="http://schemas.openxmlformats.org/drawingml/2006/main">
              <a:ext uri="{FF2B5EF4-FFF2-40B4-BE49-F238E27FC236}">
                <a16:creationId xmlns:a16="http://schemas.microsoft.com/office/drawing/2014/main" id="{75F10E13-B724-4BDD-A966-769E397041F6}"/>
              </a:ext>
            </a:extLst>
          </p:cNvPr>
          <p:cNvSpPr>
            <a:spLocks xmlns:a="http://schemas.openxmlformats.org/drawingml/2006/main" noGrp="1"/>
          </p:cNvSpPr>
          <p:nvPr/>
        </p:nvSpPr>
        <p:spPr>
          <a:xfrm xmlns:a="http://schemas.openxmlformats.org/drawingml/2006/main">
            <a:off x="3905250" y="235267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F2F5F9"/>
                </a:solidFill>
                <a:latin typeface="Segoe UI"/>
                <a:ea typeface="Segoe UI"/>
                <a:cs typeface="Segoe UI"/>
              </a:defRPr>
            </a:pPr>
            <a:r>
              <a:rPr sz="1650" b="0">
                <a:solidFill>
                  <a:srgbClr val="F2F5F9"/>
                </a:solidFill>
                <a:latin typeface="Segoe UI"/>
                <a:ea typeface="Segoe UI"/>
                <a:cs typeface="Segoe UI"/>
              </a:rPr>
              <a:t>Whether observed versions fall inside evaluated ranges</a:t>
            </a:r>
          </a:p>
        </p:txBody>
      </p:sp>
      <p:sp>
        <p:nvSpPr>
          <p:cNvPr id="11" name="">
            <a:extLst xmlns:a="http://schemas.openxmlformats.org/drawingml/2006/main">
              <a:ext uri="{FF2B5EF4-FFF2-40B4-BE49-F238E27FC236}">
                <a16:creationId xmlns:a16="http://schemas.microsoft.com/office/drawing/2014/main" id="{263B62AA-790E-4B2D-AC4D-EF86F46633AF}"/>
              </a:ext>
            </a:extLst>
          </p:cNvPr>
          <p:cNvSpPr>
            <a:spLocks xmlns:a="http://schemas.openxmlformats.org/drawingml/2006/main" noGrp="1"/>
          </p:cNvSpPr>
          <p:nvPr/>
        </p:nvSpPr>
        <p:spPr>
          <a:xfrm xmlns:a="http://schemas.openxmlformats.org/drawingml/2006/main">
            <a:off x="9906000" y="2343150"/>
            <a:ext cx="1381125" cy="285750"/>
          </a:xfrm>
          <a:prstGeom xmlns:a="http://schemas.openxmlformats.org/drawingml/2006/main" prst="roundRect">
            <a:avLst>
              <a:gd name="adj" fmla="val 26667"/>
            </a:avLst>
          </a:prstGeom>
          <a:solidFill xmlns:a="http://schemas.openxmlformats.org/drawingml/2006/main">
            <a:srgbClr val="171A20"/>
          </a:solidFill>
          <a:ln xmlns:a="http://schemas.openxmlformats.org/drawingml/2006/main" w="9525">
            <a:solidFill>
              <a:srgbClr val="2A2F36"/>
            </a:solidFill>
            <a:prstDash val="solid"/>
          </a:ln>
        </p:spPr>
        <p:txBody>
          <a:bodyPr xmlns:a="http://schemas.openxmlformats.org/drawingml/2006/main" lIns="47625" tIns="0" rIns="47625" bIns="0" anchor="ctr">
            <a:noAutofit/>
          </a:bodyPr>
          <a:lstStyle xmlns:a="http://schemas.openxmlformats.org/drawingml/2006/main"/>
          <a:p xmlns:a="http://schemas.openxmlformats.org/drawingml/2006/main">
            <a:pPr algn="ctr">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AUTO</a:t>
            </a:r>
          </a:p>
        </p:txBody>
      </p:sp>
      <p:sp>
        <p:nvSpPr>
          <p:cNvPr id="12" name="">
            <a:extLst xmlns:a="http://schemas.openxmlformats.org/drawingml/2006/main">
              <a:ext uri="{FF2B5EF4-FFF2-40B4-BE49-F238E27FC236}">
                <a16:creationId xmlns:a16="http://schemas.microsoft.com/office/drawing/2014/main" id="{E01724A6-FE02-4710-9496-77BA1DB76D1C}"/>
              </a:ext>
            </a:extLst>
          </p:cNvPr>
          <p:cNvSpPr>
            <a:spLocks xmlns:a="http://schemas.openxmlformats.org/drawingml/2006/main" noGrp="1"/>
          </p:cNvSpPr>
          <p:nvPr/>
        </p:nvSpPr>
        <p:spPr>
          <a:xfrm xmlns:a="http://schemas.openxmlformats.org/drawingml/2006/main">
            <a:off x="685800" y="3600450"/>
            <a:ext cx="10620375" cy="0"/>
          </a:xfrm>
          <a:prstGeom xmlns:a="http://schemas.openxmlformats.org/drawingml/2006/main" prst="line">
            <a:avLst/>
          </a:prstGeom>
          <a:noFill xmlns:a="http://schemas.openxmlformats.org/drawingml/2006/main"/>
          <a:ln xmlns:a="http://schemas.openxmlformats.org/drawingml/2006/main" w="9525">
            <a:solidFill>
              <a:srgbClr val="2A2F36"/>
            </a:solidFill>
            <a:prstDash val="solid"/>
          </a:ln>
        </p:spPr>
      </p:sp>
      <p:sp>
        <p:nvSpPr>
          <p:cNvPr id="13" name="">
            <a:extLst xmlns:a="http://schemas.openxmlformats.org/drawingml/2006/main">
              <a:ext uri="{FF2B5EF4-FFF2-40B4-BE49-F238E27FC236}">
                <a16:creationId xmlns:a16="http://schemas.microsoft.com/office/drawing/2014/main" id="{6DC126C2-E119-4A05-A975-5584F73D9670}"/>
              </a:ext>
            </a:extLst>
          </p:cNvPr>
          <p:cNvSpPr>
            <a:spLocks xmlns:a="http://schemas.openxmlformats.org/drawingml/2006/main" noGrp="1"/>
          </p:cNvSpPr>
          <p:nvPr/>
        </p:nvSpPr>
        <p:spPr>
          <a:xfrm xmlns:a="http://schemas.openxmlformats.org/drawingml/2006/main">
            <a:off x="685800" y="30670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A9B3C1"/>
                </a:solidFill>
                <a:latin typeface="Cascadia Mono"/>
                <a:ea typeface="Cascadia Mono"/>
                <a:cs typeface="Cascadia Mono"/>
              </a:defRPr>
            </a:pPr>
            <a:r>
              <a:rPr sz="1275" b="1">
                <a:solidFill>
                  <a:srgbClr val="A9B3C1"/>
                </a:solidFill>
                <a:latin typeface="Cascadia Mono"/>
                <a:ea typeface="Cascadia Mono"/>
                <a:cs typeface="Cascadia Mono"/>
              </a:rPr>
              <a:t>KNOWN EXPLOITATION</a:t>
            </a:r>
          </a:p>
        </p:txBody>
      </p:sp>
      <p:sp>
        <p:nvSpPr>
          <p:cNvPr id="14" name="">
            <a:extLst xmlns:a="http://schemas.openxmlformats.org/drawingml/2006/main">
              <a:ext uri="{FF2B5EF4-FFF2-40B4-BE49-F238E27FC236}">
                <a16:creationId xmlns:a16="http://schemas.microsoft.com/office/drawing/2014/main" id="{4D42EB2B-944B-4705-9465-61BC05A8AB04}"/>
              </a:ext>
            </a:extLst>
          </p:cNvPr>
          <p:cNvSpPr>
            <a:spLocks xmlns:a="http://schemas.openxmlformats.org/drawingml/2006/main" noGrp="1"/>
          </p:cNvSpPr>
          <p:nvPr/>
        </p:nvSpPr>
        <p:spPr>
          <a:xfrm xmlns:a="http://schemas.openxmlformats.org/drawingml/2006/main">
            <a:off x="3905250" y="30480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F2F5F9"/>
                </a:solidFill>
                <a:latin typeface="Segoe UI"/>
                <a:ea typeface="Segoe UI"/>
                <a:cs typeface="Segoe UI"/>
              </a:defRPr>
            </a:pPr>
            <a:r>
              <a:rPr sz="1650" b="0">
                <a:solidFill>
                  <a:srgbClr val="F2F5F9"/>
                </a:solidFill>
                <a:latin typeface="Segoe UI"/>
                <a:ea typeface="Segoe UI"/>
                <a:cs typeface="Segoe UI"/>
              </a:rPr>
              <a:t>Evidence from KEV and curated advisories</a:t>
            </a:r>
          </a:p>
        </p:txBody>
      </p:sp>
      <p:sp>
        <p:nvSpPr>
          <p:cNvPr id="15" name="">
            <a:extLst xmlns:a="http://schemas.openxmlformats.org/drawingml/2006/main">
              <a:ext uri="{FF2B5EF4-FFF2-40B4-BE49-F238E27FC236}">
                <a16:creationId xmlns:a16="http://schemas.microsoft.com/office/drawing/2014/main" id="{2DE87096-DF34-4100-AF1D-1E58DF34B6B0}"/>
              </a:ext>
            </a:extLst>
          </p:cNvPr>
          <p:cNvSpPr>
            <a:spLocks xmlns:a="http://schemas.openxmlformats.org/drawingml/2006/main" noGrp="1"/>
          </p:cNvSpPr>
          <p:nvPr/>
        </p:nvSpPr>
        <p:spPr>
          <a:xfrm xmlns:a="http://schemas.openxmlformats.org/drawingml/2006/main">
            <a:off x="9906000" y="3038475"/>
            <a:ext cx="1381125" cy="285750"/>
          </a:xfrm>
          <a:prstGeom xmlns:a="http://schemas.openxmlformats.org/drawingml/2006/main" prst="roundRect">
            <a:avLst>
              <a:gd name="adj" fmla="val 26667"/>
            </a:avLst>
          </a:prstGeom>
          <a:solidFill xmlns:a="http://schemas.openxmlformats.org/drawingml/2006/main">
            <a:srgbClr val="171A20"/>
          </a:solidFill>
          <a:ln xmlns:a="http://schemas.openxmlformats.org/drawingml/2006/main" w="9525">
            <a:solidFill>
              <a:srgbClr val="2A2F36"/>
            </a:solidFill>
            <a:prstDash val="solid"/>
          </a:ln>
        </p:spPr>
        <p:txBody>
          <a:bodyPr xmlns:a="http://schemas.openxmlformats.org/drawingml/2006/main" lIns="47625" tIns="0" rIns="47625" bIns="0" anchor="ctr">
            <a:noAutofit/>
          </a:bodyPr>
          <a:lstStyle xmlns:a="http://schemas.openxmlformats.org/drawingml/2006/main"/>
          <a:p xmlns:a="http://schemas.openxmlformats.org/drawingml/2006/main">
            <a:pPr algn="ctr">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FEED</a:t>
            </a:r>
          </a:p>
        </p:txBody>
      </p:sp>
      <p:sp>
        <p:nvSpPr>
          <p:cNvPr id="16" name="">
            <a:extLst xmlns:a="http://schemas.openxmlformats.org/drawingml/2006/main">
              <a:ext uri="{FF2B5EF4-FFF2-40B4-BE49-F238E27FC236}">
                <a16:creationId xmlns:a16="http://schemas.microsoft.com/office/drawing/2014/main" id="{AA31A299-64B9-430A-94FF-246D40CEB80D}"/>
              </a:ext>
            </a:extLst>
          </p:cNvPr>
          <p:cNvSpPr>
            <a:spLocks xmlns:a="http://schemas.openxmlformats.org/drawingml/2006/main" noGrp="1"/>
          </p:cNvSpPr>
          <p:nvPr/>
        </p:nvSpPr>
        <p:spPr>
          <a:xfrm xmlns:a="http://schemas.openxmlformats.org/drawingml/2006/main">
            <a:off x="685800" y="4295775"/>
            <a:ext cx="10620375" cy="0"/>
          </a:xfrm>
          <a:prstGeom xmlns:a="http://schemas.openxmlformats.org/drawingml/2006/main" prst="line">
            <a:avLst/>
          </a:prstGeom>
          <a:noFill xmlns:a="http://schemas.openxmlformats.org/drawingml/2006/main"/>
          <a:ln xmlns:a="http://schemas.openxmlformats.org/drawingml/2006/main" w="9525">
            <a:solidFill>
              <a:srgbClr val="2A2F36"/>
            </a:solidFill>
            <a:prstDash val="solid"/>
          </a:ln>
        </p:spPr>
      </p:sp>
      <p:sp>
        <p:nvSpPr>
          <p:cNvPr id="17" name="">
            <a:extLst xmlns:a="http://schemas.openxmlformats.org/drawingml/2006/main">
              <a:ext uri="{FF2B5EF4-FFF2-40B4-BE49-F238E27FC236}">
                <a16:creationId xmlns:a16="http://schemas.microsoft.com/office/drawing/2014/main" id="{A8692211-C435-4574-B132-42E59ADDD0E4}"/>
              </a:ext>
            </a:extLst>
          </p:cNvPr>
          <p:cNvSpPr>
            <a:spLocks xmlns:a="http://schemas.openxmlformats.org/drawingml/2006/main" noGrp="1"/>
          </p:cNvSpPr>
          <p:nvPr/>
        </p:nvSpPr>
        <p:spPr>
          <a:xfrm xmlns:a="http://schemas.openxmlformats.org/drawingml/2006/main">
            <a:off x="685800" y="376237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A9B3C1"/>
                </a:solidFill>
                <a:latin typeface="Cascadia Mono"/>
                <a:ea typeface="Cascadia Mono"/>
                <a:cs typeface="Cascadia Mono"/>
              </a:defRPr>
            </a:pPr>
            <a:r>
              <a:rPr sz="1275" b="1">
                <a:solidFill>
                  <a:srgbClr val="A9B3C1"/>
                </a:solidFill>
                <a:latin typeface="Cascadia Mono"/>
                <a:ea typeface="Cascadia Mono"/>
                <a:cs typeface="Cascadia Mono"/>
              </a:rPr>
              <a:t>PRODUCT REACHABILITY</a:t>
            </a:r>
          </a:p>
        </p:txBody>
      </p:sp>
      <p:sp>
        <p:nvSpPr>
          <p:cNvPr id="18" name="">
            <a:extLst xmlns:a="http://schemas.openxmlformats.org/drawingml/2006/main">
              <a:ext uri="{FF2B5EF4-FFF2-40B4-BE49-F238E27FC236}">
                <a16:creationId xmlns:a16="http://schemas.microsoft.com/office/drawing/2014/main" id="{AEB952A5-EC3D-4911-B385-4A96110BE355}"/>
              </a:ext>
            </a:extLst>
          </p:cNvPr>
          <p:cNvSpPr>
            <a:spLocks xmlns:a="http://schemas.openxmlformats.org/drawingml/2006/main" noGrp="1"/>
          </p:cNvSpPr>
          <p:nvPr/>
        </p:nvSpPr>
        <p:spPr>
          <a:xfrm xmlns:a="http://schemas.openxmlformats.org/drawingml/2006/main">
            <a:off x="3905250" y="374332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F2F5F9"/>
                </a:solidFill>
                <a:latin typeface="Segoe UI"/>
                <a:ea typeface="Segoe UI"/>
                <a:cs typeface="Segoe UI"/>
              </a:defRPr>
            </a:pPr>
            <a:r>
              <a:rPr sz="1650" b="0">
                <a:solidFill>
                  <a:srgbClr val="F2F5F9"/>
                </a:solidFill>
                <a:latin typeface="Segoe UI"/>
                <a:ea typeface="Segoe UI"/>
                <a:cs typeface="Segoe UI"/>
              </a:rPr>
              <a:t>Whether available evidence supports a reachable path</a:t>
            </a:r>
          </a:p>
        </p:txBody>
      </p:sp>
      <p:sp>
        <p:nvSpPr>
          <p:cNvPr id="19" name="">
            <a:extLst xmlns:a="http://schemas.openxmlformats.org/drawingml/2006/main">
              <a:ext uri="{FF2B5EF4-FFF2-40B4-BE49-F238E27FC236}">
                <a16:creationId xmlns:a16="http://schemas.microsoft.com/office/drawing/2014/main" id="{68D0306F-FC6A-4F56-8A78-55CC4C77704A}"/>
              </a:ext>
            </a:extLst>
          </p:cNvPr>
          <p:cNvSpPr>
            <a:spLocks xmlns:a="http://schemas.openxmlformats.org/drawingml/2006/main" noGrp="1"/>
          </p:cNvSpPr>
          <p:nvPr/>
        </p:nvSpPr>
        <p:spPr>
          <a:xfrm xmlns:a="http://schemas.openxmlformats.org/drawingml/2006/main">
            <a:off x="9906000" y="3733800"/>
            <a:ext cx="1381125" cy="285750"/>
          </a:xfrm>
          <a:prstGeom xmlns:a="http://schemas.openxmlformats.org/drawingml/2006/main" prst="roundRect">
            <a:avLst>
              <a:gd name="adj" fmla="val 26667"/>
            </a:avLst>
          </a:prstGeom>
          <a:solidFill xmlns:a="http://schemas.openxmlformats.org/drawingml/2006/main">
            <a:srgbClr val="171A20"/>
          </a:solidFill>
          <a:ln xmlns:a="http://schemas.openxmlformats.org/drawingml/2006/main" w="9525">
            <a:solidFill>
              <a:srgbClr val="2A2F36"/>
            </a:solidFill>
            <a:prstDash val="solid"/>
          </a:ln>
        </p:spPr>
        <p:txBody>
          <a:bodyPr xmlns:a="http://schemas.openxmlformats.org/drawingml/2006/main" lIns="47625" tIns="0" rIns="47625" bIns="0" anchor="ctr">
            <a:noAutofit/>
          </a:bodyPr>
          <a:lstStyle xmlns:a="http://schemas.openxmlformats.org/drawingml/2006/main"/>
          <a:p xmlns:a="http://schemas.openxmlformats.org/drawingml/2006/main">
            <a:pPr algn="ctr">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EVIDENCE</a:t>
            </a:r>
          </a:p>
        </p:txBody>
      </p:sp>
      <p:sp>
        <p:nvSpPr>
          <p:cNvPr id="20" name="">
            <a:extLst xmlns:a="http://schemas.openxmlformats.org/drawingml/2006/main">
              <a:ext uri="{FF2B5EF4-FFF2-40B4-BE49-F238E27FC236}">
                <a16:creationId xmlns:a16="http://schemas.microsoft.com/office/drawing/2014/main" id="{EAF51EC9-A2C0-4548-A22C-1B639D3F3F4C}"/>
              </a:ext>
            </a:extLst>
          </p:cNvPr>
          <p:cNvSpPr>
            <a:spLocks xmlns:a="http://schemas.openxmlformats.org/drawingml/2006/main" noGrp="1"/>
          </p:cNvSpPr>
          <p:nvPr/>
        </p:nvSpPr>
        <p:spPr>
          <a:xfrm xmlns:a="http://schemas.openxmlformats.org/drawingml/2006/main">
            <a:off x="685800" y="4991100"/>
            <a:ext cx="10620375" cy="0"/>
          </a:xfrm>
          <a:prstGeom xmlns:a="http://schemas.openxmlformats.org/drawingml/2006/main" prst="line">
            <a:avLst/>
          </a:prstGeom>
          <a:noFill xmlns:a="http://schemas.openxmlformats.org/drawingml/2006/main"/>
          <a:ln xmlns:a="http://schemas.openxmlformats.org/drawingml/2006/main" w="9525">
            <a:solidFill>
              <a:srgbClr val="2A2F36"/>
            </a:solidFill>
            <a:prstDash val="solid"/>
          </a:ln>
        </p:spPr>
      </p:sp>
      <p:sp>
        <p:nvSpPr>
          <p:cNvPr id="21" name="">
            <a:extLst xmlns:a="http://schemas.openxmlformats.org/drawingml/2006/main">
              <a:ext uri="{FF2B5EF4-FFF2-40B4-BE49-F238E27FC236}">
                <a16:creationId xmlns:a16="http://schemas.microsoft.com/office/drawing/2014/main" id="{A024F168-3770-4370-B816-9DBE8CFE72EC}"/>
              </a:ext>
            </a:extLst>
          </p:cNvPr>
          <p:cNvSpPr>
            <a:spLocks xmlns:a="http://schemas.openxmlformats.org/drawingml/2006/main" noGrp="1"/>
          </p:cNvSpPr>
          <p:nvPr/>
        </p:nvSpPr>
        <p:spPr>
          <a:xfrm xmlns:a="http://schemas.openxmlformats.org/drawingml/2006/main">
            <a:off x="685800" y="44577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A9B3C1"/>
                </a:solidFill>
                <a:latin typeface="Cascadia Mono"/>
                <a:ea typeface="Cascadia Mono"/>
                <a:cs typeface="Cascadia Mono"/>
              </a:defRPr>
            </a:pPr>
            <a:r>
              <a:rPr sz="1275" b="1">
                <a:solidFill>
                  <a:srgbClr val="A9B3C1"/>
                </a:solidFill>
                <a:latin typeface="Cascadia Mono"/>
                <a:ea typeface="Cascadia Mono"/>
                <a:cs typeface="Cascadia Mono"/>
              </a:rPr>
              <a:t>MITIGATION</a:t>
            </a:r>
          </a:p>
        </p:txBody>
      </p:sp>
      <p:sp>
        <p:nvSpPr>
          <p:cNvPr id="22" name="">
            <a:extLst xmlns:a="http://schemas.openxmlformats.org/drawingml/2006/main">
              <a:ext uri="{FF2B5EF4-FFF2-40B4-BE49-F238E27FC236}">
                <a16:creationId xmlns:a16="http://schemas.microsoft.com/office/drawing/2014/main" id="{B2B5EA49-47AB-4281-9970-F323F6F7FD8F}"/>
              </a:ext>
            </a:extLst>
          </p:cNvPr>
          <p:cNvSpPr>
            <a:spLocks xmlns:a="http://schemas.openxmlformats.org/drawingml/2006/main" noGrp="1"/>
          </p:cNvSpPr>
          <p:nvPr/>
        </p:nvSpPr>
        <p:spPr>
          <a:xfrm xmlns:a="http://schemas.openxmlformats.org/drawingml/2006/main">
            <a:off x="3905250" y="443865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F2F5F9"/>
                </a:solidFill>
                <a:latin typeface="Segoe UI"/>
                <a:ea typeface="Segoe UI"/>
                <a:cs typeface="Segoe UI"/>
              </a:defRPr>
            </a:pPr>
            <a:r>
              <a:rPr sz="1650" b="0">
                <a:solidFill>
                  <a:srgbClr val="F2F5F9"/>
                </a:solidFill>
                <a:latin typeface="Segoe UI"/>
                <a:ea typeface="Segoe UI"/>
                <a:cs typeface="Segoe UI"/>
              </a:rPr>
              <a:t>Controls and product context supplied by the manufacturer</a:t>
            </a:r>
          </a:p>
        </p:txBody>
      </p:sp>
      <p:sp>
        <p:nvSpPr>
          <p:cNvPr id="23" name="">
            <a:extLst xmlns:a="http://schemas.openxmlformats.org/drawingml/2006/main">
              <a:ext uri="{FF2B5EF4-FFF2-40B4-BE49-F238E27FC236}">
                <a16:creationId xmlns:a16="http://schemas.microsoft.com/office/drawing/2014/main" id="{E7D9036A-D5E6-4025-A60A-BFB7EB532B87}"/>
              </a:ext>
            </a:extLst>
          </p:cNvPr>
          <p:cNvSpPr>
            <a:spLocks xmlns:a="http://schemas.openxmlformats.org/drawingml/2006/main" noGrp="1"/>
          </p:cNvSpPr>
          <p:nvPr/>
        </p:nvSpPr>
        <p:spPr>
          <a:xfrm xmlns:a="http://schemas.openxmlformats.org/drawingml/2006/main">
            <a:off x="9906000" y="4429125"/>
            <a:ext cx="1381125" cy="285750"/>
          </a:xfrm>
          <a:prstGeom xmlns:a="http://schemas.openxmlformats.org/drawingml/2006/main" prst="roundRect">
            <a:avLst>
              <a:gd name="adj" fmla="val 26667"/>
            </a:avLst>
          </a:prstGeom>
          <a:solidFill xmlns:a="http://schemas.openxmlformats.org/drawingml/2006/main">
            <a:srgbClr val="171A20"/>
          </a:solidFill>
          <a:ln xmlns:a="http://schemas.openxmlformats.org/drawingml/2006/main" w="9525">
            <a:solidFill>
              <a:srgbClr val="2A2F36"/>
            </a:solidFill>
            <a:prstDash val="solid"/>
          </a:ln>
        </p:spPr>
        <p:txBody>
          <a:bodyPr xmlns:a="http://schemas.openxmlformats.org/drawingml/2006/main" lIns="47625" tIns="0" rIns="47625" bIns="0" anchor="ctr">
            <a:noAutofit/>
          </a:bodyPr>
          <a:lstStyle xmlns:a="http://schemas.openxmlformats.org/drawingml/2006/main"/>
          <a:p xmlns:a="http://schemas.openxmlformats.org/drawingml/2006/main">
            <a:pPr algn="ctr">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HUMAN</a:t>
            </a:r>
          </a:p>
        </p:txBody>
      </p:sp>
      <p:sp>
        <p:nvSpPr>
          <p:cNvPr id="24" name="">
            <a:extLst xmlns:a="http://schemas.openxmlformats.org/drawingml/2006/main">
              <a:ext uri="{FF2B5EF4-FFF2-40B4-BE49-F238E27FC236}">
                <a16:creationId xmlns:a16="http://schemas.microsoft.com/office/drawing/2014/main" id="{7B0BE462-10FF-4D66-8407-BF319088876C}"/>
              </a:ext>
            </a:extLst>
          </p:cNvPr>
          <p:cNvSpPr>
            <a:spLocks xmlns:a="http://schemas.openxmlformats.org/drawingml/2006/main" noGrp="1"/>
          </p:cNvSpPr>
          <p:nvPr/>
        </p:nvSpPr>
        <p:spPr>
          <a:xfrm xmlns:a="http://schemas.openxmlformats.org/drawingml/2006/main">
            <a:off x="685800" y="5686425"/>
            <a:ext cx="10620375" cy="0"/>
          </a:xfrm>
          <a:prstGeom xmlns:a="http://schemas.openxmlformats.org/drawingml/2006/main" prst="line">
            <a:avLst/>
          </a:prstGeom>
          <a:noFill xmlns:a="http://schemas.openxmlformats.org/drawingml/2006/main"/>
          <a:ln xmlns:a="http://schemas.openxmlformats.org/drawingml/2006/main" w="9525">
            <a:solidFill>
              <a:srgbClr val="2A2F36"/>
            </a:solidFill>
            <a:prstDash val="solid"/>
          </a:ln>
        </p:spPr>
      </p:sp>
      <p:sp>
        <p:nvSpPr>
          <p:cNvPr id="25" name="">
            <a:extLst xmlns:a="http://schemas.openxmlformats.org/drawingml/2006/main">
              <a:ext uri="{FF2B5EF4-FFF2-40B4-BE49-F238E27FC236}">
                <a16:creationId xmlns:a16="http://schemas.microsoft.com/office/drawing/2014/main" id="{8F850705-81FD-4A07-96B8-75EB44160A57}"/>
              </a:ext>
            </a:extLst>
          </p:cNvPr>
          <p:cNvSpPr>
            <a:spLocks xmlns:a="http://schemas.openxmlformats.org/drawingml/2006/main" noGrp="1"/>
          </p:cNvSpPr>
          <p:nvPr/>
        </p:nvSpPr>
        <p:spPr>
          <a:xfrm xmlns:a="http://schemas.openxmlformats.org/drawingml/2006/main">
            <a:off x="685800" y="515302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4ED8A0"/>
                </a:solidFill>
                <a:latin typeface="Cascadia Mono"/>
                <a:ea typeface="Cascadia Mono"/>
                <a:cs typeface="Cascadia Mono"/>
              </a:defRPr>
            </a:pPr>
            <a:r>
              <a:rPr sz="1275" b="1">
                <a:solidFill>
                  <a:srgbClr val="4ED8A0"/>
                </a:solidFill>
                <a:latin typeface="Cascadia Mono"/>
                <a:ea typeface="Cascadia Mono"/>
                <a:cs typeface="Cascadia Mono"/>
              </a:rPr>
              <a:t>UNKNOWN COVERAGE</a:t>
            </a:r>
          </a:p>
        </p:txBody>
      </p:sp>
      <p:sp>
        <p:nvSpPr>
          <p:cNvPr id="26" name="">
            <a:extLst xmlns:a="http://schemas.openxmlformats.org/drawingml/2006/main">
              <a:ext uri="{FF2B5EF4-FFF2-40B4-BE49-F238E27FC236}">
                <a16:creationId xmlns:a16="http://schemas.microsoft.com/office/drawing/2014/main" id="{6CD7B1C1-2D03-4730-ACF1-646DA1C0FF4D}"/>
              </a:ext>
            </a:extLst>
          </p:cNvPr>
          <p:cNvSpPr>
            <a:spLocks xmlns:a="http://schemas.openxmlformats.org/drawingml/2006/main" noGrp="1"/>
          </p:cNvSpPr>
          <p:nvPr/>
        </p:nvSpPr>
        <p:spPr>
          <a:xfrm xmlns:a="http://schemas.openxmlformats.org/drawingml/2006/main">
            <a:off x="3905250" y="513397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F2F5F9"/>
                </a:solidFill>
                <a:latin typeface="Segoe UI"/>
                <a:ea typeface="Segoe UI"/>
                <a:cs typeface="Segoe UI"/>
              </a:defRPr>
            </a:pPr>
            <a:r>
              <a:rPr sz="1650" b="0">
                <a:solidFill>
                  <a:srgbClr val="F2F5F9"/>
                </a:solidFill>
                <a:latin typeface="Segoe UI"/>
                <a:ea typeface="Segoe UI"/>
                <a:cs typeface="Segoe UI"/>
              </a:rPr>
              <a:t>Unsupported, encrypted, failed, or incomplete analysis</a:t>
            </a:r>
          </a:p>
        </p:txBody>
      </p:sp>
      <p:sp>
        <p:nvSpPr>
          <p:cNvPr id="27" name="">
            <a:extLst xmlns:a="http://schemas.openxmlformats.org/drawingml/2006/main">
              <a:ext uri="{FF2B5EF4-FFF2-40B4-BE49-F238E27FC236}">
                <a16:creationId xmlns:a16="http://schemas.microsoft.com/office/drawing/2014/main" id="{5486D748-1AFA-4296-A74F-30E004726CC9}"/>
              </a:ext>
            </a:extLst>
          </p:cNvPr>
          <p:cNvSpPr>
            <a:spLocks xmlns:a="http://schemas.openxmlformats.org/drawingml/2006/main" noGrp="1"/>
          </p:cNvSpPr>
          <p:nvPr/>
        </p:nvSpPr>
        <p:spPr>
          <a:xfrm xmlns:a="http://schemas.openxmlformats.org/drawingml/2006/main">
            <a:off x="9906000" y="5124450"/>
            <a:ext cx="1381125" cy="285750"/>
          </a:xfrm>
          <a:prstGeom xmlns:a="http://schemas.openxmlformats.org/drawingml/2006/main" prst="roundRect">
            <a:avLst>
              <a:gd name="adj" fmla="val 26667"/>
            </a:avLst>
          </a:prstGeom>
          <a:solidFill xmlns:a="http://schemas.openxmlformats.org/drawingml/2006/main">
            <a:srgbClr val="171A20"/>
          </a:solidFill>
          <a:ln xmlns:a="http://schemas.openxmlformats.org/drawingml/2006/main" w="9525">
            <a:solidFill>
              <a:srgbClr val="2A2F36"/>
            </a:solidFill>
            <a:prstDash val="solid"/>
          </a:ln>
        </p:spPr>
        <p:txBody>
          <a:bodyPr xmlns:a="http://schemas.openxmlformats.org/drawingml/2006/main" lIns="47625" tIns="0" rIns="47625" bIns="0" anchor="ctr">
            <a:noAutofit/>
          </a:bodyPr>
          <a:lstStyle xmlns:a="http://schemas.openxmlformats.org/drawingml/2006/main"/>
          <a:p xmlns:a="http://schemas.openxmlformats.org/drawingml/2006/main">
            <a:pPr algn="ctr">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VISIBLE</a:t>
            </a:r>
          </a:p>
        </p:txBody>
      </p:sp>
      <p:sp>
        <p:nvSpPr>
          <p:cNvPr id="28" name="">
            <a:extLst xmlns:a="http://schemas.openxmlformats.org/drawingml/2006/main">
              <a:ext uri="{FF2B5EF4-FFF2-40B4-BE49-F238E27FC236}">
                <a16:creationId xmlns:a16="http://schemas.microsoft.com/office/drawing/2014/main" id="{96CE79F6-50B9-404F-A8DC-7C201EC62439}"/>
              </a:ext>
            </a:extLst>
          </p:cNvPr>
          <p:cNvSpPr>
            <a:spLocks xmlns:a="http://schemas.openxmlformats.org/drawingml/2006/main" noGrp="1"/>
          </p:cNvSpPr>
          <p:nvPr/>
        </p:nvSpPr>
        <p:spPr>
          <a:xfrm xmlns:a="http://schemas.openxmlformats.org/drawingml/2006/main">
            <a:off x="533400" y="6496050"/>
            <a:ext cx="11125200" cy="0"/>
          </a:xfrm>
          <a:prstGeom xmlns:a="http://schemas.openxmlformats.org/drawingml/2006/main" prst="line">
            <a:avLst/>
          </a:prstGeom>
          <a:noFill xmlns:a="http://schemas.openxmlformats.org/drawingml/2006/main"/>
          <a:ln xmlns:a="http://schemas.openxmlformats.org/drawingml/2006/main" w="9525">
            <a:solidFill>
              <a:srgbClr val="2A2F36"/>
            </a:solidFill>
            <a:prstDash val="solid"/>
          </a:ln>
        </p:spPr>
      </p:sp>
      <p:sp>
        <p:nvSpPr>
          <p:cNvPr id="29" name="">
            <a:extLst xmlns:a="http://schemas.openxmlformats.org/drawingml/2006/main">
              <a:ext uri="{FF2B5EF4-FFF2-40B4-BE49-F238E27FC236}">
                <a16:creationId xmlns:a16="http://schemas.microsoft.com/office/drawing/2014/main" id="{7FB21EAA-6D57-45FB-9FAD-19BBA3661D94}"/>
              </a:ext>
            </a:extLst>
          </p:cNvPr>
          <p:cNvSpPr>
            <a:spLocks xmlns:a="http://schemas.openxmlformats.org/drawingml/2006/main" noGrp="1"/>
          </p:cNvSpPr>
          <p:nvPr/>
        </p:nvSpPr>
        <p:spPr>
          <a:xfrm xmlns:a="http://schemas.openxmlformats.org/drawingml/2006/main">
            <a:off x="533400" y="6572250"/>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727D8C"/>
                </a:solidFill>
                <a:latin typeface="Cascadia Mono"/>
                <a:ea typeface="Cascadia Mono"/>
                <a:cs typeface="Cascadia Mono"/>
              </a:defRPr>
            </a:pPr>
            <a:r>
              <a:rPr sz="975" b="0">
                <a:solidFill>
                  <a:srgbClr val="727D8C"/>
                </a:solidFill>
                <a:latin typeface="Cascadia Mono"/>
                <a:ea typeface="Cascadia Mono"/>
                <a:cs typeface="Cascadia Mono"/>
              </a:rPr>
              <a:t>PandaX  /  Customer pilot presentation</a:t>
            </a:r>
          </a:p>
        </p:txBody>
      </p:sp>
      <p:sp>
        <p:nvSpPr>
          <p:cNvPr id="30" name="">
            <a:extLst xmlns:a="http://schemas.openxmlformats.org/drawingml/2006/main">
              <a:ext uri="{FF2B5EF4-FFF2-40B4-BE49-F238E27FC236}">
                <a16:creationId xmlns:a16="http://schemas.microsoft.com/office/drawing/2014/main" id="{6F657203-EBD7-4345-924E-DE868AAC1CB2}"/>
              </a:ext>
            </a:extLst>
          </p:cNvPr>
          <p:cNvSpPr>
            <a:spLocks xmlns:a="http://schemas.openxmlformats.org/drawingml/2006/main" noGrp="1"/>
          </p:cNvSpPr>
          <p:nvPr/>
        </p:nvSpPr>
        <p:spPr>
          <a:xfrm xmlns:a="http://schemas.openxmlformats.org/drawingml/2006/main">
            <a:off x="11049000" y="6562725"/>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0">
                <a:solidFill>
                  <a:srgbClr val="727D8C"/>
                </a:solidFill>
                <a:latin typeface="Cascadia Mono"/>
                <a:ea typeface="Cascadia Mono"/>
                <a:cs typeface="Cascadia Mono"/>
              </a:defRPr>
            </a:pPr>
            <a:r>
              <a:rPr sz="1050" b="0">
                <a:solidFill>
                  <a:srgbClr val="727D8C"/>
                </a:solidFill>
                <a:latin typeface="Cascadia Mono"/>
                <a:ea typeface="Cascadia Mono"/>
                <a:cs typeface="Cascadia Mono"/>
              </a:rPr>
              <a:t>06</a:t>
            </a:r>
          </a:p>
        </p:txBody>
      </p:sp>
    </p:spTree>
    <p:extLst>
      <p:ext uri="{BB962C8B-B14F-4D97-AF65-F5344CB8AC3E}">
        <p14:creationId xmlns:p14="http://schemas.microsoft.com/office/powerpoint/2010/main" val="1997940882"/>
      </p:ext>
    </p:extLst>
  </p:cSld>
</p:sld>
</file>

<file path=ppt/slides/slide7.xml><?xml version="1.0" encoding="utf-8"?>
<p:sld xmlns:p="http://schemas.openxmlformats.org/presentationml/2006/main">
  <p:cSld>
    <p:bg>
      <p:bgPr>
        <a:solidFill xmlns:a="http://schemas.openxmlformats.org/drawingml/2006/main">
          <a:srgbClr val="F4F7F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EEF6DF1-72E6-44C0-96A3-8332027BA3CA}"/>
              </a:ext>
            </a:extLst>
          </p:cNvPr>
          <p:cNvSpPr>
            <a:spLocks xmlns:a="http://schemas.openxmlformats.org/drawingml/2006/main" noGrp="1"/>
          </p:cNvSpPr>
          <p:nvPr/>
        </p:nvSpPr>
        <p:spPr>
          <a:xfrm xmlns:a="http://schemas.openxmlformats.org/drawingml/2006/main">
            <a:off x="533400" y="476250"/>
            <a:ext cx="57150" cy="514350"/>
          </a:xfrm>
          <a:prstGeom xmlns:a="http://schemas.openxmlformats.org/drawingml/2006/main" prst="rect">
            <a:avLst/>
          </a:prstGeom>
          <a:solidFill xmlns:a="http://schemas.openxmlformats.org/drawingml/2006/main">
            <a:srgbClr val="4ED8A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51AB78-DAC3-4986-8856-B5B7618C71D8}"/>
              </a:ext>
            </a:extLst>
          </p:cNvPr>
          <p:cNvSpPr>
            <a:spLocks xmlns:a="http://schemas.openxmlformats.org/drawingml/2006/main" noGrp="1"/>
          </p:cNvSpPr>
          <p:nvPr/>
        </p:nvSpPr>
        <p:spPr>
          <a:xfrm xmlns:a="http://schemas.openxmlformats.org/drawingml/2006/main">
            <a:off x="762000" y="43815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The completed PoC passes its acceptance gates</a:t>
            </a:r>
          </a:p>
        </p:txBody>
      </p:sp>
      <p:sp>
        <p:nvSpPr>
          <p:cNvPr id="3" name="">
            <a:extLst xmlns:a="http://schemas.openxmlformats.org/drawingml/2006/main">
              <a:ext uri="{FF2B5EF4-FFF2-40B4-BE49-F238E27FC236}">
                <a16:creationId xmlns:a16="http://schemas.microsoft.com/office/drawing/2014/main" id="{151B7FD3-E1C2-4F65-A4A7-564702FA8805}"/>
              </a:ext>
            </a:extLst>
          </p:cNvPr>
          <p:cNvSpPr>
            <a:spLocks xmlns:a="http://schemas.openxmlformats.org/drawingml/2006/main" noGrp="1"/>
          </p:cNvSpPr>
          <p:nvPr/>
        </p:nvSpPr>
        <p:spPr>
          <a:xfrm xmlns:a="http://schemas.openxmlformats.org/drawingml/2006/main">
            <a:off x="704850" y="1657350"/>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5250" b="1">
                <a:solidFill>
                  <a:srgbClr val="111713"/>
                </a:solidFill>
                <a:latin typeface="Segoe UI"/>
                <a:ea typeface="Segoe UI"/>
                <a:cs typeface="Segoe UI"/>
              </a:defRPr>
            </a:pPr>
            <a:r>
              <a:rPr sz="5250" b="1">
                <a:solidFill>
                  <a:srgbClr val="111713"/>
                </a:solidFill>
                <a:latin typeface="Segoe UI"/>
                <a:ea typeface="Segoe UI"/>
                <a:cs typeface="Segoe UI"/>
              </a:rPr>
              <a:t>76/76</a:t>
            </a:r>
          </a:p>
        </p:txBody>
      </p:sp>
      <p:sp>
        <p:nvSpPr>
          <p:cNvPr id="4" name="">
            <a:extLst xmlns:a="http://schemas.openxmlformats.org/drawingml/2006/main">
              <a:ext uri="{FF2B5EF4-FFF2-40B4-BE49-F238E27FC236}">
                <a16:creationId xmlns:a16="http://schemas.microsoft.com/office/drawing/2014/main" id="{E14F996C-7FEC-4664-9664-F0FE79DE9795}"/>
              </a:ext>
            </a:extLst>
          </p:cNvPr>
          <p:cNvSpPr>
            <a:spLocks xmlns:a="http://schemas.openxmlformats.org/drawingml/2006/main" noGrp="1"/>
          </p:cNvSpPr>
          <p:nvPr/>
        </p:nvSpPr>
        <p:spPr>
          <a:xfrm xmlns:a="http://schemas.openxmlformats.org/drawingml/2006/main">
            <a:off x="742950" y="25146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3605A"/>
                </a:solidFill>
                <a:latin typeface="Segoe UI"/>
                <a:ea typeface="Segoe UI"/>
                <a:cs typeface="Segoe UI"/>
              </a:defRPr>
            </a:pPr>
            <a:r>
              <a:rPr sz="1575" b="0">
                <a:solidFill>
                  <a:srgbClr val="53605A"/>
                </a:solidFill>
                <a:latin typeface="Segoe UI"/>
                <a:ea typeface="Segoe UI"/>
                <a:cs typeface="Segoe UI"/>
              </a:rPr>
              <a:t>frozen expected checks</a:t>
            </a:r>
          </a:p>
        </p:txBody>
      </p:sp>
      <p:sp>
        <p:nvSpPr>
          <p:cNvPr id="5" name="">
            <a:extLst xmlns:a="http://schemas.openxmlformats.org/drawingml/2006/main">
              <a:ext uri="{FF2B5EF4-FFF2-40B4-BE49-F238E27FC236}">
                <a16:creationId xmlns:a16="http://schemas.microsoft.com/office/drawing/2014/main" id="{469E2274-B9EA-4A7A-85F6-88F6926085C7}"/>
              </a:ext>
            </a:extLst>
          </p:cNvPr>
          <p:cNvSpPr>
            <a:spLocks xmlns:a="http://schemas.openxmlformats.org/drawingml/2006/main" noGrp="1"/>
          </p:cNvSpPr>
          <p:nvPr/>
        </p:nvSpPr>
        <p:spPr>
          <a:xfrm xmlns:a="http://schemas.openxmlformats.org/drawingml/2006/main">
            <a:off x="4095750" y="1657350"/>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5250" b="1">
                <a:solidFill>
                  <a:srgbClr val="167A57"/>
                </a:solidFill>
                <a:latin typeface="Segoe UI"/>
                <a:ea typeface="Segoe UI"/>
                <a:cs typeface="Segoe UI"/>
              </a:defRPr>
            </a:pPr>
            <a:r>
              <a:rPr sz="5250" b="1">
                <a:solidFill>
                  <a:srgbClr val="167A57"/>
                </a:solidFill>
                <a:latin typeface="Segoe UI"/>
                <a:ea typeface="Segoe UI"/>
                <a:cs typeface="Segoe UI"/>
              </a:rPr>
              <a:t>34/34</a:t>
            </a:r>
          </a:p>
        </p:txBody>
      </p:sp>
      <p:sp>
        <p:nvSpPr>
          <p:cNvPr id="6" name="">
            <a:extLst xmlns:a="http://schemas.openxmlformats.org/drawingml/2006/main">
              <a:ext uri="{FF2B5EF4-FFF2-40B4-BE49-F238E27FC236}">
                <a16:creationId xmlns:a16="http://schemas.microsoft.com/office/drawing/2014/main" id="{631CDB05-E7E8-47B9-AECE-5CD6E76A12A5}"/>
              </a:ext>
            </a:extLst>
          </p:cNvPr>
          <p:cNvSpPr>
            <a:spLocks xmlns:a="http://schemas.openxmlformats.org/drawingml/2006/main" noGrp="1"/>
          </p:cNvSpPr>
          <p:nvPr/>
        </p:nvSpPr>
        <p:spPr>
          <a:xfrm xmlns:a="http://schemas.openxmlformats.org/drawingml/2006/main">
            <a:off x="4133850" y="25146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3605A"/>
                </a:solidFill>
                <a:latin typeface="Segoe UI"/>
                <a:ea typeface="Segoe UI"/>
                <a:cs typeface="Segoe UI"/>
              </a:defRPr>
            </a:pPr>
            <a:r>
              <a:rPr sz="1575" b="0">
                <a:solidFill>
                  <a:srgbClr val="53605A"/>
                </a:solidFill>
                <a:latin typeface="Segoe UI"/>
                <a:ea typeface="Segoe UI"/>
                <a:cs typeface="Segoe UI"/>
              </a:rPr>
              <a:t>negative controls</a:t>
            </a:r>
          </a:p>
        </p:txBody>
      </p:sp>
      <p:sp>
        <p:nvSpPr>
          <p:cNvPr id="7" name="">
            <a:extLst xmlns:a="http://schemas.openxmlformats.org/drawingml/2006/main">
              <a:ext uri="{FF2B5EF4-FFF2-40B4-BE49-F238E27FC236}">
                <a16:creationId xmlns:a16="http://schemas.microsoft.com/office/drawing/2014/main" id="{60E20E87-DA4B-4051-8CAB-D1C4253C74A6}"/>
              </a:ext>
            </a:extLst>
          </p:cNvPr>
          <p:cNvSpPr>
            <a:spLocks xmlns:a="http://schemas.openxmlformats.org/drawingml/2006/main" noGrp="1"/>
          </p:cNvSpPr>
          <p:nvPr/>
        </p:nvSpPr>
        <p:spPr>
          <a:xfrm xmlns:a="http://schemas.openxmlformats.org/drawingml/2006/main">
            <a:off x="7486650" y="1657350"/>
            <a:ext cx="3619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350" b="1">
                <a:solidFill>
                  <a:srgbClr val="111713"/>
                </a:solidFill>
                <a:latin typeface="Segoe UI"/>
                <a:ea typeface="Segoe UI"/>
                <a:cs typeface="Segoe UI"/>
              </a:defRPr>
            </a:pPr>
            <a:r>
              <a:rPr sz="4350" b="1">
                <a:solidFill>
                  <a:srgbClr val="111713"/>
                </a:solidFill>
                <a:latin typeface="Segoe UI"/>
                <a:ea typeface="Segoe UI"/>
                <a:cs typeface="Segoe UI"/>
              </a:rPr>
              <a:t>PDF/A-2b</a:t>
            </a:r>
          </a:p>
        </p:txBody>
      </p:sp>
      <p:sp>
        <p:nvSpPr>
          <p:cNvPr id="8" name="">
            <a:extLst xmlns:a="http://schemas.openxmlformats.org/drawingml/2006/main">
              <a:ext uri="{FF2B5EF4-FFF2-40B4-BE49-F238E27FC236}">
                <a16:creationId xmlns:a16="http://schemas.microsoft.com/office/drawing/2014/main" id="{F1C7A494-9F2C-4E84-BECE-10B13A55E464}"/>
              </a:ext>
            </a:extLst>
          </p:cNvPr>
          <p:cNvSpPr>
            <a:spLocks xmlns:a="http://schemas.openxmlformats.org/drawingml/2006/main" noGrp="1"/>
          </p:cNvSpPr>
          <p:nvPr/>
        </p:nvSpPr>
        <p:spPr>
          <a:xfrm xmlns:a="http://schemas.openxmlformats.org/drawingml/2006/main">
            <a:off x="7524750" y="25146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3605A"/>
                </a:solidFill>
                <a:latin typeface="Segoe UI"/>
                <a:ea typeface="Segoe UI"/>
                <a:cs typeface="Segoe UI"/>
              </a:defRPr>
            </a:pPr>
            <a:r>
              <a:rPr sz="1575" b="0">
                <a:solidFill>
                  <a:srgbClr val="53605A"/>
                </a:solidFill>
                <a:latin typeface="Segoe UI"/>
                <a:ea typeface="Segoe UI"/>
                <a:cs typeface="Segoe UI"/>
              </a:rPr>
              <a:t>every acceptance PDF validates</a:t>
            </a:r>
          </a:p>
        </p:txBody>
      </p:sp>
      <p:sp>
        <p:nvSpPr>
          <p:cNvPr id="9" name="">
            <a:extLst xmlns:a="http://schemas.openxmlformats.org/drawingml/2006/main">
              <a:ext uri="{FF2B5EF4-FFF2-40B4-BE49-F238E27FC236}">
                <a16:creationId xmlns:a16="http://schemas.microsoft.com/office/drawing/2014/main" id="{102960F5-51E1-4464-A16D-56566413F3AB}"/>
              </a:ext>
            </a:extLst>
          </p:cNvPr>
          <p:cNvSpPr>
            <a:spLocks xmlns:a="http://schemas.openxmlformats.org/drawingml/2006/main" noGrp="1"/>
          </p:cNvSpPr>
          <p:nvPr/>
        </p:nvSpPr>
        <p:spPr>
          <a:xfrm xmlns:a="http://schemas.openxmlformats.org/drawingml/2006/main">
            <a:off x="704850" y="3200400"/>
            <a:ext cx="10401300" cy="0"/>
          </a:xfrm>
          <a:prstGeom xmlns:a="http://schemas.openxmlformats.org/drawingml/2006/main" prst="line">
            <a:avLst/>
          </a:prstGeom>
          <a:noFill xmlns:a="http://schemas.openxmlformats.org/drawingml/2006/main"/>
          <a:ln xmlns:a="http://schemas.openxmlformats.org/drawingml/2006/main" w="9525">
            <a:solidFill>
              <a:srgbClr val="CBD5CF"/>
            </a:solidFill>
            <a:prstDash val="solid"/>
          </a:ln>
        </p:spPr>
      </p:sp>
      <p:sp>
        <p:nvSpPr>
          <p:cNvPr id="10" name="">
            <a:extLst xmlns:a="http://schemas.openxmlformats.org/drawingml/2006/main">
              <a:ext uri="{FF2B5EF4-FFF2-40B4-BE49-F238E27FC236}">
                <a16:creationId xmlns:a16="http://schemas.microsoft.com/office/drawing/2014/main" id="{FE7D3C3C-BB61-48AB-874E-F165122F67FE}"/>
              </a:ext>
            </a:extLst>
          </p:cNvPr>
          <p:cNvSpPr>
            <a:spLocks xmlns:a="http://schemas.openxmlformats.org/drawingml/2006/main" noGrp="1"/>
          </p:cNvSpPr>
          <p:nvPr/>
        </p:nvSpPr>
        <p:spPr>
          <a:xfrm xmlns:a="http://schemas.openxmlformats.org/drawingml/2006/main">
            <a:off x="723900" y="356235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111713"/>
                </a:solidFill>
                <a:latin typeface="Segoe UI"/>
                <a:ea typeface="Segoe UI"/>
                <a:cs typeface="Segoe UI"/>
              </a:defRPr>
            </a:pPr>
            <a:r>
              <a:rPr sz="1800" b="1">
                <a:solidFill>
                  <a:srgbClr val="111713"/>
                </a:solidFill>
                <a:latin typeface="Segoe UI"/>
                <a:ea typeface="Segoe UI"/>
                <a:cs typeface="Segoe UI"/>
              </a:rPr>
              <a:t>Public OpenWrt analysis reproduces</a:t>
            </a:r>
          </a:p>
        </p:txBody>
      </p:sp>
      <p:sp>
        <p:nvSpPr>
          <p:cNvPr id="11" name="">
            <a:extLst xmlns:a="http://schemas.openxmlformats.org/drawingml/2006/main">
              <a:ext uri="{FF2B5EF4-FFF2-40B4-BE49-F238E27FC236}">
                <a16:creationId xmlns:a16="http://schemas.microsoft.com/office/drawing/2014/main" id="{41E37F96-46E1-4E15-BF2B-6EAC6B245CE9}"/>
              </a:ext>
            </a:extLst>
          </p:cNvPr>
          <p:cNvSpPr>
            <a:spLocks xmlns:a="http://schemas.openxmlformats.org/drawingml/2006/main" noGrp="1"/>
          </p:cNvSpPr>
          <p:nvPr/>
        </p:nvSpPr>
        <p:spPr>
          <a:xfrm xmlns:a="http://schemas.openxmlformats.org/drawingml/2006/main">
            <a:off x="4324350" y="356235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111713"/>
                </a:solidFill>
                <a:latin typeface="Segoe UI"/>
                <a:ea typeface="Segoe UI"/>
                <a:cs typeface="Segoe UI"/>
              </a:defRPr>
            </a:pPr>
            <a:r>
              <a:rPr sz="1800" b="1">
                <a:solidFill>
                  <a:srgbClr val="111713"/>
                </a:solidFill>
                <a:latin typeface="Segoe UI"/>
                <a:ea typeface="Segoe UI"/>
                <a:cs typeface="Segoe UI"/>
              </a:rPr>
              <a:t>Blind unseen-image acceptance passes</a:t>
            </a:r>
          </a:p>
        </p:txBody>
      </p:sp>
      <p:sp>
        <p:nvSpPr>
          <p:cNvPr id="12" name="">
            <a:extLst xmlns:a="http://schemas.openxmlformats.org/drawingml/2006/main">
              <a:ext uri="{FF2B5EF4-FFF2-40B4-BE49-F238E27FC236}">
                <a16:creationId xmlns:a16="http://schemas.microsoft.com/office/drawing/2014/main" id="{931AE02B-4BF8-43F8-B8E8-9B1E9288D1DF}"/>
              </a:ext>
            </a:extLst>
          </p:cNvPr>
          <p:cNvSpPr>
            <a:spLocks xmlns:a="http://schemas.openxmlformats.org/drawingml/2006/main" noGrp="1"/>
          </p:cNvSpPr>
          <p:nvPr/>
        </p:nvSpPr>
        <p:spPr>
          <a:xfrm xmlns:a="http://schemas.openxmlformats.org/drawingml/2006/main">
            <a:off x="7924800" y="356235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111713"/>
                </a:solidFill>
                <a:latin typeface="Segoe UI"/>
                <a:ea typeface="Segoe UI"/>
                <a:cs typeface="Segoe UI"/>
              </a:defRPr>
            </a:pPr>
            <a:r>
              <a:rPr sz="1800" b="1">
                <a:solidFill>
                  <a:srgbClr val="111713"/>
                </a:solidFill>
                <a:latin typeface="Segoe UI"/>
                <a:ea typeface="Segoe UI"/>
                <a:cs typeface="Segoe UI"/>
              </a:rPr>
              <a:t>Tampered evidence fails verification</a:t>
            </a:r>
          </a:p>
        </p:txBody>
      </p:sp>
      <p:sp>
        <p:nvSpPr>
          <p:cNvPr id="13" name="">
            <a:extLst xmlns:a="http://schemas.openxmlformats.org/drawingml/2006/main">
              <a:ext uri="{FF2B5EF4-FFF2-40B4-BE49-F238E27FC236}">
                <a16:creationId xmlns:a16="http://schemas.microsoft.com/office/drawing/2014/main" id="{74E50D70-EE77-4B75-A6F2-61E5CAC405CC}"/>
              </a:ext>
            </a:extLst>
          </p:cNvPr>
          <p:cNvSpPr>
            <a:spLocks xmlns:a="http://schemas.openxmlformats.org/drawingml/2006/main" noGrp="1"/>
          </p:cNvSpPr>
          <p:nvPr/>
        </p:nvSpPr>
        <p:spPr>
          <a:xfrm xmlns:a="http://schemas.openxmlformats.org/drawingml/2006/main">
            <a:off x="723900" y="417195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0">
                <a:solidFill>
                  <a:srgbClr val="53605A"/>
                </a:solidFill>
                <a:latin typeface="Segoe UI"/>
                <a:ea typeface="Segoe UI"/>
                <a:cs typeface="Segoe UI"/>
              </a:defRPr>
            </a:pPr>
            <a:r>
              <a:rPr sz="1575" b="0">
                <a:solidFill>
                  <a:srgbClr val="53605A"/>
                </a:solidFill>
                <a:latin typeface="Segoe UI"/>
                <a:ea typeface="Segoe UI"/>
                <a:cs typeface="Segoe UI"/>
              </a:rPr>
              <a:t>Cases, deadlines, decisions, and approvals survive restart. Both actively exploited-vulnerability and severe-incident workflows complete.</a:t>
            </a:r>
          </a:p>
        </p:txBody>
      </p:sp>
      <p:sp>
        <p:nvSpPr>
          <p:cNvPr id="14" name="">
            <a:extLst xmlns:a="http://schemas.openxmlformats.org/drawingml/2006/main">
              <a:ext uri="{FF2B5EF4-FFF2-40B4-BE49-F238E27FC236}">
                <a16:creationId xmlns:a16="http://schemas.microsoft.com/office/drawing/2014/main" id="{7474D1C0-888E-468D-BBED-FC1488068DD9}"/>
              </a:ext>
            </a:extLst>
          </p:cNvPr>
          <p:cNvSpPr>
            <a:spLocks xmlns:a="http://schemas.openxmlformats.org/drawingml/2006/main" noGrp="1"/>
          </p:cNvSpPr>
          <p:nvPr/>
        </p:nvSpPr>
        <p:spPr>
          <a:xfrm xmlns:a="http://schemas.openxmlformats.org/drawingml/2006/main">
            <a:off x="704850" y="5048250"/>
            <a:ext cx="10401300" cy="781050"/>
          </a:xfrm>
          <a:prstGeom xmlns:a="http://schemas.openxmlformats.org/drawingml/2006/main" prst="rect">
            <a:avLst/>
          </a:prstGeom>
          <a:solidFill xmlns:a="http://schemas.openxmlformats.org/drawingml/2006/main">
            <a:srgbClr val="11171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CE281FB-5CDF-4B5B-ADD7-616021FCBAF9}"/>
              </a:ext>
            </a:extLst>
          </p:cNvPr>
          <p:cNvSpPr>
            <a:spLocks xmlns:a="http://schemas.openxmlformats.org/drawingml/2006/main" noGrp="1"/>
          </p:cNvSpPr>
          <p:nvPr/>
        </p:nvSpPr>
        <p:spPr>
          <a:xfrm xmlns:a="http://schemas.openxmlformats.org/drawingml/2006/main">
            <a:off x="914400" y="5210175"/>
            <a:ext cx="333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727D8C"/>
                </a:solidFill>
                <a:latin typeface="Cascadia Mono"/>
                <a:ea typeface="Cascadia Mono"/>
                <a:cs typeface="Cascadia Mono"/>
              </a:defRPr>
            </a:pPr>
            <a:r>
              <a:rPr sz="1125" b="0">
                <a:solidFill>
                  <a:srgbClr val="727D8C"/>
                </a:solidFill>
                <a:latin typeface="Cascadia Mono"/>
                <a:ea typeface="Cascadia Mono"/>
                <a:cs typeface="Cascadia Mono"/>
              </a:rPr>
              <a:t>Observed local OpenWrt 19.07.1 sample</a:t>
            </a:r>
          </a:p>
        </p:txBody>
      </p:sp>
      <p:sp>
        <p:nvSpPr>
          <p:cNvPr id="16" name="">
            <a:extLst xmlns:a="http://schemas.openxmlformats.org/drawingml/2006/main">
              <a:ext uri="{FF2B5EF4-FFF2-40B4-BE49-F238E27FC236}">
                <a16:creationId xmlns:a16="http://schemas.microsoft.com/office/drawing/2014/main" id="{7F68A30F-9E4A-45F2-AEC3-23D0260C8FE4}"/>
              </a:ext>
            </a:extLst>
          </p:cNvPr>
          <p:cNvSpPr>
            <a:spLocks xmlns:a="http://schemas.openxmlformats.org/drawingml/2006/main" noGrp="1"/>
          </p:cNvSpPr>
          <p:nvPr/>
        </p:nvSpPr>
        <p:spPr>
          <a:xfrm xmlns:a="http://schemas.openxmlformats.org/drawingml/2006/main">
            <a:off x="914400" y="54768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4ED8A0"/>
                </a:solidFill>
                <a:latin typeface="Segoe UI"/>
                <a:ea typeface="Segoe UI"/>
                <a:cs typeface="Segoe UI"/>
              </a:defRPr>
            </a:pPr>
            <a:r>
              <a:rPr sz="1800" b="1">
                <a:solidFill>
                  <a:srgbClr val="4ED8A0"/>
                </a:solidFill>
                <a:latin typeface="Segoe UI"/>
                <a:ea typeface="Segoe UI"/>
                <a:cs typeface="Segoe UI"/>
              </a:rPr>
              <a:t>19.9 s</a:t>
            </a:r>
          </a:p>
        </p:txBody>
      </p:sp>
      <p:sp>
        <p:nvSpPr>
          <p:cNvPr id="17" name="">
            <a:extLst xmlns:a="http://schemas.openxmlformats.org/drawingml/2006/main">
              <a:ext uri="{FF2B5EF4-FFF2-40B4-BE49-F238E27FC236}">
                <a16:creationId xmlns:a16="http://schemas.microsoft.com/office/drawing/2014/main" id="{0C4FB276-E685-4459-932A-9A194973E403}"/>
              </a:ext>
            </a:extLst>
          </p:cNvPr>
          <p:cNvSpPr>
            <a:spLocks xmlns:a="http://schemas.openxmlformats.org/drawingml/2006/main" noGrp="1"/>
          </p:cNvSpPr>
          <p:nvPr/>
        </p:nvSpPr>
        <p:spPr>
          <a:xfrm xmlns:a="http://schemas.openxmlformats.org/drawingml/2006/main">
            <a:off x="3124200" y="547687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2F5F9"/>
                </a:solidFill>
                <a:latin typeface="Segoe UI"/>
                <a:ea typeface="Segoe UI"/>
                <a:cs typeface="Segoe UI"/>
              </a:defRPr>
            </a:pPr>
            <a:r>
              <a:rPr sz="1800" b="1">
                <a:solidFill>
                  <a:srgbClr val="F2F5F9"/>
                </a:solidFill>
                <a:latin typeface="Segoe UI"/>
                <a:ea typeface="Segoe UI"/>
                <a:cs typeface="Segoe UI"/>
              </a:rPr>
              <a:t>118 components</a:t>
            </a:r>
          </a:p>
        </p:txBody>
      </p:sp>
      <p:sp>
        <p:nvSpPr>
          <p:cNvPr id="18" name="">
            <a:extLst xmlns:a="http://schemas.openxmlformats.org/drawingml/2006/main">
              <a:ext uri="{FF2B5EF4-FFF2-40B4-BE49-F238E27FC236}">
                <a16:creationId xmlns:a16="http://schemas.microsoft.com/office/drawing/2014/main" id="{1F0FB33B-8854-4B99-85D0-6C709D95FB8D}"/>
              </a:ext>
            </a:extLst>
          </p:cNvPr>
          <p:cNvSpPr>
            <a:spLocks xmlns:a="http://schemas.openxmlformats.org/drawingml/2006/main" noGrp="1"/>
          </p:cNvSpPr>
          <p:nvPr/>
        </p:nvSpPr>
        <p:spPr>
          <a:xfrm xmlns:a="http://schemas.openxmlformats.org/drawingml/2006/main">
            <a:off x="5905500" y="547687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2F5F9"/>
                </a:solidFill>
                <a:latin typeface="Segoe UI"/>
                <a:ea typeface="Segoe UI"/>
                <a:cs typeface="Segoe UI"/>
              </a:defRPr>
            </a:pPr>
            <a:r>
              <a:rPr sz="1800" b="1">
                <a:solidFill>
                  <a:srgbClr val="F2F5F9"/>
                </a:solidFill>
                <a:latin typeface="Segoe UI"/>
                <a:ea typeface="Segoe UI"/>
                <a:cs typeface="Segoe UI"/>
              </a:rPr>
              <a:t>2 findings</a:t>
            </a:r>
          </a:p>
        </p:txBody>
      </p:sp>
      <p:sp>
        <p:nvSpPr>
          <p:cNvPr id="19" name="">
            <a:extLst xmlns:a="http://schemas.openxmlformats.org/drawingml/2006/main">
              <a:ext uri="{FF2B5EF4-FFF2-40B4-BE49-F238E27FC236}">
                <a16:creationId xmlns:a16="http://schemas.microsoft.com/office/drawing/2014/main" id="{5D495E14-5200-4933-99BD-462F0F59ADB5}"/>
              </a:ext>
            </a:extLst>
          </p:cNvPr>
          <p:cNvSpPr>
            <a:spLocks xmlns:a="http://schemas.openxmlformats.org/drawingml/2006/main" noGrp="1"/>
          </p:cNvSpPr>
          <p:nvPr/>
        </p:nvSpPr>
        <p:spPr>
          <a:xfrm xmlns:a="http://schemas.openxmlformats.org/drawingml/2006/main">
            <a:off x="8305800" y="54768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2F5F9"/>
                </a:solidFill>
                <a:latin typeface="Segoe UI"/>
                <a:ea typeface="Segoe UI"/>
                <a:cs typeface="Segoe UI"/>
              </a:defRPr>
            </a:pPr>
            <a:r>
              <a:rPr sz="1800" b="1">
                <a:solidFill>
                  <a:srgbClr val="F2F5F9"/>
                </a:solidFill>
                <a:latin typeface="Segoe UI"/>
                <a:ea typeface="Segoe UI"/>
                <a:cs typeface="Segoe UI"/>
              </a:rPr>
              <a:t>952 sealed files</a:t>
            </a:r>
          </a:p>
        </p:txBody>
      </p:sp>
      <p:sp>
        <p:nvSpPr>
          <p:cNvPr id="20" name="">
            <a:extLst xmlns:a="http://schemas.openxmlformats.org/drawingml/2006/main">
              <a:ext uri="{FF2B5EF4-FFF2-40B4-BE49-F238E27FC236}">
                <a16:creationId xmlns:a16="http://schemas.microsoft.com/office/drawing/2014/main" id="{9346CAEB-2EFA-4A9D-BA32-C8C3DB7526FB}"/>
              </a:ext>
            </a:extLst>
          </p:cNvPr>
          <p:cNvSpPr>
            <a:spLocks xmlns:a="http://schemas.openxmlformats.org/drawingml/2006/main" noGrp="1"/>
          </p:cNvSpPr>
          <p:nvPr/>
        </p:nvSpPr>
        <p:spPr>
          <a:xfrm xmlns:a="http://schemas.openxmlformats.org/drawingml/2006/main">
            <a:off x="533400" y="6496050"/>
            <a:ext cx="11125200" cy="0"/>
          </a:xfrm>
          <a:prstGeom xmlns:a="http://schemas.openxmlformats.org/drawingml/2006/main" prst="line">
            <a:avLst/>
          </a:prstGeom>
          <a:noFill xmlns:a="http://schemas.openxmlformats.org/drawingml/2006/main"/>
          <a:ln xmlns:a="http://schemas.openxmlformats.org/drawingml/2006/main" w="9525">
            <a:solidFill>
              <a:srgbClr val="D5DDD8"/>
            </a:solidFill>
            <a:prstDash val="solid"/>
          </a:ln>
        </p:spPr>
      </p:sp>
      <p:sp>
        <p:nvSpPr>
          <p:cNvPr id="21" name="">
            <a:extLst xmlns:a="http://schemas.openxmlformats.org/drawingml/2006/main">
              <a:ext uri="{FF2B5EF4-FFF2-40B4-BE49-F238E27FC236}">
                <a16:creationId xmlns:a16="http://schemas.microsoft.com/office/drawing/2014/main" id="{B117549B-B01C-4C2D-8CAC-DC881132F8FD}"/>
              </a:ext>
            </a:extLst>
          </p:cNvPr>
          <p:cNvSpPr>
            <a:spLocks xmlns:a="http://schemas.openxmlformats.org/drawingml/2006/main" noGrp="1"/>
          </p:cNvSpPr>
          <p:nvPr/>
        </p:nvSpPr>
        <p:spPr>
          <a:xfrm xmlns:a="http://schemas.openxmlformats.org/drawingml/2006/main">
            <a:off x="533400" y="6572250"/>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53605A"/>
                </a:solidFill>
                <a:latin typeface="Cascadia Mono"/>
                <a:ea typeface="Cascadia Mono"/>
                <a:cs typeface="Cascadia Mono"/>
              </a:defRPr>
            </a:pPr>
            <a:r>
              <a:rPr sz="975" b="0">
                <a:solidFill>
                  <a:srgbClr val="53605A"/>
                </a:solidFill>
                <a:latin typeface="Cascadia Mono"/>
                <a:ea typeface="Cascadia Mono"/>
                <a:cs typeface="Cascadia Mono"/>
              </a:rPr>
              <a:t>PandaX  /  Acceptance evidence and observed local sample</a:t>
            </a:r>
          </a:p>
        </p:txBody>
      </p:sp>
      <p:sp>
        <p:nvSpPr>
          <p:cNvPr id="22" name="">
            <a:extLst xmlns:a="http://schemas.openxmlformats.org/drawingml/2006/main">
              <a:ext uri="{FF2B5EF4-FFF2-40B4-BE49-F238E27FC236}">
                <a16:creationId xmlns:a16="http://schemas.microsoft.com/office/drawing/2014/main" id="{60E012D8-956B-461E-A60E-5028F26F193B}"/>
              </a:ext>
            </a:extLst>
          </p:cNvPr>
          <p:cNvSpPr>
            <a:spLocks xmlns:a="http://schemas.openxmlformats.org/drawingml/2006/main" noGrp="1"/>
          </p:cNvSpPr>
          <p:nvPr/>
        </p:nvSpPr>
        <p:spPr>
          <a:xfrm xmlns:a="http://schemas.openxmlformats.org/drawingml/2006/main">
            <a:off x="11049000" y="6562725"/>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07</a:t>
            </a:r>
          </a:p>
        </p:txBody>
      </p:sp>
    </p:spTree>
    <p:extLst>
      <p:ext uri="{BB962C8B-B14F-4D97-AF65-F5344CB8AC3E}">
        <p14:creationId xmlns:p14="http://schemas.microsoft.com/office/powerpoint/2010/main" val="1927432625"/>
      </p:ext>
    </p:extLst>
  </p:cSld>
</p:sld>
</file>

<file path=ppt/slides/slide8.xml><?xml version="1.0" encoding="utf-8"?>
<p:sld xmlns:p="http://schemas.openxmlformats.org/presentationml/2006/main">
  <p:cSld>
    <p:bg>
      <p:bgPr>
        <a:solidFill xmlns:a="http://schemas.openxmlformats.org/drawingml/2006/main">
          <a:srgbClr val="0A0B0D"/>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77DB170F-0293-4C92-A0BA-2800A3CF0409}"/>
              </a:ext>
            </a:extLst>
          </p:cNvPr>
          <p:cNvSpPr>
            <a:spLocks xmlns:a="http://schemas.openxmlformats.org/drawingml/2006/main" noGrp="1"/>
          </p:cNvSpPr>
          <p:nvPr/>
        </p:nvSpPr>
        <p:spPr>
          <a:xfrm xmlns:a="http://schemas.openxmlformats.org/drawingml/2006/main">
            <a:off x="533400" y="476250"/>
            <a:ext cx="57150" cy="514350"/>
          </a:xfrm>
          <a:prstGeom xmlns:a="http://schemas.openxmlformats.org/drawingml/2006/main" prst="rect">
            <a:avLst/>
          </a:prstGeom>
          <a:solidFill xmlns:a="http://schemas.openxmlformats.org/drawingml/2006/main">
            <a:srgbClr val="4ED8A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C8F3FE-9CA0-45C7-9D9A-B6DDCC1E5609}"/>
              </a:ext>
            </a:extLst>
          </p:cNvPr>
          <p:cNvSpPr>
            <a:spLocks xmlns:a="http://schemas.openxmlformats.org/drawingml/2006/main" noGrp="1"/>
          </p:cNvSpPr>
          <p:nvPr/>
        </p:nvSpPr>
        <p:spPr>
          <a:xfrm xmlns:a="http://schemas.openxmlformats.org/drawingml/2006/main">
            <a:off x="762000" y="43815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3225" b="1">
                <a:solidFill>
                  <a:srgbClr val="F2F5F9"/>
                </a:solidFill>
                <a:latin typeface="Segoe UI"/>
                <a:ea typeface="Segoe UI"/>
                <a:cs typeface="Segoe UI"/>
              </a:defRPr>
            </a:pPr>
            <a:r>
              <a:rPr sz="3225" b="1">
                <a:solidFill>
                  <a:srgbClr val="F2F5F9"/>
                </a:solidFill>
                <a:latin typeface="Segoe UI"/>
                <a:ea typeface="Segoe UI"/>
                <a:cs typeface="Segoe UI"/>
              </a:rPr>
              <a:t>PandaX closes the gap between scanners and compliance systems</a:t>
            </a:r>
          </a:p>
        </p:txBody>
      </p:sp>
      <p:sp>
        <p:nvSpPr>
          <p:cNvPr id="3" name="">
            <a:extLst xmlns:a="http://schemas.openxmlformats.org/drawingml/2006/main">
              <a:ext uri="{FF2B5EF4-FFF2-40B4-BE49-F238E27FC236}">
                <a16:creationId xmlns:a16="http://schemas.microsoft.com/office/drawing/2014/main" id="{BD19E697-90E2-4036-8F0C-0F4E8598AE69}"/>
              </a:ext>
            </a:extLst>
          </p:cNvPr>
          <p:cNvSpPr>
            <a:spLocks xmlns:a="http://schemas.openxmlformats.org/drawingml/2006/main" noGrp="1"/>
          </p:cNvSpPr>
          <p:nvPr/>
        </p:nvSpPr>
        <p:spPr>
          <a:xfrm xmlns:a="http://schemas.openxmlformats.org/drawingml/2006/main">
            <a:off x="590550" y="16573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350" b="1">
                <a:solidFill>
                  <a:srgbClr val="A9B3C1"/>
                </a:solidFill>
                <a:latin typeface="Cascadia Mono"/>
                <a:ea typeface="Cascadia Mono"/>
                <a:cs typeface="Cascadia Mono"/>
              </a:defRPr>
            </a:pPr>
            <a:r>
              <a:rPr sz="1350" b="1">
                <a:solidFill>
                  <a:srgbClr val="A9B3C1"/>
                </a:solidFill>
                <a:latin typeface="Cascadia Mono"/>
                <a:ea typeface="Cascadia Mono"/>
                <a:cs typeface="Cascadia Mono"/>
              </a:rPr>
              <a:t>Capability</a:t>
            </a:r>
          </a:p>
        </p:txBody>
      </p:sp>
      <p:sp>
        <p:nvSpPr>
          <p:cNvPr id="4" name="">
            <a:extLst xmlns:a="http://schemas.openxmlformats.org/drawingml/2006/main">
              <a:ext uri="{FF2B5EF4-FFF2-40B4-BE49-F238E27FC236}">
                <a16:creationId xmlns:a16="http://schemas.microsoft.com/office/drawing/2014/main" id="{EC09CCD0-6CDE-4D7D-B582-FFBCEF9A3FE5}"/>
              </a:ext>
            </a:extLst>
          </p:cNvPr>
          <p:cNvSpPr>
            <a:spLocks xmlns:a="http://schemas.openxmlformats.org/drawingml/2006/main" noGrp="1"/>
          </p:cNvSpPr>
          <p:nvPr/>
        </p:nvSpPr>
        <p:spPr>
          <a:xfrm xmlns:a="http://schemas.openxmlformats.org/drawingml/2006/main">
            <a:off x="3638550" y="16573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A9B3C1"/>
                </a:solidFill>
                <a:latin typeface="Segoe UI"/>
                <a:ea typeface="Segoe UI"/>
                <a:cs typeface="Segoe UI"/>
              </a:defRPr>
            </a:pPr>
            <a:r>
              <a:rPr sz="1275" b="1">
                <a:solidFill>
                  <a:srgbClr val="A9B3C1"/>
                </a:solidFill>
                <a:latin typeface="Segoe UI"/>
                <a:ea typeface="Segoe UI"/>
                <a:cs typeface="Segoe UI"/>
              </a:rPr>
              <a:t>Firmware scanners</a:t>
            </a:r>
          </a:p>
        </p:txBody>
      </p:sp>
      <p:sp>
        <p:nvSpPr>
          <p:cNvPr id="5" name="">
            <a:extLst xmlns:a="http://schemas.openxmlformats.org/drawingml/2006/main">
              <a:ext uri="{FF2B5EF4-FFF2-40B4-BE49-F238E27FC236}">
                <a16:creationId xmlns:a16="http://schemas.microsoft.com/office/drawing/2014/main" id="{1853B50D-947B-4F0B-8CDD-9EF46F4D2270}"/>
              </a:ext>
            </a:extLst>
          </p:cNvPr>
          <p:cNvSpPr>
            <a:spLocks xmlns:a="http://schemas.openxmlformats.org/drawingml/2006/main" noGrp="1"/>
          </p:cNvSpPr>
          <p:nvPr/>
        </p:nvSpPr>
        <p:spPr>
          <a:xfrm xmlns:a="http://schemas.openxmlformats.org/drawingml/2006/main">
            <a:off x="5734050" y="1657350"/>
            <a:ext cx="171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A9B3C1"/>
                </a:solidFill>
                <a:latin typeface="Segoe UI"/>
                <a:ea typeface="Segoe UI"/>
                <a:cs typeface="Segoe UI"/>
              </a:defRPr>
            </a:pPr>
            <a:r>
              <a:rPr sz="1275" b="1">
                <a:solidFill>
                  <a:srgbClr val="A9B3C1"/>
                </a:solidFill>
                <a:latin typeface="Segoe UI"/>
                <a:ea typeface="Segoe UI"/>
                <a:cs typeface="Segoe UI"/>
              </a:rPr>
              <a:t>GRC systems</a:t>
            </a:r>
          </a:p>
        </p:txBody>
      </p:sp>
      <p:sp>
        <p:nvSpPr>
          <p:cNvPr id="6" name="">
            <a:extLst xmlns:a="http://schemas.openxmlformats.org/drawingml/2006/main">
              <a:ext uri="{FF2B5EF4-FFF2-40B4-BE49-F238E27FC236}">
                <a16:creationId xmlns:a16="http://schemas.microsoft.com/office/drawing/2014/main" id="{94D661AD-934E-4C2E-8886-6CD9512B5D5B}"/>
              </a:ext>
            </a:extLst>
          </p:cNvPr>
          <p:cNvSpPr>
            <a:spLocks xmlns:a="http://schemas.openxmlformats.org/drawingml/2006/main" noGrp="1"/>
          </p:cNvSpPr>
          <p:nvPr/>
        </p:nvSpPr>
        <p:spPr>
          <a:xfrm xmlns:a="http://schemas.openxmlformats.org/drawingml/2006/main">
            <a:off x="7543800" y="1657350"/>
            <a:ext cx="190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A9B3C1"/>
                </a:solidFill>
                <a:latin typeface="Segoe UI"/>
                <a:ea typeface="Segoe UI"/>
                <a:cs typeface="Segoe UI"/>
              </a:defRPr>
            </a:pPr>
            <a:r>
              <a:rPr sz="1275" b="1">
                <a:solidFill>
                  <a:srgbClr val="A9B3C1"/>
                </a:solidFill>
                <a:latin typeface="Segoe UI"/>
                <a:ea typeface="Segoe UI"/>
                <a:cs typeface="Segoe UI"/>
              </a:rPr>
              <a:t>External counsel</a:t>
            </a:r>
          </a:p>
        </p:txBody>
      </p:sp>
      <p:sp>
        <p:nvSpPr>
          <p:cNvPr id="7" name="">
            <a:extLst xmlns:a="http://schemas.openxmlformats.org/drawingml/2006/main">
              <a:ext uri="{FF2B5EF4-FFF2-40B4-BE49-F238E27FC236}">
                <a16:creationId xmlns:a16="http://schemas.microsoft.com/office/drawing/2014/main" id="{9060061C-50FE-4F16-85E7-90EFB63A027E}"/>
              </a:ext>
            </a:extLst>
          </p:cNvPr>
          <p:cNvSpPr>
            <a:spLocks xmlns:a="http://schemas.openxmlformats.org/drawingml/2006/main" noGrp="1"/>
          </p:cNvSpPr>
          <p:nvPr/>
        </p:nvSpPr>
        <p:spPr>
          <a:xfrm xmlns:a="http://schemas.openxmlformats.org/drawingml/2006/main">
            <a:off x="9544050" y="16573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4ED8A0"/>
                </a:solidFill>
                <a:latin typeface="Segoe UI"/>
                <a:ea typeface="Segoe UI"/>
                <a:cs typeface="Segoe UI"/>
              </a:defRPr>
            </a:pPr>
            <a:r>
              <a:rPr sz="1275" b="1">
                <a:solidFill>
                  <a:srgbClr val="4ED8A0"/>
                </a:solidFill>
                <a:latin typeface="Segoe UI"/>
                <a:ea typeface="Segoe UI"/>
                <a:cs typeface="Segoe UI"/>
              </a:rPr>
              <a:t>PandaX</a:t>
            </a:r>
          </a:p>
        </p:txBody>
      </p:sp>
      <p:sp>
        <p:nvSpPr>
          <p:cNvPr id="8" name="">
            <a:extLst xmlns:a="http://schemas.openxmlformats.org/drawingml/2006/main">
              <a:ext uri="{FF2B5EF4-FFF2-40B4-BE49-F238E27FC236}">
                <a16:creationId xmlns:a16="http://schemas.microsoft.com/office/drawing/2014/main" id="{E7C11735-F28C-4F73-84F0-572DD0B782BC}"/>
              </a:ext>
            </a:extLst>
          </p:cNvPr>
          <p:cNvSpPr>
            <a:spLocks xmlns:a="http://schemas.openxmlformats.org/drawingml/2006/main" noGrp="1"/>
          </p:cNvSpPr>
          <p:nvPr/>
        </p:nvSpPr>
        <p:spPr>
          <a:xfrm xmlns:a="http://schemas.openxmlformats.org/drawingml/2006/main">
            <a:off x="590550" y="2247900"/>
            <a:ext cx="11010900" cy="0"/>
          </a:xfrm>
          <a:prstGeom xmlns:a="http://schemas.openxmlformats.org/drawingml/2006/main" prst="line">
            <a:avLst/>
          </a:prstGeom>
          <a:noFill xmlns:a="http://schemas.openxmlformats.org/drawingml/2006/main"/>
          <a:ln xmlns:a="http://schemas.openxmlformats.org/drawingml/2006/main" w="9525">
            <a:solidFill>
              <a:srgbClr val="2A2F36"/>
            </a:solidFill>
            <a:prstDash val="solid"/>
          </a:ln>
        </p:spPr>
      </p:sp>
      <p:sp>
        <p:nvSpPr>
          <p:cNvPr id="9" name="">
            <a:extLst xmlns:a="http://schemas.openxmlformats.org/drawingml/2006/main">
              <a:ext uri="{FF2B5EF4-FFF2-40B4-BE49-F238E27FC236}">
                <a16:creationId xmlns:a16="http://schemas.microsoft.com/office/drawing/2014/main" id="{41EA6349-3B08-4044-BE14-1DE31C462CD2}"/>
              </a:ext>
            </a:extLst>
          </p:cNvPr>
          <p:cNvSpPr>
            <a:spLocks xmlns:a="http://schemas.openxmlformats.org/drawingml/2006/main" noGrp="1"/>
          </p:cNvSpPr>
          <p:nvPr/>
        </p:nvSpPr>
        <p:spPr>
          <a:xfrm xmlns:a="http://schemas.openxmlformats.org/drawingml/2006/main">
            <a:off x="590550" y="241935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F2F5F9"/>
                </a:solidFill>
                <a:latin typeface="Segoe UI"/>
                <a:ea typeface="Segoe UI"/>
                <a:cs typeface="Segoe UI"/>
              </a:defRPr>
            </a:pPr>
            <a:r>
              <a:rPr sz="1500" b="0">
                <a:solidFill>
                  <a:srgbClr val="F2F5F9"/>
                </a:solidFill>
                <a:latin typeface="Segoe UI"/>
                <a:ea typeface="Segoe UI"/>
                <a:cs typeface="Segoe UI"/>
              </a:rPr>
              <a:t>Inspect embedded firmware</a:t>
            </a:r>
          </a:p>
        </p:txBody>
      </p:sp>
      <p:sp>
        <p:nvSpPr>
          <p:cNvPr id="10" name="">
            <a:extLst xmlns:a="http://schemas.openxmlformats.org/drawingml/2006/main">
              <a:ext uri="{FF2B5EF4-FFF2-40B4-BE49-F238E27FC236}">
                <a16:creationId xmlns:a16="http://schemas.microsoft.com/office/drawing/2014/main" id="{8F6C46F8-DBFA-4079-952B-5CC9C45D66C6}"/>
              </a:ext>
            </a:extLst>
          </p:cNvPr>
          <p:cNvSpPr>
            <a:spLocks xmlns:a="http://schemas.openxmlformats.org/drawingml/2006/main" noGrp="1"/>
          </p:cNvSpPr>
          <p:nvPr/>
        </p:nvSpPr>
        <p:spPr>
          <a:xfrm xmlns:a="http://schemas.openxmlformats.org/drawingml/2006/main">
            <a:off x="3638550" y="2371725"/>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A9B3C1"/>
                </a:solidFill>
                <a:latin typeface="Segoe UI"/>
                <a:ea typeface="Segoe UI"/>
                <a:cs typeface="Segoe UI"/>
              </a:defRPr>
            </a:pPr>
            <a:r>
              <a:rPr sz="1875" b="1">
                <a:solidFill>
                  <a:srgbClr val="A9B3C1"/>
                </a:solidFill>
                <a:latin typeface="Segoe UI"/>
                <a:ea typeface="Segoe UI"/>
                <a:cs typeface="Segoe UI"/>
              </a:rPr>
              <a:t>●</a:t>
            </a:r>
          </a:p>
        </p:txBody>
      </p:sp>
      <p:sp>
        <p:nvSpPr>
          <p:cNvPr id="11" name="">
            <a:extLst xmlns:a="http://schemas.openxmlformats.org/drawingml/2006/main">
              <a:ext uri="{FF2B5EF4-FFF2-40B4-BE49-F238E27FC236}">
                <a16:creationId xmlns:a16="http://schemas.microsoft.com/office/drawing/2014/main" id="{3A956CA9-CB53-420E-9548-C505E5D2B9C1}"/>
              </a:ext>
            </a:extLst>
          </p:cNvPr>
          <p:cNvSpPr>
            <a:spLocks xmlns:a="http://schemas.openxmlformats.org/drawingml/2006/main" noGrp="1"/>
          </p:cNvSpPr>
          <p:nvPr/>
        </p:nvSpPr>
        <p:spPr>
          <a:xfrm xmlns:a="http://schemas.openxmlformats.org/drawingml/2006/main">
            <a:off x="5734050" y="2371725"/>
            <a:ext cx="1695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727D8C"/>
                </a:solidFill>
                <a:latin typeface="Segoe UI"/>
                <a:ea typeface="Segoe UI"/>
                <a:cs typeface="Segoe UI"/>
              </a:defRPr>
            </a:pPr>
            <a:r>
              <a:rPr sz="1875" b="1">
                <a:solidFill>
                  <a:srgbClr val="727D8C"/>
                </a:solidFill>
                <a:latin typeface="Segoe UI"/>
                <a:ea typeface="Segoe UI"/>
                <a:cs typeface="Segoe UI"/>
              </a:rPr>
              <a:t>—</a:t>
            </a:r>
          </a:p>
        </p:txBody>
      </p:sp>
      <p:sp>
        <p:nvSpPr>
          <p:cNvPr id="12" name="">
            <a:extLst xmlns:a="http://schemas.openxmlformats.org/drawingml/2006/main">
              <a:ext uri="{FF2B5EF4-FFF2-40B4-BE49-F238E27FC236}">
                <a16:creationId xmlns:a16="http://schemas.microsoft.com/office/drawing/2014/main" id="{CA49D07D-AD6E-4D7F-A94A-EBC0FABDFF98}"/>
              </a:ext>
            </a:extLst>
          </p:cNvPr>
          <p:cNvSpPr>
            <a:spLocks xmlns:a="http://schemas.openxmlformats.org/drawingml/2006/main" noGrp="1"/>
          </p:cNvSpPr>
          <p:nvPr/>
        </p:nvSpPr>
        <p:spPr>
          <a:xfrm xmlns:a="http://schemas.openxmlformats.org/drawingml/2006/main">
            <a:off x="7543800" y="2371725"/>
            <a:ext cx="1885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727D8C"/>
                </a:solidFill>
                <a:latin typeface="Segoe UI"/>
                <a:ea typeface="Segoe UI"/>
                <a:cs typeface="Segoe UI"/>
              </a:defRPr>
            </a:pPr>
            <a:r>
              <a:rPr sz="1875" b="1">
                <a:solidFill>
                  <a:srgbClr val="727D8C"/>
                </a:solidFill>
                <a:latin typeface="Segoe UI"/>
                <a:ea typeface="Segoe UI"/>
                <a:cs typeface="Segoe UI"/>
              </a:rPr>
              <a:t>—</a:t>
            </a:r>
          </a:p>
        </p:txBody>
      </p:sp>
      <p:sp>
        <p:nvSpPr>
          <p:cNvPr id="13" name="">
            <a:extLst xmlns:a="http://schemas.openxmlformats.org/drawingml/2006/main">
              <a:ext uri="{FF2B5EF4-FFF2-40B4-BE49-F238E27FC236}">
                <a16:creationId xmlns:a16="http://schemas.microsoft.com/office/drawing/2014/main" id="{E4239968-1D9B-4F9F-96C0-8006210025E3}"/>
              </a:ext>
            </a:extLst>
          </p:cNvPr>
          <p:cNvSpPr>
            <a:spLocks xmlns:a="http://schemas.openxmlformats.org/drawingml/2006/main" noGrp="1"/>
          </p:cNvSpPr>
          <p:nvPr/>
        </p:nvSpPr>
        <p:spPr>
          <a:xfrm xmlns:a="http://schemas.openxmlformats.org/drawingml/2006/main">
            <a:off x="9544050" y="2371725"/>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4ED8A0"/>
                </a:solidFill>
                <a:latin typeface="Segoe UI"/>
                <a:ea typeface="Segoe UI"/>
                <a:cs typeface="Segoe UI"/>
              </a:defRPr>
            </a:pPr>
            <a:r>
              <a:rPr sz="1875" b="1">
                <a:solidFill>
                  <a:srgbClr val="4ED8A0"/>
                </a:solidFill>
                <a:latin typeface="Segoe UI"/>
                <a:ea typeface="Segoe UI"/>
                <a:cs typeface="Segoe UI"/>
              </a:rPr>
              <a:t>●</a:t>
            </a:r>
          </a:p>
        </p:txBody>
      </p:sp>
      <p:sp>
        <p:nvSpPr>
          <p:cNvPr id="14" name="">
            <a:extLst xmlns:a="http://schemas.openxmlformats.org/drawingml/2006/main">
              <a:ext uri="{FF2B5EF4-FFF2-40B4-BE49-F238E27FC236}">
                <a16:creationId xmlns:a16="http://schemas.microsoft.com/office/drawing/2014/main" id="{E25E343B-BF85-4042-B1E7-048300253C64}"/>
              </a:ext>
            </a:extLst>
          </p:cNvPr>
          <p:cNvSpPr>
            <a:spLocks xmlns:a="http://schemas.openxmlformats.org/drawingml/2006/main" noGrp="1"/>
          </p:cNvSpPr>
          <p:nvPr/>
        </p:nvSpPr>
        <p:spPr>
          <a:xfrm xmlns:a="http://schemas.openxmlformats.org/drawingml/2006/main">
            <a:off x="590550" y="2952750"/>
            <a:ext cx="11010900" cy="0"/>
          </a:xfrm>
          <a:prstGeom xmlns:a="http://schemas.openxmlformats.org/drawingml/2006/main" prst="line">
            <a:avLst/>
          </a:prstGeom>
          <a:noFill xmlns:a="http://schemas.openxmlformats.org/drawingml/2006/main"/>
          <a:ln xmlns:a="http://schemas.openxmlformats.org/drawingml/2006/main" w="9525">
            <a:solidFill>
              <a:srgbClr val="2A2F36"/>
            </a:solidFill>
            <a:prstDash val="solid"/>
          </a:ln>
        </p:spPr>
      </p:sp>
      <p:sp>
        <p:nvSpPr>
          <p:cNvPr id="15" name="">
            <a:extLst xmlns:a="http://schemas.openxmlformats.org/drawingml/2006/main">
              <a:ext uri="{FF2B5EF4-FFF2-40B4-BE49-F238E27FC236}">
                <a16:creationId xmlns:a16="http://schemas.microsoft.com/office/drawing/2014/main" id="{7B158D57-0056-427B-941B-2B2956EF0B8F}"/>
              </a:ext>
            </a:extLst>
          </p:cNvPr>
          <p:cNvSpPr>
            <a:spLocks xmlns:a="http://schemas.openxmlformats.org/drawingml/2006/main" noGrp="1"/>
          </p:cNvSpPr>
          <p:nvPr/>
        </p:nvSpPr>
        <p:spPr>
          <a:xfrm xmlns:a="http://schemas.openxmlformats.org/drawingml/2006/main">
            <a:off x="590550" y="31242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F2F5F9"/>
                </a:solidFill>
                <a:latin typeface="Segoe UI"/>
                <a:ea typeface="Segoe UI"/>
                <a:cs typeface="Segoe UI"/>
              </a:defRPr>
            </a:pPr>
            <a:r>
              <a:rPr sz="1500" b="0">
                <a:solidFill>
                  <a:srgbClr val="F2F5F9"/>
                </a:solidFill>
                <a:latin typeface="Segoe UI"/>
                <a:ea typeface="Segoe UI"/>
                <a:cs typeface="Segoe UI"/>
              </a:rPr>
              <a:t>Build product-specific evidence</a:t>
            </a:r>
          </a:p>
        </p:txBody>
      </p:sp>
      <p:sp>
        <p:nvSpPr>
          <p:cNvPr id="16" name="">
            <a:extLst xmlns:a="http://schemas.openxmlformats.org/drawingml/2006/main">
              <a:ext uri="{FF2B5EF4-FFF2-40B4-BE49-F238E27FC236}">
                <a16:creationId xmlns:a16="http://schemas.microsoft.com/office/drawing/2014/main" id="{148B02E0-ED0B-4510-ABAF-97FA4B0BC7A4}"/>
              </a:ext>
            </a:extLst>
          </p:cNvPr>
          <p:cNvSpPr>
            <a:spLocks xmlns:a="http://schemas.openxmlformats.org/drawingml/2006/main" noGrp="1"/>
          </p:cNvSpPr>
          <p:nvPr/>
        </p:nvSpPr>
        <p:spPr>
          <a:xfrm xmlns:a="http://schemas.openxmlformats.org/drawingml/2006/main">
            <a:off x="3638550" y="3076575"/>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A9B3C1"/>
                </a:solidFill>
                <a:latin typeface="Segoe UI"/>
                <a:ea typeface="Segoe UI"/>
                <a:cs typeface="Segoe UI"/>
              </a:defRPr>
            </a:pPr>
            <a:r>
              <a:rPr sz="1875" b="1">
                <a:solidFill>
                  <a:srgbClr val="A9B3C1"/>
                </a:solidFill>
                <a:latin typeface="Segoe UI"/>
                <a:ea typeface="Segoe UI"/>
                <a:cs typeface="Segoe UI"/>
              </a:rPr>
              <a:t>△</a:t>
            </a:r>
          </a:p>
        </p:txBody>
      </p:sp>
      <p:sp>
        <p:nvSpPr>
          <p:cNvPr id="17" name="">
            <a:extLst xmlns:a="http://schemas.openxmlformats.org/drawingml/2006/main">
              <a:ext uri="{FF2B5EF4-FFF2-40B4-BE49-F238E27FC236}">
                <a16:creationId xmlns:a16="http://schemas.microsoft.com/office/drawing/2014/main" id="{11151FDA-32C6-4DC5-9136-BDB759DBD732}"/>
              </a:ext>
            </a:extLst>
          </p:cNvPr>
          <p:cNvSpPr>
            <a:spLocks xmlns:a="http://schemas.openxmlformats.org/drawingml/2006/main" noGrp="1"/>
          </p:cNvSpPr>
          <p:nvPr/>
        </p:nvSpPr>
        <p:spPr>
          <a:xfrm xmlns:a="http://schemas.openxmlformats.org/drawingml/2006/main">
            <a:off x="5734050" y="3076575"/>
            <a:ext cx="1695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727D8C"/>
                </a:solidFill>
                <a:latin typeface="Segoe UI"/>
                <a:ea typeface="Segoe UI"/>
                <a:cs typeface="Segoe UI"/>
              </a:defRPr>
            </a:pPr>
            <a:r>
              <a:rPr sz="1875" b="1">
                <a:solidFill>
                  <a:srgbClr val="727D8C"/>
                </a:solidFill>
                <a:latin typeface="Segoe UI"/>
                <a:ea typeface="Segoe UI"/>
                <a:cs typeface="Segoe UI"/>
              </a:rPr>
              <a:t>—</a:t>
            </a:r>
          </a:p>
        </p:txBody>
      </p:sp>
      <p:sp>
        <p:nvSpPr>
          <p:cNvPr id="18" name="">
            <a:extLst xmlns:a="http://schemas.openxmlformats.org/drawingml/2006/main">
              <a:ext uri="{FF2B5EF4-FFF2-40B4-BE49-F238E27FC236}">
                <a16:creationId xmlns:a16="http://schemas.microsoft.com/office/drawing/2014/main" id="{43FE94C3-360B-4C28-8809-3BE63F9CF3F8}"/>
              </a:ext>
            </a:extLst>
          </p:cNvPr>
          <p:cNvSpPr>
            <a:spLocks xmlns:a="http://schemas.openxmlformats.org/drawingml/2006/main" noGrp="1"/>
          </p:cNvSpPr>
          <p:nvPr/>
        </p:nvSpPr>
        <p:spPr>
          <a:xfrm xmlns:a="http://schemas.openxmlformats.org/drawingml/2006/main">
            <a:off x="7543800" y="3076575"/>
            <a:ext cx="1885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A9B3C1"/>
                </a:solidFill>
                <a:latin typeface="Segoe UI"/>
                <a:ea typeface="Segoe UI"/>
                <a:cs typeface="Segoe UI"/>
              </a:defRPr>
            </a:pPr>
            <a:r>
              <a:rPr sz="1875" b="1">
                <a:solidFill>
                  <a:srgbClr val="A9B3C1"/>
                </a:solidFill>
                <a:latin typeface="Segoe UI"/>
                <a:ea typeface="Segoe UI"/>
                <a:cs typeface="Segoe UI"/>
              </a:rPr>
              <a:t>△</a:t>
            </a:r>
          </a:p>
        </p:txBody>
      </p:sp>
      <p:sp>
        <p:nvSpPr>
          <p:cNvPr id="19" name="">
            <a:extLst xmlns:a="http://schemas.openxmlformats.org/drawingml/2006/main">
              <a:ext uri="{FF2B5EF4-FFF2-40B4-BE49-F238E27FC236}">
                <a16:creationId xmlns:a16="http://schemas.microsoft.com/office/drawing/2014/main" id="{43936A4D-4F1E-42F2-A9BD-2032007F36BB}"/>
              </a:ext>
            </a:extLst>
          </p:cNvPr>
          <p:cNvSpPr>
            <a:spLocks xmlns:a="http://schemas.openxmlformats.org/drawingml/2006/main" noGrp="1"/>
          </p:cNvSpPr>
          <p:nvPr/>
        </p:nvSpPr>
        <p:spPr>
          <a:xfrm xmlns:a="http://schemas.openxmlformats.org/drawingml/2006/main">
            <a:off x="9544050" y="3076575"/>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4ED8A0"/>
                </a:solidFill>
                <a:latin typeface="Segoe UI"/>
                <a:ea typeface="Segoe UI"/>
                <a:cs typeface="Segoe UI"/>
              </a:defRPr>
            </a:pPr>
            <a:r>
              <a:rPr sz="1875" b="1">
                <a:solidFill>
                  <a:srgbClr val="4ED8A0"/>
                </a:solidFill>
                <a:latin typeface="Segoe UI"/>
                <a:ea typeface="Segoe UI"/>
                <a:cs typeface="Segoe UI"/>
              </a:rPr>
              <a:t>●</a:t>
            </a:r>
          </a:p>
        </p:txBody>
      </p:sp>
      <p:sp>
        <p:nvSpPr>
          <p:cNvPr id="20" name="">
            <a:extLst xmlns:a="http://schemas.openxmlformats.org/drawingml/2006/main">
              <a:ext uri="{FF2B5EF4-FFF2-40B4-BE49-F238E27FC236}">
                <a16:creationId xmlns:a16="http://schemas.microsoft.com/office/drawing/2014/main" id="{6DF0A09B-0525-4591-832B-77C379E98F55}"/>
              </a:ext>
            </a:extLst>
          </p:cNvPr>
          <p:cNvSpPr>
            <a:spLocks xmlns:a="http://schemas.openxmlformats.org/drawingml/2006/main" noGrp="1"/>
          </p:cNvSpPr>
          <p:nvPr/>
        </p:nvSpPr>
        <p:spPr>
          <a:xfrm xmlns:a="http://schemas.openxmlformats.org/drawingml/2006/main">
            <a:off x="590550" y="3657600"/>
            <a:ext cx="11010900" cy="0"/>
          </a:xfrm>
          <a:prstGeom xmlns:a="http://schemas.openxmlformats.org/drawingml/2006/main" prst="line">
            <a:avLst/>
          </a:prstGeom>
          <a:noFill xmlns:a="http://schemas.openxmlformats.org/drawingml/2006/main"/>
          <a:ln xmlns:a="http://schemas.openxmlformats.org/drawingml/2006/main" w="9525">
            <a:solidFill>
              <a:srgbClr val="2A2F36"/>
            </a:solidFill>
            <a:prstDash val="solid"/>
          </a:ln>
        </p:spPr>
      </p:sp>
      <p:sp>
        <p:nvSpPr>
          <p:cNvPr id="21" name="">
            <a:extLst xmlns:a="http://schemas.openxmlformats.org/drawingml/2006/main">
              <a:ext uri="{FF2B5EF4-FFF2-40B4-BE49-F238E27FC236}">
                <a16:creationId xmlns:a16="http://schemas.microsoft.com/office/drawing/2014/main" id="{004702E0-B9A7-4422-9B82-F1DFCFAF31EF}"/>
              </a:ext>
            </a:extLst>
          </p:cNvPr>
          <p:cNvSpPr>
            <a:spLocks xmlns:a="http://schemas.openxmlformats.org/drawingml/2006/main" noGrp="1"/>
          </p:cNvSpPr>
          <p:nvPr/>
        </p:nvSpPr>
        <p:spPr>
          <a:xfrm xmlns:a="http://schemas.openxmlformats.org/drawingml/2006/main">
            <a:off x="590550" y="382905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F2F5F9"/>
                </a:solidFill>
                <a:latin typeface="Segoe UI"/>
                <a:ea typeface="Segoe UI"/>
                <a:cs typeface="Segoe UI"/>
              </a:defRPr>
            </a:pPr>
            <a:r>
              <a:rPr sz="1500" b="0">
                <a:solidFill>
                  <a:srgbClr val="F2F5F9"/>
                </a:solidFill>
                <a:latin typeface="Segoe UI"/>
                <a:ea typeface="Segoe UI"/>
                <a:cs typeface="Segoe UI"/>
              </a:rPr>
              <a:t>Manage CRA clocks and approvals</a:t>
            </a:r>
          </a:p>
        </p:txBody>
      </p:sp>
      <p:sp>
        <p:nvSpPr>
          <p:cNvPr id="22" name="">
            <a:extLst xmlns:a="http://schemas.openxmlformats.org/drawingml/2006/main">
              <a:ext uri="{FF2B5EF4-FFF2-40B4-BE49-F238E27FC236}">
                <a16:creationId xmlns:a16="http://schemas.microsoft.com/office/drawing/2014/main" id="{CC277FF0-1EE7-4E30-951F-F27AA3793958}"/>
              </a:ext>
            </a:extLst>
          </p:cNvPr>
          <p:cNvSpPr>
            <a:spLocks xmlns:a="http://schemas.openxmlformats.org/drawingml/2006/main" noGrp="1"/>
          </p:cNvSpPr>
          <p:nvPr/>
        </p:nvSpPr>
        <p:spPr>
          <a:xfrm xmlns:a="http://schemas.openxmlformats.org/drawingml/2006/main">
            <a:off x="3638550" y="3781425"/>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727D8C"/>
                </a:solidFill>
                <a:latin typeface="Segoe UI"/>
                <a:ea typeface="Segoe UI"/>
                <a:cs typeface="Segoe UI"/>
              </a:defRPr>
            </a:pPr>
            <a:r>
              <a:rPr sz="1875" b="1">
                <a:solidFill>
                  <a:srgbClr val="727D8C"/>
                </a:solidFill>
                <a:latin typeface="Segoe UI"/>
                <a:ea typeface="Segoe UI"/>
                <a:cs typeface="Segoe UI"/>
              </a:rPr>
              <a:t>—</a:t>
            </a:r>
          </a:p>
        </p:txBody>
      </p:sp>
      <p:sp>
        <p:nvSpPr>
          <p:cNvPr id="23" name="">
            <a:extLst xmlns:a="http://schemas.openxmlformats.org/drawingml/2006/main">
              <a:ext uri="{FF2B5EF4-FFF2-40B4-BE49-F238E27FC236}">
                <a16:creationId xmlns:a16="http://schemas.microsoft.com/office/drawing/2014/main" id="{543625A7-FC06-4446-A242-F60AD61902A7}"/>
              </a:ext>
            </a:extLst>
          </p:cNvPr>
          <p:cNvSpPr>
            <a:spLocks xmlns:a="http://schemas.openxmlformats.org/drawingml/2006/main" noGrp="1"/>
          </p:cNvSpPr>
          <p:nvPr/>
        </p:nvSpPr>
        <p:spPr>
          <a:xfrm xmlns:a="http://schemas.openxmlformats.org/drawingml/2006/main">
            <a:off x="5734050" y="3781425"/>
            <a:ext cx="1695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A9B3C1"/>
                </a:solidFill>
                <a:latin typeface="Segoe UI"/>
                <a:ea typeface="Segoe UI"/>
                <a:cs typeface="Segoe UI"/>
              </a:defRPr>
            </a:pPr>
            <a:r>
              <a:rPr sz="1875" b="1">
                <a:solidFill>
                  <a:srgbClr val="A9B3C1"/>
                </a:solidFill>
                <a:latin typeface="Segoe UI"/>
                <a:ea typeface="Segoe UI"/>
                <a:cs typeface="Segoe UI"/>
              </a:rPr>
              <a:t>●</a:t>
            </a:r>
          </a:p>
        </p:txBody>
      </p:sp>
      <p:sp>
        <p:nvSpPr>
          <p:cNvPr id="24" name="">
            <a:extLst xmlns:a="http://schemas.openxmlformats.org/drawingml/2006/main">
              <a:ext uri="{FF2B5EF4-FFF2-40B4-BE49-F238E27FC236}">
                <a16:creationId xmlns:a16="http://schemas.microsoft.com/office/drawing/2014/main" id="{34076C69-C3DA-4480-AECF-36847437C55A}"/>
              </a:ext>
            </a:extLst>
          </p:cNvPr>
          <p:cNvSpPr>
            <a:spLocks xmlns:a="http://schemas.openxmlformats.org/drawingml/2006/main" noGrp="1"/>
          </p:cNvSpPr>
          <p:nvPr/>
        </p:nvSpPr>
        <p:spPr>
          <a:xfrm xmlns:a="http://schemas.openxmlformats.org/drawingml/2006/main">
            <a:off x="7543800" y="3781425"/>
            <a:ext cx="1885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A9B3C1"/>
                </a:solidFill>
                <a:latin typeface="Segoe UI"/>
                <a:ea typeface="Segoe UI"/>
                <a:cs typeface="Segoe UI"/>
              </a:defRPr>
            </a:pPr>
            <a:r>
              <a:rPr sz="1875" b="1">
                <a:solidFill>
                  <a:srgbClr val="A9B3C1"/>
                </a:solidFill>
                <a:latin typeface="Segoe UI"/>
                <a:ea typeface="Segoe UI"/>
                <a:cs typeface="Segoe UI"/>
              </a:rPr>
              <a:t>●</a:t>
            </a:r>
          </a:p>
        </p:txBody>
      </p:sp>
      <p:sp>
        <p:nvSpPr>
          <p:cNvPr id="25" name="">
            <a:extLst xmlns:a="http://schemas.openxmlformats.org/drawingml/2006/main">
              <a:ext uri="{FF2B5EF4-FFF2-40B4-BE49-F238E27FC236}">
                <a16:creationId xmlns:a16="http://schemas.microsoft.com/office/drawing/2014/main" id="{62C065A0-825C-44FF-8078-BD50F254D7FA}"/>
              </a:ext>
            </a:extLst>
          </p:cNvPr>
          <p:cNvSpPr>
            <a:spLocks xmlns:a="http://schemas.openxmlformats.org/drawingml/2006/main" noGrp="1"/>
          </p:cNvSpPr>
          <p:nvPr/>
        </p:nvSpPr>
        <p:spPr>
          <a:xfrm xmlns:a="http://schemas.openxmlformats.org/drawingml/2006/main">
            <a:off x="9544050" y="3781425"/>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4ED8A0"/>
                </a:solidFill>
                <a:latin typeface="Segoe UI"/>
                <a:ea typeface="Segoe UI"/>
                <a:cs typeface="Segoe UI"/>
              </a:defRPr>
            </a:pPr>
            <a:r>
              <a:rPr sz="1875" b="1">
                <a:solidFill>
                  <a:srgbClr val="4ED8A0"/>
                </a:solidFill>
                <a:latin typeface="Segoe UI"/>
                <a:ea typeface="Segoe UI"/>
                <a:cs typeface="Segoe UI"/>
              </a:rPr>
              <a:t>●</a:t>
            </a:r>
          </a:p>
        </p:txBody>
      </p:sp>
      <p:sp>
        <p:nvSpPr>
          <p:cNvPr id="26" name="">
            <a:extLst xmlns:a="http://schemas.openxmlformats.org/drawingml/2006/main">
              <a:ext uri="{FF2B5EF4-FFF2-40B4-BE49-F238E27FC236}">
                <a16:creationId xmlns:a16="http://schemas.microsoft.com/office/drawing/2014/main" id="{CB2F1D1C-8BCE-43DF-8237-B2C63CE1E13A}"/>
              </a:ext>
            </a:extLst>
          </p:cNvPr>
          <p:cNvSpPr>
            <a:spLocks xmlns:a="http://schemas.openxmlformats.org/drawingml/2006/main" noGrp="1"/>
          </p:cNvSpPr>
          <p:nvPr/>
        </p:nvSpPr>
        <p:spPr>
          <a:xfrm xmlns:a="http://schemas.openxmlformats.org/drawingml/2006/main">
            <a:off x="590550" y="4362450"/>
            <a:ext cx="11010900" cy="0"/>
          </a:xfrm>
          <a:prstGeom xmlns:a="http://schemas.openxmlformats.org/drawingml/2006/main" prst="line">
            <a:avLst/>
          </a:prstGeom>
          <a:noFill xmlns:a="http://schemas.openxmlformats.org/drawingml/2006/main"/>
          <a:ln xmlns:a="http://schemas.openxmlformats.org/drawingml/2006/main" w="9525">
            <a:solidFill>
              <a:srgbClr val="2A2F36"/>
            </a:solidFill>
            <a:prstDash val="solid"/>
          </a:ln>
        </p:spPr>
      </p:sp>
      <p:sp>
        <p:nvSpPr>
          <p:cNvPr id="27" name="">
            <a:extLst xmlns:a="http://schemas.openxmlformats.org/drawingml/2006/main">
              <a:ext uri="{FF2B5EF4-FFF2-40B4-BE49-F238E27FC236}">
                <a16:creationId xmlns:a16="http://schemas.microsoft.com/office/drawing/2014/main" id="{809A91DC-8DAA-4E57-B963-3AEDCA92295F}"/>
              </a:ext>
            </a:extLst>
          </p:cNvPr>
          <p:cNvSpPr>
            <a:spLocks xmlns:a="http://schemas.openxmlformats.org/drawingml/2006/main" noGrp="1"/>
          </p:cNvSpPr>
          <p:nvPr/>
        </p:nvSpPr>
        <p:spPr>
          <a:xfrm xmlns:a="http://schemas.openxmlformats.org/drawingml/2006/main">
            <a:off x="590550" y="45339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F2F5F9"/>
                </a:solidFill>
                <a:latin typeface="Segoe UI"/>
                <a:ea typeface="Segoe UI"/>
                <a:cs typeface="Segoe UI"/>
              </a:defRPr>
            </a:pPr>
            <a:r>
              <a:rPr sz="1500" b="0">
                <a:solidFill>
                  <a:srgbClr val="F2F5F9"/>
                </a:solidFill>
                <a:latin typeface="Segoe UI"/>
                <a:ea typeface="Segoe UI"/>
                <a:cs typeface="Segoe UI"/>
              </a:rPr>
              <a:t>Generate versioned report packages</a:t>
            </a:r>
          </a:p>
        </p:txBody>
      </p:sp>
      <p:sp>
        <p:nvSpPr>
          <p:cNvPr id="28" name="">
            <a:extLst xmlns:a="http://schemas.openxmlformats.org/drawingml/2006/main">
              <a:ext uri="{FF2B5EF4-FFF2-40B4-BE49-F238E27FC236}">
                <a16:creationId xmlns:a16="http://schemas.microsoft.com/office/drawing/2014/main" id="{AE678FFD-A9C0-4933-AF3E-FAA93DF8CE93}"/>
              </a:ext>
            </a:extLst>
          </p:cNvPr>
          <p:cNvSpPr>
            <a:spLocks xmlns:a="http://schemas.openxmlformats.org/drawingml/2006/main" noGrp="1"/>
          </p:cNvSpPr>
          <p:nvPr/>
        </p:nvSpPr>
        <p:spPr>
          <a:xfrm xmlns:a="http://schemas.openxmlformats.org/drawingml/2006/main">
            <a:off x="3638550" y="4486275"/>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727D8C"/>
                </a:solidFill>
                <a:latin typeface="Segoe UI"/>
                <a:ea typeface="Segoe UI"/>
                <a:cs typeface="Segoe UI"/>
              </a:defRPr>
            </a:pPr>
            <a:r>
              <a:rPr sz="1875" b="1">
                <a:solidFill>
                  <a:srgbClr val="727D8C"/>
                </a:solidFill>
                <a:latin typeface="Segoe UI"/>
                <a:ea typeface="Segoe UI"/>
                <a:cs typeface="Segoe UI"/>
              </a:rPr>
              <a:t>—</a:t>
            </a:r>
          </a:p>
        </p:txBody>
      </p:sp>
      <p:sp>
        <p:nvSpPr>
          <p:cNvPr id="29" name="">
            <a:extLst xmlns:a="http://schemas.openxmlformats.org/drawingml/2006/main">
              <a:ext uri="{FF2B5EF4-FFF2-40B4-BE49-F238E27FC236}">
                <a16:creationId xmlns:a16="http://schemas.microsoft.com/office/drawing/2014/main" id="{62609D8E-6D62-4DAA-B947-5843A32DC1BC}"/>
              </a:ext>
            </a:extLst>
          </p:cNvPr>
          <p:cNvSpPr>
            <a:spLocks xmlns:a="http://schemas.openxmlformats.org/drawingml/2006/main" noGrp="1"/>
          </p:cNvSpPr>
          <p:nvPr/>
        </p:nvSpPr>
        <p:spPr>
          <a:xfrm xmlns:a="http://schemas.openxmlformats.org/drawingml/2006/main">
            <a:off x="5734050" y="4486275"/>
            <a:ext cx="1695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A9B3C1"/>
                </a:solidFill>
                <a:latin typeface="Segoe UI"/>
                <a:ea typeface="Segoe UI"/>
                <a:cs typeface="Segoe UI"/>
              </a:defRPr>
            </a:pPr>
            <a:r>
              <a:rPr sz="1875" b="1">
                <a:solidFill>
                  <a:srgbClr val="A9B3C1"/>
                </a:solidFill>
                <a:latin typeface="Segoe UI"/>
                <a:ea typeface="Segoe UI"/>
                <a:cs typeface="Segoe UI"/>
              </a:rPr>
              <a:t>△</a:t>
            </a:r>
          </a:p>
        </p:txBody>
      </p:sp>
      <p:sp>
        <p:nvSpPr>
          <p:cNvPr id="30" name="">
            <a:extLst xmlns:a="http://schemas.openxmlformats.org/drawingml/2006/main">
              <a:ext uri="{FF2B5EF4-FFF2-40B4-BE49-F238E27FC236}">
                <a16:creationId xmlns:a16="http://schemas.microsoft.com/office/drawing/2014/main" id="{413B228E-4C11-4CE1-BA92-7458B6BEA167}"/>
              </a:ext>
            </a:extLst>
          </p:cNvPr>
          <p:cNvSpPr>
            <a:spLocks xmlns:a="http://schemas.openxmlformats.org/drawingml/2006/main" noGrp="1"/>
          </p:cNvSpPr>
          <p:nvPr/>
        </p:nvSpPr>
        <p:spPr>
          <a:xfrm xmlns:a="http://schemas.openxmlformats.org/drawingml/2006/main">
            <a:off x="7543800" y="4486275"/>
            <a:ext cx="1885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A9B3C1"/>
                </a:solidFill>
                <a:latin typeface="Segoe UI"/>
                <a:ea typeface="Segoe UI"/>
                <a:cs typeface="Segoe UI"/>
              </a:defRPr>
            </a:pPr>
            <a:r>
              <a:rPr sz="1875" b="1">
                <a:solidFill>
                  <a:srgbClr val="A9B3C1"/>
                </a:solidFill>
                <a:latin typeface="Segoe UI"/>
                <a:ea typeface="Segoe UI"/>
                <a:cs typeface="Segoe UI"/>
              </a:rPr>
              <a:t>●</a:t>
            </a:r>
          </a:p>
        </p:txBody>
      </p:sp>
      <p:sp>
        <p:nvSpPr>
          <p:cNvPr id="31" name="">
            <a:extLst xmlns:a="http://schemas.openxmlformats.org/drawingml/2006/main">
              <a:ext uri="{FF2B5EF4-FFF2-40B4-BE49-F238E27FC236}">
                <a16:creationId xmlns:a16="http://schemas.microsoft.com/office/drawing/2014/main" id="{90FAA846-65E9-4D6A-84ED-256010489C58}"/>
              </a:ext>
            </a:extLst>
          </p:cNvPr>
          <p:cNvSpPr>
            <a:spLocks xmlns:a="http://schemas.openxmlformats.org/drawingml/2006/main" noGrp="1"/>
          </p:cNvSpPr>
          <p:nvPr/>
        </p:nvSpPr>
        <p:spPr>
          <a:xfrm xmlns:a="http://schemas.openxmlformats.org/drawingml/2006/main">
            <a:off x="9544050" y="4486275"/>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4ED8A0"/>
                </a:solidFill>
                <a:latin typeface="Segoe UI"/>
                <a:ea typeface="Segoe UI"/>
                <a:cs typeface="Segoe UI"/>
              </a:defRPr>
            </a:pPr>
            <a:r>
              <a:rPr sz="1875" b="1">
                <a:solidFill>
                  <a:srgbClr val="4ED8A0"/>
                </a:solidFill>
                <a:latin typeface="Segoe UI"/>
                <a:ea typeface="Segoe UI"/>
                <a:cs typeface="Segoe UI"/>
              </a:rPr>
              <a:t>●</a:t>
            </a:r>
          </a:p>
        </p:txBody>
      </p:sp>
      <p:sp>
        <p:nvSpPr>
          <p:cNvPr id="32" name="">
            <a:extLst xmlns:a="http://schemas.openxmlformats.org/drawingml/2006/main">
              <a:ext uri="{FF2B5EF4-FFF2-40B4-BE49-F238E27FC236}">
                <a16:creationId xmlns:a16="http://schemas.microsoft.com/office/drawing/2014/main" id="{D68C4872-EFD8-4C4B-BA7D-25E5BA066D63}"/>
              </a:ext>
            </a:extLst>
          </p:cNvPr>
          <p:cNvSpPr>
            <a:spLocks xmlns:a="http://schemas.openxmlformats.org/drawingml/2006/main" noGrp="1"/>
          </p:cNvSpPr>
          <p:nvPr/>
        </p:nvSpPr>
        <p:spPr>
          <a:xfrm xmlns:a="http://schemas.openxmlformats.org/drawingml/2006/main">
            <a:off x="590550" y="5067300"/>
            <a:ext cx="11010900" cy="0"/>
          </a:xfrm>
          <a:prstGeom xmlns:a="http://schemas.openxmlformats.org/drawingml/2006/main" prst="line">
            <a:avLst/>
          </a:prstGeom>
          <a:noFill xmlns:a="http://schemas.openxmlformats.org/drawingml/2006/main"/>
          <a:ln xmlns:a="http://schemas.openxmlformats.org/drawingml/2006/main" w="9525">
            <a:solidFill>
              <a:srgbClr val="2A2F36"/>
            </a:solidFill>
            <a:prstDash val="solid"/>
          </a:ln>
        </p:spPr>
      </p:sp>
      <p:sp>
        <p:nvSpPr>
          <p:cNvPr id="33" name="">
            <a:extLst xmlns:a="http://schemas.openxmlformats.org/drawingml/2006/main">
              <a:ext uri="{FF2B5EF4-FFF2-40B4-BE49-F238E27FC236}">
                <a16:creationId xmlns:a16="http://schemas.microsoft.com/office/drawing/2014/main" id="{1EFD3182-F567-4678-8F8A-E80615385B54}"/>
              </a:ext>
            </a:extLst>
          </p:cNvPr>
          <p:cNvSpPr>
            <a:spLocks xmlns:a="http://schemas.openxmlformats.org/drawingml/2006/main" noGrp="1"/>
          </p:cNvSpPr>
          <p:nvPr/>
        </p:nvSpPr>
        <p:spPr>
          <a:xfrm xmlns:a="http://schemas.openxmlformats.org/drawingml/2006/main">
            <a:off x="590550" y="523875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F2F5F9"/>
                </a:solidFill>
                <a:latin typeface="Segoe UI"/>
                <a:ea typeface="Segoe UI"/>
                <a:cs typeface="Segoe UI"/>
              </a:defRPr>
            </a:pPr>
            <a:r>
              <a:rPr sz="1500" b="0">
                <a:solidFill>
                  <a:srgbClr val="F2F5F9"/>
                </a:solidFill>
                <a:latin typeface="Segoe UI"/>
                <a:ea typeface="Segoe UI"/>
                <a:cs typeface="Segoe UI"/>
              </a:rPr>
              <a:t>Preserve independently verifiable history</a:t>
            </a:r>
          </a:p>
        </p:txBody>
      </p:sp>
      <p:sp>
        <p:nvSpPr>
          <p:cNvPr id="34" name="">
            <a:extLst xmlns:a="http://schemas.openxmlformats.org/drawingml/2006/main">
              <a:ext uri="{FF2B5EF4-FFF2-40B4-BE49-F238E27FC236}">
                <a16:creationId xmlns:a16="http://schemas.microsoft.com/office/drawing/2014/main" id="{23E5613E-C4AD-4776-AB81-6681F513B5E4}"/>
              </a:ext>
            </a:extLst>
          </p:cNvPr>
          <p:cNvSpPr>
            <a:spLocks xmlns:a="http://schemas.openxmlformats.org/drawingml/2006/main" noGrp="1"/>
          </p:cNvSpPr>
          <p:nvPr/>
        </p:nvSpPr>
        <p:spPr>
          <a:xfrm xmlns:a="http://schemas.openxmlformats.org/drawingml/2006/main">
            <a:off x="3638550" y="5191125"/>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727D8C"/>
                </a:solidFill>
                <a:latin typeface="Segoe UI"/>
                <a:ea typeface="Segoe UI"/>
                <a:cs typeface="Segoe UI"/>
              </a:defRPr>
            </a:pPr>
            <a:r>
              <a:rPr sz="1875" b="1">
                <a:solidFill>
                  <a:srgbClr val="727D8C"/>
                </a:solidFill>
                <a:latin typeface="Segoe UI"/>
                <a:ea typeface="Segoe UI"/>
                <a:cs typeface="Segoe UI"/>
              </a:rPr>
              <a:t>—</a:t>
            </a:r>
          </a:p>
        </p:txBody>
      </p:sp>
      <p:sp>
        <p:nvSpPr>
          <p:cNvPr id="35" name="">
            <a:extLst xmlns:a="http://schemas.openxmlformats.org/drawingml/2006/main">
              <a:ext uri="{FF2B5EF4-FFF2-40B4-BE49-F238E27FC236}">
                <a16:creationId xmlns:a16="http://schemas.microsoft.com/office/drawing/2014/main" id="{66FF3D26-879B-460D-9102-D8EF0260E769}"/>
              </a:ext>
            </a:extLst>
          </p:cNvPr>
          <p:cNvSpPr>
            <a:spLocks xmlns:a="http://schemas.openxmlformats.org/drawingml/2006/main" noGrp="1"/>
          </p:cNvSpPr>
          <p:nvPr/>
        </p:nvSpPr>
        <p:spPr>
          <a:xfrm xmlns:a="http://schemas.openxmlformats.org/drawingml/2006/main">
            <a:off x="5734050" y="5191125"/>
            <a:ext cx="1695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A9B3C1"/>
                </a:solidFill>
                <a:latin typeface="Segoe UI"/>
                <a:ea typeface="Segoe UI"/>
                <a:cs typeface="Segoe UI"/>
              </a:defRPr>
            </a:pPr>
            <a:r>
              <a:rPr sz="1875" b="1">
                <a:solidFill>
                  <a:srgbClr val="A9B3C1"/>
                </a:solidFill>
                <a:latin typeface="Segoe UI"/>
                <a:ea typeface="Segoe UI"/>
                <a:cs typeface="Segoe UI"/>
              </a:rPr>
              <a:t>△</a:t>
            </a:r>
          </a:p>
        </p:txBody>
      </p:sp>
      <p:sp>
        <p:nvSpPr>
          <p:cNvPr id="36" name="">
            <a:extLst xmlns:a="http://schemas.openxmlformats.org/drawingml/2006/main">
              <a:ext uri="{FF2B5EF4-FFF2-40B4-BE49-F238E27FC236}">
                <a16:creationId xmlns:a16="http://schemas.microsoft.com/office/drawing/2014/main" id="{6F873C17-9970-432F-B48A-C75732E5F175}"/>
              </a:ext>
            </a:extLst>
          </p:cNvPr>
          <p:cNvSpPr>
            <a:spLocks xmlns:a="http://schemas.openxmlformats.org/drawingml/2006/main" noGrp="1"/>
          </p:cNvSpPr>
          <p:nvPr/>
        </p:nvSpPr>
        <p:spPr>
          <a:xfrm xmlns:a="http://schemas.openxmlformats.org/drawingml/2006/main">
            <a:off x="7543800" y="5191125"/>
            <a:ext cx="1885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A9B3C1"/>
                </a:solidFill>
                <a:latin typeface="Segoe UI"/>
                <a:ea typeface="Segoe UI"/>
                <a:cs typeface="Segoe UI"/>
              </a:defRPr>
            </a:pPr>
            <a:r>
              <a:rPr sz="1875" b="1">
                <a:solidFill>
                  <a:srgbClr val="A9B3C1"/>
                </a:solidFill>
                <a:latin typeface="Segoe UI"/>
                <a:ea typeface="Segoe UI"/>
                <a:cs typeface="Segoe UI"/>
              </a:rPr>
              <a:t>△</a:t>
            </a:r>
          </a:p>
        </p:txBody>
      </p:sp>
      <p:sp>
        <p:nvSpPr>
          <p:cNvPr id="37" name="">
            <a:extLst xmlns:a="http://schemas.openxmlformats.org/drawingml/2006/main">
              <a:ext uri="{FF2B5EF4-FFF2-40B4-BE49-F238E27FC236}">
                <a16:creationId xmlns:a16="http://schemas.microsoft.com/office/drawing/2014/main" id="{6E5DF78A-9CB3-4FFD-9EF4-FBE012E1E802}"/>
              </a:ext>
            </a:extLst>
          </p:cNvPr>
          <p:cNvSpPr>
            <a:spLocks xmlns:a="http://schemas.openxmlformats.org/drawingml/2006/main" noGrp="1"/>
          </p:cNvSpPr>
          <p:nvPr/>
        </p:nvSpPr>
        <p:spPr>
          <a:xfrm xmlns:a="http://schemas.openxmlformats.org/drawingml/2006/main">
            <a:off x="9544050" y="5191125"/>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875" b="1">
                <a:solidFill>
                  <a:srgbClr val="4ED8A0"/>
                </a:solidFill>
                <a:latin typeface="Segoe UI"/>
                <a:ea typeface="Segoe UI"/>
                <a:cs typeface="Segoe UI"/>
              </a:defRPr>
            </a:pPr>
            <a:r>
              <a:rPr sz="1875" b="1">
                <a:solidFill>
                  <a:srgbClr val="4ED8A0"/>
                </a:solidFill>
                <a:latin typeface="Segoe UI"/>
                <a:ea typeface="Segoe UI"/>
                <a:cs typeface="Segoe UI"/>
              </a:rPr>
              <a:t>●</a:t>
            </a:r>
          </a:p>
        </p:txBody>
      </p:sp>
      <p:sp>
        <p:nvSpPr>
          <p:cNvPr id="38" name="">
            <a:extLst xmlns:a="http://schemas.openxmlformats.org/drawingml/2006/main">
              <a:ext uri="{FF2B5EF4-FFF2-40B4-BE49-F238E27FC236}">
                <a16:creationId xmlns:a16="http://schemas.microsoft.com/office/drawing/2014/main" id="{78106697-BFBE-44E8-A277-3F72E5EFD522}"/>
              </a:ext>
            </a:extLst>
          </p:cNvPr>
          <p:cNvSpPr>
            <a:spLocks xmlns:a="http://schemas.openxmlformats.org/drawingml/2006/main" noGrp="1"/>
          </p:cNvSpPr>
          <p:nvPr/>
        </p:nvSpPr>
        <p:spPr>
          <a:xfrm xmlns:a="http://schemas.openxmlformats.org/drawingml/2006/main">
            <a:off x="2057400" y="60769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0">
                <a:solidFill>
                  <a:srgbClr val="727D8C"/>
                </a:solidFill>
                <a:latin typeface="Cascadia Mono"/>
                <a:ea typeface="Cascadia Mono"/>
                <a:cs typeface="Cascadia Mono"/>
              </a:defRPr>
            </a:pPr>
            <a:r>
              <a:rPr sz="1050" b="0">
                <a:solidFill>
                  <a:srgbClr val="727D8C"/>
                </a:solidFill>
                <a:latin typeface="Cascadia Mono"/>
                <a:ea typeface="Cascadia Mono"/>
                <a:cs typeface="Cascadia Mono"/>
              </a:rPr>
              <a:t>● native strength     △ possible with manual work or adjacent tooling     — outside typical category focus</a:t>
            </a:r>
          </a:p>
        </p:txBody>
      </p:sp>
      <p:sp>
        <p:nvSpPr>
          <p:cNvPr id="39" name="">
            <a:extLst xmlns:a="http://schemas.openxmlformats.org/drawingml/2006/main">
              <a:ext uri="{FF2B5EF4-FFF2-40B4-BE49-F238E27FC236}">
                <a16:creationId xmlns:a16="http://schemas.microsoft.com/office/drawing/2014/main" id="{9E98F081-6FBA-4D82-8C29-31DC5268486D}"/>
              </a:ext>
            </a:extLst>
          </p:cNvPr>
          <p:cNvSpPr>
            <a:spLocks xmlns:a="http://schemas.openxmlformats.org/drawingml/2006/main" noGrp="1"/>
          </p:cNvSpPr>
          <p:nvPr/>
        </p:nvSpPr>
        <p:spPr>
          <a:xfrm xmlns:a="http://schemas.openxmlformats.org/drawingml/2006/main">
            <a:off x="533400" y="6496050"/>
            <a:ext cx="11125200" cy="0"/>
          </a:xfrm>
          <a:prstGeom xmlns:a="http://schemas.openxmlformats.org/drawingml/2006/main" prst="line">
            <a:avLst/>
          </a:prstGeom>
          <a:noFill xmlns:a="http://schemas.openxmlformats.org/drawingml/2006/main"/>
          <a:ln xmlns:a="http://schemas.openxmlformats.org/drawingml/2006/main" w="9525">
            <a:solidFill>
              <a:srgbClr val="2A2F36"/>
            </a:solidFill>
            <a:prstDash val="solid"/>
          </a:ln>
        </p:spPr>
      </p:sp>
      <p:sp>
        <p:nvSpPr>
          <p:cNvPr id="40" name="">
            <a:extLst xmlns:a="http://schemas.openxmlformats.org/drawingml/2006/main">
              <a:ext uri="{FF2B5EF4-FFF2-40B4-BE49-F238E27FC236}">
                <a16:creationId xmlns:a16="http://schemas.microsoft.com/office/drawing/2014/main" id="{9CDB7755-E89D-4C4B-8635-C8EB7DFC4446}"/>
              </a:ext>
            </a:extLst>
          </p:cNvPr>
          <p:cNvSpPr>
            <a:spLocks xmlns:a="http://schemas.openxmlformats.org/drawingml/2006/main" noGrp="1"/>
          </p:cNvSpPr>
          <p:nvPr/>
        </p:nvSpPr>
        <p:spPr>
          <a:xfrm xmlns:a="http://schemas.openxmlformats.org/drawingml/2006/main">
            <a:off x="533400" y="6572250"/>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727D8C"/>
                </a:solidFill>
                <a:latin typeface="Cascadia Mono"/>
                <a:ea typeface="Cascadia Mono"/>
                <a:cs typeface="Cascadia Mono"/>
              </a:defRPr>
            </a:pPr>
            <a:r>
              <a:rPr sz="975" b="0">
                <a:solidFill>
                  <a:srgbClr val="727D8C"/>
                </a:solidFill>
                <a:latin typeface="Cascadia Mono"/>
                <a:ea typeface="Cascadia Mono"/>
                <a:cs typeface="Cascadia Mono"/>
              </a:rPr>
              <a:t>PandaX  /  Category-level comparison</a:t>
            </a:r>
          </a:p>
        </p:txBody>
      </p:sp>
      <p:sp>
        <p:nvSpPr>
          <p:cNvPr id="41" name="">
            <a:extLst xmlns:a="http://schemas.openxmlformats.org/drawingml/2006/main">
              <a:ext uri="{FF2B5EF4-FFF2-40B4-BE49-F238E27FC236}">
                <a16:creationId xmlns:a16="http://schemas.microsoft.com/office/drawing/2014/main" id="{B5803631-2FCC-4002-8145-E64D690FC09C}"/>
              </a:ext>
            </a:extLst>
          </p:cNvPr>
          <p:cNvSpPr>
            <a:spLocks xmlns:a="http://schemas.openxmlformats.org/drawingml/2006/main" noGrp="1"/>
          </p:cNvSpPr>
          <p:nvPr/>
        </p:nvSpPr>
        <p:spPr>
          <a:xfrm xmlns:a="http://schemas.openxmlformats.org/drawingml/2006/main">
            <a:off x="11049000" y="6562725"/>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0">
                <a:solidFill>
                  <a:srgbClr val="727D8C"/>
                </a:solidFill>
                <a:latin typeface="Cascadia Mono"/>
                <a:ea typeface="Cascadia Mono"/>
                <a:cs typeface="Cascadia Mono"/>
              </a:defRPr>
            </a:pPr>
            <a:r>
              <a:rPr sz="1050" b="0">
                <a:solidFill>
                  <a:srgbClr val="727D8C"/>
                </a:solidFill>
                <a:latin typeface="Cascadia Mono"/>
                <a:ea typeface="Cascadia Mono"/>
                <a:cs typeface="Cascadia Mono"/>
              </a:rPr>
              <a:t>08</a:t>
            </a:r>
          </a:p>
        </p:txBody>
      </p:sp>
    </p:spTree>
    <p:extLst>
      <p:ext uri="{BB962C8B-B14F-4D97-AF65-F5344CB8AC3E}">
        <p14:creationId xmlns:p14="http://schemas.microsoft.com/office/powerpoint/2010/main" val="210440466"/>
      </p:ext>
    </p:extLst>
  </p:cSld>
</p:sld>
</file>

<file path=ppt/slides/slide9.xml><?xml version="1.0" encoding="utf-8"?>
<p:sld xmlns:p="http://schemas.openxmlformats.org/presentationml/2006/main">
  <p:cSld>
    <p:bg>
      <p:bgPr>
        <a:solidFill xmlns:a="http://schemas.openxmlformats.org/drawingml/2006/main">
          <a:srgbClr val="0A0B0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E19C247-3D1B-4713-A6B1-4F3E30501934}"/>
              </a:ext>
            </a:extLst>
          </p:cNvPr>
          <p:cNvSpPr>
            <a:spLocks xmlns:a="http://schemas.openxmlformats.org/drawingml/2006/main" noGrp="1"/>
          </p:cNvSpPr>
          <p:nvPr/>
        </p:nvSpPr>
        <p:spPr>
          <a:xfrm xmlns:a="http://schemas.openxmlformats.org/drawingml/2006/main">
            <a:off x="533400" y="476250"/>
            <a:ext cx="57150" cy="514350"/>
          </a:xfrm>
          <a:prstGeom xmlns:a="http://schemas.openxmlformats.org/drawingml/2006/main" prst="rect">
            <a:avLst/>
          </a:prstGeom>
          <a:solidFill xmlns:a="http://schemas.openxmlformats.org/drawingml/2006/main">
            <a:srgbClr val="4ED8A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CF2D0C-88DF-4A44-8E36-40E6C5EB7EB4}"/>
              </a:ext>
            </a:extLst>
          </p:cNvPr>
          <p:cNvSpPr>
            <a:spLocks xmlns:a="http://schemas.openxmlformats.org/drawingml/2006/main" noGrp="1"/>
          </p:cNvSpPr>
          <p:nvPr/>
        </p:nvSpPr>
        <p:spPr>
          <a:xfrm xmlns:a="http://schemas.openxmlformats.org/drawingml/2006/main">
            <a:off x="762000" y="43815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3225" b="1">
                <a:solidFill>
                  <a:srgbClr val="F2F5F9"/>
                </a:solidFill>
                <a:latin typeface="Segoe UI"/>
                <a:ea typeface="Segoe UI"/>
                <a:cs typeface="Segoe UI"/>
              </a:defRPr>
            </a:pPr>
            <a:r>
              <a:rPr sz="3225" b="1">
                <a:solidFill>
                  <a:srgbClr val="F2F5F9"/>
                </a:solidFill>
                <a:latin typeface="Segoe UI"/>
                <a:ea typeface="Segoe UI"/>
                <a:cs typeface="Segoe UI"/>
              </a:rPr>
              <a:t>One product line proves the operating model</a:t>
            </a:r>
          </a:p>
        </p:txBody>
      </p:sp>
      <p:sp>
        <p:nvSpPr>
          <p:cNvPr id="3" name="">
            <a:extLst xmlns:a="http://schemas.openxmlformats.org/drawingml/2006/main">
              <a:ext uri="{FF2B5EF4-FFF2-40B4-BE49-F238E27FC236}">
                <a16:creationId xmlns:a16="http://schemas.microsoft.com/office/drawing/2014/main" id="{F02E4D5F-3CDF-452C-A02D-26BA8E2153F4}"/>
              </a:ext>
            </a:extLst>
          </p:cNvPr>
          <p:cNvSpPr>
            <a:spLocks xmlns:a="http://schemas.openxmlformats.org/drawingml/2006/main" noGrp="1"/>
          </p:cNvSpPr>
          <p:nvPr/>
        </p:nvSpPr>
        <p:spPr>
          <a:xfrm xmlns:a="http://schemas.openxmlformats.org/drawingml/2006/main">
            <a:off x="762000" y="10763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A9B3C1"/>
                </a:solidFill>
                <a:latin typeface="Segoe UI"/>
                <a:ea typeface="Segoe UI"/>
                <a:cs typeface="Segoe UI"/>
              </a:defRPr>
            </a:pPr>
            <a:r>
              <a:rPr sz="1500" b="0">
                <a:solidFill>
                  <a:srgbClr val="A9B3C1"/>
                </a:solidFill>
                <a:latin typeface="Segoe UI"/>
                <a:ea typeface="Segoe UI"/>
                <a:cs typeface="Segoe UI"/>
              </a:rPr>
              <a:t>A structured pilot is credible enough for evaluation and narrow enough for approval.</a:t>
            </a:r>
          </a:p>
        </p:txBody>
      </p:sp>
      <p:sp>
        <p:nvSpPr>
          <p:cNvPr id="4" name="">
            <a:extLst xmlns:a="http://schemas.openxmlformats.org/drawingml/2006/main">
              <a:ext uri="{FF2B5EF4-FFF2-40B4-BE49-F238E27FC236}">
                <a16:creationId xmlns:a16="http://schemas.microsoft.com/office/drawing/2014/main" id="{3EEF7ADB-AAF7-4A54-82EA-4F573BE88149}"/>
              </a:ext>
            </a:extLst>
          </p:cNvPr>
          <p:cNvSpPr>
            <a:spLocks xmlns:a="http://schemas.openxmlformats.org/drawingml/2006/main" noGrp="1"/>
          </p:cNvSpPr>
          <p:nvPr/>
        </p:nvSpPr>
        <p:spPr>
          <a:xfrm xmlns:a="http://schemas.openxmlformats.org/drawingml/2006/main">
            <a:off x="685800" y="18669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4ED8A0"/>
                </a:solidFill>
                <a:latin typeface="Cascadia Mono"/>
                <a:ea typeface="Cascadia Mono"/>
                <a:cs typeface="Cascadia Mono"/>
              </a:defRPr>
            </a:pPr>
            <a:r>
              <a:rPr sz="1275" b="1">
                <a:solidFill>
                  <a:srgbClr val="4ED8A0"/>
                </a:solidFill>
                <a:latin typeface="Cascadia Mono"/>
                <a:ea typeface="Cascadia Mono"/>
                <a:cs typeface="Cascadia Mono"/>
              </a:rPr>
              <a:t>01  SCOPE</a:t>
            </a:r>
          </a:p>
        </p:txBody>
      </p:sp>
      <p:sp>
        <p:nvSpPr>
          <p:cNvPr id="5" name="">
            <a:extLst xmlns:a="http://schemas.openxmlformats.org/drawingml/2006/main">
              <a:ext uri="{FF2B5EF4-FFF2-40B4-BE49-F238E27FC236}">
                <a16:creationId xmlns:a16="http://schemas.microsoft.com/office/drawing/2014/main" id="{ACFE8F82-4928-4F73-A8E4-EA3C433940CD}"/>
              </a:ext>
            </a:extLst>
          </p:cNvPr>
          <p:cNvSpPr>
            <a:spLocks xmlns:a="http://schemas.openxmlformats.org/drawingml/2006/main" noGrp="1"/>
          </p:cNvSpPr>
          <p:nvPr/>
        </p:nvSpPr>
        <p:spPr>
          <a:xfrm xmlns:a="http://schemas.openxmlformats.org/drawingml/2006/main">
            <a:off x="685800" y="2324100"/>
            <a:ext cx="2381250" cy="0"/>
          </a:xfrm>
          <a:prstGeom xmlns:a="http://schemas.openxmlformats.org/drawingml/2006/main" prst="line">
            <a:avLst/>
          </a:prstGeom>
          <a:noFill xmlns:a="http://schemas.openxmlformats.org/drawingml/2006/main"/>
          <a:ln xmlns:a="http://schemas.openxmlformats.org/drawingml/2006/main" w="28575">
            <a:solidFill>
              <a:srgbClr val="2A2F36"/>
            </a:solidFill>
            <a:prstDash val="solid"/>
          </a:ln>
        </p:spPr>
      </p:sp>
      <p:sp>
        <p:nvSpPr>
          <p:cNvPr id="6" name="">
            <a:extLst xmlns:a="http://schemas.openxmlformats.org/drawingml/2006/main">
              <a:ext uri="{FF2B5EF4-FFF2-40B4-BE49-F238E27FC236}">
                <a16:creationId xmlns:a16="http://schemas.microsoft.com/office/drawing/2014/main" id="{8AF218DB-04E4-4308-9804-591513ECDFEC}"/>
              </a:ext>
            </a:extLst>
          </p:cNvPr>
          <p:cNvSpPr>
            <a:spLocks xmlns:a="http://schemas.openxmlformats.org/drawingml/2006/main" noGrp="1"/>
          </p:cNvSpPr>
          <p:nvPr/>
        </p:nvSpPr>
        <p:spPr>
          <a:xfrm xmlns:a="http://schemas.openxmlformats.org/drawingml/2006/main">
            <a:off x="685800" y="2647950"/>
            <a:ext cx="238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One representative SKU</a:t>
            </a:r>
          </a:p>
          <a:p xmlns:a="http://schemas.openxmlformats.org/drawingml/2006/main">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One or two releases</a:t>
            </a:r>
          </a:p>
          <a:p xmlns:a="http://schemas.openxmlformats.org/drawingml/2006/main">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Agreed advisory baseline</a:t>
            </a:r>
          </a:p>
        </p:txBody>
      </p:sp>
      <p:sp>
        <p:nvSpPr>
          <p:cNvPr id="7" name="">
            <a:extLst xmlns:a="http://schemas.openxmlformats.org/drawingml/2006/main">
              <a:ext uri="{FF2B5EF4-FFF2-40B4-BE49-F238E27FC236}">
                <a16:creationId xmlns:a16="http://schemas.microsoft.com/office/drawing/2014/main" id="{B7553161-4F45-4566-857F-10C50AD6A8AE}"/>
              </a:ext>
            </a:extLst>
          </p:cNvPr>
          <p:cNvSpPr>
            <a:spLocks xmlns:a="http://schemas.openxmlformats.org/drawingml/2006/main" noGrp="1"/>
          </p:cNvSpPr>
          <p:nvPr/>
        </p:nvSpPr>
        <p:spPr>
          <a:xfrm xmlns:a="http://schemas.openxmlformats.org/drawingml/2006/main">
            <a:off x="3467100" y="18669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4ED8A0"/>
                </a:solidFill>
                <a:latin typeface="Cascadia Mono"/>
                <a:ea typeface="Cascadia Mono"/>
                <a:cs typeface="Cascadia Mono"/>
              </a:defRPr>
            </a:pPr>
            <a:r>
              <a:rPr sz="1275" b="1">
                <a:solidFill>
                  <a:srgbClr val="4ED8A0"/>
                </a:solidFill>
                <a:latin typeface="Cascadia Mono"/>
                <a:ea typeface="Cascadia Mono"/>
                <a:cs typeface="Cascadia Mono"/>
              </a:rPr>
              <a:t>02  ANALYZE</a:t>
            </a:r>
          </a:p>
        </p:txBody>
      </p:sp>
      <p:sp>
        <p:nvSpPr>
          <p:cNvPr id="8" name="">
            <a:extLst xmlns:a="http://schemas.openxmlformats.org/drawingml/2006/main">
              <a:ext uri="{FF2B5EF4-FFF2-40B4-BE49-F238E27FC236}">
                <a16:creationId xmlns:a16="http://schemas.microsoft.com/office/drawing/2014/main" id="{C44C825D-40AA-4009-B7A7-D7618A4F64CC}"/>
              </a:ext>
            </a:extLst>
          </p:cNvPr>
          <p:cNvSpPr>
            <a:spLocks xmlns:a="http://schemas.openxmlformats.org/drawingml/2006/main" noGrp="1"/>
          </p:cNvSpPr>
          <p:nvPr/>
        </p:nvSpPr>
        <p:spPr>
          <a:xfrm xmlns:a="http://schemas.openxmlformats.org/drawingml/2006/main">
            <a:off x="3467100" y="2324100"/>
            <a:ext cx="2381250" cy="0"/>
          </a:xfrm>
          <a:prstGeom xmlns:a="http://schemas.openxmlformats.org/drawingml/2006/main" prst="line">
            <a:avLst/>
          </a:prstGeom>
          <a:noFill xmlns:a="http://schemas.openxmlformats.org/drawingml/2006/main"/>
          <a:ln xmlns:a="http://schemas.openxmlformats.org/drawingml/2006/main" w="28575">
            <a:solidFill>
              <a:srgbClr val="2A2F36"/>
            </a:solidFill>
            <a:prstDash val="solid"/>
          </a:ln>
        </p:spPr>
      </p:sp>
      <p:sp>
        <p:nvSpPr>
          <p:cNvPr id="9" name="">
            <a:extLst xmlns:a="http://schemas.openxmlformats.org/drawingml/2006/main">
              <a:ext uri="{FF2B5EF4-FFF2-40B4-BE49-F238E27FC236}">
                <a16:creationId xmlns:a16="http://schemas.microsoft.com/office/drawing/2014/main" id="{FB13DA27-5FA8-4485-AF9B-C54E1118510D}"/>
              </a:ext>
            </a:extLst>
          </p:cNvPr>
          <p:cNvSpPr>
            <a:spLocks xmlns:a="http://schemas.openxmlformats.org/drawingml/2006/main" noGrp="1"/>
          </p:cNvSpPr>
          <p:nvPr/>
        </p:nvSpPr>
        <p:spPr>
          <a:xfrm xmlns:a="http://schemas.openxmlformats.org/drawingml/2006/main">
            <a:off x="3467100" y="2647950"/>
            <a:ext cx="238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Customer-selected image</a:t>
            </a:r>
          </a:p>
          <a:p xmlns:a="http://schemas.openxmlformats.org/drawingml/2006/main">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SBOM and coverage</a:t>
            </a:r>
          </a:p>
          <a:p xmlns:a="http://schemas.openxmlformats.org/drawingml/2006/main">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Vulnerability assessment</a:t>
            </a:r>
          </a:p>
        </p:txBody>
      </p:sp>
      <p:sp>
        <p:nvSpPr>
          <p:cNvPr id="10" name="">
            <a:extLst xmlns:a="http://schemas.openxmlformats.org/drawingml/2006/main">
              <a:ext uri="{FF2B5EF4-FFF2-40B4-BE49-F238E27FC236}">
                <a16:creationId xmlns:a16="http://schemas.microsoft.com/office/drawing/2014/main" id="{49453710-6D4A-4FC9-AEAD-0560B4A4C2BE}"/>
              </a:ext>
            </a:extLst>
          </p:cNvPr>
          <p:cNvSpPr>
            <a:spLocks xmlns:a="http://schemas.openxmlformats.org/drawingml/2006/main" noGrp="1"/>
          </p:cNvSpPr>
          <p:nvPr/>
        </p:nvSpPr>
        <p:spPr>
          <a:xfrm xmlns:a="http://schemas.openxmlformats.org/drawingml/2006/main">
            <a:off x="6248400" y="18669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4ED8A0"/>
                </a:solidFill>
                <a:latin typeface="Cascadia Mono"/>
                <a:ea typeface="Cascadia Mono"/>
                <a:cs typeface="Cascadia Mono"/>
              </a:defRPr>
            </a:pPr>
            <a:r>
              <a:rPr sz="1275" b="1">
                <a:solidFill>
                  <a:srgbClr val="4ED8A0"/>
                </a:solidFill>
                <a:latin typeface="Cascadia Mono"/>
                <a:ea typeface="Cascadia Mono"/>
                <a:cs typeface="Cascadia Mono"/>
              </a:rPr>
              <a:t>03  EXERCISE</a:t>
            </a:r>
          </a:p>
        </p:txBody>
      </p:sp>
      <p:sp>
        <p:nvSpPr>
          <p:cNvPr id="11" name="">
            <a:extLst xmlns:a="http://schemas.openxmlformats.org/drawingml/2006/main">
              <a:ext uri="{FF2B5EF4-FFF2-40B4-BE49-F238E27FC236}">
                <a16:creationId xmlns:a16="http://schemas.microsoft.com/office/drawing/2014/main" id="{38BB336A-4A69-414E-8AAA-55ED46881D9E}"/>
              </a:ext>
            </a:extLst>
          </p:cNvPr>
          <p:cNvSpPr>
            <a:spLocks xmlns:a="http://schemas.openxmlformats.org/drawingml/2006/main" noGrp="1"/>
          </p:cNvSpPr>
          <p:nvPr/>
        </p:nvSpPr>
        <p:spPr>
          <a:xfrm xmlns:a="http://schemas.openxmlformats.org/drawingml/2006/main">
            <a:off x="6248400" y="2324100"/>
            <a:ext cx="2381250" cy="0"/>
          </a:xfrm>
          <a:prstGeom xmlns:a="http://schemas.openxmlformats.org/drawingml/2006/main" prst="line">
            <a:avLst/>
          </a:prstGeom>
          <a:noFill xmlns:a="http://schemas.openxmlformats.org/drawingml/2006/main"/>
          <a:ln xmlns:a="http://schemas.openxmlformats.org/drawingml/2006/main" w="28575">
            <a:solidFill>
              <a:srgbClr val="2A2F36"/>
            </a:solidFill>
            <a:prstDash val="solid"/>
          </a:ln>
        </p:spPr>
      </p:sp>
      <p:sp>
        <p:nvSpPr>
          <p:cNvPr id="12" name="">
            <a:extLst xmlns:a="http://schemas.openxmlformats.org/drawingml/2006/main">
              <a:ext uri="{FF2B5EF4-FFF2-40B4-BE49-F238E27FC236}">
                <a16:creationId xmlns:a16="http://schemas.microsoft.com/office/drawing/2014/main" id="{3600C444-2FBF-4707-A9EB-7B4857967DE2}"/>
              </a:ext>
            </a:extLst>
          </p:cNvPr>
          <p:cNvSpPr>
            <a:spLocks xmlns:a="http://schemas.openxmlformats.org/drawingml/2006/main" noGrp="1"/>
          </p:cNvSpPr>
          <p:nvPr/>
        </p:nvSpPr>
        <p:spPr>
          <a:xfrm xmlns:a="http://schemas.openxmlformats.org/drawingml/2006/main">
            <a:off x="6248400" y="2647950"/>
            <a:ext cx="238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Actively exploited case</a:t>
            </a:r>
          </a:p>
          <a:p xmlns:a="http://schemas.openxmlformats.org/drawingml/2006/main">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Severe-incident case</a:t>
            </a:r>
          </a:p>
          <a:p xmlns:a="http://schemas.openxmlformats.org/drawingml/2006/main">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Deadline and approval flow</a:t>
            </a:r>
          </a:p>
        </p:txBody>
      </p:sp>
      <p:sp>
        <p:nvSpPr>
          <p:cNvPr id="13" name="">
            <a:extLst xmlns:a="http://schemas.openxmlformats.org/drawingml/2006/main">
              <a:ext uri="{FF2B5EF4-FFF2-40B4-BE49-F238E27FC236}">
                <a16:creationId xmlns:a16="http://schemas.microsoft.com/office/drawing/2014/main" id="{626C72E1-5C5F-4FA5-AA46-1F0BD5A87BB2}"/>
              </a:ext>
            </a:extLst>
          </p:cNvPr>
          <p:cNvSpPr>
            <a:spLocks xmlns:a="http://schemas.openxmlformats.org/drawingml/2006/main" noGrp="1"/>
          </p:cNvSpPr>
          <p:nvPr/>
        </p:nvSpPr>
        <p:spPr>
          <a:xfrm xmlns:a="http://schemas.openxmlformats.org/drawingml/2006/main">
            <a:off x="9029700" y="18669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4ED8A0"/>
                </a:solidFill>
                <a:latin typeface="Cascadia Mono"/>
                <a:ea typeface="Cascadia Mono"/>
                <a:cs typeface="Cascadia Mono"/>
              </a:defRPr>
            </a:pPr>
            <a:r>
              <a:rPr sz="1275" b="1">
                <a:solidFill>
                  <a:srgbClr val="4ED8A0"/>
                </a:solidFill>
                <a:latin typeface="Cascadia Mono"/>
                <a:ea typeface="Cascadia Mono"/>
                <a:cs typeface="Cascadia Mono"/>
              </a:rPr>
              <a:t>04  VERIFY</a:t>
            </a:r>
          </a:p>
        </p:txBody>
      </p:sp>
      <p:sp>
        <p:nvSpPr>
          <p:cNvPr id="14" name="">
            <a:extLst xmlns:a="http://schemas.openxmlformats.org/drawingml/2006/main">
              <a:ext uri="{FF2B5EF4-FFF2-40B4-BE49-F238E27FC236}">
                <a16:creationId xmlns:a16="http://schemas.microsoft.com/office/drawing/2014/main" id="{B4F5E8BA-777C-4756-92D0-DDB4C23ED454}"/>
              </a:ext>
            </a:extLst>
          </p:cNvPr>
          <p:cNvSpPr>
            <a:spLocks xmlns:a="http://schemas.openxmlformats.org/drawingml/2006/main" noGrp="1"/>
          </p:cNvSpPr>
          <p:nvPr/>
        </p:nvSpPr>
        <p:spPr>
          <a:xfrm xmlns:a="http://schemas.openxmlformats.org/drawingml/2006/main">
            <a:off x="9029700" y="2324100"/>
            <a:ext cx="2381250" cy="0"/>
          </a:xfrm>
          <a:prstGeom xmlns:a="http://schemas.openxmlformats.org/drawingml/2006/main" prst="line">
            <a:avLst/>
          </a:prstGeom>
          <a:noFill xmlns:a="http://schemas.openxmlformats.org/drawingml/2006/main"/>
          <a:ln xmlns:a="http://schemas.openxmlformats.org/drawingml/2006/main" w="28575">
            <a:solidFill>
              <a:srgbClr val="4ED8A0"/>
            </a:solidFill>
            <a:prstDash val="solid"/>
          </a:ln>
        </p:spPr>
      </p:sp>
      <p:sp>
        <p:nvSpPr>
          <p:cNvPr id="15" name="">
            <a:extLst xmlns:a="http://schemas.openxmlformats.org/drawingml/2006/main">
              <a:ext uri="{FF2B5EF4-FFF2-40B4-BE49-F238E27FC236}">
                <a16:creationId xmlns:a16="http://schemas.microsoft.com/office/drawing/2014/main" id="{67B3263B-3BBA-4057-AE74-852012AD1D13}"/>
              </a:ext>
            </a:extLst>
          </p:cNvPr>
          <p:cNvSpPr>
            <a:spLocks xmlns:a="http://schemas.openxmlformats.org/drawingml/2006/main" noGrp="1"/>
          </p:cNvSpPr>
          <p:nvPr/>
        </p:nvSpPr>
        <p:spPr>
          <a:xfrm xmlns:a="http://schemas.openxmlformats.org/drawingml/2006/main">
            <a:off x="9029700" y="2647950"/>
            <a:ext cx="238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Submission package</a:t>
            </a:r>
          </a:p>
          <a:p xmlns:a="http://schemas.openxmlformats.org/drawingml/2006/main">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Simulated receipt</a:t>
            </a:r>
          </a:p>
          <a:p xmlns:a="http://schemas.openxmlformats.org/drawingml/2006/main">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Signed evidence bundle</a:t>
            </a:r>
          </a:p>
        </p:txBody>
      </p:sp>
      <p:sp>
        <p:nvSpPr>
          <p:cNvPr id="16" name="">
            <a:extLst xmlns:a="http://schemas.openxmlformats.org/drawingml/2006/main">
              <a:ext uri="{FF2B5EF4-FFF2-40B4-BE49-F238E27FC236}">
                <a16:creationId xmlns:a16="http://schemas.microsoft.com/office/drawing/2014/main" id="{F4E69937-8D8C-4BCF-9433-5838753A7439}"/>
              </a:ext>
            </a:extLst>
          </p:cNvPr>
          <p:cNvSpPr>
            <a:spLocks xmlns:a="http://schemas.openxmlformats.org/drawingml/2006/main" noGrp="1"/>
          </p:cNvSpPr>
          <p:nvPr/>
        </p:nvSpPr>
        <p:spPr>
          <a:xfrm xmlns:a="http://schemas.openxmlformats.org/drawingml/2006/main">
            <a:off x="685800" y="4686300"/>
            <a:ext cx="10572750" cy="1104900"/>
          </a:xfrm>
          <a:prstGeom xmlns:a="http://schemas.openxmlformats.org/drawingml/2006/main" prst="roundRect">
            <a:avLst>
              <a:gd name="adj" fmla="val 6897"/>
            </a:avLst>
          </a:prstGeom>
          <a:solidFill xmlns:a="http://schemas.openxmlformats.org/drawingml/2006/main">
            <a:srgbClr val="4ED8A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4292B30-E2C5-4657-A82F-4AE5068AE08C}"/>
              </a:ext>
            </a:extLst>
          </p:cNvPr>
          <p:cNvSpPr>
            <a:spLocks xmlns:a="http://schemas.openxmlformats.org/drawingml/2006/main" noGrp="1"/>
          </p:cNvSpPr>
          <p:nvPr/>
        </p:nvSpPr>
        <p:spPr>
          <a:xfrm xmlns:a="http://schemas.openxmlformats.org/drawingml/2006/main">
            <a:off x="1085850" y="4924425"/>
            <a:ext cx="979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2625" b="1">
                <a:solidFill>
                  <a:srgbClr val="111713"/>
                </a:solidFill>
                <a:latin typeface="Segoe UI"/>
                <a:ea typeface="Segoe UI"/>
                <a:cs typeface="Segoe UI"/>
              </a:defRPr>
            </a:pPr>
            <a:r>
              <a:rPr sz="2625" b="1">
                <a:solidFill>
                  <a:srgbClr val="111713"/>
                </a:solidFill>
                <a:latin typeface="Segoe UI"/>
                <a:ea typeface="Segoe UI"/>
                <a:cs typeface="Segoe UI"/>
              </a:rPr>
              <a:t>Nominate one product line for a structured PandaX pilot</a:t>
            </a:r>
          </a:p>
        </p:txBody>
      </p:sp>
      <p:sp>
        <p:nvSpPr>
          <p:cNvPr id="18" name="">
            <a:extLst xmlns:a="http://schemas.openxmlformats.org/drawingml/2006/main">
              <a:ext uri="{FF2B5EF4-FFF2-40B4-BE49-F238E27FC236}">
                <a16:creationId xmlns:a16="http://schemas.microsoft.com/office/drawing/2014/main" id="{0224C66C-7354-45BA-976B-B09F19DDEA43}"/>
              </a:ext>
            </a:extLst>
          </p:cNvPr>
          <p:cNvSpPr>
            <a:spLocks xmlns:a="http://schemas.openxmlformats.org/drawingml/2006/main" noGrp="1"/>
          </p:cNvSpPr>
          <p:nvPr/>
        </p:nvSpPr>
        <p:spPr>
          <a:xfrm xmlns:a="http://schemas.openxmlformats.org/drawingml/2006/main">
            <a:off x="533400" y="6496050"/>
            <a:ext cx="11125200" cy="0"/>
          </a:xfrm>
          <a:prstGeom xmlns:a="http://schemas.openxmlformats.org/drawingml/2006/main" prst="line">
            <a:avLst/>
          </a:prstGeom>
          <a:noFill xmlns:a="http://schemas.openxmlformats.org/drawingml/2006/main"/>
          <a:ln xmlns:a="http://schemas.openxmlformats.org/drawingml/2006/main" w="9525">
            <a:solidFill>
              <a:srgbClr val="2A2F36"/>
            </a:solidFill>
            <a:prstDash val="solid"/>
          </a:ln>
        </p:spPr>
      </p:sp>
      <p:sp>
        <p:nvSpPr>
          <p:cNvPr id="19" name="">
            <a:extLst xmlns:a="http://schemas.openxmlformats.org/drawingml/2006/main">
              <a:ext uri="{FF2B5EF4-FFF2-40B4-BE49-F238E27FC236}">
                <a16:creationId xmlns:a16="http://schemas.microsoft.com/office/drawing/2014/main" id="{CA7E7445-A9B2-4037-A687-573C8A55C0A4}"/>
              </a:ext>
            </a:extLst>
          </p:cNvPr>
          <p:cNvSpPr>
            <a:spLocks xmlns:a="http://schemas.openxmlformats.org/drawingml/2006/main" noGrp="1"/>
          </p:cNvSpPr>
          <p:nvPr/>
        </p:nvSpPr>
        <p:spPr>
          <a:xfrm xmlns:a="http://schemas.openxmlformats.org/drawingml/2006/main">
            <a:off x="533400" y="6572250"/>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727D8C"/>
                </a:solidFill>
                <a:latin typeface="Cascadia Mono"/>
                <a:ea typeface="Cascadia Mono"/>
                <a:cs typeface="Cascadia Mono"/>
              </a:defRPr>
            </a:pPr>
            <a:r>
              <a:rPr sz="975" b="0">
                <a:solidFill>
                  <a:srgbClr val="727D8C"/>
                </a:solidFill>
                <a:latin typeface="Cascadia Mono"/>
                <a:ea typeface="Cascadia Mono"/>
                <a:cs typeface="Cascadia Mono"/>
              </a:rPr>
              <a:t>PandaX  /  Commercial ask: pilot partnership</a:t>
            </a:r>
          </a:p>
        </p:txBody>
      </p:sp>
      <p:sp>
        <p:nvSpPr>
          <p:cNvPr id="20" name="">
            <a:extLst xmlns:a="http://schemas.openxmlformats.org/drawingml/2006/main">
              <a:ext uri="{FF2B5EF4-FFF2-40B4-BE49-F238E27FC236}">
                <a16:creationId xmlns:a16="http://schemas.microsoft.com/office/drawing/2014/main" id="{982EF3AB-A14C-4F4C-B640-D3597C3C136D}"/>
              </a:ext>
            </a:extLst>
          </p:cNvPr>
          <p:cNvSpPr>
            <a:spLocks xmlns:a="http://schemas.openxmlformats.org/drawingml/2006/main" noGrp="1"/>
          </p:cNvSpPr>
          <p:nvPr/>
        </p:nvSpPr>
        <p:spPr>
          <a:xfrm xmlns:a="http://schemas.openxmlformats.org/drawingml/2006/main">
            <a:off x="11049000" y="6562725"/>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0">
                <a:solidFill>
                  <a:srgbClr val="727D8C"/>
                </a:solidFill>
                <a:latin typeface="Cascadia Mono"/>
                <a:ea typeface="Cascadia Mono"/>
                <a:cs typeface="Cascadia Mono"/>
              </a:defRPr>
            </a:pPr>
            <a:r>
              <a:rPr sz="1050" b="0">
                <a:solidFill>
                  <a:srgbClr val="727D8C"/>
                </a:solidFill>
                <a:latin typeface="Cascadia Mono"/>
                <a:ea typeface="Cascadia Mono"/>
                <a:cs typeface="Cascadia Mono"/>
              </a:rPr>
              <a:t>09</a:t>
            </a:r>
          </a:p>
        </p:txBody>
      </p:sp>
    </p:spTree>
    <p:extLst>
      <p:ext uri="{BB962C8B-B14F-4D97-AF65-F5344CB8AC3E}">
        <p14:creationId xmlns:p14="http://schemas.microsoft.com/office/powerpoint/2010/main" val="1768999725"/>
      </p:ext>
    </p:extLst>
  </p:cSld>
</p:sld>
</file>

<file path=ppt/slides/slide10.xml><?xml version="1.0" encoding="utf-8"?>
<p:sld xmlns:p="http://schemas.openxmlformats.org/presentationml/2006/main">
  <p:cSld>
    <p:bg>
      <p:bgPr>
        <a:solidFill xmlns:a="http://schemas.openxmlformats.org/drawingml/2006/main">
          <a:srgbClr val="0A0B0D"/>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26dcb743cbc4ca6"/>
          <a:stretch xmlns:a="http://schemas.openxmlformats.org/drawingml/2006/main"/>
        </p:blipFill>
        <p:spPr>
          <a:xfrm xmlns:a="http://schemas.openxmlformats.org/drawingml/2006/main">
            <a:off x="590550" y="666750"/>
            <a:ext cx="20955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3FC7FAC-51E8-41CC-8239-902D7CD7329E}"/>
              </a:ext>
            </a:extLst>
          </p:cNvPr>
          <p:cNvSpPr>
            <a:spLocks xmlns:a="http://schemas.openxmlformats.org/drawingml/2006/main" noGrp="1"/>
          </p:cNvSpPr>
          <p:nvPr/>
        </p:nvSpPr>
        <p:spPr>
          <a:xfrm xmlns:a="http://schemas.openxmlformats.org/drawingml/2006/main">
            <a:off x="3219450" y="742950"/>
            <a:ext cx="7810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3600" b="1">
                <a:solidFill>
                  <a:srgbClr val="F2F5F9"/>
                </a:solidFill>
                <a:latin typeface="Segoe UI"/>
                <a:ea typeface="Segoe UI"/>
                <a:cs typeface="Segoe UI"/>
              </a:defRPr>
            </a:pPr>
            <a:r>
              <a:rPr sz="3600" b="1">
                <a:solidFill>
                  <a:srgbClr val="F2F5F9"/>
                </a:solidFill>
                <a:latin typeface="Segoe UI"/>
                <a:ea typeface="Segoe UI"/>
                <a:cs typeface="Segoe UI"/>
              </a:rPr>
              <a:t>Pilot PandaX on one industrial product line</a:t>
            </a:r>
          </a:p>
        </p:txBody>
      </p:sp>
      <p:sp>
        <p:nvSpPr>
          <p:cNvPr id="3" name="">
            <a:extLst xmlns:a="http://schemas.openxmlformats.org/drawingml/2006/main">
              <a:ext uri="{FF2B5EF4-FFF2-40B4-BE49-F238E27FC236}">
                <a16:creationId xmlns:a16="http://schemas.microsoft.com/office/drawing/2014/main" id="{1EC69B9E-E4B2-4B7E-AD04-9CA6BEA8B927}"/>
              </a:ext>
            </a:extLst>
          </p:cNvPr>
          <p:cNvSpPr>
            <a:spLocks xmlns:a="http://schemas.openxmlformats.org/drawingml/2006/main" noGrp="1"/>
          </p:cNvSpPr>
          <p:nvPr/>
        </p:nvSpPr>
        <p:spPr>
          <a:xfrm xmlns:a="http://schemas.openxmlformats.org/drawingml/2006/main">
            <a:off x="3238500" y="2190750"/>
            <a:ext cx="7524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025" b="0">
                <a:solidFill>
                  <a:srgbClr val="A9B3C1"/>
                </a:solidFill>
                <a:latin typeface="Segoe UI"/>
                <a:ea typeface="Segoe UI"/>
                <a:cs typeface="Segoe UI"/>
              </a:defRPr>
            </a:pPr>
            <a:r>
              <a:rPr sz="2025" b="0">
                <a:solidFill>
                  <a:srgbClr val="A9B3C1"/>
                </a:solidFill>
                <a:latin typeface="Segoe UI"/>
                <a:ea typeface="Segoe UI"/>
                <a:cs typeface="Segoe UI"/>
              </a:rPr>
              <a:t>Bring one representative SKU and a customer-selected firmware image. Leave with a traceable inventory, exercised CRA workflow, and independently verifiable evidence bundle.</a:t>
            </a:r>
          </a:p>
        </p:txBody>
      </p:sp>
      <p:sp>
        <p:nvSpPr>
          <p:cNvPr id="4" name="">
            <a:extLst xmlns:a="http://schemas.openxmlformats.org/drawingml/2006/main">
              <a:ext uri="{FF2B5EF4-FFF2-40B4-BE49-F238E27FC236}">
                <a16:creationId xmlns:a16="http://schemas.microsoft.com/office/drawing/2014/main" id="{798ED815-2369-469B-823E-813EC5D5A52F}"/>
              </a:ext>
            </a:extLst>
          </p:cNvPr>
          <p:cNvSpPr>
            <a:spLocks xmlns:a="http://schemas.openxmlformats.org/drawingml/2006/main" noGrp="1"/>
          </p:cNvSpPr>
          <p:nvPr/>
        </p:nvSpPr>
        <p:spPr>
          <a:xfrm xmlns:a="http://schemas.openxmlformats.org/drawingml/2006/main">
            <a:off x="3238500" y="3905250"/>
            <a:ext cx="7810500" cy="0"/>
          </a:xfrm>
          <a:prstGeom xmlns:a="http://schemas.openxmlformats.org/drawingml/2006/main" prst="line">
            <a:avLst/>
          </a:prstGeom>
          <a:noFill xmlns:a="http://schemas.openxmlformats.org/drawingml/2006/main"/>
          <a:ln xmlns:a="http://schemas.openxmlformats.org/drawingml/2006/main" w="19050">
            <a:solidFill>
              <a:srgbClr val="4ED8A0"/>
            </a:solidFill>
            <a:prstDash val="solid"/>
          </a:ln>
        </p:spPr>
      </p:sp>
      <p:sp>
        <p:nvSpPr>
          <p:cNvPr id="5" name="">
            <a:extLst xmlns:a="http://schemas.openxmlformats.org/drawingml/2006/main">
              <a:ext uri="{FF2B5EF4-FFF2-40B4-BE49-F238E27FC236}">
                <a16:creationId xmlns:a16="http://schemas.microsoft.com/office/drawing/2014/main" id="{B9A74AF1-6973-43CB-85A0-C49BD817D742}"/>
              </a:ext>
            </a:extLst>
          </p:cNvPr>
          <p:cNvSpPr>
            <a:spLocks xmlns:a="http://schemas.openxmlformats.org/drawingml/2006/main" noGrp="1"/>
          </p:cNvSpPr>
          <p:nvPr/>
        </p:nvSpPr>
        <p:spPr>
          <a:xfrm xmlns:a="http://schemas.openxmlformats.org/drawingml/2006/main">
            <a:off x="3238500" y="4324350"/>
            <a:ext cx="163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F2F5F9"/>
                </a:solidFill>
                <a:latin typeface="Segoe UI"/>
                <a:ea typeface="Segoe UI"/>
                <a:cs typeface="Segoe UI"/>
              </a:defRPr>
            </a:pPr>
            <a:r>
              <a:rPr sz="1425" b="1">
                <a:solidFill>
                  <a:srgbClr val="F2F5F9"/>
                </a:solidFill>
                <a:latin typeface="Segoe UI"/>
                <a:ea typeface="Segoe UI"/>
                <a:cs typeface="Segoe UI"/>
              </a:rPr>
              <a:t>Simon Levy</a:t>
            </a:r>
          </a:p>
        </p:txBody>
      </p:sp>
      <p:sp>
        <p:nvSpPr>
          <p:cNvPr id="6" name="">
            <a:extLst xmlns:a="http://schemas.openxmlformats.org/drawingml/2006/main">
              <a:ext uri="{FF2B5EF4-FFF2-40B4-BE49-F238E27FC236}">
                <a16:creationId xmlns:a16="http://schemas.microsoft.com/office/drawing/2014/main" id="{34A24F2D-59C8-4765-944A-53CF80059466}"/>
              </a:ext>
            </a:extLst>
          </p:cNvPr>
          <p:cNvSpPr>
            <a:spLocks xmlns:a="http://schemas.openxmlformats.org/drawingml/2006/main" noGrp="1"/>
          </p:cNvSpPr>
          <p:nvPr/>
        </p:nvSpPr>
        <p:spPr>
          <a:xfrm xmlns:a="http://schemas.openxmlformats.org/drawingml/2006/main">
            <a:off x="3238500" y="4733925"/>
            <a:ext cx="1762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4ED8A0"/>
                </a:solidFill>
                <a:latin typeface="Cascadia Mono"/>
                <a:ea typeface="Cascadia Mono"/>
                <a:cs typeface="Cascadia Mono"/>
              </a:defRPr>
            </a:pPr>
            <a:r>
              <a:rPr sz="1125" b="1">
                <a:solidFill>
                  <a:srgbClr val="4ED8A0"/>
                </a:solidFill>
                <a:latin typeface="Cascadia Mono"/>
                <a:ea typeface="Cascadia Mono"/>
                <a:cs typeface="Cascadia Mono"/>
              </a:rPr>
              <a:t>CEO</a:t>
            </a:r>
          </a:p>
        </p:txBody>
      </p:sp>
      <p:sp>
        <p:nvSpPr>
          <p:cNvPr id="7" name="">
            <a:extLst xmlns:a="http://schemas.openxmlformats.org/drawingml/2006/main">
              <a:ext uri="{FF2B5EF4-FFF2-40B4-BE49-F238E27FC236}">
                <a16:creationId xmlns:a16="http://schemas.microsoft.com/office/drawing/2014/main" id="{7BF94113-599E-49A9-86A3-6DA9515ACBBC}"/>
              </a:ext>
            </a:extLst>
          </p:cNvPr>
          <p:cNvSpPr>
            <a:spLocks xmlns:a="http://schemas.openxmlformats.org/drawingml/2006/main" noGrp="1"/>
          </p:cNvSpPr>
          <p:nvPr/>
        </p:nvSpPr>
        <p:spPr>
          <a:xfrm xmlns:a="http://schemas.openxmlformats.org/drawingml/2006/main">
            <a:off x="5191125" y="4324350"/>
            <a:ext cx="163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F2F5F9"/>
                </a:solidFill>
                <a:latin typeface="Segoe UI"/>
                <a:ea typeface="Segoe UI"/>
                <a:cs typeface="Segoe UI"/>
              </a:defRPr>
            </a:pPr>
            <a:r>
              <a:rPr sz="1425" b="1">
                <a:solidFill>
                  <a:srgbClr val="F2F5F9"/>
                </a:solidFill>
                <a:latin typeface="Segoe UI"/>
                <a:ea typeface="Segoe UI"/>
                <a:cs typeface="Segoe UI"/>
              </a:rPr>
              <a:t>Yaheli Levit</a:t>
            </a:r>
          </a:p>
        </p:txBody>
      </p:sp>
      <p:sp>
        <p:nvSpPr>
          <p:cNvPr id="8" name="">
            <a:extLst xmlns:a="http://schemas.openxmlformats.org/drawingml/2006/main">
              <a:ext uri="{FF2B5EF4-FFF2-40B4-BE49-F238E27FC236}">
                <a16:creationId xmlns:a16="http://schemas.microsoft.com/office/drawing/2014/main" id="{8A8D1C51-B653-44D2-A35B-C3F02C8354C1}"/>
              </a:ext>
            </a:extLst>
          </p:cNvPr>
          <p:cNvSpPr>
            <a:spLocks xmlns:a="http://schemas.openxmlformats.org/drawingml/2006/main" noGrp="1"/>
          </p:cNvSpPr>
          <p:nvPr/>
        </p:nvSpPr>
        <p:spPr>
          <a:xfrm xmlns:a="http://schemas.openxmlformats.org/drawingml/2006/main">
            <a:off x="5191125" y="4733925"/>
            <a:ext cx="1762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4ED8A0"/>
                </a:solidFill>
                <a:latin typeface="Cascadia Mono"/>
                <a:ea typeface="Cascadia Mono"/>
                <a:cs typeface="Cascadia Mono"/>
              </a:defRPr>
            </a:pPr>
            <a:r>
              <a:rPr sz="1125" b="1">
                <a:solidFill>
                  <a:srgbClr val="4ED8A0"/>
                </a:solidFill>
                <a:latin typeface="Cascadia Mono"/>
                <a:ea typeface="Cascadia Mono"/>
                <a:cs typeface="Cascadia Mono"/>
              </a:rPr>
              <a:t>CTO</a:t>
            </a:r>
          </a:p>
        </p:txBody>
      </p:sp>
      <p:sp>
        <p:nvSpPr>
          <p:cNvPr id="9" name="">
            <a:extLst xmlns:a="http://schemas.openxmlformats.org/drawingml/2006/main">
              <a:ext uri="{FF2B5EF4-FFF2-40B4-BE49-F238E27FC236}">
                <a16:creationId xmlns:a16="http://schemas.microsoft.com/office/drawing/2014/main" id="{9A76489A-47B5-4801-98AE-8427569001DD}"/>
              </a:ext>
            </a:extLst>
          </p:cNvPr>
          <p:cNvSpPr>
            <a:spLocks xmlns:a="http://schemas.openxmlformats.org/drawingml/2006/main" noGrp="1"/>
          </p:cNvSpPr>
          <p:nvPr/>
        </p:nvSpPr>
        <p:spPr>
          <a:xfrm xmlns:a="http://schemas.openxmlformats.org/drawingml/2006/main">
            <a:off x="7143750" y="4324350"/>
            <a:ext cx="163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F2F5F9"/>
                </a:solidFill>
                <a:latin typeface="Segoe UI"/>
                <a:ea typeface="Segoe UI"/>
                <a:cs typeface="Segoe UI"/>
              </a:defRPr>
            </a:pPr>
            <a:r>
              <a:rPr sz="1425" b="1">
                <a:solidFill>
                  <a:srgbClr val="F2F5F9"/>
                </a:solidFill>
                <a:latin typeface="Segoe UI"/>
                <a:ea typeface="Segoe UI"/>
                <a:cs typeface="Segoe UI"/>
              </a:rPr>
              <a:t>Guy Nevo</a:t>
            </a:r>
          </a:p>
        </p:txBody>
      </p:sp>
      <p:sp>
        <p:nvSpPr>
          <p:cNvPr id="10" name="">
            <a:extLst xmlns:a="http://schemas.openxmlformats.org/drawingml/2006/main">
              <a:ext uri="{FF2B5EF4-FFF2-40B4-BE49-F238E27FC236}">
                <a16:creationId xmlns:a16="http://schemas.microsoft.com/office/drawing/2014/main" id="{C1AF8CD4-130B-4AD9-9E19-5D89151D2899}"/>
              </a:ext>
            </a:extLst>
          </p:cNvPr>
          <p:cNvSpPr>
            <a:spLocks xmlns:a="http://schemas.openxmlformats.org/drawingml/2006/main" noGrp="1"/>
          </p:cNvSpPr>
          <p:nvPr/>
        </p:nvSpPr>
        <p:spPr>
          <a:xfrm xmlns:a="http://schemas.openxmlformats.org/drawingml/2006/main">
            <a:off x="7143750" y="4733925"/>
            <a:ext cx="1762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4ED8A0"/>
                </a:solidFill>
                <a:latin typeface="Cascadia Mono"/>
                <a:ea typeface="Cascadia Mono"/>
                <a:cs typeface="Cascadia Mono"/>
              </a:defRPr>
            </a:pPr>
            <a:r>
              <a:rPr sz="1125" b="1">
                <a:solidFill>
                  <a:srgbClr val="4ED8A0"/>
                </a:solidFill>
                <a:latin typeface="Cascadia Mono"/>
                <a:ea typeface="Cascadia Mono"/>
                <a:cs typeface="Cascadia Mono"/>
              </a:rPr>
              <a:t>CPO</a:t>
            </a:r>
          </a:p>
        </p:txBody>
      </p:sp>
      <p:sp>
        <p:nvSpPr>
          <p:cNvPr id="11" name="">
            <a:extLst xmlns:a="http://schemas.openxmlformats.org/drawingml/2006/main">
              <a:ext uri="{FF2B5EF4-FFF2-40B4-BE49-F238E27FC236}">
                <a16:creationId xmlns:a16="http://schemas.microsoft.com/office/drawing/2014/main" id="{C2FB2628-5769-4DE7-9301-5532D4D03C67}"/>
              </a:ext>
            </a:extLst>
          </p:cNvPr>
          <p:cNvSpPr>
            <a:spLocks xmlns:a="http://schemas.openxmlformats.org/drawingml/2006/main" noGrp="1"/>
          </p:cNvSpPr>
          <p:nvPr/>
        </p:nvSpPr>
        <p:spPr>
          <a:xfrm xmlns:a="http://schemas.openxmlformats.org/drawingml/2006/main">
            <a:off x="9096375" y="4324350"/>
            <a:ext cx="163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F2F5F9"/>
                </a:solidFill>
                <a:latin typeface="Segoe UI"/>
                <a:ea typeface="Segoe UI"/>
                <a:cs typeface="Segoe UI"/>
              </a:defRPr>
            </a:pPr>
            <a:r>
              <a:rPr sz="1425" b="1">
                <a:solidFill>
                  <a:srgbClr val="F2F5F9"/>
                </a:solidFill>
                <a:latin typeface="Segoe UI"/>
                <a:ea typeface="Segoe UI"/>
                <a:cs typeface="Segoe UI"/>
              </a:rPr>
              <a:t>Eden Gulko</a:t>
            </a:r>
          </a:p>
        </p:txBody>
      </p:sp>
      <p:sp>
        <p:nvSpPr>
          <p:cNvPr id="12" name="">
            <a:extLst xmlns:a="http://schemas.openxmlformats.org/drawingml/2006/main">
              <a:ext uri="{FF2B5EF4-FFF2-40B4-BE49-F238E27FC236}">
                <a16:creationId xmlns:a16="http://schemas.microsoft.com/office/drawing/2014/main" id="{F5F11D38-9F83-4422-951F-31A037BB5571}"/>
              </a:ext>
            </a:extLst>
          </p:cNvPr>
          <p:cNvSpPr>
            <a:spLocks xmlns:a="http://schemas.openxmlformats.org/drawingml/2006/main" noGrp="1"/>
          </p:cNvSpPr>
          <p:nvPr/>
        </p:nvSpPr>
        <p:spPr>
          <a:xfrm xmlns:a="http://schemas.openxmlformats.org/drawingml/2006/main">
            <a:off x="9096375" y="4733925"/>
            <a:ext cx="1762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4ED8A0"/>
                </a:solidFill>
                <a:latin typeface="Cascadia Mono"/>
                <a:ea typeface="Cascadia Mono"/>
                <a:cs typeface="Cascadia Mono"/>
              </a:defRPr>
            </a:pPr>
            <a:r>
              <a:rPr sz="1125" b="1">
                <a:solidFill>
                  <a:srgbClr val="4ED8A0"/>
                </a:solidFill>
                <a:latin typeface="Cascadia Mono"/>
                <a:ea typeface="Cascadia Mono"/>
                <a:cs typeface="Cascadia Mono"/>
              </a:rPr>
              <a:t>CMO</a:t>
            </a:r>
          </a:p>
        </p:txBody>
      </p:sp>
      <p:sp>
        <p:nvSpPr>
          <p:cNvPr id="13" name="">
            <a:extLst xmlns:a="http://schemas.openxmlformats.org/drawingml/2006/main">
              <a:ext uri="{FF2B5EF4-FFF2-40B4-BE49-F238E27FC236}">
                <a16:creationId xmlns:a16="http://schemas.microsoft.com/office/drawing/2014/main" id="{D412726D-1C9E-4ADF-80C1-A7D2046F82BA}"/>
              </a:ext>
            </a:extLst>
          </p:cNvPr>
          <p:cNvSpPr>
            <a:spLocks xmlns:a="http://schemas.openxmlformats.org/drawingml/2006/main" noGrp="1"/>
          </p:cNvSpPr>
          <p:nvPr/>
        </p:nvSpPr>
        <p:spPr>
          <a:xfrm xmlns:a="http://schemas.openxmlformats.org/drawingml/2006/main">
            <a:off x="3238500" y="5810250"/>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727D8C"/>
                </a:solidFill>
                <a:latin typeface="Cascadia Mono"/>
                <a:ea typeface="Cascadia Mono"/>
                <a:cs typeface="Cascadia Mono"/>
              </a:defRPr>
            </a:pPr>
            <a:r>
              <a:rPr sz="1200" b="0">
                <a:solidFill>
                  <a:srgbClr val="727D8C"/>
                </a:solidFill>
                <a:latin typeface="Cascadia Mono"/>
                <a:ea typeface="Cascadia Mono"/>
                <a:cs typeface="Cascadia Mono"/>
              </a:rPr>
              <a:t>PandaX  /  Firmware evidence for CRA readiness</a:t>
            </a:r>
          </a:p>
        </p:txBody>
      </p:sp>
    </p:spTree>
    <p:extLst>
      <p:ext uri="{BB962C8B-B14F-4D97-AF65-F5344CB8AC3E}">
        <p14:creationId xmlns:p14="http://schemas.microsoft.com/office/powerpoint/2010/main" val="16139123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2026-09-09T11:34:51.9870000Z</dcterms:created>
  <dcterms:modified xsi:type="dcterms:W3CDTF">2026-09-09T11:34:51.9880000Z</dcterms:modified>
</coreProperties>
</file>