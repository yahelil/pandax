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industrial-control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U.S. matters illustrate the legal cost of missing vulnerability, evidence, and reporting controls. They are not CRA cases and the settlement structures are not directly comparable. Equifax agreed to pay at least $575 million, potentially up to $700 million; the FTC alleged an alerted critical vulnerability remained unpatched and that asset inventory and scanner coverage were incomplete: https://www.ftc.gov/news-events/news/press-releases/2019/07/equifax-pay-575-million-part-settlement-ftc-cfpb-states-related-2017-data-breach . Uber agreed to a $148 million nationwide settlement over the 2016 breach and alleged cover-up: https://www.oag.ca.gov/news/press-releases/california-attorney-general-becerra-san-francisco-district-attorney-gasc%C3%B3n . Ring agreed to pay $5.8 million for consumer refunds; the FTC alleged failures that enabled hackers to access accounts, cameras, and videos: https://www.ftc.gov/legal-library/browse/cases-proceedings/2023113-ring-llc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5CB74F-6E66-4E45-958F-E71108647AE7}"/>
              </a:ext>
            </a:extLst>
          </p:cNvPr>
          <p:cNvSpPr>
            <a:spLocks noGrp="1"/>
          </p:cNvSpPr>
          <p:nvPr/>
        </p:nvSpPr>
        <p:spPr>
          <a:xfrm>
            <a:off x="0" y="0"/>
            <a:ext cx="171450" cy="6858000"/>
          </a:xfrm>
          <a:prstGeom prst="rect">
            <a:avLst/>
          </a:prstGeom>
          <a:solidFill>
            <a:srgbClr val="4ED8A0"/>
          </a:solidFill>
          <a:ln w="0">
            <a:noFill/>
          </a:ln>
        </p:spPr>
      </p:sp>
      <p:sp>
        <p:nvSpPr>
          <p:cNvPr id="2" name="Rectangle 1">
            <a:extLst>
              <a:ext uri="{FF2B5EF4-FFF2-40B4-BE49-F238E27FC236}">
                <a16:creationId xmlns:a16="http://schemas.microsoft.com/office/drawing/2014/main" id="{CBE61533-357A-4081-BA58-7A92E8A0E6C0}"/>
              </a:ext>
            </a:extLst>
          </p:cNvPr>
          <p:cNvSpPr>
            <a:spLocks noGrp="1"/>
          </p:cNvSpPr>
          <p:nvPr/>
        </p:nvSpPr>
        <p:spPr>
          <a:xfrm>
            <a:off x="666750" y="1181100"/>
            <a:ext cx="6191250" cy="876300"/>
          </a:xfrm>
          <a:prstGeom prst="rect">
            <a:avLst/>
          </a:prstGeom>
          <a:noFill/>
          <a:ln w="0">
            <a:noFill/>
          </a:ln>
        </p:spPr>
        <p:txBody>
          <a:bodyPr wrap="square" lIns="0" tIns="0" rIns="0" bIns="0" anchor="t">
            <a:noAutofit/>
          </a:bodyPr>
          <a:lstStyle/>
          <a:p>
            <a:pPr algn="l">
              <a:lnSpc>
                <a:spcPct val="100000"/>
              </a:lnSpc>
              <a:buNone/>
              <a:defRPr sz="5400" b="1">
                <a:solidFill>
                  <a:srgbClr val="F2F5F9"/>
                </a:solidFill>
                <a:latin typeface="Segoe UI"/>
                <a:ea typeface="Segoe UI"/>
                <a:cs typeface="Segoe UI"/>
              </a:defRPr>
            </a:pPr>
            <a:r>
              <a:rPr sz="5400" b="1">
                <a:solidFill>
                  <a:srgbClr val="F2F5F9"/>
                </a:solidFill>
                <a:latin typeface="Segoe UI"/>
                <a:ea typeface="Segoe UI"/>
                <a:cs typeface="Segoe UI"/>
              </a:rPr>
              <a:t>PandaX</a:t>
            </a:r>
          </a:p>
        </p:txBody>
      </p:sp>
      <p:sp>
        <p:nvSpPr>
          <p:cNvPr id="3" name="Rectangle 2">
            <a:extLst>
              <a:ext uri="{FF2B5EF4-FFF2-40B4-BE49-F238E27FC236}">
                <a16:creationId xmlns:a16="http://schemas.microsoft.com/office/drawing/2014/main" id="{0A8F187E-8472-44CE-B1E2-BF2AE0D2044C}"/>
              </a:ext>
            </a:extLst>
          </p:cNvPr>
          <p:cNvSpPr>
            <a:spLocks noGrp="1"/>
          </p:cNvSpPr>
          <p:nvPr/>
        </p:nvSpPr>
        <p:spPr>
          <a:xfrm>
            <a:off x="685800" y="2190750"/>
            <a:ext cx="6191250" cy="1066800"/>
          </a:xfrm>
          <a:prstGeom prst="rect">
            <a:avLst/>
          </a:prstGeom>
          <a:noFill/>
          <a:ln w="0">
            <a:noFill/>
          </a:ln>
        </p:spPr>
        <p:txBody>
          <a:bodyPr wrap="square" lIns="0" tIns="0" rIns="0" bIns="0" anchor="t">
            <a:noAutofit/>
          </a:bodyPr>
          <a:lstStyle/>
          <a:p>
            <a:pPr algn="l">
              <a:lnSpc>
                <a:spcPct val="92000"/>
              </a:lnSpc>
              <a:buNone/>
              <a:defRPr sz="3300" b="1">
                <a:solidFill>
                  <a:srgbClr val="F2F5F9"/>
                </a:solidFill>
                <a:latin typeface="Segoe UI"/>
                <a:ea typeface="Segoe UI"/>
                <a:cs typeface="Segoe UI"/>
              </a:defRPr>
            </a:pPr>
            <a:r>
              <a:rPr sz="3300" b="1">
                <a:solidFill>
                  <a:srgbClr val="F2F5F9"/>
                </a:solidFill>
                <a:latin typeface="Segoe UI"/>
                <a:ea typeface="Segoe UI"/>
                <a:cs typeface="Segoe UI"/>
              </a:rPr>
              <a:t>Firmware evidence for CRA readiness</a:t>
            </a:r>
          </a:p>
        </p:txBody>
      </p:sp>
      <p:sp>
        <p:nvSpPr>
          <p:cNvPr id="4" name="Rectangle 3">
            <a:extLst>
              <a:ext uri="{FF2B5EF4-FFF2-40B4-BE49-F238E27FC236}">
                <a16:creationId xmlns:a16="http://schemas.microsoft.com/office/drawing/2014/main" id="{748FCB66-33B1-4FCF-A003-73C6A501FBA4}"/>
              </a:ext>
            </a:extLst>
          </p:cNvPr>
          <p:cNvSpPr>
            <a:spLocks noGrp="1"/>
          </p:cNvSpPr>
          <p:nvPr/>
        </p:nvSpPr>
        <p:spPr>
          <a:xfrm>
            <a:off x="704850" y="3524250"/>
            <a:ext cx="5334000" cy="685800"/>
          </a:xfrm>
          <a:prstGeom prst="rect">
            <a:avLst/>
          </a:prstGeom>
          <a:noFill/>
          <a:ln w="0">
            <a:noFill/>
          </a:ln>
        </p:spPr>
        <p:txBody>
          <a:bodyPr wrap="square" lIns="0" tIns="0" rIns="0" bIns="0" anchor="t">
            <a:noAutofit/>
          </a:bodyPr>
          <a:lstStyle/>
          <a:p>
            <a:pPr algn="l">
              <a:lnSpc>
                <a:spcPct val="105000"/>
              </a:lnSpc>
              <a:buNone/>
              <a:defRPr sz="1800" b="0">
                <a:solidFill>
                  <a:srgbClr val="A9B3C1"/>
                </a:solidFill>
                <a:latin typeface="Segoe UI"/>
                <a:ea typeface="Segoe UI"/>
                <a:cs typeface="Segoe UI"/>
              </a:defRPr>
            </a:pPr>
            <a:r>
              <a:rPr sz="1800" b="0">
                <a:solidFill>
                  <a:srgbClr val="A9B3C1"/>
                </a:solidFill>
                <a:latin typeface="Segoe UI"/>
                <a:ea typeface="Segoe UI"/>
                <a:cs typeface="Segoe UI"/>
              </a:rPr>
              <a:t>Customer pilot presentation for industrial and connected-product teams</a:t>
            </a:r>
          </a:p>
        </p:txBody>
      </p:sp>
      <p:sp>
        <p:nvSpPr>
          <p:cNvPr id="5" name="Rectangle: Rounded Corners 4">
            <a:extLst>
              <a:ext uri="{FF2B5EF4-FFF2-40B4-BE49-F238E27FC236}">
                <a16:creationId xmlns:a16="http://schemas.microsoft.com/office/drawing/2014/main" id="{5DF92ACD-2343-4628-910B-6311F1BA1392}"/>
              </a:ext>
            </a:extLst>
          </p:cNvPr>
          <p:cNvSpPr>
            <a:spLocks noGrp="1"/>
          </p:cNvSpPr>
          <p:nvPr/>
        </p:nvSpPr>
        <p:spPr>
          <a:xfrm>
            <a:off x="704850" y="4629150"/>
            <a:ext cx="2000250" cy="285750"/>
          </a:xfrm>
          <a:prstGeom prst="roundRect">
            <a:avLst>
              <a:gd name="adj" fmla="val 26667"/>
            </a:avLst>
          </a:prstGeom>
          <a:solidFill>
            <a:srgbClr val="171A20"/>
          </a:solidFill>
          <a:ln w="9525">
            <a:solidFill>
              <a:srgbClr val="2A2F36"/>
            </a:solidFill>
            <a:prstDash val="solid"/>
          </a:ln>
        </p:spPr>
        <p:txBody>
          <a:bodyPr lIns="47625" tIns="0" rIns="47625" bIns="0" anchor="ctr">
            <a:noAutofit/>
          </a:bodyPr>
          <a:lstStyle/>
          <a:p>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LOCAL / ON-PREMISES</a:t>
            </a:r>
          </a:p>
        </p:txBody>
      </p:sp>
      <p:sp>
        <p:nvSpPr>
          <p:cNvPr id="6" name="Rectangle: Rounded Corners 5">
            <a:extLst>
              <a:ext uri="{FF2B5EF4-FFF2-40B4-BE49-F238E27FC236}">
                <a16:creationId xmlns:a16="http://schemas.microsoft.com/office/drawing/2014/main" id="{395D9BAB-4F84-43FB-9EE3-C3B26E4FB3EC}"/>
              </a:ext>
            </a:extLst>
          </p:cNvPr>
          <p:cNvSpPr>
            <a:spLocks noGrp="1"/>
          </p:cNvSpPr>
          <p:nvPr/>
        </p:nvSpPr>
        <p:spPr>
          <a:xfrm>
            <a:off x="2857500" y="4629150"/>
            <a:ext cx="1809750" cy="285750"/>
          </a:xfrm>
          <a:prstGeom prst="roundRect">
            <a:avLst>
              <a:gd name="adj" fmla="val 26667"/>
            </a:avLst>
          </a:prstGeom>
          <a:solidFill>
            <a:srgbClr val="171A20"/>
          </a:solidFill>
          <a:ln w="9525">
            <a:solidFill>
              <a:srgbClr val="2A2F36"/>
            </a:solidFill>
            <a:prstDash val="solid"/>
          </a:ln>
        </p:spPr>
        <p:txBody>
          <a:bodyPr lIns="47625" tIns="0" rIns="47625" bIns="0" anchor="ctr">
            <a:noAutofit/>
          </a:bodyPr>
          <a:lstStyle/>
          <a:p>
            <a:pPr algn="ctr">
              <a:defRPr sz="1050" b="1">
                <a:solidFill>
                  <a:srgbClr val="4ED8A0"/>
                </a:solidFill>
                <a:latin typeface="Cascadia Mono"/>
                <a:ea typeface="Cascadia Mono"/>
                <a:cs typeface="Cascadia Mono"/>
              </a:defRPr>
            </a:pPr>
            <a:r>
              <a:rPr sz="1050" b="1">
                <a:solidFill>
                  <a:srgbClr val="4ED8A0"/>
                </a:solidFill>
                <a:latin typeface="Cascadia Mono"/>
                <a:ea typeface="Cascadia Mono"/>
                <a:cs typeface="Cascadia Mono"/>
              </a:rPr>
              <a:t>CRA ARTICLE 14</a:t>
            </a:r>
          </a:p>
        </p:txBody>
      </p:sp>
      <p:pic>
        <p:nvPicPr>
          <p:cNvPr id="15" name="Picture 14"/>
          <p:cNvPicPr>
            <a:picLocks noChangeAspect="1"/>
          </p:cNvPicPr>
          <p:nvPr/>
        </p:nvPicPr>
        <p:blipFill>
          <a:blip r:embed="rId3"/>
          <a:stretch/>
        </p:blipFill>
        <p:spPr>
          <a:xfrm>
            <a:off x="7524750" y="533400"/>
            <a:ext cx="3810000" cy="5715000"/>
          </a:xfrm>
          <a:prstGeom prst="rect">
            <a:avLst/>
          </a:prstGeom>
        </p:spPr>
      </p:pic>
      <p:sp>
        <p:nvSpPr>
          <p:cNvPr id="8" name="Rectangle 7">
            <a:extLst>
              <a:ext uri="{FF2B5EF4-FFF2-40B4-BE49-F238E27FC236}">
                <a16:creationId xmlns:a16="http://schemas.microsoft.com/office/drawing/2014/main" id="{34793CEF-9FBD-4718-BF2F-2C41D47297E4}"/>
              </a:ext>
            </a:extLst>
          </p:cNvPr>
          <p:cNvSpPr>
            <a:spLocks noGrp="1"/>
          </p:cNvSpPr>
          <p:nvPr/>
        </p:nvSpPr>
        <p:spPr>
          <a:xfrm>
            <a:off x="704850" y="6191250"/>
            <a:ext cx="3429000" cy="228600"/>
          </a:xfrm>
          <a:prstGeom prst="rect">
            <a:avLst/>
          </a:prstGeom>
          <a:noFill/>
          <a:ln w="0">
            <a:noFill/>
          </a:ln>
        </p:spPr>
        <p:txBody>
          <a:bodyPr wrap="square" lIns="0" tIns="0" rIns="0" bIns="0" anchor="t">
            <a:noAutofit/>
          </a:bodyPr>
          <a:lstStyle/>
          <a:p>
            <a:pPr algn="l">
              <a:lnSpc>
                <a:spcPct val="100000"/>
              </a:lnSpc>
              <a:buNone/>
              <a:defRPr sz="1050" b="0">
                <a:solidFill>
                  <a:srgbClr val="727D8C"/>
                </a:solidFill>
                <a:latin typeface="Cascadia Mono"/>
                <a:ea typeface="Cascadia Mono"/>
                <a:cs typeface="Cascadia Mono"/>
              </a:defRPr>
            </a:pPr>
            <a:r>
              <a:rPr sz="1050" b="0">
                <a:solidFill>
                  <a:srgbClr val="727D8C"/>
                </a:solidFill>
                <a:latin typeface="Cascadia Mono"/>
                <a:ea typeface="Cascadia Mono"/>
                <a:cs typeface="Cascadia Mono"/>
              </a:rPr>
              <a:t>Prepared 9 September 2026</a:t>
            </a:r>
          </a:p>
        </p:txBody>
      </p:sp>
    </p:spTree>
    <p:extLst>
      <p:ext uri="{BB962C8B-B14F-4D97-AF65-F5344CB8AC3E}">
        <p14:creationId xmlns:p14="http://schemas.microsoft.com/office/powerpoint/2010/main" val="288599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C2502E5-F8F0-4287-9DBD-5A34D563E70D}"/>
              </a:ext>
            </a:extLst>
          </p:cNvPr>
          <p:cNvSpPr>
            <a:spLocks noGrp="1"/>
          </p:cNvSpPr>
          <p:nvPr/>
        </p:nvSpPr>
        <p:spPr>
          <a:xfrm>
            <a:off x="0" y="0"/>
            <a:ext cx="6858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B4A9202A-3EC4-4149-9687-7A3BB87C513A}"/>
              </a:ext>
            </a:extLst>
          </p:cNvPr>
          <p:cNvSpPr>
            <a:spLocks noGrp="1"/>
          </p:cNvSpPr>
          <p:nvPr/>
        </p:nvSpPr>
        <p:spPr>
          <a:xfrm>
            <a:off x="533400" y="552450"/>
            <a:ext cx="57150" cy="514350"/>
          </a:xfrm>
          <a:prstGeom prst="rect">
            <a:avLst/>
          </a:prstGeom>
          <a:solidFill>
            <a:srgbClr val="4ED8A0"/>
          </a:solidFill>
          <a:ln w="0">
            <a:noFill/>
          </a:ln>
        </p:spPr>
      </p:sp>
      <p:sp>
        <p:nvSpPr>
          <p:cNvPr id="4" name="Rectangle 3">
            <a:extLst>
              <a:ext uri="{FF2B5EF4-FFF2-40B4-BE49-F238E27FC236}">
                <a16:creationId xmlns:a16="http://schemas.microsoft.com/office/drawing/2014/main" id="{5724EFDE-6B2E-43CF-BD55-B9F871CA9E54}"/>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alternative is a growing exposure backlog</a:t>
            </a:r>
          </a:p>
        </p:txBody>
      </p:sp>
      <p:sp>
        <p:nvSpPr>
          <p:cNvPr id="5" name="Rectangle 4">
            <a:extLst>
              <a:ext uri="{FF2B5EF4-FFF2-40B4-BE49-F238E27FC236}">
                <a16:creationId xmlns:a16="http://schemas.microsoft.com/office/drawing/2014/main" id="{77E248A6-3A76-4AE8-A65D-E8C7D44A807A}"/>
              </a:ext>
            </a:extLst>
          </p:cNvPr>
          <p:cNvSpPr>
            <a:spLocks noGrp="1"/>
          </p:cNvSpPr>
          <p:nvPr/>
        </p:nvSpPr>
        <p:spPr>
          <a:xfrm>
            <a:off x="781050" y="1924050"/>
            <a:ext cx="2000250" cy="838200"/>
          </a:xfrm>
          <a:prstGeom prst="rect">
            <a:avLst/>
          </a:prstGeom>
          <a:noFill/>
          <a:ln w="0">
            <a:noFill/>
          </a:ln>
        </p:spPr>
        <p:txBody>
          <a:bodyPr wrap="square" lIns="0" tIns="0" rIns="0" bIns="0" anchor="t">
            <a:noAutofit/>
          </a:bodyPr>
          <a:lstStyle/>
          <a:p>
            <a:pPr algn="l">
              <a:lnSpc>
                <a:spcPct val="100000"/>
              </a:lnSpc>
              <a:buNone/>
              <a:defRPr sz="5550" b="1">
                <a:solidFill>
                  <a:srgbClr val="167A57"/>
                </a:solidFill>
                <a:latin typeface="Segoe UI"/>
                <a:ea typeface="Segoe UI"/>
                <a:cs typeface="Segoe UI"/>
              </a:defRPr>
            </a:pPr>
            <a:r>
              <a:rPr sz="5550" b="1">
                <a:solidFill>
                  <a:srgbClr val="167A57"/>
                </a:solidFill>
                <a:latin typeface="Segoe UI"/>
                <a:ea typeface="Segoe UI"/>
                <a:cs typeface="Segoe UI"/>
              </a:rPr>
              <a:t>20%</a:t>
            </a:r>
          </a:p>
        </p:txBody>
      </p:sp>
      <p:sp>
        <p:nvSpPr>
          <p:cNvPr id="6" name="Rectangle 5">
            <a:extLst>
              <a:ext uri="{FF2B5EF4-FFF2-40B4-BE49-F238E27FC236}">
                <a16:creationId xmlns:a16="http://schemas.microsoft.com/office/drawing/2014/main" id="{4E42B4F1-E6AE-4FD4-81BE-47EC3BEEB515}"/>
              </a:ext>
            </a:extLst>
          </p:cNvPr>
          <p:cNvSpPr>
            <a:spLocks noGrp="1"/>
          </p:cNvSpPr>
          <p:nvPr/>
        </p:nvSpPr>
        <p:spPr>
          <a:xfrm>
            <a:off x="781050" y="2800350"/>
            <a:ext cx="4762500" cy="647700"/>
          </a:xfrm>
          <a:prstGeom prst="rect">
            <a:avLst/>
          </a:prstGeom>
          <a:noFill/>
          <a:ln w="0">
            <a:noFill/>
          </a:ln>
        </p:spPr>
        <p:txBody>
          <a:bodyPr wrap="square" lIns="0" tIns="0" rIns="0" bIns="0" anchor="t">
            <a:noAutofit/>
          </a:bodyPr>
          <a:lstStyle/>
          <a:p>
            <a:pPr algn="l">
              <a:lnSpc>
                <a:spcPct val="100000"/>
              </a:lnSpc>
              <a:buNone/>
              <a:defRPr sz="1875" b="1">
                <a:solidFill>
                  <a:srgbClr val="111713"/>
                </a:solidFill>
                <a:latin typeface="Segoe UI"/>
                <a:ea typeface="Segoe UI"/>
                <a:cs typeface="Segoe UI"/>
              </a:defRPr>
            </a:pPr>
            <a:r>
              <a:rPr sz="1875" b="1">
                <a:solidFill>
                  <a:srgbClr val="111713"/>
                </a:solidFill>
                <a:latin typeface="Segoe UI"/>
                <a:ea typeface="Segoe UI"/>
                <a:cs typeface="Segoe UI"/>
              </a:rPr>
              <a:t>of confirmed breaches began with vulnerability exploitation</a:t>
            </a:r>
          </a:p>
        </p:txBody>
      </p:sp>
      <p:sp>
        <p:nvSpPr>
          <p:cNvPr id="7" name="Straight Connector 6">
            <a:extLst>
              <a:ext uri="{FF2B5EF4-FFF2-40B4-BE49-F238E27FC236}">
                <a16:creationId xmlns:a16="http://schemas.microsoft.com/office/drawing/2014/main" id="{283ABBA3-A760-4643-83C0-EB6ABC53FC8B}"/>
              </a:ext>
            </a:extLst>
          </p:cNvPr>
          <p:cNvSpPr>
            <a:spLocks noGrp="1"/>
          </p:cNvSpPr>
          <p:nvPr/>
        </p:nvSpPr>
        <p:spPr>
          <a:xfrm>
            <a:off x="781050" y="3705225"/>
            <a:ext cx="4953000" cy="0"/>
          </a:xfrm>
          <a:prstGeom prst="line">
            <a:avLst/>
          </a:prstGeom>
          <a:noFill/>
          <a:ln w="19050">
            <a:solidFill>
              <a:srgbClr val="CBD5CF"/>
            </a:solidFill>
            <a:prstDash val="solid"/>
          </a:ln>
        </p:spPr>
      </p:sp>
      <p:sp>
        <p:nvSpPr>
          <p:cNvPr id="8" name="Rectangle 7">
            <a:extLst>
              <a:ext uri="{FF2B5EF4-FFF2-40B4-BE49-F238E27FC236}">
                <a16:creationId xmlns:a16="http://schemas.microsoft.com/office/drawing/2014/main" id="{572B6CCE-7C64-4D7B-928C-5368A203B602}"/>
              </a:ext>
            </a:extLst>
          </p:cNvPr>
          <p:cNvSpPr>
            <a:spLocks noGrp="1"/>
          </p:cNvSpPr>
          <p:nvPr/>
        </p:nvSpPr>
        <p:spPr>
          <a:xfrm>
            <a:off x="781050" y="3981450"/>
            <a:ext cx="2000250" cy="685800"/>
          </a:xfrm>
          <a:prstGeom prst="rect">
            <a:avLst/>
          </a:prstGeom>
          <a:noFill/>
          <a:ln w="0">
            <a:noFill/>
          </a:ln>
        </p:spPr>
        <p:txBody>
          <a:bodyPr wrap="square" lIns="0" tIns="0" rIns="0" bIns="0" anchor="t">
            <a:noAutofit/>
          </a:bodyPr>
          <a:lstStyle/>
          <a:p>
            <a:pPr algn="l">
              <a:lnSpc>
                <a:spcPct val="100000"/>
              </a:lnSpc>
              <a:buNone/>
              <a:defRPr sz="4350" b="1">
                <a:solidFill>
                  <a:srgbClr val="111713"/>
                </a:solidFill>
                <a:latin typeface="Segoe UI"/>
                <a:ea typeface="Segoe UI"/>
                <a:cs typeface="Segoe UI"/>
              </a:defRPr>
            </a:pPr>
            <a:r>
              <a:rPr sz="43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5A3880EC-CCB5-4B19-BA50-6D17D56E4DF5}"/>
              </a:ext>
            </a:extLst>
          </p:cNvPr>
          <p:cNvSpPr>
            <a:spLocks noGrp="1"/>
          </p:cNvSpPr>
          <p:nvPr/>
        </p:nvSpPr>
        <p:spPr>
          <a:xfrm>
            <a:off x="2571750" y="4095750"/>
            <a:ext cx="3429000" cy="666750"/>
          </a:xfrm>
          <a:prstGeom prst="rect">
            <a:avLst/>
          </a:prstGeom>
          <a:noFill/>
          <a:ln w="0">
            <a:noFill/>
          </a:ln>
        </p:spPr>
        <p:txBody>
          <a:bodyPr wrap="square" lIns="0" tIns="0" rIns="0" bIns="0" anchor="t">
            <a:noAutofit/>
          </a:bodyPr>
          <a:lstStyle/>
          <a:p>
            <a:pPr algn="l">
              <a:lnSpc>
                <a:spcPct val="105000"/>
              </a:lnSpc>
              <a:buNone/>
              <a:defRPr sz="1650" b="0">
                <a:solidFill>
                  <a:srgbClr val="53605A"/>
                </a:solidFill>
                <a:latin typeface="Segoe UI"/>
                <a:ea typeface="Segoe UI"/>
                <a:cs typeface="Segoe UI"/>
              </a:defRPr>
            </a:pPr>
            <a:r>
              <a:rPr sz="1650" b="0">
                <a:solidFill>
                  <a:srgbClr val="53605A"/>
                </a:solidFill>
                <a:latin typeface="Segoe UI"/>
                <a:ea typeface="Segoe UI"/>
                <a:cs typeface="Segoe UI"/>
              </a:rPr>
              <a:t>growth in vulnerability exploitation as initial access</a:t>
            </a:r>
          </a:p>
        </p:txBody>
      </p:sp>
      <p:sp>
        <p:nvSpPr>
          <p:cNvPr id="10" name="Rectangle 9">
            <a:extLst>
              <a:ext uri="{FF2B5EF4-FFF2-40B4-BE49-F238E27FC236}">
                <a16:creationId xmlns:a16="http://schemas.microsoft.com/office/drawing/2014/main" id="{CD4F5D71-9C4B-4494-B8BA-5275327CE24C}"/>
              </a:ext>
            </a:extLst>
          </p:cNvPr>
          <p:cNvSpPr>
            <a:spLocks noGrp="1"/>
          </p:cNvSpPr>
          <p:nvPr/>
        </p:nvSpPr>
        <p:spPr>
          <a:xfrm>
            <a:off x="781050" y="5010150"/>
            <a:ext cx="2000250" cy="685800"/>
          </a:xfrm>
          <a:prstGeom prst="rect">
            <a:avLst/>
          </a:prstGeom>
          <a:noFill/>
          <a:ln w="0">
            <a:noFill/>
          </a:ln>
        </p:spPr>
        <p:txBody>
          <a:bodyPr wrap="square" lIns="0" tIns="0" rIns="0" bIns="0" anchor="t">
            <a:noAutofit/>
          </a:bodyPr>
          <a:lstStyle/>
          <a:p>
            <a:pPr algn="l">
              <a:lnSpc>
                <a:spcPct val="100000"/>
              </a:lnSpc>
              <a:buNone/>
              <a:defRPr sz="4350" b="1">
                <a:solidFill>
                  <a:srgbClr val="111713"/>
                </a:solidFill>
                <a:latin typeface="Segoe UI"/>
                <a:ea typeface="Segoe UI"/>
                <a:cs typeface="Segoe UI"/>
              </a:defRPr>
            </a:pPr>
            <a:r>
              <a:rPr sz="43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1952696F-4AF8-4AF9-BAD6-82532DCA4843}"/>
              </a:ext>
            </a:extLst>
          </p:cNvPr>
          <p:cNvSpPr>
            <a:spLocks noGrp="1"/>
          </p:cNvSpPr>
          <p:nvPr/>
        </p:nvSpPr>
        <p:spPr>
          <a:xfrm>
            <a:off x="2571750" y="5124450"/>
            <a:ext cx="3143250" cy="533400"/>
          </a:xfrm>
          <a:prstGeom prst="rect">
            <a:avLst/>
          </a:prstGeom>
          <a:noFill/>
          <a:ln w="0">
            <a:noFill/>
          </a:ln>
        </p:spPr>
        <p:txBody>
          <a:bodyPr wrap="square" lIns="0" tIns="0" rIns="0" bIns="0" anchor="t">
            <a:noAutofit/>
          </a:bodyPr>
          <a:lstStyle/>
          <a:p>
            <a:pPr algn="l">
              <a:lnSpc>
                <a:spcPct val="105000"/>
              </a:lnSpc>
              <a:buNone/>
              <a:defRPr sz="1650" b="0">
                <a:solidFill>
                  <a:srgbClr val="53605A"/>
                </a:solidFill>
                <a:latin typeface="Segoe UI"/>
                <a:ea typeface="Segoe UI"/>
                <a:cs typeface="Segoe UI"/>
              </a:defRPr>
            </a:pPr>
            <a:r>
              <a:rPr sz="1650" b="0">
                <a:solidFill>
                  <a:srgbClr val="53605A"/>
                </a:solidFill>
                <a:latin typeface="Segoe UI"/>
                <a:ea typeface="Segoe UI"/>
                <a:cs typeface="Segoe UI"/>
              </a:rPr>
              <a:t>of breaches involved a third party</a:t>
            </a:r>
          </a:p>
        </p:txBody>
      </p:sp>
      <p:sp>
        <p:nvSpPr>
          <p:cNvPr id="12" name="Rectangle 11">
            <a:extLst>
              <a:ext uri="{FF2B5EF4-FFF2-40B4-BE49-F238E27FC236}">
                <a16:creationId xmlns:a16="http://schemas.microsoft.com/office/drawing/2014/main" id="{066A3415-42A1-4429-9156-37DDB9D6C781}"/>
              </a:ext>
            </a:extLst>
          </p:cNvPr>
          <p:cNvSpPr>
            <a:spLocks noGrp="1"/>
          </p:cNvSpPr>
          <p:nvPr/>
        </p:nvSpPr>
        <p:spPr>
          <a:xfrm>
            <a:off x="781050" y="5943600"/>
            <a:ext cx="4953000" cy="228600"/>
          </a:xfrm>
          <a:prstGeom prst="rect">
            <a:avLst/>
          </a:prstGeom>
          <a:noFill/>
          <a:ln w="0">
            <a:noFill/>
          </a:ln>
        </p:spPr>
        <p:txBody>
          <a:bodyPr wrap="square" lIns="0" tIns="0" rIns="0" bIns="0" anchor="t">
            <a:noAutofit/>
          </a:bodyPr>
          <a:lstStyle/>
          <a:p>
            <a:pPr algn="l">
              <a:lnSpc>
                <a:spcPct val="100000"/>
              </a:lnSpc>
              <a:buNone/>
              <a:defRPr sz="1050" b="1">
                <a:solidFill>
                  <a:srgbClr val="53605A"/>
                </a:solidFill>
                <a:latin typeface="Cascadia Mono"/>
                <a:ea typeface="Cascadia Mono"/>
                <a:cs typeface="Cascadia Mono"/>
              </a:defRPr>
            </a:pPr>
            <a:r>
              <a:rPr sz="1050" b="1">
                <a:solidFill>
                  <a:srgbClr val="53605A"/>
                </a:solidFill>
                <a:latin typeface="Cascadia Mono"/>
                <a:ea typeface="Cascadia Mono"/>
                <a:cs typeface="Cascadia Mono"/>
              </a:rPr>
              <a:t>VERIZON 2025 DBIR  /  12,195 CONFIRMED BREACHES</a:t>
            </a:r>
          </a:p>
        </p:txBody>
      </p:sp>
      <p:sp>
        <p:nvSpPr>
          <p:cNvPr id="13" name="Straight Connector 12">
            <a:extLst>
              <a:ext uri="{FF2B5EF4-FFF2-40B4-BE49-F238E27FC236}">
                <a16:creationId xmlns:a16="http://schemas.microsoft.com/office/drawing/2014/main" id="{97A5DB3F-123E-4539-A27F-DD77F9632F88}"/>
              </a:ext>
            </a:extLst>
          </p:cNvPr>
          <p:cNvSpPr>
            <a:spLocks noGrp="1"/>
          </p:cNvSpPr>
          <p:nvPr/>
        </p:nvSpPr>
        <p:spPr>
          <a:xfrm>
            <a:off x="533400" y="6496050"/>
            <a:ext cx="11125200" cy="0"/>
          </a:xfrm>
          <a:prstGeom prst="line">
            <a:avLst/>
          </a:prstGeom>
          <a:noFill/>
          <a:ln w="9525">
            <a:solidFill>
              <a:srgbClr val="D5DDD8"/>
            </a:solidFill>
            <a:prstDash val="solid"/>
          </a:ln>
        </p:spPr>
      </p:sp>
      <p:sp>
        <p:nvSpPr>
          <p:cNvPr id="14" name="Rectangle 13">
            <a:extLst>
              <a:ext uri="{FF2B5EF4-FFF2-40B4-BE49-F238E27FC236}">
                <a16:creationId xmlns:a16="http://schemas.microsoft.com/office/drawing/2014/main" id="{84B20676-314D-40E4-87AB-142E97FDD90F}"/>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53605A"/>
                </a:solidFill>
                <a:latin typeface="Cascadia Mono"/>
                <a:ea typeface="Cascadia Mono"/>
                <a:cs typeface="Cascadia Mono"/>
              </a:defRPr>
            </a:pPr>
            <a:r>
              <a:rPr sz="975" b="0">
                <a:solidFill>
                  <a:srgbClr val="53605A"/>
                </a:solidFill>
                <a:latin typeface="Cascadia Mono"/>
                <a:ea typeface="Cascadia Mono"/>
                <a:cs typeface="Cascadia Mono"/>
              </a:rPr>
              <a:t>PandaX  /  Customer pilot presentation</a:t>
            </a:r>
          </a:p>
        </p:txBody>
      </p:sp>
      <p:sp>
        <p:nvSpPr>
          <p:cNvPr id="15" name="Rectangle 14">
            <a:extLst>
              <a:ext uri="{FF2B5EF4-FFF2-40B4-BE49-F238E27FC236}">
                <a16:creationId xmlns:a16="http://schemas.microsoft.com/office/drawing/2014/main" id="{58494715-6BA6-4D6C-86E7-4DA2DF271088}"/>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02</a:t>
            </a:r>
          </a:p>
        </p:txBody>
      </p:sp>
    </p:spTree>
    <p:extLst>
      <p:ext uri="{BB962C8B-B14F-4D97-AF65-F5344CB8AC3E}">
        <p14:creationId xmlns:p14="http://schemas.microsoft.com/office/powerpoint/2010/main" val="608140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12C1C3A-FA29-47B4-B7DF-E7A06DA52200}"/>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D7C83AE9-FC18-4AE7-8AA5-C8FE71302DE8}"/>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CRA reporting clock</a:t>
            </a:r>
          </a:p>
        </p:txBody>
      </p:sp>
      <p:sp>
        <p:nvSpPr>
          <p:cNvPr id="3" name="Rectangle 2">
            <a:extLst>
              <a:ext uri="{FF2B5EF4-FFF2-40B4-BE49-F238E27FC236}">
                <a16:creationId xmlns:a16="http://schemas.microsoft.com/office/drawing/2014/main" id="{3CD5CD77-D2BD-4807-BB7C-FEF4CF55EFAE}"/>
              </a:ext>
            </a:extLst>
          </p:cNvPr>
          <p:cNvSpPr>
            <a:spLocks noGrp="1"/>
          </p:cNvSpPr>
          <p:nvPr/>
        </p:nvSpPr>
        <p:spPr>
          <a:xfrm>
            <a:off x="762000" y="1076325"/>
            <a:ext cx="10382250" cy="419100"/>
          </a:xfrm>
          <a:prstGeom prst="rect">
            <a:avLst/>
          </a:prstGeom>
          <a:noFill/>
          <a:ln w="0">
            <a:noFill/>
          </a:ln>
        </p:spPr>
        <p:txBody>
          <a:bodyPr wrap="square" lIns="0" tIns="0" rIns="0" bIns="0" anchor="t">
            <a:noAutofit/>
          </a:bodyPr>
          <a:lstStyle/>
          <a:p>
            <a:pPr algn="l">
              <a:lnSpc>
                <a:spcPct val="100000"/>
              </a:lnSpc>
              <a:buNone/>
              <a:defRPr sz="1500" b="0">
                <a:solidFill>
                  <a:srgbClr val="53605A"/>
                </a:solidFill>
                <a:latin typeface="Segoe UI"/>
                <a:ea typeface="Segoe UI"/>
                <a:cs typeface="Segoe UI"/>
              </a:defRPr>
            </a:pPr>
            <a:r>
              <a:rPr sz="1500" b="0">
                <a:solidFill>
                  <a:srgbClr val="53605A"/>
                </a:solidFill>
                <a:latin typeface="Segoe UI"/>
                <a:ea typeface="Segoe UI"/>
                <a:cs typeface="Segoe UI"/>
              </a:rPr>
              <a:t>One vulnerability can trigger a technical and legal response before the facts are complete.</a:t>
            </a:r>
          </a:p>
        </p:txBody>
      </p:sp>
      <p:sp>
        <p:nvSpPr>
          <p:cNvPr id="4" name="Rectangle 3">
            <a:extLst>
              <a:ext uri="{FF2B5EF4-FFF2-40B4-BE49-F238E27FC236}">
                <a16:creationId xmlns:a16="http://schemas.microsoft.com/office/drawing/2014/main" id="{0B44E3EF-0B1B-40F1-96AE-EE7BBB187C6E}"/>
              </a:ext>
            </a:extLst>
          </p:cNvPr>
          <p:cNvSpPr>
            <a:spLocks noGrp="1"/>
          </p:cNvSpPr>
          <p:nvPr/>
        </p:nvSpPr>
        <p:spPr>
          <a:xfrm>
            <a:off x="685800" y="1952625"/>
            <a:ext cx="1524000" cy="876300"/>
          </a:xfrm>
          <a:prstGeom prst="rect">
            <a:avLst/>
          </a:prstGeom>
          <a:noFill/>
          <a:ln w="0">
            <a:noFill/>
          </a:ln>
        </p:spPr>
        <p:txBody>
          <a:bodyPr wrap="square" lIns="0" tIns="0" rIns="0" bIns="0" anchor="t">
            <a:noAutofit/>
          </a:bodyPr>
          <a:lstStyle/>
          <a:p>
            <a:pPr algn="l">
              <a:lnSpc>
                <a:spcPct val="100000"/>
              </a:lnSpc>
              <a:buNone/>
              <a:defRPr sz="5850" b="1">
                <a:solidFill>
                  <a:srgbClr val="167A57"/>
                </a:solidFill>
                <a:latin typeface="Segoe UI"/>
                <a:ea typeface="Segoe UI"/>
                <a:cs typeface="Segoe UI"/>
              </a:defRPr>
            </a:pPr>
            <a:r>
              <a:rPr sz="5850" b="1">
                <a:solidFill>
                  <a:srgbClr val="167A57"/>
                </a:solidFill>
                <a:latin typeface="Segoe UI"/>
                <a:ea typeface="Segoe UI"/>
                <a:cs typeface="Segoe UI"/>
              </a:rPr>
              <a:t>24</a:t>
            </a:r>
          </a:p>
        </p:txBody>
      </p:sp>
      <p:sp>
        <p:nvSpPr>
          <p:cNvPr id="5" name="Rectangle 4">
            <a:extLst>
              <a:ext uri="{FF2B5EF4-FFF2-40B4-BE49-F238E27FC236}">
                <a16:creationId xmlns:a16="http://schemas.microsoft.com/office/drawing/2014/main" id="{882A0FF4-51E2-4F32-AA08-9DA1092E14A5}"/>
              </a:ext>
            </a:extLst>
          </p:cNvPr>
          <p:cNvSpPr>
            <a:spLocks noGrp="1"/>
          </p:cNvSpPr>
          <p:nvPr/>
        </p:nvSpPr>
        <p:spPr>
          <a:xfrm>
            <a:off x="2209800" y="2324100"/>
            <a:ext cx="1428750" cy="323850"/>
          </a:xfrm>
          <a:prstGeom prst="rect">
            <a:avLst/>
          </a:prstGeom>
          <a:noFill/>
          <a:ln w="0">
            <a:noFill/>
          </a:ln>
        </p:spPr>
        <p:txBody>
          <a:bodyPr wrap="square" lIns="0" tIns="0" rIns="0" bIns="0" anchor="t">
            <a:noAutofit/>
          </a:bodyPr>
          <a:lstStyle/>
          <a:p>
            <a:pPr algn="l">
              <a:lnSpc>
                <a:spcPct val="100000"/>
              </a:lnSpc>
              <a:buNone/>
              <a:defRPr sz="1650" b="1">
                <a:solidFill>
                  <a:srgbClr val="53605A"/>
                </a:solidFill>
                <a:latin typeface="Cascadia Mono"/>
                <a:ea typeface="Cascadia Mono"/>
                <a:cs typeface="Cascadia Mono"/>
              </a:defRPr>
            </a:pPr>
            <a:r>
              <a:rPr sz="1650" b="1">
                <a:solidFill>
                  <a:srgbClr val="53605A"/>
                </a:solidFill>
                <a:latin typeface="Cascadia Mono"/>
                <a:ea typeface="Cascadia Mono"/>
                <a:cs typeface="Cascadia Mono"/>
              </a:rPr>
              <a:t>HOURS</a:t>
            </a:r>
          </a:p>
        </p:txBody>
      </p:sp>
      <p:sp>
        <p:nvSpPr>
          <p:cNvPr id="6" name="Straight Connector 5">
            <a:extLst>
              <a:ext uri="{FF2B5EF4-FFF2-40B4-BE49-F238E27FC236}">
                <a16:creationId xmlns:a16="http://schemas.microsoft.com/office/drawing/2014/main" id="{FAF08342-7353-464E-BAF3-6C871BB96603}"/>
              </a:ext>
            </a:extLst>
          </p:cNvPr>
          <p:cNvSpPr>
            <a:spLocks noGrp="1"/>
          </p:cNvSpPr>
          <p:nvPr/>
        </p:nvSpPr>
        <p:spPr>
          <a:xfrm>
            <a:off x="685800" y="2981325"/>
            <a:ext cx="3143250" cy="0"/>
          </a:xfrm>
          <a:prstGeom prst="line">
            <a:avLst/>
          </a:prstGeom>
          <a:noFill/>
          <a:ln w="38100">
            <a:solidFill>
              <a:srgbClr val="4ED8A0"/>
            </a:solidFill>
            <a:prstDash val="solid"/>
          </a:ln>
        </p:spPr>
      </p:sp>
      <p:sp>
        <p:nvSpPr>
          <p:cNvPr id="7" name="Rectangle 6">
            <a:extLst>
              <a:ext uri="{FF2B5EF4-FFF2-40B4-BE49-F238E27FC236}">
                <a16:creationId xmlns:a16="http://schemas.microsoft.com/office/drawing/2014/main" id="{E2D6595C-6896-4FA9-9C70-5C9ED5DA46EF}"/>
              </a:ext>
            </a:extLst>
          </p:cNvPr>
          <p:cNvSpPr>
            <a:spLocks noGrp="1"/>
          </p:cNvSpPr>
          <p:nvPr/>
        </p:nvSpPr>
        <p:spPr>
          <a:xfrm>
            <a:off x="685800" y="3276600"/>
            <a:ext cx="3143250" cy="9144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Early warning</a:t>
            </a:r>
          </a:p>
        </p:txBody>
      </p:sp>
      <p:sp>
        <p:nvSpPr>
          <p:cNvPr id="8" name="Rectangle 7">
            <a:extLst>
              <a:ext uri="{FF2B5EF4-FFF2-40B4-BE49-F238E27FC236}">
                <a16:creationId xmlns:a16="http://schemas.microsoft.com/office/drawing/2014/main" id="{3FE5913B-A1DF-417E-BEAF-77ED17F57820}"/>
              </a:ext>
            </a:extLst>
          </p:cNvPr>
          <p:cNvSpPr>
            <a:spLocks noGrp="1"/>
          </p:cNvSpPr>
          <p:nvPr/>
        </p:nvSpPr>
        <p:spPr>
          <a:xfrm>
            <a:off x="4305300" y="1952625"/>
            <a:ext cx="152400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72</a:t>
            </a:r>
          </a:p>
        </p:txBody>
      </p:sp>
      <p:sp>
        <p:nvSpPr>
          <p:cNvPr id="9" name="Rectangle 8">
            <a:extLst>
              <a:ext uri="{FF2B5EF4-FFF2-40B4-BE49-F238E27FC236}">
                <a16:creationId xmlns:a16="http://schemas.microsoft.com/office/drawing/2014/main" id="{97F56A0E-A61B-41C9-A6BA-153129ED6C03}"/>
              </a:ext>
            </a:extLst>
          </p:cNvPr>
          <p:cNvSpPr>
            <a:spLocks noGrp="1"/>
          </p:cNvSpPr>
          <p:nvPr/>
        </p:nvSpPr>
        <p:spPr>
          <a:xfrm>
            <a:off x="5829300" y="2324100"/>
            <a:ext cx="1428750" cy="323850"/>
          </a:xfrm>
          <a:prstGeom prst="rect">
            <a:avLst/>
          </a:prstGeom>
          <a:noFill/>
          <a:ln w="0">
            <a:noFill/>
          </a:ln>
        </p:spPr>
        <p:txBody>
          <a:bodyPr wrap="square" lIns="0" tIns="0" rIns="0" bIns="0" anchor="t">
            <a:noAutofit/>
          </a:bodyPr>
          <a:lstStyle/>
          <a:p>
            <a:pPr algn="l">
              <a:lnSpc>
                <a:spcPct val="100000"/>
              </a:lnSpc>
              <a:buNone/>
              <a:defRPr sz="1650" b="1">
                <a:solidFill>
                  <a:srgbClr val="53605A"/>
                </a:solidFill>
                <a:latin typeface="Cascadia Mono"/>
                <a:ea typeface="Cascadia Mono"/>
                <a:cs typeface="Cascadia Mono"/>
              </a:defRPr>
            </a:pPr>
            <a:r>
              <a:rPr sz="1650" b="1">
                <a:solidFill>
                  <a:srgbClr val="53605A"/>
                </a:solidFill>
                <a:latin typeface="Cascadia Mono"/>
                <a:ea typeface="Cascadia Mono"/>
                <a:cs typeface="Cascadia Mono"/>
              </a:rPr>
              <a:t>HOURS</a:t>
            </a:r>
          </a:p>
        </p:txBody>
      </p:sp>
      <p:sp>
        <p:nvSpPr>
          <p:cNvPr id="10" name="Straight Connector 9">
            <a:extLst>
              <a:ext uri="{FF2B5EF4-FFF2-40B4-BE49-F238E27FC236}">
                <a16:creationId xmlns:a16="http://schemas.microsoft.com/office/drawing/2014/main" id="{95946D75-1228-46A5-8A6E-60826934DB21}"/>
              </a:ext>
            </a:extLst>
          </p:cNvPr>
          <p:cNvSpPr>
            <a:spLocks noGrp="1"/>
          </p:cNvSpPr>
          <p:nvPr/>
        </p:nvSpPr>
        <p:spPr>
          <a:xfrm>
            <a:off x="4305300" y="2981325"/>
            <a:ext cx="3143250" cy="0"/>
          </a:xfrm>
          <a:prstGeom prst="line">
            <a:avLst/>
          </a:prstGeom>
          <a:noFill/>
          <a:ln w="38100">
            <a:solidFill>
              <a:srgbClr val="CBD5CF"/>
            </a:solidFill>
            <a:prstDash val="solid"/>
          </a:ln>
        </p:spPr>
      </p:sp>
      <p:sp>
        <p:nvSpPr>
          <p:cNvPr id="11" name="Rectangle 10">
            <a:extLst>
              <a:ext uri="{FF2B5EF4-FFF2-40B4-BE49-F238E27FC236}">
                <a16:creationId xmlns:a16="http://schemas.microsoft.com/office/drawing/2014/main" id="{2B4AA24F-729F-4CC4-8108-2A1AF0792FCF}"/>
              </a:ext>
            </a:extLst>
          </p:cNvPr>
          <p:cNvSpPr>
            <a:spLocks noGrp="1"/>
          </p:cNvSpPr>
          <p:nvPr/>
        </p:nvSpPr>
        <p:spPr>
          <a:xfrm>
            <a:off x="4305300" y="3276600"/>
            <a:ext cx="3143250" cy="9144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or incident notification</a:t>
            </a:r>
          </a:p>
        </p:txBody>
      </p:sp>
      <p:sp>
        <p:nvSpPr>
          <p:cNvPr id="12" name="Rectangle 11">
            <a:extLst>
              <a:ext uri="{FF2B5EF4-FFF2-40B4-BE49-F238E27FC236}">
                <a16:creationId xmlns:a16="http://schemas.microsoft.com/office/drawing/2014/main" id="{7A751C64-1A06-4756-A492-917DA66CDE71}"/>
              </a:ext>
            </a:extLst>
          </p:cNvPr>
          <p:cNvSpPr>
            <a:spLocks noGrp="1"/>
          </p:cNvSpPr>
          <p:nvPr/>
        </p:nvSpPr>
        <p:spPr>
          <a:xfrm>
            <a:off x="7924800" y="1952625"/>
            <a:ext cx="1524000" cy="876300"/>
          </a:xfrm>
          <a:prstGeom prst="rect">
            <a:avLst/>
          </a:prstGeom>
          <a:noFill/>
          <a:ln w="0">
            <a:noFill/>
          </a:ln>
        </p:spPr>
        <p:txBody>
          <a:bodyPr wrap="square" lIns="0" tIns="0" rIns="0" bIns="0" anchor="t">
            <a:noAutofit/>
          </a:bodyPr>
          <a:lstStyle/>
          <a:p>
            <a:pPr algn="l">
              <a:lnSpc>
                <a:spcPct val="100000"/>
              </a:lnSpc>
              <a:buNone/>
              <a:defRPr sz="4050" b="1">
                <a:solidFill>
                  <a:srgbClr val="111713"/>
                </a:solidFill>
                <a:latin typeface="Segoe UI"/>
                <a:ea typeface="Segoe UI"/>
                <a:cs typeface="Segoe UI"/>
              </a:defRPr>
            </a:pPr>
            <a:r>
              <a:rPr sz="4050" b="1">
                <a:solidFill>
                  <a:srgbClr val="111713"/>
                </a:solidFill>
                <a:latin typeface="Segoe UI"/>
                <a:ea typeface="Segoe UI"/>
                <a:cs typeface="Segoe UI"/>
              </a:rPr>
              <a:t>FINAL</a:t>
            </a:r>
          </a:p>
        </p:txBody>
      </p:sp>
      <p:sp>
        <p:nvSpPr>
          <p:cNvPr id="13" name="Rectangle 12">
            <a:extLst>
              <a:ext uri="{FF2B5EF4-FFF2-40B4-BE49-F238E27FC236}">
                <a16:creationId xmlns:a16="http://schemas.microsoft.com/office/drawing/2014/main" id="{0780EB1A-369E-4AED-82B8-2D45CA28754F}"/>
              </a:ext>
            </a:extLst>
          </p:cNvPr>
          <p:cNvSpPr>
            <a:spLocks noGrp="1"/>
          </p:cNvSpPr>
          <p:nvPr/>
        </p:nvSpPr>
        <p:spPr>
          <a:xfrm>
            <a:off x="9448800" y="2324100"/>
            <a:ext cx="1428750" cy="323850"/>
          </a:xfrm>
          <a:prstGeom prst="rect">
            <a:avLst/>
          </a:prstGeom>
          <a:noFill/>
          <a:ln w="0">
            <a:noFill/>
          </a:ln>
        </p:spPr>
        <p:txBody>
          <a:bodyPr wrap="square" lIns="0" tIns="0" rIns="0" bIns="0" anchor="t">
            <a:noAutofit/>
          </a:bodyPr>
          <a:lstStyle/>
          <a:p>
            <a:pPr algn="l">
              <a:lnSpc>
                <a:spcPct val="100000"/>
              </a:lnSpc>
              <a:buNone/>
              <a:defRPr sz="1650" b="1">
                <a:solidFill>
                  <a:srgbClr val="53605A"/>
                </a:solidFill>
                <a:latin typeface="Cascadia Mono"/>
                <a:ea typeface="Cascadia Mono"/>
                <a:cs typeface="Cascadia Mono"/>
              </a:defRPr>
            </a:pPr>
            <a:r>
              <a:rPr sz="1650" b="1">
                <a:solidFill>
                  <a:srgbClr val="53605A"/>
                </a:solidFill>
                <a:latin typeface="Cascadia Mono"/>
                <a:ea typeface="Cascadia Mono"/>
                <a:cs typeface="Cascadia Mono"/>
              </a:rPr>
              <a:t>REPORT</a:t>
            </a:r>
          </a:p>
        </p:txBody>
      </p:sp>
      <p:sp>
        <p:nvSpPr>
          <p:cNvPr id="14" name="Straight Connector 13">
            <a:extLst>
              <a:ext uri="{FF2B5EF4-FFF2-40B4-BE49-F238E27FC236}">
                <a16:creationId xmlns:a16="http://schemas.microsoft.com/office/drawing/2014/main" id="{D41CEF1E-0E86-45EB-9D43-A8EE503A48D5}"/>
              </a:ext>
            </a:extLst>
          </p:cNvPr>
          <p:cNvSpPr>
            <a:spLocks noGrp="1"/>
          </p:cNvSpPr>
          <p:nvPr/>
        </p:nvSpPr>
        <p:spPr>
          <a:xfrm>
            <a:off x="7924800" y="2981325"/>
            <a:ext cx="3143250" cy="0"/>
          </a:xfrm>
          <a:prstGeom prst="line">
            <a:avLst/>
          </a:prstGeom>
          <a:noFill/>
          <a:ln w="38100">
            <a:solidFill>
              <a:srgbClr val="CBD5CF"/>
            </a:solidFill>
            <a:prstDash val="solid"/>
          </a:ln>
        </p:spPr>
      </p:sp>
      <p:sp>
        <p:nvSpPr>
          <p:cNvPr id="15" name="Rectangle 14">
            <a:extLst>
              <a:ext uri="{FF2B5EF4-FFF2-40B4-BE49-F238E27FC236}">
                <a16:creationId xmlns:a16="http://schemas.microsoft.com/office/drawing/2014/main" id="{E57D108E-22BA-4EA9-9A3F-3C20E935C647}"/>
              </a:ext>
            </a:extLst>
          </p:cNvPr>
          <p:cNvSpPr>
            <a:spLocks noGrp="1"/>
          </p:cNvSpPr>
          <p:nvPr/>
        </p:nvSpPr>
        <p:spPr>
          <a:xfrm>
            <a:off x="7924800" y="3276600"/>
            <a:ext cx="3143250" cy="9144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Root cause, impact, and mitigation</a:t>
            </a:r>
          </a:p>
        </p:txBody>
      </p:sp>
      <p:sp>
        <p:nvSpPr>
          <p:cNvPr id="16" name="Rectangle: Rounded Corners 15">
            <a:extLst>
              <a:ext uri="{FF2B5EF4-FFF2-40B4-BE49-F238E27FC236}">
                <a16:creationId xmlns:a16="http://schemas.microsoft.com/office/drawing/2014/main" id="{2E0EE31C-28D5-4ED9-AC4A-358DB18BA1E7}"/>
              </a:ext>
            </a:extLst>
          </p:cNvPr>
          <p:cNvSpPr>
            <a:spLocks noGrp="1"/>
          </p:cNvSpPr>
          <p:nvPr/>
        </p:nvSpPr>
        <p:spPr>
          <a:xfrm>
            <a:off x="685800" y="4686300"/>
            <a:ext cx="10820400" cy="1066800"/>
          </a:xfrm>
          <a:prstGeom prst="roundRect">
            <a:avLst>
              <a:gd name="adj" fmla="val 7143"/>
            </a:avLst>
          </a:prstGeom>
          <a:solidFill>
            <a:srgbClr val="111713"/>
          </a:solidFill>
          <a:ln w="0">
            <a:noFill/>
          </a:ln>
        </p:spPr>
      </p:sp>
      <p:sp>
        <p:nvSpPr>
          <p:cNvPr id="17" name="Rectangle 16">
            <a:extLst>
              <a:ext uri="{FF2B5EF4-FFF2-40B4-BE49-F238E27FC236}">
                <a16:creationId xmlns:a16="http://schemas.microsoft.com/office/drawing/2014/main" id="{FE0946A3-AD4C-4AE3-9B7E-54162076E156}"/>
              </a:ext>
            </a:extLst>
          </p:cNvPr>
          <p:cNvSpPr>
            <a:spLocks noGrp="1"/>
          </p:cNvSpPr>
          <p:nvPr/>
        </p:nvSpPr>
        <p:spPr>
          <a:xfrm>
            <a:off x="990600" y="4857750"/>
            <a:ext cx="3714750" cy="647700"/>
          </a:xfrm>
          <a:prstGeom prst="rect">
            <a:avLst/>
          </a:prstGeom>
          <a:noFill/>
          <a:ln w="0">
            <a:noFill/>
          </a:ln>
        </p:spPr>
        <p:txBody>
          <a:bodyPr wrap="square" lIns="0" tIns="0" rIns="0" bIns="0" anchor="ctr">
            <a:noAutofit/>
          </a:bodyPr>
          <a:lstStyle/>
          <a:p>
            <a:pPr algn="l">
              <a:lnSpc>
                <a:spcPct val="100000"/>
              </a:lnSpc>
              <a:buNone/>
              <a:defRPr sz="3600" b="1">
                <a:solidFill>
                  <a:srgbClr val="4ED8A0"/>
                </a:solidFill>
                <a:latin typeface="Segoe UI"/>
                <a:ea typeface="Segoe UI"/>
                <a:cs typeface="Segoe UI"/>
              </a:defRPr>
            </a:pPr>
            <a:r>
              <a:rPr sz="3600" b="1">
                <a:solidFill>
                  <a:srgbClr val="4ED8A0"/>
                </a:solidFill>
                <a:latin typeface="Segoe UI"/>
                <a:ea typeface="Segoe UI"/>
                <a:cs typeface="Segoe UI"/>
              </a:rPr>
              <a:t>€15M or 2.5%</a:t>
            </a:r>
          </a:p>
        </p:txBody>
      </p:sp>
      <p:sp>
        <p:nvSpPr>
          <p:cNvPr id="18" name="Rectangle 17">
            <a:extLst>
              <a:ext uri="{FF2B5EF4-FFF2-40B4-BE49-F238E27FC236}">
                <a16:creationId xmlns:a16="http://schemas.microsoft.com/office/drawing/2014/main" id="{A6863DC2-446A-44E7-BAB6-9E393C98A1D6}"/>
              </a:ext>
            </a:extLst>
          </p:cNvPr>
          <p:cNvSpPr>
            <a:spLocks noGrp="1"/>
          </p:cNvSpPr>
          <p:nvPr/>
        </p:nvSpPr>
        <p:spPr>
          <a:xfrm>
            <a:off x="4857750" y="4943475"/>
            <a:ext cx="6191250" cy="514350"/>
          </a:xfrm>
          <a:prstGeom prst="rect">
            <a:avLst/>
          </a:prstGeom>
          <a:noFill/>
          <a:ln w="0">
            <a:noFill/>
          </a:ln>
        </p:spPr>
        <p:txBody>
          <a:bodyPr wrap="square" lIns="0" tIns="0" rIns="0" bIns="0" anchor="ctr">
            <a:noAutofit/>
          </a:bodyPr>
          <a:lstStyle/>
          <a:p>
            <a:pPr algn="l">
              <a:lnSpc>
                <a:spcPct val="100000"/>
              </a:lnSpc>
              <a:buNone/>
              <a:defRPr sz="1875" b="0">
                <a:solidFill>
                  <a:srgbClr val="F2F5F9"/>
                </a:solidFill>
                <a:latin typeface="Segoe UI"/>
                <a:ea typeface="Segoe UI"/>
                <a:cs typeface="Segoe UI"/>
              </a:defRPr>
            </a:pPr>
            <a:r>
              <a:rPr sz="1875" b="0">
                <a:solidFill>
                  <a:srgbClr val="F2F5F9"/>
                </a:solidFill>
                <a:latin typeface="Segoe UI"/>
                <a:ea typeface="Segoe UI"/>
                <a:cs typeface="Segoe UI"/>
              </a:rPr>
              <a:t>maximum administrative fine for specified non-compliance</a:t>
            </a:r>
          </a:p>
        </p:txBody>
      </p:sp>
      <p:sp>
        <p:nvSpPr>
          <p:cNvPr id="19" name="Straight Connector 18">
            <a:extLst>
              <a:ext uri="{FF2B5EF4-FFF2-40B4-BE49-F238E27FC236}">
                <a16:creationId xmlns:a16="http://schemas.microsoft.com/office/drawing/2014/main" id="{90467881-69FA-4B4D-B804-8E41CEFF18B0}"/>
              </a:ext>
            </a:extLst>
          </p:cNvPr>
          <p:cNvSpPr>
            <a:spLocks noGrp="1"/>
          </p:cNvSpPr>
          <p:nvPr/>
        </p:nvSpPr>
        <p:spPr>
          <a:xfrm>
            <a:off x="533400" y="6496050"/>
            <a:ext cx="11125200" cy="0"/>
          </a:xfrm>
          <a:prstGeom prst="line">
            <a:avLst/>
          </a:prstGeom>
          <a:noFill/>
          <a:ln w="9525">
            <a:solidFill>
              <a:srgbClr val="D5DDD8"/>
            </a:solidFill>
            <a:prstDash val="solid"/>
          </a:ln>
        </p:spPr>
      </p:sp>
      <p:sp>
        <p:nvSpPr>
          <p:cNvPr id="20" name="Rectangle 19">
            <a:extLst>
              <a:ext uri="{FF2B5EF4-FFF2-40B4-BE49-F238E27FC236}">
                <a16:creationId xmlns:a16="http://schemas.microsoft.com/office/drawing/2014/main" id="{33204437-B951-4F04-8C21-6C09F68AC65B}"/>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53605A"/>
                </a:solidFill>
                <a:latin typeface="Cascadia Mono"/>
                <a:ea typeface="Cascadia Mono"/>
                <a:cs typeface="Cascadia Mono"/>
              </a:defRPr>
            </a:pPr>
            <a:r>
              <a:rPr sz="975" b="0">
                <a:solidFill>
                  <a:srgbClr val="53605A"/>
                </a:solidFill>
                <a:latin typeface="Cascadia Mono"/>
                <a:ea typeface="Cascadia Mono"/>
                <a:cs typeface="Cascadia Mono"/>
              </a:rPr>
              <a:t>PandaX  /  CRA Article 14 and Article 64</a:t>
            </a:r>
          </a:p>
        </p:txBody>
      </p:sp>
      <p:sp>
        <p:nvSpPr>
          <p:cNvPr id="21" name="Rectangle 20">
            <a:extLst>
              <a:ext uri="{FF2B5EF4-FFF2-40B4-BE49-F238E27FC236}">
                <a16:creationId xmlns:a16="http://schemas.microsoft.com/office/drawing/2014/main" id="{4EF15F66-2941-4E7E-834B-1EDC04734D4F}"/>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34585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E2CC6CC-72C1-4E6D-9354-11A291870B9D}"/>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E1D0F19C-9191-4174-A22D-9A859453FB15}"/>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Legal exposure already reaches billions</a:t>
            </a:r>
          </a:p>
        </p:txBody>
      </p:sp>
      <p:sp>
        <p:nvSpPr>
          <p:cNvPr id="3" name="Rectangle 2">
            <a:extLst>
              <a:ext uri="{FF2B5EF4-FFF2-40B4-BE49-F238E27FC236}">
                <a16:creationId xmlns:a16="http://schemas.microsoft.com/office/drawing/2014/main" id="{1A4BE341-C697-4E67-BE20-961BEC5274D5}"/>
              </a:ext>
            </a:extLst>
          </p:cNvPr>
          <p:cNvSpPr>
            <a:spLocks noGrp="1"/>
          </p:cNvSpPr>
          <p:nvPr/>
        </p:nvSpPr>
        <p:spPr>
          <a:xfrm>
            <a:off x="685800" y="1752600"/>
            <a:ext cx="3143250" cy="72390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$575M+</a:t>
            </a:r>
          </a:p>
        </p:txBody>
      </p:sp>
      <p:sp>
        <p:nvSpPr>
          <p:cNvPr id="4" name="Rectangle 3">
            <a:extLst>
              <a:ext uri="{FF2B5EF4-FFF2-40B4-BE49-F238E27FC236}">
                <a16:creationId xmlns:a16="http://schemas.microsoft.com/office/drawing/2014/main" id="{8D830AFC-ED31-49A5-9A52-E37C43780234}"/>
              </a:ext>
            </a:extLst>
          </p:cNvPr>
          <p:cNvSpPr>
            <a:spLocks noGrp="1"/>
          </p:cNvSpPr>
          <p:nvPr/>
        </p:nvSpPr>
        <p:spPr>
          <a:xfrm>
            <a:off x="685800" y="2571750"/>
            <a:ext cx="3143250" cy="400050"/>
          </a:xfrm>
          <a:prstGeom prst="rect">
            <a:avLst/>
          </a:prstGeom>
          <a:noFill/>
          <a:ln w="0">
            <a:noFill/>
          </a:ln>
        </p:spPr>
        <p:txBody>
          <a:bodyPr wrap="square" lIns="0" tIns="0" rIns="0" bIns="0" anchor="t">
            <a:noAutofit/>
          </a:bodyPr>
          <a:lstStyle/>
          <a:p>
            <a:pPr algn="l">
              <a:lnSpc>
                <a:spcPct val="100000"/>
              </a:lnSpc>
              <a:buNone/>
              <a:defRPr sz="2325" b="1">
                <a:solidFill>
                  <a:srgbClr val="111713"/>
                </a:solidFill>
                <a:latin typeface="Segoe UI"/>
                <a:ea typeface="Segoe UI"/>
                <a:cs typeface="Segoe UI"/>
              </a:defRPr>
            </a:pPr>
            <a:r>
              <a:rPr sz="2325" b="1">
                <a:solidFill>
                  <a:srgbClr val="111713"/>
                </a:solidFill>
                <a:latin typeface="Segoe UI"/>
                <a:ea typeface="Segoe UI"/>
                <a:cs typeface="Segoe UI"/>
              </a:rPr>
              <a:t>Equifax</a:t>
            </a:r>
          </a:p>
        </p:txBody>
      </p:sp>
      <p:sp>
        <p:nvSpPr>
          <p:cNvPr id="5" name="Straight Connector 4">
            <a:extLst>
              <a:ext uri="{FF2B5EF4-FFF2-40B4-BE49-F238E27FC236}">
                <a16:creationId xmlns:a16="http://schemas.microsoft.com/office/drawing/2014/main" id="{77219DFA-1DFD-4066-9AB4-F5188027B8B7}"/>
              </a:ext>
            </a:extLst>
          </p:cNvPr>
          <p:cNvSpPr>
            <a:spLocks noGrp="1"/>
          </p:cNvSpPr>
          <p:nvPr/>
        </p:nvSpPr>
        <p:spPr>
          <a:xfrm>
            <a:off x="685800" y="3143250"/>
            <a:ext cx="3067050" cy="0"/>
          </a:xfrm>
          <a:prstGeom prst="line">
            <a:avLst/>
          </a:prstGeom>
          <a:noFill/>
          <a:ln w="19050">
            <a:solidFill>
              <a:srgbClr val="CBD5CF"/>
            </a:solidFill>
            <a:prstDash val="solid"/>
          </a:ln>
        </p:spPr>
      </p:sp>
      <p:sp>
        <p:nvSpPr>
          <p:cNvPr id="6" name="Rectangle 5">
            <a:extLst>
              <a:ext uri="{FF2B5EF4-FFF2-40B4-BE49-F238E27FC236}">
                <a16:creationId xmlns:a16="http://schemas.microsoft.com/office/drawing/2014/main" id="{51682BFB-1610-446F-A4A6-E757B6B67502}"/>
              </a:ext>
            </a:extLst>
          </p:cNvPr>
          <p:cNvSpPr>
            <a:spLocks noGrp="1"/>
          </p:cNvSpPr>
          <p:nvPr/>
        </p:nvSpPr>
        <p:spPr>
          <a:xfrm>
            <a:off x="685800" y="3486150"/>
            <a:ext cx="3067050" cy="952500"/>
          </a:xfrm>
          <a:prstGeom prst="rect">
            <a:avLst/>
          </a:prstGeom>
          <a:noFill/>
          <a:ln w="0">
            <a:noFill/>
          </a:ln>
        </p:spPr>
        <p:txBody>
          <a:bodyPr wrap="square" lIns="0" tIns="0" rIns="0" bIns="0" anchor="t">
            <a:noAutofit/>
          </a:bodyPr>
          <a:lstStyle/>
          <a:p>
            <a:pPr algn="l">
              <a:lnSpc>
                <a:spcPct val="108000"/>
              </a:lnSpc>
              <a:buNone/>
              <a:defRPr sz="1875" b="1">
                <a:solidFill>
                  <a:srgbClr val="111713"/>
                </a:solidFill>
                <a:latin typeface="Segoe UI"/>
                <a:ea typeface="Segoe UI"/>
                <a:cs typeface="Segoe UI"/>
              </a:defRPr>
            </a:pPr>
            <a:r>
              <a:rPr sz="1875" b="1">
                <a:solidFill>
                  <a:srgbClr val="111713"/>
                </a:solidFill>
                <a:latin typeface="Segoe UI"/>
                <a:ea typeface="Segoe UI"/>
                <a:cs typeface="Segoe UI"/>
              </a:rPr>
              <a:t>A known vulnerability remained unpatched.</a:t>
            </a:r>
          </a:p>
        </p:txBody>
      </p:sp>
      <p:sp>
        <p:nvSpPr>
          <p:cNvPr id="7" name="Rectangle 6">
            <a:extLst>
              <a:ext uri="{FF2B5EF4-FFF2-40B4-BE49-F238E27FC236}">
                <a16:creationId xmlns:a16="http://schemas.microsoft.com/office/drawing/2014/main" id="{150164CA-3369-4D52-AD75-06B1B8EEB2A3}"/>
              </a:ext>
            </a:extLst>
          </p:cNvPr>
          <p:cNvSpPr>
            <a:spLocks noGrp="1"/>
          </p:cNvSpPr>
          <p:nvPr/>
        </p:nvSpPr>
        <p:spPr>
          <a:xfrm>
            <a:off x="4210050" y="1752600"/>
            <a:ext cx="3143250" cy="72390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$148M</a:t>
            </a:r>
          </a:p>
        </p:txBody>
      </p:sp>
      <p:sp>
        <p:nvSpPr>
          <p:cNvPr id="8" name="Rectangle 7">
            <a:extLst>
              <a:ext uri="{FF2B5EF4-FFF2-40B4-BE49-F238E27FC236}">
                <a16:creationId xmlns:a16="http://schemas.microsoft.com/office/drawing/2014/main" id="{13BFA93C-575E-4006-B540-3737602B5418}"/>
              </a:ext>
            </a:extLst>
          </p:cNvPr>
          <p:cNvSpPr>
            <a:spLocks noGrp="1"/>
          </p:cNvSpPr>
          <p:nvPr/>
        </p:nvSpPr>
        <p:spPr>
          <a:xfrm>
            <a:off x="4210050" y="2571750"/>
            <a:ext cx="3143250" cy="400050"/>
          </a:xfrm>
          <a:prstGeom prst="rect">
            <a:avLst/>
          </a:prstGeom>
          <a:noFill/>
          <a:ln w="0">
            <a:noFill/>
          </a:ln>
        </p:spPr>
        <p:txBody>
          <a:bodyPr wrap="square" lIns="0" tIns="0" rIns="0" bIns="0" anchor="t">
            <a:noAutofit/>
          </a:bodyPr>
          <a:lstStyle/>
          <a:p>
            <a:pPr algn="l">
              <a:lnSpc>
                <a:spcPct val="100000"/>
              </a:lnSpc>
              <a:buNone/>
              <a:defRPr sz="2325" b="1">
                <a:solidFill>
                  <a:srgbClr val="111713"/>
                </a:solidFill>
                <a:latin typeface="Segoe UI"/>
                <a:ea typeface="Segoe UI"/>
                <a:cs typeface="Segoe UI"/>
              </a:defRPr>
            </a:pPr>
            <a:r>
              <a:rPr sz="2325" b="1">
                <a:solidFill>
                  <a:srgbClr val="111713"/>
                </a:solidFill>
                <a:latin typeface="Segoe UI"/>
                <a:ea typeface="Segoe UI"/>
                <a:cs typeface="Segoe UI"/>
              </a:rPr>
              <a:t>Uber</a:t>
            </a:r>
          </a:p>
        </p:txBody>
      </p:sp>
      <p:sp>
        <p:nvSpPr>
          <p:cNvPr id="9" name="Straight Connector 8">
            <a:extLst>
              <a:ext uri="{FF2B5EF4-FFF2-40B4-BE49-F238E27FC236}">
                <a16:creationId xmlns:a16="http://schemas.microsoft.com/office/drawing/2014/main" id="{4EFDFE07-ED0B-4E08-92B8-3559879F189A}"/>
              </a:ext>
            </a:extLst>
          </p:cNvPr>
          <p:cNvSpPr>
            <a:spLocks noGrp="1"/>
          </p:cNvSpPr>
          <p:nvPr/>
        </p:nvSpPr>
        <p:spPr>
          <a:xfrm>
            <a:off x="4210050" y="3143250"/>
            <a:ext cx="3067050" cy="0"/>
          </a:xfrm>
          <a:prstGeom prst="line">
            <a:avLst/>
          </a:prstGeom>
          <a:noFill/>
          <a:ln w="19050">
            <a:solidFill>
              <a:srgbClr val="CBD5CF"/>
            </a:solidFill>
            <a:prstDash val="solid"/>
          </a:ln>
        </p:spPr>
      </p:sp>
      <p:sp>
        <p:nvSpPr>
          <p:cNvPr id="10" name="Rectangle 9">
            <a:extLst>
              <a:ext uri="{FF2B5EF4-FFF2-40B4-BE49-F238E27FC236}">
                <a16:creationId xmlns:a16="http://schemas.microsoft.com/office/drawing/2014/main" id="{AF1B8109-5182-4ABB-A7A3-238367BE9CF9}"/>
              </a:ext>
            </a:extLst>
          </p:cNvPr>
          <p:cNvSpPr>
            <a:spLocks noGrp="1"/>
          </p:cNvSpPr>
          <p:nvPr/>
        </p:nvSpPr>
        <p:spPr>
          <a:xfrm>
            <a:off x="4210050" y="3486150"/>
            <a:ext cx="3067050" cy="952500"/>
          </a:xfrm>
          <a:prstGeom prst="rect">
            <a:avLst/>
          </a:prstGeom>
          <a:noFill/>
          <a:ln w="0">
            <a:noFill/>
          </a:ln>
        </p:spPr>
        <p:txBody>
          <a:bodyPr wrap="square" lIns="0" tIns="0" rIns="0" bIns="0" anchor="t">
            <a:noAutofit/>
          </a:bodyPr>
          <a:lstStyle/>
          <a:p>
            <a:pPr algn="l">
              <a:lnSpc>
                <a:spcPct val="108000"/>
              </a:lnSpc>
              <a:buNone/>
              <a:defRPr sz="1875" b="1">
                <a:solidFill>
                  <a:srgbClr val="111713"/>
                </a:solidFill>
                <a:latin typeface="Segoe UI"/>
                <a:ea typeface="Segoe UI"/>
                <a:cs typeface="Segoe UI"/>
              </a:defRPr>
            </a:pPr>
            <a:r>
              <a:rPr sz="1875" b="1">
                <a:solidFill>
                  <a:srgbClr val="111713"/>
                </a:solidFill>
                <a:latin typeface="Segoe UI"/>
                <a:ea typeface="Segoe UI"/>
                <a:cs typeface="Segoe UI"/>
              </a:rPr>
              <a:t>Breach reporting and disclosure failed.</a:t>
            </a:r>
          </a:p>
        </p:txBody>
      </p:sp>
      <p:sp>
        <p:nvSpPr>
          <p:cNvPr id="11" name="Rectangle 10">
            <a:extLst>
              <a:ext uri="{FF2B5EF4-FFF2-40B4-BE49-F238E27FC236}">
                <a16:creationId xmlns:a16="http://schemas.microsoft.com/office/drawing/2014/main" id="{C540C4C7-069C-4045-976D-254E8D53872C}"/>
              </a:ext>
            </a:extLst>
          </p:cNvPr>
          <p:cNvSpPr>
            <a:spLocks noGrp="1"/>
          </p:cNvSpPr>
          <p:nvPr/>
        </p:nvSpPr>
        <p:spPr>
          <a:xfrm>
            <a:off x="7734300" y="1752600"/>
            <a:ext cx="3143250" cy="72390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$5.8M</a:t>
            </a:r>
          </a:p>
        </p:txBody>
      </p:sp>
      <p:sp>
        <p:nvSpPr>
          <p:cNvPr id="12" name="Rectangle 11">
            <a:extLst>
              <a:ext uri="{FF2B5EF4-FFF2-40B4-BE49-F238E27FC236}">
                <a16:creationId xmlns:a16="http://schemas.microsoft.com/office/drawing/2014/main" id="{FA9D15C1-95D1-4DAA-A29A-40B274EC3BA6}"/>
              </a:ext>
            </a:extLst>
          </p:cNvPr>
          <p:cNvSpPr>
            <a:spLocks noGrp="1"/>
          </p:cNvSpPr>
          <p:nvPr/>
        </p:nvSpPr>
        <p:spPr>
          <a:xfrm>
            <a:off x="7734300" y="2571750"/>
            <a:ext cx="3143250" cy="400050"/>
          </a:xfrm>
          <a:prstGeom prst="rect">
            <a:avLst/>
          </a:prstGeom>
          <a:noFill/>
          <a:ln w="0">
            <a:noFill/>
          </a:ln>
        </p:spPr>
        <p:txBody>
          <a:bodyPr wrap="square" lIns="0" tIns="0" rIns="0" bIns="0" anchor="t">
            <a:noAutofit/>
          </a:bodyPr>
          <a:lstStyle/>
          <a:p>
            <a:pPr algn="l">
              <a:lnSpc>
                <a:spcPct val="100000"/>
              </a:lnSpc>
              <a:buNone/>
              <a:defRPr sz="2325" b="1">
                <a:solidFill>
                  <a:srgbClr val="111713"/>
                </a:solidFill>
                <a:latin typeface="Segoe UI"/>
                <a:ea typeface="Segoe UI"/>
                <a:cs typeface="Segoe UI"/>
              </a:defRPr>
            </a:pPr>
            <a:r>
              <a:rPr sz="2325" b="1">
                <a:solidFill>
                  <a:srgbClr val="111713"/>
                </a:solidFill>
                <a:latin typeface="Segoe UI"/>
                <a:ea typeface="Segoe UI"/>
                <a:cs typeface="Segoe UI"/>
              </a:rPr>
              <a:t>Ring</a:t>
            </a:r>
          </a:p>
        </p:txBody>
      </p:sp>
      <p:sp>
        <p:nvSpPr>
          <p:cNvPr id="13" name="Straight Connector 12">
            <a:extLst>
              <a:ext uri="{FF2B5EF4-FFF2-40B4-BE49-F238E27FC236}">
                <a16:creationId xmlns:a16="http://schemas.microsoft.com/office/drawing/2014/main" id="{8A1DAFC1-D253-4DFF-A7B7-105A48C2652F}"/>
              </a:ext>
            </a:extLst>
          </p:cNvPr>
          <p:cNvSpPr>
            <a:spLocks noGrp="1"/>
          </p:cNvSpPr>
          <p:nvPr/>
        </p:nvSpPr>
        <p:spPr>
          <a:xfrm>
            <a:off x="7734300" y="3143250"/>
            <a:ext cx="3067050" cy="0"/>
          </a:xfrm>
          <a:prstGeom prst="line">
            <a:avLst/>
          </a:prstGeom>
          <a:noFill/>
          <a:ln w="19050">
            <a:solidFill>
              <a:srgbClr val="CBD5CF"/>
            </a:solidFill>
            <a:prstDash val="solid"/>
          </a:ln>
        </p:spPr>
      </p:sp>
      <p:sp>
        <p:nvSpPr>
          <p:cNvPr id="14" name="Rectangle 13">
            <a:extLst>
              <a:ext uri="{FF2B5EF4-FFF2-40B4-BE49-F238E27FC236}">
                <a16:creationId xmlns:a16="http://schemas.microsoft.com/office/drawing/2014/main" id="{3A0ADD23-3217-446F-9D92-EE2467385919}"/>
              </a:ext>
            </a:extLst>
          </p:cNvPr>
          <p:cNvSpPr>
            <a:spLocks noGrp="1"/>
          </p:cNvSpPr>
          <p:nvPr/>
        </p:nvSpPr>
        <p:spPr>
          <a:xfrm>
            <a:off x="7734300" y="3486150"/>
            <a:ext cx="3067050" cy="952500"/>
          </a:xfrm>
          <a:prstGeom prst="rect">
            <a:avLst/>
          </a:prstGeom>
          <a:noFill/>
          <a:ln w="0">
            <a:noFill/>
          </a:ln>
        </p:spPr>
        <p:txBody>
          <a:bodyPr wrap="square" lIns="0" tIns="0" rIns="0" bIns="0" anchor="t">
            <a:noAutofit/>
          </a:bodyPr>
          <a:lstStyle/>
          <a:p>
            <a:pPr algn="l">
              <a:lnSpc>
                <a:spcPct val="108000"/>
              </a:lnSpc>
              <a:buNone/>
              <a:defRPr sz="1875" b="1">
                <a:solidFill>
                  <a:srgbClr val="111713"/>
                </a:solidFill>
                <a:latin typeface="Segoe UI"/>
                <a:ea typeface="Segoe UI"/>
                <a:cs typeface="Segoe UI"/>
              </a:defRPr>
            </a:pPr>
            <a:r>
              <a:rPr sz="1875" b="1">
                <a:solidFill>
                  <a:srgbClr val="111713"/>
                </a:solidFill>
                <a:latin typeface="Segoe UI"/>
                <a:ea typeface="Segoe UI"/>
                <a:cs typeface="Segoe UI"/>
              </a:rPr>
              <a:t>Connected devices lacked basic safeguards.</a:t>
            </a:r>
          </a:p>
        </p:txBody>
      </p:sp>
      <p:sp>
        <p:nvSpPr>
          <p:cNvPr id="15" name="Rectangle: Rounded Corners 14">
            <a:extLst>
              <a:ext uri="{FF2B5EF4-FFF2-40B4-BE49-F238E27FC236}">
                <a16:creationId xmlns:a16="http://schemas.microsoft.com/office/drawing/2014/main" id="{5D1AEB8C-3C6F-4776-8607-888D9DA4DC38}"/>
              </a:ext>
            </a:extLst>
          </p:cNvPr>
          <p:cNvSpPr>
            <a:spLocks noGrp="1"/>
          </p:cNvSpPr>
          <p:nvPr/>
        </p:nvSpPr>
        <p:spPr>
          <a:xfrm>
            <a:off x="685800" y="5010150"/>
            <a:ext cx="10820400" cy="933450"/>
          </a:xfrm>
          <a:prstGeom prst="roundRect">
            <a:avLst>
              <a:gd name="adj" fmla="val 8163"/>
            </a:avLst>
          </a:prstGeom>
          <a:solidFill>
            <a:srgbClr val="111713"/>
          </a:solidFill>
          <a:ln w="0">
            <a:noFill/>
          </a:ln>
        </p:spPr>
      </p:sp>
      <p:sp>
        <p:nvSpPr>
          <p:cNvPr id="16" name="Rectangle 15">
            <a:extLst>
              <a:ext uri="{FF2B5EF4-FFF2-40B4-BE49-F238E27FC236}">
                <a16:creationId xmlns:a16="http://schemas.microsoft.com/office/drawing/2014/main" id="{7FA524A7-9690-401D-AA82-C846CB3D6F51}"/>
              </a:ext>
            </a:extLst>
          </p:cNvPr>
          <p:cNvSpPr>
            <a:spLocks noGrp="1"/>
          </p:cNvSpPr>
          <p:nvPr/>
        </p:nvSpPr>
        <p:spPr>
          <a:xfrm>
            <a:off x="990600" y="5153025"/>
            <a:ext cx="1809750" cy="533400"/>
          </a:xfrm>
          <a:prstGeom prst="rect">
            <a:avLst/>
          </a:prstGeom>
          <a:noFill/>
          <a:ln w="0">
            <a:noFill/>
          </a:ln>
        </p:spPr>
        <p:txBody>
          <a:bodyPr wrap="square" lIns="0" tIns="0" rIns="0" bIns="0" anchor="t">
            <a:noAutofit/>
          </a:bodyPr>
          <a:lstStyle/>
          <a:p>
            <a:pPr algn="l">
              <a:lnSpc>
                <a:spcPct val="100000"/>
              </a:lnSpc>
              <a:buNone/>
              <a:defRPr sz="3150" b="1">
                <a:solidFill>
                  <a:srgbClr val="4ED8A0"/>
                </a:solidFill>
                <a:latin typeface="Segoe UI"/>
                <a:ea typeface="Segoe UI"/>
                <a:cs typeface="Segoe UI"/>
              </a:defRPr>
            </a:pPr>
            <a:r>
              <a:rPr sz="3150" b="1">
                <a:solidFill>
                  <a:srgbClr val="4ED8A0"/>
                </a:solidFill>
                <a:latin typeface="Segoe UI"/>
                <a:ea typeface="Segoe UI"/>
                <a:cs typeface="Segoe UI"/>
              </a:rPr>
              <a:t>3,206</a:t>
            </a:r>
          </a:p>
        </p:txBody>
      </p:sp>
      <p:sp>
        <p:nvSpPr>
          <p:cNvPr id="17" name="Rectangle 16">
            <a:extLst>
              <a:ext uri="{FF2B5EF4-FFF2-40B4-BE49-F238E27FC236}">
                <a16:creationId xmlns:a16="http://schemas.microsoft.com/office/drawing/2014/main" id="{E395E05D-B2DE-4F79-9886-062EF605D94E}"/>
              </a:ext>
            </a:extLst>
          </p:cNvPr>
          <p:cNvSpPr>
            <a:spLocks noGrp="1"/>
          </p:cNvSpPr>
          <p:nvPr/>
        </p:nvSpPr>
        <p:spPr>
          <a:xfrm>
            <a:off x="2619375" y="5257800"/>
            <a:ext cx="1762125" cy="34290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GDPR cases</a:t>
            </a:r>
          </a:p>
        </p:txBody>
      </p:sp>
      <p:sp>
        <p:nvSpPr>
          <p:cNvPr id="18" name="Straight Connector 17">
            <a:extLst>
              <a:ext uri="{FF2B5EF4-FFF2-40B4-BE49-F238E27FC236}">
                <a16:creationId xmlns:a16="http://schemas.microsoft.com/office/drawing/2014/main" id="{9B60B4F2-BC2A-47E3-B6EF-9D09A702D7A4}"/>
              </a:ext>
            </a:extLst>
          </p:cNvPr>
          <p:cNvSpPr>
            <a:spLocks noGrp="1"/>
          </p:cNvSpPr>
          <p:nvPr/>
        </p:nvSpPr>
        <p:spPr>
          <a:xfrm>
            <a:off x="4667250" y="5200650"/>
            <a:ext cx="0" cy="514350"/>
          </a:xfrm>
          <a:prstGeom prst="line">
            <a:avLst/>
          </a:prstGeom>
          <a:noFill/>
          <a:ln w="19050">
            <a:solidFill>
              <a:srgbClr val="2A2F36"/>
            </a:solidFill>
            <a:prstDash val="solid"/>
          </a:ln>
        </p:spPr>
      </p:sp>
      <p:sp>
        <p:nvSpPr>
          <p:cNvPr id="19" name="Rectangle 18">
            <a:extLst>
              <a:ext uri="{FF2B5EF4-FFF2-40B4-BE49-F238E27FC236}">
                <a16:creationId xmlns:a16="http://schemas.microsoft.com/office/drawing/2014/main" id="{722523D0-F50B-4AB4-8B3A-1FA40B1221B1}"/>
              </a:ext>
            </a:extLst>
          </p:cNvPr>
          <p:cNvSpPr>
            <a:spLocks noGrp="1"/>
          </p:cNvSpPr>
          <p:nvPr/>
        </p:nvSpPr>
        <p:spPr>
          <a:xfrm>
            <a:off x="5048250" y="5153025"/>
            <a:ext cx="2190750" cy="533400"/>
          </a:xfrm>
          <a:prstGeom prst="rect">
            <a:avLst/>
          </a:prstGeom>
          <a:noFill/>
          <a:ln w="0">
            <a:noFill/>
          </a:ln>
        </p:spPr>
        <p:txBody>
          <a:bodyPr wrap="square" lIns="0" tIns="0" rIns="0" bIns="0" anchor="t">
            <a:noAutofit/>
          </a:bodyPr>
          <a:lstStyle/>
          <a:p>
            <a:pPr algn="l">
              <a:lnSpc>
                <a:spcPct val="100000"/>
              </a:lnSpc>
              <a:buNone/>
              <a:defRPr sz="3150" b="1">
                <a:solidFill>
                  <a:srgbClr val="4ED8A0"/>
                </a:solidFill>
                <a:latin typeface="Segoe UI"/>
                <a:ea typeface="Segoe UI"/>
                <a:cs typeface="Segoe UI"/>
              </a:defRPr>
            </a:pPr>
            <a:r>
              <a:rPr sz="3150" b="1">
                <a:solidFill>
                  <a:srgbClr val="4ED8A0"/>
                </a:solidFill>
                <a:latin typeface="Segoe UI"/>
                <a:ea typeface="Segoe UI"/>
                <a:cs typeface="Segoe UI"/>
              </a:rPr>
              <a:t>€6.31B</a:t>
            </a:r>
          </a:p>
        </p:txBody>
      </p:sp>
      <p:sp>
        <p:nvSpPr>
          <p:cNvPr id="20" name="Rectangle 19">
            <a:extLst>
              <a:ext uri="{FF2B5EF4-FFF2-40B4-BE49-F238E27FC236}">
                <a16:creationId xmlns:a16="http://schemas.microsoft.com/office/drawing/2014/main" id="{258DCDDF-6CB8-41D4-8123-0F4D26878B9C}"/>
              </a:ext>
            </a:extLst>
          </p:cNvPr>
          <p:cNvSpPr>
            <a:spLocks noGrp="1"/>
          </p:cNvSpPr>
          <p:nvPr/>
        </p:nvSpPr>
        <p:spPr>
          <a:xfrm>
            <a:off x="7048500" y="5257800"/>
            <a:ext cx="2095500" cy="342900"/>
          </a:xfrm>
          <a:prstGeom prst="rect">
            <a:avLst/>
          </a:prstGeom>
          <a:noFill/>
          <a:ln w="0">
            <a:noFill/>
          </a:ln>
        </p:spPr>
        <p:txBody>
          <a:bodyPr wrap="square" lIns="0" tIns="0" rIns="0" bIns="0" anchor="t">
            <a:noAutofit/>
          </a:bodyPr>
          <a:lstStyle/>
          <a:p>
            <a:pPr algn="l">
              <a:lnSpc>
                <a:spcPct val="100000"/>
              </a:lnSpc>
              <a:buNone/>
              <a:defRPr sz="1800" b="1">
                <a:solidFill>
                  <a:srgbClr val="F2F5F9"/>
                </a:solidFill>
                <a:latin typeface="Segoe UI"/>
                <a:ea typeface="Segoe UI"/>
                <a:cs typeface="Segoe UI"/>
              </a:defRPr>
            </a:pPr>
            <a:r>
              <a:rPr sz="1800" b="1">
                <a:solidFill>
                  <a:srgbClr val="F2F5F9"/>
                </a:solidFill>
                <a:latin typeface="Segoe UI"/>
                <a:ea typeface="Segoe UI"/>
                <a:cs typeface="Segoe UI"/>
              </a:rPr>
              <a:t>tracked fines</a:t>
            </a:r>
          </a:p>
        </p:txBody>
      </p:sp>
      <p:sp>
        <p:nvSpPr>
          <p:cNvPr id="21" name="Rectangle 20">
            <a:extLst>
              <a:ext uri="{FF2B5EF4-FFF2-40B4-BE49-F238E27FC236}">
                <a16:creationId xmlns:a16="http://schemas.microsoft.com/office/drawing/2014/main" id="{F7475F13-7D3B-40C1-B93D-17B410AAE2A0}"/>
              </a:ext>
            </a:extLst>
          </p:cNvPr>
          <p:cNvSpPr>
            <a:spLocks noGrp="1"/>
          </p:cNvSpPr>
          <p:nvPr/>
        </p:nvSpPr>
        <p:spPr>
          <a:xfrm>
            <a:off x="9334500" y="5257800"/>
            <a:ext cx="1809750" cy="342900"/>
          </a:xfrm>
          <a:prstGeom prst="rect">
            <a:avLst/>
          </a:prstGeom>
          <a:noFill/>
          <a:ln w="0">
            <a:noFill/>
          </a:ln>
        </p:spPr>
        <p:txBody>
          <a:bodyPr wrap="square" lIns="0" tIns="0" rIns="0" bIns="0" anchor="t">
            <a:noAutofit/>
          </a:bodyPr>
          <a:lstStyle/>
          <a:p>
            <a:pPr algn="r">
              <a:lnSpc>
                <a:spcPct val="100000"/>
              </a:lnSpc>
              <a:buNone/>
              <a:defRPr sz="1650" b="0">
                <a:solidFill>
                  <a:srgbClr val="A9B3C1"/>
                </a:solidFill>
                <a:latin typeface="Segoe UI"/>
                <a:ea typeface="Segoe UI"/>
                <a:cs typeface="Segoe UI"/>
              </a:defRPr>
            </a:pPr>
            <a:r>
              <a:rPr sz="1650" b="0">
                <a:solidFill>
                  <a:srgbClr val="A9B3C1"/>
                </a:solidFill>
                <a:latin typeface="Segoe UI"/>
                <a:ea typeface="Segoe UI"/>
                <a:cs typeface="Segoe UI"/>
              </a:rPr>
              <a:t>32 countries</a:t>
            </a:r>
          </a:p>
        </p:txBody>
      </p:sp>
      <p:sp>
        <p:nvSpPr>
          <p:cNvPr id="22" name="Straight Connector 21">
            <a:extLst>
              <a:ext uri="{FF2B5EF4-FFF2-40B4-BE49-F238E27FC236}">
                <a16:creationId xmlns:a16="http://schemas.microsoft.com/office/drawing/2014/main" id="{5841D791-A9A0-4B4A-A4F7-A1029DC12A7F}"/>
              </a:ext>
            </a:extLst>
          </p:cNvPr>
          <p:cNvSpPr>
            <a:spLocks noGrp="1"/>
          </p:cNvSpPr>
          <p:nvPr/>
        </p:nvSpPr>
        <p:spPr>
          <a:xfrm>
            <a:off x="533400" y="6496050"/>
            <a:ext cx="11125200" cy="0"/>
          </a:xfrm>
          <a:prstGeom prst="line">
            <a:avLst/>
          </a:prstGeom>
          <a:noFill/>
          <a:ln w="9525">
            <a:solidFill>
              <a:srgbClr val="D5DDD8"/>
            </a:solidFill>
            <a:prstDash val="solid"/>
          </a:ln>
        </p:spPr>
      </p:sp>
      <p:sp>
        <p:nvSpPr>
          <p:cNvPr id="23" name="Rectangle 22">
            <a:extLst>
              <a:ext uri="{FF2B5EF4-FFF2-40B4-BE49-F238E27FC236}">
                <a16:creationId xmlns:a16="http://schemas.microsoft.com/office/drawing/2014/main" id="{44BC84AD-31A4-4158-84A7-C14C8B0D65A5}"/>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53605A"/>
                </a:solidFill>
                <a:latin typeface="Cascadia Mono"/>
                <a:ea typeface="Cascadia Mono"/>
                <a:cs typeface="Cascadia Mono"/>
              </a:defRPr>
            </a:pPr>
            <a:r>
              <a:rPr sz="975" b="0">
                <a:solidFill>
                  <a:srgbClr val="53605A"/>
                </a:solidFill>
                <a:latin typeface="Cascadia Mono"/>
                <a:ea typeface="Cascadia Mono"/>
                <a:cs typeface="Cascadia Mono"/>
              </a:rPr>
              <a:t>PandaX  /  Cybersecurity and GDPR context, not CRA precedents</a:t>
            </a:r>
          </a:p>
        </p:txBody>
      </p:sp>
      <p:sp>
        <p:nvSpPr>
          <p:cNvPr id="24" name="Rectangle 23">
            <a:extLst>
              <a:ext uri="{FF2B5EF4-FFF2-40B4-BE49-F238E27FC236}">
                <a16:creationId xmlns:a16="http://schemas.microsoft.com/office/drawing/2014/main" id="{A2E4A095-6083-44DF-BBF0-F8A18972D1B2}"/>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04</a:t>
            </a:r>
          </a:p>
        </p:txBody>
      </p:sp>
    </p:spTree>
    <p:extLst>
      <p:ext uri="{BB962C8B-B14F-4D97-AF65-F5344CB8AC3E}">
        <p14:creationId xmlns:p14="http://schemas.microsoft.com/office/powerpoint/2010/main" val="456372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3D35AE25-E1A2-469B-ABEE-3459F6E32052}"/>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9C1A218A-9686-4644-8CD5-CDF67DF40D1B}"/>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PandaX connects firmware evidence to CRA workflow</a:t>
            </a:r>
          </a:p>
        </p:txBody>
      </p:sp>
      <p:sp>
        <p:nvSpPr>
          <p:cNvPr id="3" name="Rectangle 2">
            <a:extLst>
              <a:ext uri="{FF2B5EF4-FFF2-40B4-BE49-F238E27FC236}">
                <a16:creationId xmlns:a16="http://schemas.microsoft.com/office/drawing/2014/main" id="{366862BC-70B9-453C-92C5-8304D3F43805}"/>
              </a:ext>
            </a:extLst>
          </p:cNvPr>
          <p:cNvSpPr>
            <a:spLocks noGrp="1"/>
          </p:cNvSpPr>
          <p:nvPr/>
        </p:nvSpPr>
        <p:spPr>
          <a:xfrm>
            <a:off x="685800" y="1962150"/>
            <a:ext cx="438150" cy="247650"/>
          </a:xfrm>
          <a:prstGeom prst="rect">
            <a:avLst/>
          </a:prstGeom>
          <a:noFill/>
          <a:ln w="0">
            <a:noFill/>
          </a:ln>
        </p:spPr>
        <p:txBody>
          <a:bodyPr wrap="square" lIns="0" tIns="0" rIns="0" bIns="0" anchor="t">
            <a:noAutofit/>
          </a:bodyPr>
          <a:lstStyle/>
          <a:p>
            <a:pPr algn="l">
              <a:lnSpc>
                <a:spcPct val="100000"/>
              </a:lnSpc>
              <a:buNone/>
              <a:defRPr sz="1200" b="1">
                <a:solidFill>
                  <a:srgbClr val="167A57"/>
                </a:solidFill>
                <a:latin typeface="Cascadia Mono"/>
                <a:ea typeface="Cascadia Mono"/>
                <a:cs typeface="Cascadia Mono"/>
              </a:defRPr>
            </a:pPr>
            <a:r>
              <a:rPr sz="1200" b="1">
                <a:solidFill>
                  <a:srgbClr val="167A57"/>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FEEB9946-0C04-45C5-9A05-F29D776727A0}"/>
              </a:ext>
            </a:extLst>
          </p:cNvPr>
          <p:cNvSpPr>
            <a:spLocks noGrp="1"/>
          </p:cNvSpPr>
          <p:nvPr/>
        </p:nvSpPr>
        <p:spPr>
          <a:xfrm>
            <a:off x="685800" y="2343150"/>
            <a:ext cx="2457450" cy="0"/>
          </a:xfrm>
          <a:prstGeom prst="line">
            <a:avLst/>
          </a:prstGeom>
          <a:noFill/>
          <a:ln w="38100">
            <a:solidFill>
              <a:srgbClr val="CBD5CF"/>
            </a:solidFill>
            <a:prstDash val="solid"/>
          </a:ln>
        </p:spPr>
      </p:sp>
      <p:sp>
        <p:nvSpPr>
          <p:cNvPr id="5" name="Rectangle 4">
            <a:extLst>
              <a:ext uri="{FF2B5EF4-FFF2-40B4-BE49-F238E27FC236}">
                <a16:creationId xmlns:a16="http://schemas.microsoft.com/office/drawing/2014/main" id="{F3DBA76A-2DFC-46D7-A312-E7444A586865}"/>
              </a:ext>
            </a:extLst>
          </p:cNvPr>
          <p:cNvSpPr>
            <a:spLocks noGrp="1"/>
          </p:cNvSpPr>
          <p:nvPr/>
        </p:nvSpPr>
        <p:spPr>
          <a:xfrm>
            <a:off x="685800" y="2667000"/>
            <a:ext cx="2457450" cy="514350"/>
          </a:xfrm>
          <a:prstGeom prst="rect">
            <a:avLst/>
          </a:prstGeom>
          <a:noFill/>
          <a:ln w="0">
            <a:noFill/>
          </a:ln>
        </p:spPr>
        <p:txBody>
          <a:bodyPr wrap="square" lIns="0" tIns="0" rIns="0" bIns="0" anchor="t">
            <a:noAutofit/>
          </a:bodyPr>
          <a:lstStyle/>
          <a:p>
            <a:pPr algn="l">
              <a:lnSpc>
                <a:spcPct val="100000"/>
              </a:lnSpc>
              <a:buNone/>
              <a:defRPr sz="2325" b="1">
                <a:solidFill>
                  <a:srgbClr val="111713"/>
                </a:solidFill>
                <a:latin typeface="Segoe UI"/>
                <a:ea typeface="Segoe UI"/>
                <a:cs typeface="Segoe UI"/>
              </a:defRPr>
            </a:pPr>
            <a:r>
              <a:rPr sz="2325" b="1">
                <a:solidFill>
                  <a:srgbClr val="111713"/>
                </a:solidFill>
                <a:latin typeface="Segoe UI"/>
                <a:ea typeface="Segoe UI"/>
                <a:cs typeface="Segoe UI"/>
              </a:rPr>
              <a:t>Firmware</a:t>
            </a:r>
          </a:p>
        </p:txBody>
      </p:sp>
      <p:sp>
        <p:nvSpPr>
          <p:cNvPr id="6" name="Rectangle 5">
            <a:extLst>
              <a:ext uri="{FF2B5EF4-FFF2-40B4-BE49-F238E27FC236}">
                <a16:creationId xmlns:a16="http://schemas.microsoft.com/office/drawing/2014/main" id="{BECF2352-5102-4833-85CE-85574900D8EA}"/>
              </a:ext>
            </a:extLst>
          </p:cNvPr>
          <p:cNvSpPr>
            <a:spLocks noGrp="1"/>
          </p:cNvSpPr>
          <p:nvPr/>
        </p:nvSpPr>
        <p:spPr>
          <a:xfrm>
            <a:off x="685800" y="3352800"/>
            <a:ext cx="2381250" cy="781050"/>
          </a:xfrm>
          <a:prstGeom prst="rect">
            <a:avLst/>
          </a:prstGeom>
          <a:noFill/>
          <a:ln w="0">
            <a:noFill/>
          </a:ln>
        </p:spPr>
        <p:txBody>
          <a:bodyPr wrap="square" lIns="0" tIns="0" rIns="0" bIns="0" anchor="t">
            <a:noAutofit/>
          </a:bodyPr>
          <a:lstStyle/>
          <a:p>
            <a:pPr algn="l">
              <a:lnSpc>
                <a:spcPct val="108000"/>
              </a:lnSpc>
              <a:buNone/>
              <a:defRPr sz="1725" b="0">
                <a:solidFill>
                  <a:srgbClr val="53605A"/>
                </a:solidFill>
                <a:latin typeface="Segoe UI"/>
                <a:ea typeface="Segoe UI"/>
                <a:cs typeface="Segoe UI"/>
              </a:defRPr>
            </a:pPr>
            <a:r>
              <a:rPr sz="1725" b="0">
                <a:solidFill>
                  <a:srgbClr val="53605A"/>
                </a:solidFill>
                <a:latin typeface="Segoe UI"/>
                <a:ea typeface="Segoe UI"/>
                <a:cs typeface="Segoe UI"/>
              </a:rPr>
              <a:t>Image or existing SBOM</a:t>
            </a:r>
          </a:p>
        </p:txBody>
      </p:sp>
      <p:sp>
        <p:nvSpPr>
          <p:cNvPr id="7" name="Rectangle 6">
            <a:extLst>
              <a:ext uri="{FF2B5EF4-FFF2-40B4-BE49-F238E27FC236}">
                <a16:creationId xmlns:a16="http://schemas.microsoft.com/office/drawing/2014/main" id="{79A178C3-FDE6-4805-8957-7756DC3FADAF}"/>
              </a:ext>
            </a:extLst>
          </p:cNvPr>
          <p:cNvSpPr>
            <a:spLocks noGrp="1"/>
          </p:cNvSpPr>
          <p:nvPr/>
        </p:nvSpPr>
        <p:spPr>
          <a:xfrm>
            <a:off x="3409950" y="1962150"/>
            <a:ext cx="438150" cy="247650"/>
          </a:xfrm>
          <a:prstGeom prst="rect">
            <a:avLst/>
          </a:prstGeom>
          <a:noFill/>
          <a:ln w="0">
            <a:noFill/>
          </a:ln>
        </p:spPr>
        <p:txBody>
          <a:bodyPr wrap="square" lIns="0" tIns="0" rIns="0" bIns="0" anchor="t">
            <a:noAutofit/>
          </a:bodyPr>
          <a:lstStyle/>
          <a:p>
            <a:pPr algn="l">
              <a:lnSpc>
                <a:spcPct val="100000"/>
              </a:lnSpc>
              <a:buNone/>
              <a:defRPr sz="1200" b="1">
                <a:solidFill>
                  <a:srgbClr val="167A57"/>
                </a:solidFill>
                <a:latin typeface="Cascadia Mono"/>
                <a:ea typeface="Cascadia Mono"/>
                <a:cs typeface="Cascadia Mono"/>
              </a:defRPr>
            </a:pPr>
            <a:r>
              <a:rPr sz="1200" b="1">
                <a:solidFill>
                  <a:srgbClr val="167A57"/>
                </a:solidFill>
                <a:latin typeface="Cascadia Mono"/>
                <a:ea typeface="Cascadia Mono"/>
                <a:cs typeface="Cascadia Mono"/>
              </a:rPr>
              <a:t>02</a:t>
            </a:r>
          </a:p>
        </p:txBody>
      </p:sp>
      <p:sp>
        <p:nvSpPr>
          <p:cNvPr id="8" name="Straight Connector 7">
            <a:extLst>
              <a:ext uri="{FF2B5EF4-FFF2-40B4-BE49-F238E27FC236}">
                <a16:creationId xmlns:a16="http://schemas.microsoft.com/office/drawing/2014/main" id="{75C4CB4F-101A-42FC-9912-E6F5D3104818}"/>
              </a:ext>
            </a:extLst>
          </p:cNvPr>
          <p:cNvSpPr>
            <a:spLocks noGrp="1"/>
          </p:cNvSpPr>
          <p:nvPr/>
        </p:nvSpPr>
        <p:spPr>
          <a:xfrm>
            <a:off x="3409950" y="2343150"/>
            <a:ext cx="2457450" cy="0"/>
          </a:xfrm>
          <a:prstGeom prst="line">
            <a:avLst/>
          </a:prstGeom>
          <a:noFill/>
          <a:ln w="38100">
            <a:solidFill>
              <a:srgbClr val="CBD5CF"/>
            </a:solidFill>
            <a:prstDash val="solid"/>
          </a:ln>
        </p:spPr>
      </p:sp>
      <p:sp>
        <p:nvSpPr>
          <p:cNvPr id="9" name="Rectangle 8">
            <a:extLst>
              <a:ext uri="{FF2B5EF4-FFF2-40B4-BE49-F238E27FC236}">
                <a16:creationId xmlns:a16="http://schemas.microsoft.com/office/drawing/2014/main" id="{E7C130A6-ADD6-42B4-B61E-193DB88002AF}"/>
              </a:ext>
            </a:extLst>
          </p:cNvPr>
          <p:cNvSpPr>
            <a:spLocks noGrp="1"/>
          </p:cNvSpPr>
          <p:nvPr/>
        </p:nvSpPr>
        <p:spPr>
          <a:xfrm>
            <a:off x="3409950" y="2667000"/>
            <a:ext cx="2457450" cy="514350"/>
          </a:xfrm>
          <a:prstGeom prst="rect">
            <a:avLst/>
          </a:prstGeom>
          <a:noFill/>
          <a:ln w="0">
            <a:noFill/>
          </a:ln>
        </p:spPr>
        <p:txBody>
          <a:bodyPr wrap="square" lIns="0" tIns="0" rIns="0" bIns="0" anchor="t">
            <a:noAutofit/>
          </a:bodyPr>
          <a:lstStyle/>
          <a:p>
            <a:pPr algn="l">
              <a:lnSpc>
                <a:spcPct val="100000"/>
              </a:lnSpc>
              <a:buNone/>
              <a:defRPr sz="2325" b="1">
                <a:solidFill>
                  <a:srgbClr val="111713"/>
                </a:solidFill>
                <a:latin typeface="Segoe UI"/>
                <a:ea typeface="Segoe UI"/>
                <a:cs typeface="Segoe UI"/>
              </a:defRPr>
            </a:pPr>
            <a:r>
              <a:rPr sz="2325" b="1">
                <a:solidFill>
                  <a:srgbClr val="111713"/>
                </a:solidFill>
                <a:latin typeface="Segoe UI"/>
                <a:ea typeface="Segoe UI"/>
                <a:cs typeface="Segoe UI"/>
              </a:rPr>
              <a:t>Reachability</a:t>
            </a:r>
          </a:p>
        </p:txBody>
      </p:sp>
      <p:sp>
        <p:nvSpPr>
          <p:cNvPr id="10" name="Rectangle 9">
            <a:extLst>
              <a:ext uri="{FF2B5EF4-FFF2-40B4-BE49-F238E27FC236}">
                <a16:creationId xmlns:a16="http://schemas.microsoft.com/office/drawing/2014/main" id="{0D0D2083-6DA6-449A-A6EA-152C98E20D7E}"/>
              </a:ext>
            </a:extLst>
          </p:cNvPr>
          <p:cNvSpPr>
            <a:spLocks noGrp="1"/>
          </p:cNvSpPr>
          <p:nvPr/>
        </p:nvSpPr>
        <p:spPr>
          <a:xfrm>
            <a:off x="3409950" y="3352800"/>
            <a:ext cx="2381250" cy="781050"/>
          </a:xfrm>
          <a:prstGeom prst="rect">
            <a:avLst/>
          </a:prstGeom>
          <a:noFill/>
          <a:ln w="0">
            <a:noFill/>
          </a:ln>
        </p:spPr>
        <p:txBody>
          <a:bodyPr wrap="square" lIns="0" tIns="0" rIns="0" bIns="0" anchor="t">
            <a:noAutofit/>
          </a:bodyPr>
          <a:lstStyle/>
          <a:p>
            <a:pPr algn="l">
              <a:lnSpc>
                <a:spcPct val="108000"/>
              </a:lnSpc>
              <a:buNone/>
              <a:defRPr sz="1725" b="0">
                <a:solidFill>
                  <a:srgbClr val="53605A"/>
                </a:solidFill>
                <a:latin typeface="Segoe UI"/>
                <a:ea typeface="Segoe UI"/>
                <a:cs typeface="Segoe UI"/>
              </a:defRPr>
            </a:pPr>
            <a:r>
              <a:rPr sz="1725" b="0">
                <a:solidFill>
                  <a:srgbClr val="53605A"/>
                </a:solidFill>
                <a:latin typeface="Segoe UI"/>
                <a:ea typeface="Segoe UI"/>
                <a:cs typeface="Segoe UI"/>
              </a:rPr>
              <a:t>Affected product scope</a:t>
            </a:r>
          </a:p>
        </p:txBody>
      </p:sp>
      <p:sp>
        <p:nvSpPr>
          <p:cNvPr id="11" name="Rectangle 10">
            <a:extLst>
              <a:ext uri="{FF2B5EF4-FFF2-40B4-BE49-F238E27FC236}">
                <a16:creationId xmlns:a16="http://schemas.microsoft.com/office/drawing/2014/main" id="{E3105A8F-871D-4533-99C5-DCC867813524}"/>
              </a:ext>
            </a:extLst>
          </p:cNvPr>
          <p:cNvSpPr>
            <a:spLocks noGrp="1"/>
          </p:cNvSpPr>
          <p:nvPr/>
        </p:nvSpPr>
        <p:spPr>
          <a:xfrm>
            <a:off x="6134100" y="1962150"/>
            <a:ext cx="438150" cy="247650"/>
          </a:xfrm>
          <a:prstGeom prst="rect">
            <a:avLst/>
          </a:prstGeom>
          <a:noFill/>
          <a:ln w="0">
            <a:noFill/>
          </a:ln>
        </p:spPr>
        <p:txBody>
          <a:bodyPr wrap="square" lIns="0" tIns="0" rIns="0" bIns="0" anchor="t">
            <a:noAutofit/>
          </a:bodyPr>
          <a:lstStyle/>
          <a:p>
            <a:pPr algn="l">
              <a:lnSpc>
                <a:spcPct val="100000"/>
              </a:lnSpc>
              <a:buNone/>
              <a:defRPr sz="1200" b="1">
                <a:solidFill>
                  <a:srgbClr val="167A57"/>
                </a:solidFill>
                <a:latin typeface="Cascadia Mono"/>
                <a:ea typeface="Cascadia Mono"/>
                <a:cs typeface="Cascadia Mono"/>
              </a:defRPr>
            </a:pPr>
            <a:r>
              <a:rPr sz="1200" b="1">
                <a:solidFill>
                  <a:srgbClr val="167A57"/>
                </a:solidFill>
                <a:latin typeface="Cascadia Mono"/>
                <a:ea typeface="Cascadia Mono"/>
                <a:cs typeface="Cascadia Mono"/>
              </a:rPr>
              <a:t>03</a:t>
            </a:r>
          </a:p>
        </p:txBody>
      </p:sp>
      <p:sp>
        <p:nvSpPr>
          <p:cNvPr id="12" name="Straight Connector 11">
            <a:extLst>
              <a:ext uri="{FF2B5EF4-FFF2-40B4-BE49-F238E27FC236}">
                <a16:creationId xmlns:a16="http://schemas.microsoft.com/office/drawing/2014/main" id="{9660D4C8-CE36-4661-ADE7-DC585007C1A5}"/>
              </a:ext>
            </a:extLst>
          </p:cNvPr>
          <p:cNvSpPr>
            <a:spLocks noGrp="1"/>
          </p:cNvSpPr>
          <p:nvPr/>
        </p:nvSpPr>
        <p:spPr>
          <a:xfrm>
            <a:off x="6134100" y="2343150"/>
            <a:ext cx="2457450" cy="0"/>
          </a:xfrm>
          <a:prstGeom prst="line">
            <a:avLst/>
          </a:prstGeom>
          <a:noFill/>
          <a:ln w="38100">
            <a:solidFill>
              <a:srgbClr val="CBD5CF"/>
            </a:solidFill>
            <a:prstDash val="solid"/>
          </a:ln>
        </p:spPr>
      </p:sp>
      <p:sp>
        <p:nvSpPr>
          <p:cNvPr id="13" name="Rectangle 12">
            <a:extLst>
              <a:ext uri="{FF2B5EF4-FFF2-40B4-BE49-F238E27FC236}">
                <a16:creationId xmlns:a16="http://schemas.microsoft.com/office/drawing/2014/main" id="{9E5B586F-F929-44C2-BB9F-CC4A8FDCAD53}"/>
              </a:ext>
            </a:extLst>
          </p:cNvPr>
          <p:cNvSpPr>
            <a:spLocks noGrp="1"/>
          </p:cNvSpPr>
          <p:nvPr/>
        </p:nvSpPr>
        <p:spPr>
          <a:xfrm>
            <a:off x="6134100" y="2667000"/>
            <a:ext cx="2457450" cy="514350"/>
          </a:xfrm>
          <a:prstGeom prst="rect">
            <a:avLst/>
          </a:prstGeom>
          <a:noFill/>
          <a:ln w="0">
            <a:noFill/>
          </a:ln>
        </p:spPr>
        <p:txBody>
          <a:bodyPr wrap="square" lIns="0" tIns="0" rIns="0" bIns="0" anchor="t">
            <a:noAutofit/>
          </a:bodyPr>
          <a:lstStyle/>
          <a:p>
            <a:pPr algn="l">
              <a:lnSpc>
                <a:spcPct val="100000"/>
              </a:lnSpc>
              <a:buNone/>
              <a:defRPr sz="2325" b="1">
                <a:solidFill>
                  <a:srgbClr val="111713"/>
                </a:solidFill>
                <a:latin typeface="Segoe UI"/>
                <a:ea typeface="Segoe UI"/>
                <a:cs typeface="Segoe UI"/>
              </a:defRPr>
            </a:pPr>
            <a:r>
              <a:rPr sz="2325" b="1">
                <a:solidFill>
                  <a:srgbClr val="111713"/>
                </a:solidFill>
                <a:latin typeface="Segoe UI"/>
                <a:ea typeface="Segoe UI"/>
                <a:cs typeface="Segoe UI"/>
              </a:rPr>
              <a:t>CRA case</a:t>
            </a:r>
          </a:p>
        </p:txBody>
      </p:sp>
      <p:sp>
        <p:nvSpPr>
          <p:cNvPr id="14" name="Rectangle 13">
            <a:extLst>
              <a:ext uri="{FF2B5EF4-FFF2-40B4-BE49-F238E27FC236}">
                <a16:creationId xmlns:a16="http://schemas.microsoft.com/office/drawing/2014/main" id="{20EAD5F8-DA8D-41D0-AEFE-7311F1F794CF}"/>
              </a:ext>
            </a:extLst>
          </p:cNvPr>
          <p:cNvSpPr>
            <a:spLocks noGrp="1"/>
          </p:cNvSpPr>
          <p:nvPr/>
        </p:nvSpPr>
        <p:spPr>
          <a:xfrm>
            <a:off x="6134100" y="3352800"/>
            <a:ext cx="2381250" cy="781050"/>
          </a:xfrm>
          <a:prstGeom prst="rect">
            <a:avLst/>
          </a:prstGeom>
          <a:noFill/>
          <a:ln w="0">
            <a:noFill/>
          </a:ln>
        </p:spPr>
        <p:txBody>
          <a:bodyPr wrap="square" lIns="0" tIns="0" rIns="0" bIns="0" anchor="t">
            <a:noAutofit/>
          </a:bodyPr>
          <a:lstStyle/>
          <a:p>
            <a:pPr algn="l">
              <a:lnSpc>
                <a:spcPct val="108000"/>
              </a:lnSpc>
              <a:buNone/>
              <a:defRPr sz="1725" b="0">
                <a:solidFill>
                  <a:srgbClr val="53605A"/>
                </a:solidFill>
                <a:latin typeface="Segoe UI"/>
                <a:ea typeface="Segoe UI"/>
                <a:cs typeface="Segoe UI"/>
              </a:defRPr>
            </a:pPr>
            <a:r>
              <a:rPr sz="1725" b="0">
                <a:solidFill>
                  <a:srgbClr val="53605A"/>
                </a:solidFill>
                <a:latin typeface="Segoe UI"/>
                <a:ea typeface="Segoe UI"/>
                <a:cs typeface="Segoe UI"/>
              </a:rPr>
              <a:t>Alert clock and approvals</a:t>
            </a:r>
          </a:p>
        </p:txBody>
      </p:sp>
      <p:sp>
        <p:nvSpPr>
          <p:cNvPr id="15" name="Rectangle 14">
            <a:extLst>
              <a:ext uri="{FF2B5EF4-FFF2-40B4-BE49-F238E27FC236}">
                <a16:creationId xmlns:a16="http://schemas.microsoft.com/office/drawing/2014/main" id="{EA090055-F3B2-443D-9D03-83641CCE49D0}"/>
              </a:ext>
            </a:extLst>
          </p:cNvPr>
          <p:cNvSpPr>
            <a:spLocks noGrp="1"/>
          </p:cNvSpPr>
          <p:nvPr/>
        </p:nvSpPr>
        <p:spPr>
          <a:xfrm>
            <a:off x="8858250" y="1962150"/>
            <a:ext cx="438150" cy="247650"/>
          </a:xfrm>
          <a:prstGeom prst="rect">
            <a:avLst/>
          </a:prstGeom>
          <a:noFill/>
          <a:ln w="0">
            <a:noFill/>
          </a:ln>
        </p:spPr>
        <p:txBody>
          <a:bodyPr wrap="square" lIns="0" tIns="0" rIns="0" bIns="0" anchor="t">
            <a:noAutofit/>
          </a:bodyPr>
          <a:lstStyle/>
          <a:p>
            <a:pPr algn="l">
              <a:lnSpc>
                <a:spcPct val="100000"/>
              </a:lnSpc>
              <a:buNone/>
              <a:defRPr sz="1200" b="1">
                <a:solidFill>
                  <a:srgbClr val="167A57"/>
                </a:solidFill>
                <a:latin typeface="Cascadia Mono"/>
                <a:ea typeface="Cascadia Mono"/>
                <a:cs typeface="Cascadia Mono"/>
              </a:defRPr>
            </a:pPr>
            <a:r>
              <a:rPr sz="1200" b="1">
                <a:solidFill>
                  <a:srgbClr val="167A57"/>
                </a:solidFill>
                <a:latin typeface="Cascadia Mono"/>
                <a:ea typeface="Cascadia Mono"/>
                <a:cs typeface="Cascadia Mono"/>
              </a:rPr>
              <a:t>04</a:t>
            </a:r>
          </a:p>
        </p:txBody>
      </p:sp>
      <p:sp>
        <p:nvSpPr>
          <p:cNvPr id="16" name="Straight Connector 15">
            <a:extLst>
              <a:ext uri="{FF2B5EF4-FFF2-40B4-BE49-F238E27FC236}">
                <a16:creationId xmlns:a16="http://schemas.microsoft.com/office/drawing/2014/main" id="{6B2C152F-D8CB-4D5D-9C12-6DFFE37F0EEF}"/>
              </a:ext>
            </a:extLst>
          </p:cNvPr>
          <p:cNvSpPr>
            <a:spLocks noGrp="1"/>
          </p:cNvSpPr>
          <p:nvPr/>
        </p:nvSpPr>
        <p:spPr>
          <a:xfrm>
            <a:off x="8858250" y="2343150"/>
            <a:ext cx="2457450" cy="0"/>
          </a:xfrm>
          <a:prstGeom prst="line">
            <a:avLst/>
          </a:prstGeom>
          <a:noFill/>
          <a:ln w="38100">
            <a:solidFill>
              <a:srgbClr val="4ED8A0"/>
            </a:solidFill>
            <a:prstDash val="solid"/>
          </a:ln>
        </p:spPr>
      </p:sp>
      <p:sp>
        <p:nvSpPr>
          <p:cNvPr id="17" name="Rectangle 16">
            <a:extLst>
              <a:ext uri="{FF2B5EF4-FFF2-40B4-BE49-F238E27FC236}">
                <a16:creationId xmlns:a16="http://schemas.microsoft.com/office/drawing/2014/main" id="{9CB96CC5-FA19-490B-9919-0F89F5B3F354}"/>
              </a:ext>
            </a:extLst>
          </p:cNvPr>
          <p:cNvSpPr>
            <a:spLocks noGrp="1"/>
          </p:cNvSpPr>
          <p:nvPr/>
        </p:nvSpPr>
        <p:spPr>
          <a:xfrm>
            <a:off x="8858250" y="2667000"/>
            <a:ext cx="2457450" cy="514350"/>
          </a:xfrm>
          <a:prstGeom prst="rect">
            <a:avLst/>
          </a:prstGeom>
          <a:noFill/>
          <a:ln w="0">
            <a:noFill/>
          </a:ln>
        </p:spPr>
        <p:txBody>
          <a:bodyPr wrap="square" lIns="0" tIns="0" rIns="0" bIns="0" anchor="t">
            <a:noAutofit/>
          </a:bodyPr>
          <a:lstStyle/>
          <a:p>
            <a:pPr algn="l">
              <a:lnSpc>
                <a:spcPct val="100000"/>
              </a:lnSpc>
              <a:buNone/>
              <a:defRPr sz="2325" b="1">
                <a:solidFill>
                  <a:srgbClr val="111713"/>
                </a:solidFill>
                <a:latin typeface="Segoe UI"/>
                <a:ea typeface="Segoe UI"/>
                <a:cs typeface="Segoe UI"/>
              </a:defRPr>
            </a:pPr>
            <a:r>
              <a:rPr sz="2325" b="1">
                <a:solidFill>
                  <a:srgbClr val="111713"/>
                </a:solidFill>
                <a:latin typeface="Segoe UI"/>
                <a:ea typeface="Segoe UI"/>
                <a:cs typeface="Segoe UI"/>
              </a:rPr>
              <a:t>Documents</a:t>
            </a:r>
          </a:p>
        </p:txBody>
      </p:sp>
      <p:sp>
        <p:nvSpPr>
          <p:cNvPr id="18" name="Rectangle 17">
            <a:extLst>
              <a:ext uri="{FF2B5EF4-FFF2-40B4-BE49-F238E27FC236}">
                <a16:creationId xmlns:a16="http://schemas.microsoft.com/office/drawing/2014/main" id="{A1B76995-9D81-458A-A470-526D88A6896D}"/>
              </a:ext>
            </a:extLst>
          </p:cNvPr>
          <p:cNvSpPr>
            <a:spLocks noGrp="1"/>
          </p:cNvSpPr>
          <p:nvPr/>
        </p:nvSpPr>
        <p:spPr>
          <a:xfrm>
            <a:off x="8858250" y="3352800"/>
            <a:ext cx="2381250" cy="781050"/>
          </a:xfrm>
          <a:prstGeom prst="rect">
            <a:avLst/>
          </a:prstGeom>
          <a:noFill/>
          <a:ln w="0">
            <a:noFill/>
          </a:ln>
        </p:spPr>
        <p:txBody>
          <a:bodyPr wrap="square" lIns="0" tIns="0" rIns="0" bIns="0" anchor="t">
            <a:noAutofit/>
          </a:bodyPr>
          <a:lstStyle/>
          <a:p>
            <a:pPr algn="l">
              <a:lnSpc>
                <a:spcPct val="108000"/>
              </a:lnSpc>
              <a:buNone/>
              <a:defRPr sz="1725" b="0">
                <a:solidFill>
                  <a:srgbClr val="53605A"/>
                </a:solidFill>
                <a:latin typeface="Segoe UI"/>
                <a:ea typeface="Segoe UI"/>
                <a:cs typeface="Segoe UI"/>
              </a:defRPr>
            </a:pPr>
            <a:r>
              <a:rPr sz="1725" b="0">
                <a:solidFill>
                  <a:srgbClr val="53605A"/>
                </a:solidFill>
                <a:latin typeface="Segoe UI"/>
                <a:ea typeface="Segoe UI"/>
                <a:cs typeface="Segoe UI"/>
              </a:rPr>
              <a:t>Reports and sealed evidence</a:t>
            </a:r>
          </a:p>
        </p:txBody>
      </p:sp>
      <p:sp>
        <p:nvSpPr>
          <p:cNvPr id="19" name="Rectangle: Rounded Corners 18">
            <a:extLst>
              <a:ext uri="{FF2B5EF4-FFF2-40B4-BE49-F238E27FC236}">
                <a16:creationId xmlns:a16="http://schemas.microsoft.com/office/drawing/2014/main" id="{390E1A96-D2BE-4DEF-B4EC-065CB0625CEF}"/>
              </a:ext>
            </a:extLst>
          </p:cNvPr>
          <p:cNvSpPr>
            <a:spLocks noGrp="1"/>
          </p:cNvSpPr>
          <p:nvPr/>
        </p:nvSpPr>
        <p:spPr>
          <a:xfrm>
            <a:off x="685800" y="4667250"/>
            <a:ext cx="10820400" cy="1104900"/>
          </a:xfrm>
          <a:prstGeom prst="roundRect">
            <a:avLst>
              <a:gd name="adj" fmla="val 6897"/>
            </a:avLst>
          </a:prstGeom>
          <a:solidFill>
            <a:srgbClr val="111713"/>
          </a:solidFill>
          <a:ln w="0">
            <a:noFill/>
          </a:ln>
        </p:spPr>
      </p:sp>
      <p:sp>
        <p:nvSpPr>
          <p:cNvPr id="20" name="Rectangle 19">
            <a:extLst>
              <a:ext uri="{FF2B5EF4-FFF2-40B4-BE49-F238E27FC236}">
                <a16:creationId xmlns:a16="http://schemas.microsoft.com/office/drawing/2014/main" id="{0068564B-767B-46F5-90F3-F675B6E165AE}"/>
              </a:ext>
            </a:extLst>
          </p:cNvPr>
          <p:cNvSpPr>
            <a:spLocks noGrp="1"/>
          </p:cNvSpPr>
          <p:nvPr/>
        </p:nvSpPr>
        <p:spPr>
          <a:xfrm>
            <a:off x="990600" y="4848225"/>
            <a:ext cx="4000500" cy="400050"/>
          </a:xfrm>
          <a:prstGeom prst="rect">
            <a:avLst/>
          </a:prstGeom>
          <a:noFill/>
          <a:ln w="0">
            <a:noFill/>
          </a:ln>
        </p:spPr>
        <p:txBody>
          <a:bodyPr wrap="square" lIns="0" tIns="0" rIns="0" bIns="0" anchor="t">
            <a:noAutofit/>
          </a:bodyPr>
          <a:lstStyle/>
          <a:p>
            <a:pPr algn="l">
              <a:lnSpc>
                <a:spcPct val="100000"/>
              </a:lnSpc>
              <a:buNone/>
              <a:defRPr sz="2175" b="1">
                <a:solidFill>
                  <a:srgbClr val="4ED8A0"/>
                </a:solidFill>
                <a:latin typeface="Segoe UI"/>
                <a:ea typeface="Segoe UI"/>
                <a:cs typeface="Segoe UI"/>
              </a:defRPr>
            </a:pPr>
            <a:r>
              <a:rPr sz="2175" b="1">
                <a:solidFill>
                  <a:srgbClr val="4ED8A0"/>
                </a:solidFill>
                <a:latin typeface="Segoe UI"/>
                <a:ea typeface="Segoe UI"/>
                <a:cs typeface="Segoe UI"/>
              </a:rPr>
              <a:t>Hourly intelligence refresh</a:t>
            </a:r>
          </a:p>
        </p:txBody>
      </p:sp>
      <p:sp>
        <p:nvSpPr>
          <p:cNvPr id="21" name="Rectangle 20">
            <a:extLst>
              <a:ext uri="{FF2B5EF4-FFF2-40B4-BE49-F238E27FC236}">
                <a16:creationId xmlns:a16="http://schemas.microsoft.com/office/drawing/2014/main" id="{BF03C165-41F1-4CD4-9FAB-D8A9BF055C9C}"/>
              </a:ext>
            </a:extLst>
          </p:cNvPr>
          <p:cNvSpPr>
            <a:spLocks noGrp="1"/>
          </p:cNvSpPr>
          <p:nvPr/>
        </p:nvSpPr>
        <p:spPr>
          <a:xfrm>
            <a:off x="990600" y="5314950"/>
            <a:ext cx="6191250" cy="285750"/>
          </a:xfrm>
          <a:prstGeom prst="rect">
            <a:avLst/>
          </a:prstGeom>
          <a:noFill/>
          <a:ln w="0">
            <a:noFill/>
          </a:ln>
        </p:spPr>
        <p:txBody>
          <a:bodyPr wrap="square" lIns="0" tIns="0" rIns="0" bIns="0" anchor="t">
            <a:noAutofit/>
          </a:bodyPr>
          <a:lstStyle/>
          <a:p>
            <a:pPr algn="l">
              <a:lnSpc>
                <a:spcPct val="100000"/>
              </a:lnSpc>
              <a:buNone/>
              <a:defRPr sz="1500" b="0">
                <a:solidFill>
                  <a:srgbClr val="A9B3C1"/>
                </a:solidFill>
                <a:latin typeface="Cascadia Mono"/>
                <a:ea typeface="Cascadia Mono"/>
                <a:cs typeface="Cascadia Mono"/>
              </a:defRPr>
            </a:pPr>
            <a:r>
              <a:rPr sz="1500" b="0">
                <a:solidFill>
                  <a:srgbClr val="A9B3C1"/>
                </a:solidFill>
                <a:latin typeface="Cascadia Mono"/>
                <a:ea typeface="Cascadia Mono"/>
                <a:cs typeface="Cascadia Mono"/>
              </a:rPr>
              <a:t>OSV   CISA KEV   EPSS   vendor advisories</a:t>
            </a:r>
          </a:p>
        </p:txBody>
      </p:sp>
      <p:sp>
        <p:nvSpPr>
          <p:cNvPr id="22" name="Rectangle 21">
            <a:extLst>
              <a:ext uri="{FF2B5EF4-FFF2-40B4-BE49-F238E27FC236}">
                <a16:creationId xmlns:a16="http://schemas.microsoft.com/office/drawing/2014/main" id="{4292BA96-8133-4B4C-A0C4-B60C074A9A26}"/>
              </a:ext>
            </a:extLst>
          </p:cNvPr>
          <p:cNvSpPr>
            <a:spLocks noGrp="1"/>
          </p:cNvSpPr>
          <p:nvPr/>
        </p:nvSpPr>
        <p:spPr>
          <a:xfrm>
            <a:off x="6762750" y="4895850"/>
            <a:ext cx="4324350" cy="742950"/>
          </a:xfrm>
          <a:prstGeom prst="rect">
            <a:avLst/>
          </a:prstGeom>
          <a:noFill/>
          <a:ln w="0">
            <a:noFill/>
          </a:ln>
        </p:spPr>
        <p:txBody>
          <a:bodyPr wrap="square" lIns="0" tIns="0" rIns="0" bIns="0" anchor="ctr">
            <a:noAutofit/>
          </a:bodyPr>
          <a:lstStyle/>
          <a:p>
            <a:pPr algn="l">
              <a:lnSpc>
                <a:spcPct val="100000"/>
              </a:lnSpc>
              <a:buNone/>
              <a:defRPr sz="1725" b="1">
                <a:solidFill>
                  <a:srgbClr val="F2F5F9"/>
                </a:solidFill>
                <a:latin typeface="Segoe UI"/>
                <a:ea typeface="Segoe UI"/>
                <a:cs typeface="Segoe UI"/>
              </a:defRPr>
            </a:pPr>
            <a:r>
              <a:rPr sz="1725" b="1">
                <a:solidFill>
                  <a:srgbClr val="F2F5F9"/>
                </a:solidFill>
                <a:latin typeface="Segoe UI"/>
                <a:ea typeface="Segoe UI"/>
                <a:cs typeface="Segoe UI"/>
              </a:rPr>
              <a:t>One persistent case keeps the deadline, documents, and approval history together.</a:t>
            </a:r>
          </a:p>
        </p:txBody>
      </p:sp>
      <p:sp>
        <p:nvSpPr>
          <p:cNvPr id="23" name="Straight Connector 22">
            <a:extLst>
              <a:ext uri="{FF2B5EF4-FFF2-40B4-BE49-F238E27FC236}">
                <a16:creationId xmlns:a16="http://schemas.microsoft.com/office/drawing/2014/main" id="{1BA3CA79-A932-4421-83BC-A76A20305CE7}"/>
              </a:ext>
            </a:extLst>
          </p:cNvPr>
          <p:cNvSpPr>
            <a:spLocks noGrp="1"/>
          </p:cNvSpPr>
          <p:nvPr/>
        </p:nvSpPr>
        <p:spPr>
          <a:xfrm>
            <a:off x="533400" y="6496050"/>
            <a:ext cx="11125200" cy="0"/>
          </a:xfrm>
          <a:prstGeom prst="line">
            <a:avLst/>
          </a:prstGeom>
          <a:noFill/>
          <a:ln w="9525">
            <a:solidFill>
              <a:srgbClr val="D5DDD8"/>
            </a:solidFill>
            <a:prstDash val="solid"/>
          </a:ln>
        </p:spPr>
      </p:sp>
      <p:sp>
        <p:nvSpPr>
          <p:cNvPr id="24" name="Rectangle 23">
            <a:extLst>
              <a:ext uri="{FF2B5EF4-FFF2-40B4-BE49-F238E27FC236}">
                <a16:creationId xmlns:a16="http://schemas.microsoft.com/office/drawing/2014/main" id="{C8F3BE82-9663-4C24-BC12-44A09DBB70DB}"/>
              </a:ext>
            </a:extLst>
          </p:cNvPr>
          <p:cNvSpPr>
            <a:spLocks noGrp="1"/>
          </p:cNvSpPr>
          <p:nvPr/>
        </p:nvSpPr>
        <p:spPr>
          <a:xfrm>
            <a:off x="533400" y="6572250"/>
            <a:ext cx="7239000" cy="171450"/>
          </a:xfrm>
          <a:prstGeom prst="rect">
            <a:avLst/>
          </a:prstGeom>
          <a:noFill/>
          <a:ln w="0">
            <a:noFill/>
          </a:ln>
        </p:spPr>
        <p:txBody>
          <a:bodyPr wrap="square" lIns="0" tIns="0" rIns="0" bIns="0" anchor="t">
            <a:noAutofit/>
          </a:bodyPr>
          <a:lstStyle/>
          <a:p>
            <a:pPr algn="l">
              <a:lnSpc>
                <a:spcPct val="100000"/>
              </a:lnSpc>
              <a:buNone/>
              <a:defRPr sz="975" b="0">
                <a:solidFill>
                  <a:srgbClr val="53605A"/>
                </a:solidFill>
                <a:latin typeface="Cascadia Mono"/>
                <a:ea typeface="Cascadia Mono"/>
                <a:cs typeface="Cascadia Mono"/>
              </a:defRPr>
            </a:pPr>
            <a:r>
              <a:rPr sz="975" b="0">
                <a:solidFill>
                  <a:srgbClr val="53605A"/>
                </a:solidFill>
                <a:latin typeface="Cascadia Mono"/>
                <a:ea typeface="Cascadia Mono"/>
                <a:cs typeface="Cascadia Mono"/>
              </a:rPr>
              <a:t>PandaX  /  Customer pilot presentation</a:t>
            </a:r>
          </a:p>
        </p:txBody>
      </p:sp>
      <p:sp>
        <p:nvSpPr>
          <p:cNvPr id="25" name="Rectangle 24">
            <a:extLst>
              <a:ext uri="{FF2B5EF4-FFF2-40B4-BE49-F238E27FC236}">
                <a16:creationId xmlns:a16="http://schemas.microsoft.com/office/drawing/2014/main" id="{35B53341-2B8B-4CD1-96A7-33C2CE1AE441}"/>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103721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200"/>
                                        <p:tgtEl>
                                          <p:spTgt spid="9"/>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200"/>
                                        <p:tgtEl>
                                          <p:spTgt spid="13"/>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3"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B0D"/>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p:blipFill>
        <p:spPr>
          <a:xfrm>
            <a:off x="590550" y="666750"/>
            <a:ext cx="2095500" cy="3143250"/>
          </a:xfrm>
          <a:prstGeom prst="rect">
            <a:avLst/>
          </a:prstGeom>
        </p:spPr>
      </p:pic>
      <p:sp>
        <p:nvSpPr>
          <p:cNvPr id="2" name="Rectangle 1">
            <a:extLst>
              <a:ext uri="{FF2B5EF4-FFF2-40B4-BE49-F238E27FC236}">
                <a16:creationId xmlns:a16="http://schemas.microsoft.com/office/drawing/2014/main" id="{CF7CF511-718B-4D94-BF45-1A94E389B0E0}"/>
              </a:ext>
            </a:extLst>
          </p:cNvPr>
          <p:cNvSpPr>
            <a:spLocks noGrp="1"/>
          </p:cNvSpPr>
          <p:nvPr/>
        </p:nvSpPr>
        <p:spPr>
          <a:xfrm>
            <a:off x="3219450" y="742950"/>
            <a:ext cx="7810500" cy="1162050"/>
          </a:xfrm>
          <a:prstGeom prst="rect">
            <a:avLst/>
          </a:prstGeom>
          <a:noFill/>
          <a:ln w="0">
            <a:noFill/>
          </a:ln>
        </p:spPr>
        <p:txBody>
          <a:bodyPr wrap="square" lIns="0" tIns="0" rIns="0" bIns="0" anchor="t">
            <a:noAutofit/>
          </a:bodyPr>
          <a:lstStyle/>
          <a:p>
            <a:pPr algn="l">
              <a:lnSpc>
                <a:spcPct val="94000"/>
              </a:lnSpc>
              <a:buNone/>
              <a:defRPr sz="3600" b="1">
                <a:solidFill>
                  <a:srgbClr val="F2F5F9"/>
                </a:solidFill>
                <a:latin typeface="Segoe UI"/>
                <a:ea typeface="Segoe UI"/>
                <a:cs typeface="Segoe UI"/>
              </a:defRPr>
            </a:pPr>
            <a:r>
              <a:rPr sz="3600" b="1">
                <a:solidFill>
                  <a:srgbClr val="F2F5F9"/>
                </a:solidFill>
                <a:latin typeface="Segoe UI"/>
                <a:ea typeface="Segoe UI"/>
                <a:cs typeface="Segoe UI"/>
              </a:rPr>
              <a:t>Pilot PandaX on one industrial product line</a:t>
            </a:r>
          </a:p>
        </p:txBody>
      </p:sp>
      <p:sp>
        <p:nvSpPr>
          <p:cNvPr id="3" name="Rectangle 2">
            <a:extLst>
              <a:ext uri="{FF2B5EF4-FFF2-40B4-BE49-F238E27FC236}">
                <a16:creationId xmlns:a16="http://schemas.microsoft.com/office/drawing/2014/main" id="{31742FF4-1EB2-405F-BCF4-2DD75B8957F7}"/>
              </a:ext>
            </a:extLst>
          </p:cNvPr>
          <p:cNvSpPr>
            <a:spLocks noGrp="1"/>
          </p:cNvSpPr>
          <p:nvPr/>
        </p:nvSpPr>
        <p:spPr>
          <a:xfrm>
            <a:off x="3238500" y="2190750"/>
            <a:ext cx="7524750" cy="1314450"/>
          </a:xfrm>
          <a:prstGeom prst="rect">
            <a:avLst/>
          </a:prstGeom>
          <a:noFill/>
          <a:ln w="0">
            <a:noFill/>
          </a:ln>
        </p:spPr>
        <p:txBody>
          <a:bodyPr wrap="square" lIns="0" tIns="0" rIns="0" bIns="0" anchor="t">
            <a:noAutofit/>
          </a:bodyPr>
          <a:lstStyle/>
          <a:p>
            <a:pPr algn="l">
              <a:lnSpc>
                <a:spcPct val="106000"/>
              </a:lnSpc>
              <a:buNone/>
              <a:defRPr sz="2025" b="0">
                <a:solidFill>
                  <a:srgbClr val="A9B3C1"/>
                </a:solidFill>
                <a:latin typeface="Segoe UI"/>
                <a:ea typeface="Segoe UI"/>
                <a:cs typeface="Segoe UI"/>
              </a:defRPr>
            </a:pPr>
            <a:r>
              <a:rPr sz="2025" b="0">
                <a:solidFill>
                  <a:srgbClr val="A9B3C1"/>
                </a:solidFill>
                <a:latin typeface="Segoe UI"/>
                <a:ea typeface="Segoe UI"/>
                <a:cs typeface="Segoe UI"/>
              </a:rPr>
              <a:t>Bring one representative SKU and a customer-selected firmware image. Leave with a traceable inventory, exercised CRA workflow, and independently verifiable evidence bundle.</a:t>
            </a:r>
          </a:p>
        </p:txBody>
      </p:sp>
      <p:sp>
        <p:nvSpPr>
          <p:cNvPr id="4" name="Straight Connector 3">
            <a:extLst>
              <a:ext uri="{FF2B5EF4-FFF2-40B4-BE49-F238E27FC236}">
                <a16:creationId xmlns:a16="http://schemas.microsoft.com/office/drawing/2014/main" id="{5AAB9B97-45B8-430E-9692-145F360985FB}"/>
              </a:ext>
            </a:extLst>
          </p:cNvPr>
          <p:cNvSpPr>
            <a:spLocks noGrp="1"/>
          </p:cNvSpPr>
          <p:nvPr/>
        </p:nvSpPr>
        <p:spPr>
          <a:xfrm>
            <a:off x="3238500" y="3905250"/>
            <a:ext cx="7810500" cy="0"/>
          </a:xfrm>
          <a:prstGeom prst="line">
            <a:avLst/>
          </a:prstGeom>
          <a:noFill/>
          <a:ln w="19050">
            <a:solidFill>
              <a:srgbClr val="4ED8A0"/>
            </a:solidFill>
            <a:prstDash val="solid"/>
          </a:ln>
        </p:spPr>
      </p:sp>
      <p:sp>
        <p:nvSpPr>
          <p:cNvPr id="5" name="Rectangle 4">
            <a:extLst>
              <a:ext uri="{FF2B5EF4-FFF2-40B4-BE49-F238E27FC236}">
                <a16:creationId xmlns:a16="http://schemas.microsoft.com/office/drawing/2014/main" id="{D8F235D7-595F-4249-97E5-E928D8C92387}"/>
              </a:ext>
            </a:extLst>
          </p:cNvPr>
          <p:cNvSpPr>
            <a:spLocks noGrp="1"/>
          </p:cNvSpPr>
          <p:nvPr/>
        </p:nvSpPr>
        <p:spPr>
          <a:xfrm>
            <a:off x="3238500"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Simon Levy</a:t>
            </a:r>
          </a:p>
        </p:txBody>
      </p:sp>
      <p:sp>
        <p:nvSpPr>
          <p:cNvPr id="6" name="Rectangle 5">
            <a:extLst>
              <a:ext uri="{FF2B5EF4-FFF2-40B4-BE49-F238E27FC236}">
                <a16:creationId xmlns:a16="http://schemas.microsoft.com/office/drawing/2014/main" id="{B3C453DD-678F-49ED-8C45-FD517BE77E47}"/>
              </a:ext>
            </a:extLst>
          </p:cNvPr>
          <p:cNvSpPr>
            <a:spLocks noGrp="1"/>
          </p:cNvSpPr>
          <p:nvPr/>
        </p:nvSpPr>
        <p:spPr>
          <a:xfrm>
            <a:off x="3238500"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CEO</a:t>
            </a:r>
          </a:p>
        </p:txBody>
      </p:sp>
      <p:sp>
        <p:nvSpPr>
          <p:cNvPr id="7" name="Rectangle 6">
            <a:extLst>
              <a:ext uri="{FF2B5EF4-FFF2-40B4-BE49-F238E27FC236}">
                <a16:creationId xmlns:a16="http://schemas.microsoft.com/office/drawing/2014/main" id="{A822EA4B-94A1-4CA5-BF81-92CDEF0D69D8}"/>
              </a:ext>
            </a:extLst>
          </p:cNvPr>
          <p:cNvSpPr>
            <a:spLocks noGrp="1"/>
          </p:cNvSpPr>
          <p:nvPr/>
        </p:nvSpPr>
        <p:spPr>
          <a:xfrm>
            <a:off x="5191125"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Yaheli Levit</a:t>
            </a:r>
          </a:p>
        </p:txBody>
      </p:sp>
      <p:sp>
        <p:nvSpPr>
          <p:cNvPr id="8" name="Rectangle 7">
            <a:extLst>
              <a:ext uri="{FF2B5EF4-FFF2-40B4-BE49-F238E27FC236}">
                <a16:creationId xmlns:a16="http://schemas.microsoft.com/office/drawing/2014/main" id="{717560ED-EA22-4F6B-ADFE-AF191F489850}"/>
              </a:ext>
            </a:extLst>
          </p:cNvPr>
          <p:cNvSpPr>
            <a:spLocks noGrp="1"/>
          </p:cNvSpPr>
          <p:nvPr/>
        </p:nvSpPr>
        <p:spPr>
          <a:xfrm>
            <a:off x="5191125"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CTO</a:t>
            </a:r>
          </a:p>
        </p:txBody>
      </p:sp>
      <p:sp>
        <p:nvSpPr>
          <p:cNvPr id="9" name="Rectangle 8">
            <a:extLst>
              <a:ext uri="{FF2B5EF4-FFF2-40B4-BE49-F238E27FC236}">
                <a16:creationId xmlns:a16="http://schemas.microsoft.com/office/drawing/2014/main" id="{9A701CC2-EBBB-426C-B82A-68C356FE6D03}"/>
              </a:ext>
            </a:extLst>
          </p:cNvPr>
          <p:cNvSpPr>
            <a:spLocks noGrp="1"/>
          </p:cNvSpPr>
          <p:nvPr/>
        </p:nvSpPr>
        <p:spPr>
          <a:xfrm>
            <a:off x="7143750"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Guy Nevo</a:t>
            </a:r>
          </a:p>
        </p:txBody>
      </p:sp>
      <p:sp>
        <p:nvSpPr>
          <p:cNvPr id="10" name="Rectangle 9">
            <a:extLst>
              <a:ext uri="{FF2B5EF4-FFF2-40B4-BE49-F238E27FC236}">
                <a16:creationId xmlns:a16="http://schemas.microsoft.com/office/drawing/2014/main" id="{7E13FCDD-0CDE-4D50-AE2E-5CBC1962473A}"/>
              </a:ext>
            </a:extLst>
          </p:cNvPr>
          <p:cNvSpPr>
            <a:spLocks noGrp="1"/>
          </p:cNvSpPr>
          <p:nvPr/>
        </p:nvSpPr>
        <p:spPr>
          <a:xfrm>
            <a:off x="7143750"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CPO</a:t>
            </a:r>
          </a:p>
        </p:txBody>
      </p:sp>
      <p:sp>
        <p:nvSpPr>
          <p:cNvPr id="11" name="Rectangle 10">
            <a:extLst>
              <a:ext uri="{FF2B5EF4-FFF2-40B4-BE49-F238E27FC236}">
                <a16:creationId xmlns:a16="http://schemas.microsoft.com/office/drawing/2014/main" id="{228EE626-0481-4525-A3E6-5F23BBE8E54E}"/>
              </a:ext>
            </a:extLst>
          </p:cNvPr>
          <p:cNvSpPr>
            <a:spLocks noGrp="1"/>
          </p:cNvSpPr>
          <p:nvPr/>
        </p:nvSpPr>
        <p:spPr>
          <a:xfrm>
            <a:off x="9096375" y="4324350"/>
            <a:ext cx="1638300" cy="342900"/>
          </a:xfrm>
          <a:prstGeom prst="rect">
            <a:avLst/>
          </a:prstGeom>
          <a:noFill/>
          <a:ln w="0">
            <a:noFill/>
          </a:ln>
        </p:spPr>
        <p:txBody>
          <a:bodyPr wrap="square" lIns="0" tIns="0" rIns="0" bIns="0" anchor="t">
            <a:noAutofit/>
          </a:bodyPr>
          <a:lstStyle/>
          <a:p>
            <a:pPr algn="l">
              <a:lnSpc>
                <a:spcPct val="100000"/>
              </a:lnSpc>
              <a:buNone/>
              <a:defRPr sz="1425" b="1">
                <a:solidFill>
                  <a:srgbClr val="F2F5F9"/>
                </a:solidFill>
                <a:latin typeface="Segoe UI"/>
                <a:ea typeface="Segoe UI"/>
                <a:cs typeface="Segoe UI"/>
              </a:defRPr>
            </a:pPr>
            <a:r>
              <a:rPr sz="1425" b="1">
                <a:solidFill>
                  <a:srgbClr val="F2F5F9"/>
                </a:solidFill>
                <a:latin typeface="Segoe UI"/>
                <a:ea typeface="Segoe UI"/>
                <a:cs typeface="Segoe UI"/>
              </a:rPr>
              <a:t>Eden Gulko</a:t>
            </a:r>
          </a:p>
        </p:txBody>
      </p:sp>
      <p:sp>
        <p:nvSpPr>
          <p:cNvPr id="12" name="Rectangle 11">
            <a:extLst>
              <a:ext uri="{FF2B5EF4-FFF2-40B4-BE49-F238E27FC236}">
                <a16:creationId xmlns:a16="http://schemas.microsoft.com/office/drawing/2014/main" id="{43600AD0-EBBF-43FD-87FD-54A23BA351B6}"/>
              </a:ext>
            </a:extLst>
          </p:cNvPr>
          <p:cNvSpPr>
            <a:spLocks noGrp="1"/>
          </p:cNvSpPr>
          <p:nvPr/>
        </p:nvSpPr>
        <p:spPr>
          <a:xfrm>
            <a:off x="9096375" y="4733925"/>
            <a:ext cx="1762125" cy="247650"/>
          </a:xfrm>
          <a:prstGeom prst="rect">
            <a:avLst/>
          </a:prstGeom>
          <a:noFill/>
          <a:ln w="0">
            <a:noFill/>
          </a:ln>
        </p:spPr>
        <p:txBody>
          <a:bodyPr wrap="square" lIns="0" tIns="0" rIns="0" bIns="0" anchor="t">
            <a:noAutofit/>
          </a:bodyPr>
          <a:lstStyle/>
          <a:p>
            <a:pPr algn="l">
              <a:lnSpc>
                <a:spcPct val="100000"/>
              </a:lnSpc>
              <a:buNone/>
              <a:defRPr sz="1125" b="1">
                <a:solidFill>
                  <a:srgbClr val="4ED8A0"/>
                </a:solidFill>
                <a:latin typeface="Cascadia Mono"/>
                <a:ea typeface="Cascadia Mono"/>
                <a:cs typeface="Cascadia Mono"/>
              </a:defRPr>
            </a:pPr>
            <a:r>
              <a:rPr sz="1125" b="1">
                <a:solidFill>
                  <a:srgbClr val="4ED8A0"/>
                </a:solidFill>
                <a:latin typeface="Cascadia Mono"/>
                <a:ea typeface="Cascadia Mono"/>
                <a:cs typeface="Cascadia Mono"/>
              </a:rPr>
              <a:t>CMO</a:t>
            </a:r>
          </a:p>
        </p:txBody>
      </p:sp>
      <p:sp>
        <p:nvSpPr>
          <p:cNvPr id="13" name="Rectangle 12">
            <a:extLst>
              <a:ext uri="{FF2B5EF4-FFF2-40B4-BE49-F238E27FC236}">
                <a16:creationId xmlns:a16="http://schemas.microsoft.com/office/drawing/2014/main" id="{D6D27D9C-9962-4C92-BEC1-9B53E42AC9B0}"/>
              </a:ext>
            </a:extLst>
          </p:cNvPr>
          <p:cNvSpPr>
            <a:spLocks noGrp="1"/>
          </p:cNvSpPr>
          <p:nvPr/>
        </p:nvSpPr>
        <p:spPr>
          <a:xfrm>
            <a:off x="3238500" y="5810250"/>
            <a:ext cx="6667500" cy="304800"/>
          </a:xfrm>
          <a:prstGeom prst="rect">
            <a:avLst/>
          </a:prstGeom>
          <a:noFill/>
          <a:ln w="0">
            <a:noFill/>
          </a:ln>
        </p:spPr>
        <p:txBody>
          <a:bodyPr wrap="square" lIns="0" tIns="0" rIns="0" bIns="0" anchor="t">
            <a:noAutofit/>
          </a:bodyPr>
          <a:lstStyle/>
          <a:p>
            <a:pPr algn="l">
              <a:lnSpc>
                <a:spcPct val="100000"/>
              </a:lnSpc>
              <a:buNone/>
              <a:defRPr sz="1200" b="0">
                <a:solidFill>
                  <a:srgbClr val="727D8C"/>
                </a:solidFill>
                <a:latin typeface="Cascadia Mono"/>
                <a:ea typeface="Cascadia Mono"/>
                <a:cs typeface="Cascadia Mono"/>
              </a:defRPr>
            </a:pPr>
            <a:r>
              <a:rPr sz="1200" b="0">
                <a:solidFill>
                  <a:srgbClr val="727D8C"/>
                </a:solidFill>
                <a:latin typeface="Cascadia Mono"/>
                <a:ea typeface="Cascadia Mono"/>
                <a:cs typeface="Cascadia Mono"/>
              </a:rPr>
              <a:t>PandaX  /  Firmware evidence for CRA readiness</a:t>
            </a:r>
          </a:p>
        </p:txBody>
      </p:sp>
    </p:spTree>
    <p:extLst>
      <p:ext uri="{BB962C8B-B14F-4D97-AF65-F5344CB8AC3E}">
        <p14:creationId xmlns:p14="http://schemas.microsoft.com/office/powerpoint/2010/main" val="5423938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848</Words>
  <Application>Microsoft Office PowerPoint</Application>
  <DocSecurity>0</DocSecurity>
  <PresentationFormat>Widescreen</PresentationFormat>
  <Paragraphs>83</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2026-09-09T21:08:25Z</dcterms:created>
  <dcterms:modified xsi:type="dcterms:W3CDTF">2026-09-09T21:09:09Z</dcterms:modified>
</cp:coreProperties>
</file>