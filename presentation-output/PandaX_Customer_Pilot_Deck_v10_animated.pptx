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U.S. matters illustrate the legal cost of missing vulnerability, evidence, and reporting controls. They are not CRA cases and the settlement structures are not directly comparable. Equifax agreed to pay at least $575 million, potentially up to $700 million; the FTC alleged an alerted critical vulnerability remained unpatched and that asset inventory and scanner coverage were incomplete: https://www.ftc.gov/news-events/news/press-releases/2019/07/equifax-pay-575-million-part-settlement-ftc-cfpb-states-related-2017-data-breach . Uber agreed to a $148 million nationwide settlement over the 2016 breach and alleged cover-up: https://www.oag.ca.gov/news/press-releases/california-attorney-general-becerra-san-francisco-district-attorney-gasc%C3%B3n . Ring agreed to pay $5.8 million for consumer refunds; the FTC alleged failures that enabled hackers to access accounts, cameras, and videos: https://www.ftc.gov/legal-library/browse/cases-proceedings/2023113-ring-llc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21B23-E78C-409F-BA6E-49BEADB409C3}"/>
              </a:ext>
            </a:extLst>
          </p:cNvPr>
          <p:cNvSpPr>
            <a:spLocks noGrp="1"/>
          </p:cNvSpPr>
          <p:nvPr/>
        </p:nvSpPr>
        <p:spPr>
          <a:xfrm>
            <a:off x="0" y="0"/>
            <a:ext cx="171450" cy="6858000"/>
          </a:xfrm>
          <a:prstGeom prst="rect">
            <a:avLst/>
          </a:prstGeom>
          <a:solidFill>
            <a:srgbClr val="4ED8A0"/>
          </a:solidFill>
          <a:ln w="0">
            <a:noFill/>
          </a:ln>
        </p:spPr>
      </p:sp>
      <p:sp>
        <p:nvSpPr>
          <p:cNvPr id="2" name="Rectangle 1">
            <a:extLst>
              <a:ext uri="{FF2B5EF4-FFF2-40B4-BE49-F238E27FC236}">
                <a16:creationId xmlns:a16="http://schemas.microsoft.com/office/drawing/2014/main" id="{2A239C1D-B907-4517-A645-D85D0A41070E}"/>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56E3184F-CB37-46FC-8EBB-B4CAB89FC129}"/>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4A1FE36-7F08-44BD-8889-DEE089EAA96B}"/>
              </a:ext>
            </a:extLst>
          </p:cNvPr>
          <p:cNvSpPr>
            <a:spLocks noGrp="1"/>
          </p:cNvSpPr>
          <p:nvPr/>
        </p:nvSpPr>
        <p:spPr>
          <a:xfrm>
            <a:off x="7296150" y="0"/>
            <a:ext cx="4895850" cy="6858000"/>
          </a:xfrm>
          <a:prstGeom prst="rect">
            <a:avLst/>
          </a:prstGeom>
          <a:solidFill>
            <a:srgbClr val="4ED8A0"/>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1499591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6991C3D-31FC-4C32-9402-E72E17B62C4A}"/>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5A7928F9-EAB9-4731-A08A-6DFBA650505A}"/>
              </a:ext>
            </a:extLst>
          </p:cNvPr>
          <p:cNvSpPr>
            <a:spLocks noGrp="1"/>
          </p:cNvSpPr>
          <p:nvPr/>
        </p:nvSpPr>
        <p:spPr>
          <a:xfrm>
            <a:off x="533400" y="552450"/>
            <a:ext cx="57150" cy="514350"/>
          </a:xfrm>
          <a:prstGeom prst="rect">
            <a:avLst/>
          </a:prstGeom>
          <a:solidFill>
            <a:srgbClr val="4ED8A0"/>
          </a:solidFill>
          <a:ln w="0">
            <a:noFill/>
          </a:ln>
        </p:spPr>
      </p:sp>
      <p:sp>
        <p:nvSpPr>
          <p:cNvPr id="4" name="Rectangle 3">
            <a:extLst>
              <a:ext uri="{FF2B5EF4-FFF2-40B4-BE49-F238E27FC236}">
                <a16:creationId xmlns:a16="http://schemas.microsoft.com/office/drawing/2014/main" id="{F2A0143F-87E5-4170-B421-25EF3EDBBD9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AA0496EA-7248-4325-846B-43C50B15B0D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167A57"/>
                </a:solidFill>
                <a:latin typeface="Segoe UI"/>
                <a:ea typeface="Segoe UI"/>
                <a:cs typeface="Segoe UI"/>
              </a:defRPr>
            </a:pPr>
            <a:r>
              <a:rPr sz="5850" b="1">
                <a:solidFill>
                  <a:srgbClr val="167A57"/>
                </a:solidFill>
                <a:latin typeface="Segoe UI"/>
                <a:ea typeface="Segoe UI"/>
                <a:cs typeface="Segoe UI"/>
              </a:rPr>
              <a:t>20%</a:t>
            </a:r>
          </a:p>
        </p:txBody>
      </p:sp>
      <p:sp>
        <p:nvSpPr>
          <p:cNvPr id="6" name="Rectangle 5">
            <a:extLst>
              <a:ext uri="{FF2B5EF4-FFF2-40B4-BE49-F238E27FC236}">
                <a16:creationId xmlns:a16="http://schemas.microsoft.com/office/drawing/2014/main" id="{E7B19B3E-93A3-49F6-8B22-07D2779CC5DC}"/>
              </a:ext>
            </a:extLst>
          </p:cNvPr>
          <p:cNvSpPr>
            <a:spLocks noGrp="1"/>
          </p:cNvSpPr>
          <p:nvPr/>
        </p:nvSpPr>
        <p:spPr>
          <a:xfrm>
            <a:off x="2857500" y="2371725"/>
            <a:ext cx="3619500" cy="45720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1493BE79-54BC-4D94-879B-56B153B6634C}"/>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15F3A1C7-7B9A-43A3-881D-8EE4D488DA7A}"/>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51CF4DBA-C297-4C2E-B6F5-8DEAD15A1CBA}"/>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621AF77B-FDA5-4A51-A6B5-FF4CA0C9E958}"/>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127FAA68-376B-4E2A-AF23-2CD6BE202503}"/>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88FA1427-347A-47F1-9D64-BE0F321654E0}"/>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EEE82C6-9383-4354-B1AE-FCD5D61E21BC}"/>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196000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0BCE60A-D3D9-449E-9A09-AC972A2D8AB6}"/>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BAD45689-BFE1-4CD5-B6BD-52515493224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07944D39-CAEF-46BA-A226-751A9EB6EDAC}"/>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67A57"/>
                </a:solidFill>
                <a:latin typeface="Segoe UI"/>
                <a:ea typeface="Segoe UI"/>
                <a:cs typeface="Segoe UI"/>
              </a:defRPr>
            </a:pPr>
            <a:r>
              <a:rPr sz="6900" b="1">
                <a:solidFill>
                  <a:srgbClr val="167A57"/>
                </a:solidFill>
                <a:latin typeface="Segoe UI"/>
                <a:ea typeface="Segoe UI"/>
                <a:cs typeface="Segoe UI"/>
              </a:rPr>
              <a:t>24H</a:t>
            </a:r>
          </a:p>
        </p:txBody>
      </p:sp>
      <p:sp>
        <p:nvSpPr>
          <p:cNvPr id="4" name="Rectangle 3">
            <a:extLst>
              <a:ext uri="{FF2B5EF4-FFF2-40B4-BE49-F238E27FC236}">
                <a16:creationId xmlns:a16="http://schemas.microsoft.com/office/drawing/2014/main" id="{D2744564-457B-4D17-80D9-CBADFD45B711}"/>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E4ECB3D8-84ED-4820-8D30-348D97844DFA}"/>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E44047DE-F19E-4BE6-BD1B-8261B6EAC633}"/>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2E53B6F3-1DF9-42E7-8050-F1B5E3725D8B}"/>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4C9EF5A2-0302-4BCE-A6CD-27D787622924}"/>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EF18B169-E234-4A09-B582-1C8140B36E8C}"/>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801AAD30-9F73-401C-83BD-FD63F22980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85378493-9507-4CB2-BD0E-87B5057E365B}"/>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52D4574A-FA9D-4B55-8803-B61A785077DA}"/>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44A6CBE4-F0D2-4536-96FD-95B1BA44F0C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85451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732D0E2-FF13-4711-9577-D0EB615A3EE2}"/>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E066B136-1261-4D71-A38B-55433C517C08}"/>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316E1C45-E3AF-4610-8CEB-583FA925D146}"/>
              </a:ext>
            </a:extLst>
          </p:cNvPr>
          <p:cNvSpPr>
            <a:spLocks noGrp="1"/>
          </p:cNvSpPr>
          <p:nvPr/>
        </p:nvSpPr>
        <p:spPr>
          <a:xfrm>
            <a:off x="6858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$575M+</a:t>
            </a:r>
          </a:p>
        </p:txBody>
      </p:sp>
      <p:sp>
        <p:nvSpPr>
          <p:cNvPr id="4" name="Straight Connector 3">
            <a:extLst>
              <a:ext uri="{FF2B5EF4-FFF2-40B4-BE49-F238E27FC236}">
                <a16:creationId xmlns:a16="http://schemas.microsoft.com/office/drawing/2014/main" id="{F173DF2A-5AE6-454E-BF50-81179B22310B}"/>
              </a:ext>
            </a:extLst>
          </p:cNvPr>
          <p:cNvSpPr>
            <a:spLocks noGrp="1"/>
          </p:cNvSpPr>
          <p:nvPr/>
        </p:nvSpPr>
        <p:spPr>
          <a:xfrm>
            <a:off x="685800" y="3238500"/>
            <a:ext cx="2190750" cy="0"/>
          </a:xfrm>
          <a:prstGeom prst="line">
            <a:avLst/>
          </a:prstGeom>
          <a:noFill/>
          <a:ln w="28575">
            <a:solidFill>
              <a:srgbClr val="CBD5CF"/>
            </a:solidFill>
            <a:prstDash val="solid"/>
          </a:ln>
        </p:spPr>
      </p:sp>
      <p:sp>
        <p:nvSpPr>
          <p:cNvPr id="5" name="Rectangle 4">
            <a:extLst>
              <a:ext uri="{FF2B5EF4-FFF2-40B4-BE49-F238E27FC236}">
                <a16:creationId xmlns:a16="http://schemas.microsoft.com/office/drawing/2014/main" id="{B8949AAA-189D-47C9-98CB-04323525E87F}"/>
              </a:ext>
            </a:extLst>
          </p:cNvPr>
          <p:cNvSpPr>
            <a:spLocks noGrp="1"/>
          </p:cNvSpPr>
          <p:nvPr/>
        </p:nvSpPr>
        <p:spPr>
          <a:xfrm>
            <a:off x="6858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Equifax</a:t>
            </a:r>
          </a:p>
        </p:txBody>
      </p:sp>
      <p:sp>
        <p:nvSpPr>
          <p:cNvPr id="6" name="Rectangle 5">
            <a:extLst>
              <a:ext uri="{FF2B5EF4-FFF2-40B4-BE49-F238E27FC236}">
                <a16:creationId xmlns:a16="http://schemas.microsoft.com/office/drawing/2014/main" id="{8CD17A4E-8BDA-43B3-A6CB-F3C03AC163AF}"/>
              </a:ext>
            </a:extLst>
          </p:cNvPr>
          <p:cNvSpPr>
            <a:spLocks noGrp="1"/>
          </p:cNvSpPr>
          <p:nvPr/>
        </p:nvSpPr>
        <p:spPr>
          <a:xfrm>
            <a:off x="34290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$148M</a:t>
            </a:r>
          </a:p>
        </p:txBody>
      </p:sp>
      <p:sp>
        <p:nvSpPr>
          <p:cNvPr id="7" name="Straight Connector 6">
            <a:extLst>
              <a:ext uri="{FF2B5EF4-FFF2-40B4-BE49-F238E27FC236}">
                <a16:creationId xmlns:a16="http://schemas.microsoft.com/office/drawing/2014/main" id="{F0FEE8BE-DBBA-4F23-B5AF-CD1110660E09}"/>
              </a:ext>
            </a:extLst>
          </p:cNvPr>
          <p:cNvSpPr>
            <a:spLocks noGrp="1"/>
          </p:cNvSpPr>
          <p:nvPr/>
        </p:nvSpPr>
        <p:spPr>
          <a:xfrm>
            <a:off x="3429000" y="3238500"/>
            <a:ext cx="2190750" cy="0"/>
          </a:xfrm>
          <a:prstGeom prst="line">
            <a:avLst/>
          </a:prstGeom>
          <a:noFill/>
          <a:ln w="28575">
            <a:solidFill>
              <a:srgbClr val="CBD5CF"/>
            </a:solidFill>
            <a:prstDash val="solid"/>
          </a:ln>
        </p:spPr>
      </p:sp>
      <p:sp>
        <p:nvSpPr>
          <p:cNvPr id="8" name="Rectangle 7">
            <a:extLst>
              <a:ext uri="{FF2B5EF4-FFF2-40B4-BE49-F238E27FC236}">
                <a16:creationId xmlns:a16="http://schemas.microsoft.com/office/drawing/2014/main" id="{BEF195E1-2B96-46E5-898F-F14A4752F27D}"/>
              </a:ext>
            </a:extLst>
          </p:cNvPr>
          <p:cNvSpPr>
            <a:spLocks noGrp="1"/>
          </p:cNvSpPr>
          <p:nvPr/>
        </p:nvSpPr>
        <p:spPr>
          <a:xfrm>
            <a:off x="34290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Uber</a:t>
            </a:r>
          </a:p>
        </p:txBody>
      </p:sp>
      <p:sp>
        <p:nvSpPr>
          <p:cNvPr id="9" name="Rectangle 8">
            <a:extLst>
              <a:ext uri="{FF2B5EF4-FFF2-40B4-BE49-F238E27FC236}">
                <a16:creationId xmlns:a16="http://schemas.microsoft.com/office/drawing/2014/main" id="{CD69FF62-9C27-45A8-B132-1F339F03FC90}"/>
              </a:ext>
            </a:extLst>
          </p:cNvPr>
          <p:cNvSpPr>
            <a:spLocks noGrp="1"/>
          </p:cNvSpPr>
          <p:nvPr/>
        </p:nvSpPr>
        <p:spPr>
          <a:xfrm>
            <a:off x="61722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$5.8M</a:t>
            </a:r>
          </a:p>
        </p:txBody>
      </p:sp>
      <p:sp>
        <p:nvSpPr>
          <p:cNvPr id="10" name="Straight Connector 9">
            <a:extLst>
              <a:ext uri="{FF2B5EF4-FFF2-40B4-BE49-F238E27FC236}">
                <a16:creationId xmlns:a16="http://schemas.microsoft.com/office/drawing/2014/main" id="{22B01034-62CB-4253-8552-6936FE8C1D8E}"/>
              </a:ext>
            </a:extLst>
          </p:cNvPr>
          <p:cNvSpPr>
            <a:spLocks noGrp="1"/>
          </p:cNvSpPr>
          <p:nvPr/>
        </p:nvSpPr>
        <p:spPr>
          <a:xfrm>
            <a:off x="6172200" y="3238500"/>
            <a:ext cx="2190750" cy="0"/>
          </a:xfrm>
          <a:prstGeom prst="line">
            <a:avLst/>
          </a:prstGeom>
          <a:noFill/>
          <a:ln w="28575">
            <a:solidFill>
              <a:srgbClr val="CBD5CF"/>
            </a:solidFill>
            <a:prstDash val="solid"/>
          </a:ln>
        </p:spPr>
      </p:sp>
      <p:sp>
        <p:nvSpPr>
          <p:cNvPr id="11" name="Rectangle 10">
            <a:extLst>
              <a:ext uri="{FF2B5EF4-FFF2-40B4-BE49-F238E27FC236}">
                <a16:creationId xmlns:a16="http://schemas.microsoft.com/office/drawing/2014/main" id="{8F9E4CE1-675A-48D6-9055-50838D004880}"/>
              </a:ext>
            </a:extLst>
          </p:cNvPr>
          <p:cNvSpPr>
            <a:spLocks noGrp="1"/>
          </p:cNvSpPr>
          <p:nvPr/>
        </p:nvSpPr>
        <p:spPr>
          <a:xfrm>
            <a:off x="61722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Ring</a:t>
            </a:r>
          </a:p>
        </p:txBody>
      </p:sp>
      <p:sp>
        <p:nvSpPr>
          <p:cNvPr id="12" name="Rectangle 11">
            <a:extLst>
              <a:ext uri="{FF2B5EF4-FFF2-40B4-BE49-F238E27FC236}">
                <a16:creationId xmlns:a16="http://schemas.microsoft.com/office/drawing/2014/main" id="{19C1160F-5CA0-4243-9D14-021A7E3B101C}"/>
              </a:ext>
            </a:extLst>
          </p:cNvPr>
          <p:cNvSpPr>
            <a:spLocks noGrp="1"/>
          </p:cNvSpPr>
          <p:nvPr/>
        </p:nvSpPr>
        <p:spPr>
          <a:xfrm>
            <a:off x="8915400" y="2266950"/>
            <a:ext cx="2381250" cy="857250"/>
          </a:xfrm>
          <a:prstGeom prst="rect">
            <a:avLst/>
          </a:prstGeom>
          <a:noFill/>
          <a:ln w="0">
            <a:noFill/>
          </a:ln>
        </p:spPr>
        <p:txBody>
          <a:bodyPr wrap="square" lIns="0" tIns="0" rIns="0" bIns="0" anchor="t">
            <a:noAutofit/>
          </a:bodyPr>
          <a:lstStyle/>
          <a:p>
            <a:pPr algn="l">
              <a:lnSpc>
                <a:spcPct val="100000"/>
              </a:lnSpc>
              <a:buNone/>
              <a:defRPr sz="3900" b="1">
                <a:solidFill>
                  <a:srgbClr val="167A57"/>
                </a:solidFill>
                <a:latin typeface="Segoe UI"/>
                <a:ea typeface="Segoe UI"/>
                <a:cs typeface="Segoe UI"/>
              </a:defRPr>
            </a:pPr>
            <a:r>
              <a:rPr sz="3900" b="1">
                <a:solidFill>
                  <a:srgbClr val="167A57"/>
                </a:solidFill>
                <a:latin typeface="Segoe UI"/>
                <a:ea typeface="Segoe UI"/>
                <a:cs typeface="Segoe UI"/>
              </a:rPr>
              <a:t>€6.31B</a:t>
            </a:r>
          </a:p>
        </p:txBody>
      </p:sp>
      <p:sp>
        <p:nvSpPr>
          <p:cNvPr id="13" name="Straight Connector 12">
            <a:extLst>
              <a:ext uri="{FF2B5EF4-FFF2-40B4-BE49-F238E27FC236}">
                <a16:creationId xmlns:a16="http://schemas.microsoft.com/office/drawing/2014/main" id="{6CE1AAC1-E0ED-4DB6-98DE-01D1067AEDEA}"/>
              </a:ext>
            </a:extLst>
          </p:cNvPr>
          <p:cNvSpPr>
            <a:spLocks noGrp="1"/>
          </p:cNvSpPr>
          <p:nvPr/>
        </p:nvSpPr>
        <p:spPr>
          <a:xfrm>
            <a:off x="8915400" y="3238500"/>
            <a:ext cx="2190750" cy="0"/>
          </a:xfrm>
          <a:prstGeom prst="line">
            <a:avLst/>
          </a:prstGeom>
          <a:noFill/>
          <a:ln w="28575">
            <a:solidFill>
              <a:srgbClr val="CBD5CF"/>
            </a:solidFill>
            <a:prstDash val="solid"/>
          </a:ln>
        </p:spPr>
      </p:sp>
      <p:sp>
        <p:nvSpPr>
          <p:cNvPr id="14" name="Rectangle 13">
            <a:extLst>
              <a:ext uri="{FF2B5EF4-FFF2-40B4-BE49-F238E27FC236}">
                <a16:creationId xmlns:a16="http://schemas.microsoft.com/office/drawing/2014/main" id="{527FB81D-BFA1-4DE7-AD4E-B91B53F65AB1}"/>
              </a:ext>
            </a:extLst>
          </p:cNvPr>
          <p:cNvSpPr>
            <a:spLocks noGrp="1"/>
          </p:cNvSpPr>
          <p:nvPr/>
        </p:nvSpPr>
        <p:spPr>
          <a:xfrm>
            <a:off x="89154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GDPR fines</a:t>
            </a:r>
          </a:p>
        </p:txBody>
      </p:sp>
      <p:sp>
        <p:nvSpPr>
          <p:cNvPr id="15" name="Rectangle 14">
            <a:extLst>
              <a:ext uri="{FF2B5EF4-FFF2-40B4-BE49-F238E27FC236}">
                <a16:creationId xmlns:a16="http://schemas.microsoft.com/office/drawing/2014/main" id="{94EC2B07-EF49-44D9-A721-424B96DFE093}"/>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78945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A47A55A-4C68-4BA1-84EC-023EFEA009FC}"/>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D568CF30-382B-4C48-AFD4-AD3FF0668467}"/>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13C75D4E-7F19-400B-8077-BE3079200FEB}"/>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F2F4E35B-E950-4BBC-A6FF-0484D8468397}"/>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BA58688F-2E3F-44B4-91FD-1451DBF7FA50}"/>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68EF395E-27BC-488A-BFA3-325FC2DD160F}"/>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3EEF171B-DDBD-4333-B3E4-42DB69F4E636}"/>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0D15D7CE-F65B-48BF-BD6A-F87D455656DD}"/>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E076E0B0-76A8-475C-85FA-1BADA46B6A3A}"/>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1377B33B-9BE3-47F5-973C-7E5F9F6B3017}"/>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CEAD6221-CE92-424B-A275-AD2296D3F7CC}"/>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F1C0186B-65DA-4902-B3FF-08D91D408B4D}"/>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8D17472A-035A-43F7-A3C5-7C49B2E4A9E5}"/>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5D9E4858-FCA1-400A-922F-434ABE751C6B}"/>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31726A7E-C61C-489F-ADFC-BE5521AE8F9D}"/>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0B9133DA-122F-4BC5-941F-6CBA85C50439}"/>
              </a:ext>
            </a:extLst>
          </p:cNvPr>
          <p:cNvSpPr>
            <a:spLocks noGrp="1"/>
          </p:cNvSpPr>
          <p:nvPr/>
        </p:nvSpPr>
        <p:spPr>
          <a:xfrm>
            <a:off x="9525000" y="2457450"/>
            <a:ext cx="2038350" cy="0"/>
          </a:xfrm>
          <a:prstGeom prst="line">
            <a:avLst/>
          </a:prstGeom>
          <a:noFill/>
          <a:ln w="47625">
            <a:solidFill>
              <a:srgbClr val="4ED8A0"/>
            </a:solidFill>
            <a:prstDash val="solid"/>
          </a:ln>
        </p:spPr>
      </p:sp>
      <p:sp>
        <p:nvSpPr>
          <p:cNvPr id="17" name="Rectangle 16">
            <a:extLst>
              <a:ext uri="{FF2B5EF4-FFF2-40B4-BE49-F238E27FC236}">
                <a16:creationId xmlns:a16="http://schemas.microsoft.com/office/drawing/2014/main" id="{0B545826-97BC-4C5F-8A57-2A86BAD27D2A}"/>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FE4A18EA-0C95-45AF-AEC4-1F90829E4792}"/>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E2220CF7-5800-49B6-A418-A7A7689EC04B}"/>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4ED8A0"/>
                </a:solidFill>
                <a:latin typeface="Segoe UI"/>
                <a:ea typeface="Segoe UI"/>
                <a:cs typeface="Segoe UI"/>
              </a:defRPr>
            </a:pPr>
            <a:r>
              <a:rPr sz="2700" b="1">
                <a:solidFill>
                  <a:srgbClr val="4ED8A0"/>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96413CE2-DE6E-4AB1-B90A-6A56F3FD9146}"/>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31387640-A92F-400F-BF82-8EABC4C10847}"/>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204398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59DB548-5966-4548-B20E-435367170D38}"/>
              </a:ext>
            </a:extLst>
          </p:cNvPr>
          <p:cNvSpPr>
            <a:spLocks noGrp="1"/>
          </p:cNvSpPr>
          <p:nvPr/>
        </p:nvSpPr>
        <p:spPr>
          <a:xfrm>
            <a:off x="0" y="0"/>
            <a:ext cx="3333750" cy="6858000"/>
          </a:xfrm>
          <a:prstGeom prst="rect">
            <a:avLst/>
          </a:prstGeom>
          <a:solidFill>
            <a:srgbClr val="4ED8A0"/>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AA2FB809-032A-45E3-A9C5-25AEFEBBCB5C}"/>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F9AD7C28-D38F-4FDE-B6A9-BC7A9794009F}"/>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167A57"/>
                </a:solidFill>
                <a:latin typeface="Segoe UI"/>
                <a:ea typeface="Segoe UI"/>
                <a:cs typeface="Segoe UI"/>
              </a:defRPr>
            </a:pPr>
            <a:r>
              <a:rPr sz="3600" b="1">
                <a:solidFill>
                  <a:srgbClr val="167A57"/>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0FBA902-8569-45FA-BA41-5334938AA38D}"/>
              </a:ext>
            </a:extLst>
          </p:cNvPr>
          <p:cNvSpPr>
            <a:spLocks noGrp="1"/>
          </p:cNvSpPr>
          <p:nvPr/>
        </p:nvSpPr>
        <p:spPr>
          <a:xfrm>
            <a:off x="4000500" y="2743200"/>
            <a:ext cx="7239000" cy="0"/>
          </a:xfrm>
          <a:prstGeom prst="line">
            <a:avLst/>
          </a:prstGeom>
          <a:noFill/>
          <a:ln w="38100">
            <a:solidFill>
              <a:srgbClr val="4ED8A0"/>
            </a:solidFill>
            <a:prstDash val="solid"/>
          </a:ln>
        </p:spPr>
      </p:sp>
      <p:sp>
        <p:nvSpPr>
          <p:cNvPr id="6" name="Rectangle 5">
            <a:extLst>
              <a:ext uri="{FF2B5EF4-FFF2-40B4-BE49-F238E27FC236}">
                <a16:creationId xmlns:a16="http://schemas.microsoft.com/office/drawing/2014/main" id="{6AA22E4E-D567-4020-A0CC-AA0F8BD30157}"/>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6AA79E79-1E18-45A0-ABA7-D3B53DBFF85A}"/>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721B0D08-0EB2-4786-86D9-6797673AC3E4}"/>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A3885883-8D47-44C1-8BAC-C9232B09AD1D}"/>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D9D913C9-C645-4053-B4D5-92D81ABBC015}"/>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0548B93B-7692-42FB-AAB1-242298F542C8}"/>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B820D1BC-C226-4F1A-96DB-03004FF439E2}"/>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BB299341-972B-4232-945E-5B0454387BBC}"/>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F8E831F1-B190-463E-B0BF-042F64606A8B}"/>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3C3BF0DA-6846-4506-A5DD-68F638EE20E7}"/>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244EC-5C88-4A55-8978-863B438C50A1}"/>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10751875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671</Words>
  <Application>Microsoft Office PowerPoint</Application>
  <DocSecurity>0</DocSecurity>
  <PresentationFormat>Widescreen</PresentationFormat>
  <Paragraphs>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2026-09-09T21:22:43Z</dcterms:created>
  <dcterms:modified xsi:type="dcterms:W3CDTF">2026-09-09T21:23:14Z</dcterms:modified>
</cp:coreProperties>
</file>