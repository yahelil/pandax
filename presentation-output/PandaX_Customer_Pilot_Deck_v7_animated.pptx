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industrial-control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U.S. matters illustrate the legal cost of missing vulnerability, evidence, and reporting controls. They are not CRA cases and the settlement structures are not directly comparable. Equifax agreed to pay at least $575 million, potentially up to $700 million; the FTC alleged an alerted critical vulnerability remained unpatched and that asset inventory and scanner coverage were incomplete: https://www.ftc.gov/news-events/news/press-releases/2019/07/equifax-pay-575-million-part-settlement-ftc-cfpb-states-related-2017-data-breach . Uber agreed to a $148 million nationwide settlement over the 2016 breach and alleged cover-up: https://www.oag.ca.gov/news/press-releases/california-attorney-general-becerra-san-francisco-district-attorney-gasc%C3%B3n . Ring agreed to pay $5.8 million for consumer refunds; the FTC alleged failures that enabled hackers to access accounts, cameras, and videos: https://www.ftc.gov/legal-library/browse/cases-proceedings/2023113-ring-llc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PandaX positioning supplied by the user. Core distinction: conventional scanners identify components and potential vulnerabilities; PandaX adds product-specific evidence, a persistent case, CRA deadline workflow, document generation, approvals, and a signed evidence bundle. The system prepares a 24-hour early-warning package but keeps legal reportability, approval, and submission human-authorized. Category framing; validate claims before naming individual competitors.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Acceptance results are user-supplied completed-PoC results: 76/76 checks, 34/34 negative controls, blind supported-image acceptance, restart persistence, both Article 14 workflow types, PDF/A-2b validation, and external signature verification behavior. Observed local sample was run through the PandaX dashboard on 8 September 2026: OpenWrt 19.07.1; timestamps 01:27:04.274Z to 01:27:24.154Z (19.88 seconds); 118 components; 2 findings; 952 files sealed. This sample is not a performance guarantee. Separate dossier-only generation time was unavailable and was not invented.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Pilot scope supplied by the user. The ask is a structured pilot, not investment or a large procurement commitment. Simulated submissions and receipts must remain visibly labeled as simulations.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81CEB5-E289-418C-B7B9-BBDDF30388BB}"/>
              </a:ext>
            </a:extLst>
          </p:cNvPr>
          <p:cNvSpPr>
            <a:spLocks noGrp="1"/>
          </p:cNvSpPr>
          <p:nvPr/>
        </p:nvSpPr>
        <p:spPr>
          <a:xfrm>
            <a:off x="0" y="0"/>
            <a:ext cx="171450" cy="6858000"/>
          </a:xfrm>
          <a:prstGeom prst="rect">
            <a:avLst/>
          </a:prstGeom>
          <a:solidFill>
            <a:srgbClr val="4ED8A0"/>
          </a:solidFill>
          <a:ln w="0">
            <a:noFill/>
          </a:ln>
        </p:spPr>
      </p:sp>
      <p:sp>
        <p:nvSpPr>
          <p:cNvPr id="2" name="Rectangle 1">
            <a:extLst>
              <a:ext uri="{FF2B5EF4-FFF2-40B4-BE49-F238E27FC236}">
                <a16:creationId xmlns:a16="http://schemas.microsoft.com/office/drawing/2014/main" id="{E1F8070F-D577-4065-9A1D-37774B849D43}"/>
              </a:ext>
            </a:extLst>
          </p:cNvPr>
          <p:cNvSpPr>
            <a:spLocks noGrp="1"/>
          </p:cNvSpPr>
          <p:nvPr/>
        </p:nvSpPr>
        <p:spPr>
          <a:xfrm>
            <a:off x="666750" y="1181100"/>
            <a:ext cx="6191250" cy="876300"/>
          </a:xfrm>
          <a:prstGeom prst="rect">
            <a:avLst/>
          </a:prstGeom>
          <a:noFill/>
          <a:ln w="0">
            <a:noFill/>
          </a:ln>
        </p:spPr>
        <p:txBody>
          <a:bodyPr wrap="square" lIns="0" tIns="0" rIns="0" bIns="0" anchor="t">
            <a:noAutofit/>
          </a:bodyPr>
          <a:lstStyle/>
          <a:p>
            <a:pPr algn="l">
              <a:lnSpc>
                <a:spcPct val="100000"/>
              </a:lnSpc>
              <a:buNone/>
              <a:defRPr sz="5400" b="1">
                <a:solidFill>
                  <a:srgbClr val="F2F5F9"/>
                </a:solidFill>
                <a:latin typeface="Segoe UI"/>
                <a:ea typeface="Segoe UI"/>
                <a:cs typeface="Segoe UI"/>
              </a:defRPr>
            </a:pPr>
            <a:r>
              <a:rPr sz="5400" b="1">
                <a:solidFill>
                  <a:srgbClr val="F2F5F9"/>
                </a:solidFill>
                <a:latin typeface="Segoe UI"/>
                <a:ea typeface="Segoe UI"/>
                <a:cs typeface="Segoe UI"/>
              </a:rPr>
              <a:t>PandaX</a:t>
            </a:r>
          </a:p>
        </p:txBody>
      </p:sp>
      <p:sp>
        <p:nvSpPr>
          <p:cNvPr id="3" name="Rectangle 2">
            <a:extLst>
              <a:ext uri="{FF2B5EF4-FFF2-40B4-BE49-F238E27FC236}">
                <a16:creationId xmlns:a16="http://schemas.microsoft.com/office/drawing/2014/main" id="{2254C4FE-CE3B-4BA8-BEE9-7DC20E1E208F}"/>
              </a:ext>
            </a:extLst>
          </p:cNvPr>
          <p:cNvSpPr>
            <a:spLocks noGrp="1"/>
          </p:cNvSpPr>
          <p:nvPr/>
        </p:nvSpPr>
        <p:spPr>
          <a:xfrm>
            <a:off x="685800" y="2190750"/>
            <a:ext cx="6191250" cy="1066800"/>
          </a:xfrm>
          <a:prstGeom prst="rect">
            <a:avLst/>
          </a:prstGeom>
          <a:noFill/>
          <a:ln w="0">
            <a:noFill/>
          </a:ln>
        </p:spPr>
        <p:txBody>
          <a:bodyPr wrap="square" lIns="0" tIns="0" rIns="0" bIns="0" anchor="t">
            <a:noAutofit/>
          </a:bodyPr>
          <a:lstStyle/>
          <a:p>
            <a:pPr algn="l">
              <a:lnSpc>
                <a:spcPct val="92000"/>
              </a:lnSpc>
              <a:buNone/>
              <a:defRPr sz="3300" b="1">
                <a:solidFill>
                  <a:srgbClr val="F2F5F9"/>
                </a:solidFill>
                <a:latin typeface="Segoe UI"/>
                <a:ea typeface="Segoe UI"/>
                <a:cs typeface="Segoe UI"/>
              </a:defRPr>
            </a:pPr>
            <a:r>
              <a:rPr sz="3300" b="1">
                <a:solidFill>
                  <a:srgbClr val="F2F5F9"/>
                </a:solidFill>
                <a:latin typeface="Segoe UI"/>
                <a:ea typeface="Segoe UI"/>
                <a:cs typeface="Segoe UI"/>
              </a:rPr>
              <a:t>Firmware evidence for CRA readiness</a:t>
            </a:r>
          </a:p>
        </p:txBody>
      </p:sp>
      <p:sp>
        <p:nvSpPr>
          <p:cNvPr id="4" name="Rectangle 3">
            <a:extLst>
              <a:ext uri="{FF2B5EF4-FFF2-40B4-BE49-F238E27FC236}">
                <a16:creationId xmlns:a16="http://schemas.microsoft.com/office/drawing/2014/main" id="{DF995CD1-E334-43D6-834C-F9FDA96CE8D7}"/>
              </a:ext>
            </a:extLst>
          </p:cNvPr>
          <p:cNvSpPr>
            <a:spLocks noGrp="1"/>
          </p:cNvSpPr>
          <p:nvPr/>
        </p:nvSpPr>
        <p:spPr>
          <a:xfrm>
            <a:off x="704850" y="3524250"/>
            <a:ext cx="5334000" cy="685800"/>
          </a:xfrm>
          <a:prstGeom prst="rect">
            <a:avLst/>
          </a:prstGeom>
          <a:noFill/>
          <a:ln w="0">
            <a:noFill/>
          </a:ln>
        </p:spPr>
        <p:txBody>
          <a:bodyPr wrap="square" lIns="0" tIns="0" rIns="0" bIns="0" anchor="t">
            <a:noAutofit/>
          </a:bodyPr>
          <a:lstStyle/>
          <a:p>
            <a:pPr algn="l">
              <a:lnSpc>
                <a:spcPct val="105000"/>
              </a:lnSpc>
              <a:buNone/>
              <a:defRPr sz="1800" b="0">
                <a:solidFill>
                  <a:srgbClr val="A9B3C1"/>
                </a:solidFill>
                <a:latin typeface="Segoe UI"/>
                <a:ea typeface="Segoe UI"/>
                <a:cs typeface="Segoe UI"/>
              </a:defRPr>
            </a:pPr>
            <a:r>
              <a:rPr sz="1800" b="0">
                <a:solidFill>
                  <a:srgbClr val="A9B3C1"/>
                </a:solidFill>
                <a:latin typeface="Segoe UI"/>
                <a:ea typeface="Segoe UI"/>
                <a:cs typeface="Segoe UI"/>
              </a:rPr>
              <a:t>Customer pilot presentation for industrial and connected-product teams</a:t>
            </a:r>
          </a:p>
        </p:txBody>
      </p:sp>
      <p:sp>
        <p:nvSpPr>
          <p:cNvPr id="5" name="Rectangle: Rounded Corners 4">
            <a:extLst>
              <a:ext uri="{FF2B5EF4-FFF2-40B4-BE49-F238E27FC236}">
                <a16:creationId xmlns:a16="http://schemas.microsoft.com/office/drawing/2014/main" id="{05F52AD8-5045-4F0C-8D24-6714FDB17A9C}"/>
              </a:ext>
            </a:extLst>
          </p:cNvPr>
          <p:cNvSpPr>
            <a:spLocks noGrp="1"/>
          </p:cNvSpPr>
          <p:nvPr/>
        </p:nvSpPr>
        <p:spPr>
          <a:xfrm>
            <a:off x="704850" y="4629150"/>
            <a:ext cx="2000250" cy="285750"/>
          </a:xfrm>
          <a:prstGeom prst="roundRect">
            <a:avLst>
              <a:gd name="adj" fmla="val 26667"/>
            </a:avLst>
          </a:prstGeom>
          <a:solidFill>
            <a:srgbClr val="171A20"/>
          </a:solidFill>
          <a:ln w="9525">
            <a:solidFill>
              <a:srgbClr val="2A2F36"/>
            </a:solidFill>
            <a:prstDash val="solid"/>
          </a:ln>
        </p:spPr>
        <p:txBody>
          <a:bodyPr lIns="47625" tIns="0" rIns="47625" bIns="0" anchor="ctr">
            <a:noAutofit/>
          </a:bodyPr>
          <a:lstStyle/>
          <a:p>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LOCAL / ON-PREMISES</a:t>
            </a:r>
          </a:p>
        </p:txBody>
      </p:sp>
      <p:sp>
        <p:nvSpPr>
          <p:cNvPr id="6" name="Rectangle: Rounded Corners 5">
            <a:extLst>
              <a:ext uri="{FF2B5EF4-FFF2-40B4-BE49-F238E27FC236}">
                <a16:creationId xmlns:a16="http://schemas.microsoft.com/office/drawing/2014/main" id="{84BDEE62-F0AF-4861-8F40-3CACECE73BA1}"/>
              </a:ext>
            </a:extLst>
          </p:cNvPr>
          <p:cNvSpPr>
            <a:spLocks noGrp="1"/>
          </p:cNvSpPr>
          <p:nvPr/>
        </p:nvSpPr>
        <p:spPr>
          <a:xfrm>
            <a:off x="2857500" y="4629150"/>
            <a:ext cx="1809750" cy="285750"/>
          </a:xfrm>
          <a:prstGeom prst="roundRect">
            <a:avLst>
              <a:gd name="adj" fmla="val 26667"/>
            </a:avLst>
          </a:prstGeom>
          <a:solidFill>
            <a:srgbClr val="171A20"/>
          </a:solidFill>
          <a:ln w="9525">
            <a:solidFill>
              <a:srgbClr val="2A2F36"/>
            </a:solidFill>
            <a:prstDash val="solid"/>
          </a:ln>
        </p:spPr>
        <p:txBody>
          <a:bodyPr lIns="47625" tIns="0" rIns="47625" bIns="0" anchor="ctr">
            <a:noAutofit/>
          </a:bodyPr>
          <a:lstStyle/>
          <a:p>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CRA ARTICLE 14</a:t>
            </a:r>
          </a:p>
        </p:txBody>
      </p:sp>
      <p:pic>
        <p:nvPicPr>
          <p:cNvPr id="15" name="Picture 14"/>
          <p:cNvPicPr>
            <a:picLocks noChangeAspect="1"/>
          </p:cNvPicPr>
          <p:nvPr/>
        </p:nvPicPr>
        <p:blipFill>
          <a:blip r:embed="rId3"/>
          <a:stretch/>
        </p:blipFill>
        <p:spPr>
          <a:xfrm>
            <a:off x="7524750" y="533400"/>
            <a:ext cx="3810000" cy="5715000"/>
          </a:xfrm>
          <a:prstGeom prst="rect">
            <a:avLst/>
          </a:prstGeom>
        </p:spPr>
      </p:pic>
      <p:sp>
        <p:nvSpPr>
          <p:cNvPr id="8" name="Rectangle 7">
            <a:extLst>
              <a:ext uri="{FF2B5EF4-FFF2-40B4-BE49-F238E27FC236}">
                <a16:creationId xmlns:a16="http://schemas.microsoft.com/office/drawing/2014/main" id="{A282B4A3-BD62-419D-915B-4A67AFBA1B41}"/>
              </a:ext>
            </a:extLst>
          </p:cNvPr>
          <p:cNvSpPr>
            <a:spLocks noGrp="1"/>
          </p:cNvSpPr>
          <p:nvPr/>
        </p:nvSpPr>
        <p:spPr>
          <a:xfrm>
            <a:off x="704850" y="6191250"/>
            <a:ext cx="3429000" cy="228600"/>
          </a:xfrm>
          <a:prstGeom prst="rect">
            <a:avLst/>
          </a:prstGeom>
          <a:noFill/>
          <a:ln w="0">
            <a:noFill/>
          </a:ln>
        </p:spPr>
        <p:txBody>
          <a:bodyPr wrap="square" lIns="0" tIns="0" rIns="0" bIns="0" anchor="t">
            <a:noAutofit/>
          </a:bodyPr>
          <a:lstStyle/>
          <a:p>
            <a:pPr algn="l">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Prepared 9 September 2026</a:t>
            </a:r>
          </a:p>
        </p:txBody>
      </p:sp>
    </p:spTree>
    <p:extLst>
      <p:ext uri="{BB962C8B-B14F-4D97-AF65-F5344CB8AC3E}">
        <p14:creationId xmlns:p14="http://schemas.microsoft.com/office/powerpoint/2010/main" val="1109268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7356AFA-5804-4F02-91AE-25119D2FD918}"/>
              </a:ext>
            </a:extLst>
          </p:cNvPr>
          <p:cNvSpPr>
            <a:spLocks noGrp="1"/>
          </p:cNvSpPr>
          <p:nvPr/>
        </p:nvSpPr>
        <p:spPr>
          <a:xfrm>
            <a:off x="0" y="0"/>
            <a:ext cx="6858000" cy="6858000"/>
          </a:xfrm>
          <a:prstGeom prst="rect">
            <a:avLst/>
          </a:prstGeom>
          <a:solidFill>
            <a:srgbClr val="0A0B0D"/>
          </a:solidFill>
          <a:ln w="0">
            <a:noFill/>
          </a:ln>
        </p:spPr>
      </p:sp>
      <p:sp>
        <p:nvSpPr>
          <p:cNvPr id="3" name="Rectangle 2">
            <a:extLst>
              <a:ext uri="{FF2B5EF4-FFF2-40B4-BE49-F238E27FC236}">
                <a16:creationId xmlns:a16="http://schemas.microsoft.com/office/drawing/2014/main" id="{78455045-F5B5-4BE8-8F03-6CD47367A8FC}"/>
              </a:ext>
            </a:extLst>
          </p:cNvPr>
          <p:cNvSpPr>
            <a:spLocks noGrp="1"/>
          </p:cNvSpPr>
          <p:nvPr/>
        </p:nvSpPr>
        <p:spPr>
          <a:xfrm>
            <a:off x="533400" y="552450"/>
            <a:ext cx="57150" cy="514350"/>
          </a:xfrm>
          <a:prstGeom prst="rect">
            <a:avLst/>
          </a:prstGeom>
          <a:solidFill>
            <a:srgbClr val="4ED8A0"/>
          </a:solidFill>
          <a:ln w="0">
            <a:noFill/>
          </a:ln>
        </p:spPr>
      </p:sp>
      <p:sp>
        <p:nvSpPr>
          <p:cNvPr id="4" name="Rectangle 3">
            <a:extLst>
              <a:ext uri="{FF2B5EF4-FFF2-40B4-BE49-F238E27FC236}">
                <a16:creationId xmlns:a16="http://schemas.microsoft.com/office/drawing/2014/main" id="{2D83D3E1-B96E-4512-A444-6E69BBEFB468}"/>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The alternative is a growing exposure backlog</a:t>
            </a:r>
          </a:p>
        </p:txBody>
      </p:sp>
      <p:sp>
        <p:nvSpPr>
          <p:cNvPr id="5" name="Rectangle 4">
            <a:extLst>
              <a:ext uri="{FF2B5EF4-FFF2-40B4-BE49-F238E27FC236}">
                <a16:creationId xmlns:a16="http://schemas.microsoft.com/office/drawing/2014/main" id="{17E54E2E-E32A-45DF-8FC3-22EACF0C2931}"/>
              </a:ext>
            </a:extLst>
          </p:cNvPr>
          <p:cNvSpPr>
            <a:spLocks noGrp="1"/>
          </p:cNvSpPr>
          <p:nvPr/>
        </p:nvSpPr>
        <p:spPr>
          <a:xfrm>
            <a:off x="781050" y="1924050"/>
            <a:ext cx="2000250" cy="838200"/>
          </a:xfrm>
          <a:prstGeom prst="rect">
            <a:avLst/>
          </a:prstGeom>
          <a:noFill/>
          <a:ln w="0">
            <a:noFill/>
          </a:ln>
        </p:spPr>
        <p:txBody>
          <a:bodyPr wrap="square" lIns="0" tIns="0" rIns="0" bIns="0" anchor="t">
            <a:noAutofit/>
          </a:bodyPr>
          <a:lstStyle/>
          <a:p>
            <a:pPr algn="l">
              <a:lnSpc>
                <a:spcPct val="100000"/>
              </a:lnSpc>
              <a:buNone/>
              <a:defRPr sz="5550" b="1">
                <a:solidFill>
                  <a:srgbClr val="4ED8A0"/>
                </a:solidFill>
                <a:latin typeface="Segoe UI"/>
                <a:ea typeface="Segoe UI"/>
                <a:cs typeface="Segoe UI"/>
              </a:defRPr>
            </a:pPr>
            <a:r>
              <a:rPr sz="5550" b="1">
                <a:solidFill>
                  <a:srgbClr val="4ED8A0"/>
                </a:solidFill>
                <a:latin typeface="Segoe UI"/>
                <a:ea typeface="Segoe UI"/>
                <a:cs typeface="Segoe UI"/>
              </a:rPr>
              <a:t>20%</a:t>
            </a:r>
          </a:p>
        </p:txBody>
      </p:sp>
      <p:sp>
        <p:nvSpPr>
          <p:cNvPr id="6" name="Rectangle 5">
            <a:extLst>
              <a:ext uri="{FF2B5EF4-FFF2-40B4-BE49-F238E27FC236}">
                <a16:creationId xmlns:a16="http://schemas.microsoft.com/office/drawing/2014/main" id="{1A4204BF-F7BF-40D1-9239-F1F34C64EE14}"/>
              </a:ext>
            </a:extLst>
          </p:cNvPr>
          <p:cNvSpPr>
            <a:spLocks noGrp="1"/>
          </p:cNvSpPr>
          <p:nvPr/>
        </p:nvSpPr>
        <p:spPr>
          <a:xfrm>
            <a:off x="781050" y="2800350"/>
            <a:ext cx="4762500" cy="64770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of confirmed breaches began with vulnerability exploitation</a:t>
            </a:r>
          </a:p>
        </p:txBody>
      </p:sp>
      <p:sp>
        <p:nvSpPr>
          <p:cNvPr id="7" name="Straight Connector 6">
            <a:extLst>
              <a:ext uri="{FF2B5EF4-FFF2-40B4-BE49-F238E27FC236}">
                <a16:creationId xmlns:a16="http://schemas.microsoft.com/office/drawing/2014/main" id="{01DF6EFE-731B-4851-96C9-7FD0942BC5AC}"/>
              </a:ext>
            </a:extLst>
          </p:cNvPr>
          <p:cNvSpPr>
            <a:spLocks noGrp="1"/>
          </p:cNvSpPr>
          <p:nvPr/>
        </p:nvSpPr>
        <p:spPr>
          <a:xfrm>
            <a:off x="781050" y="3705225"/>
            <a:ext cx="4953000" cy="0"/>
          </a:xfrm>
          <a:prstGeom prst="line">
            <a:avLst/>
          </a:prstGeom>
          <a:noFill/>
          <a:ln w="19050">
            <a:solidFill>
              <a:srgbClr val="2A2F36"/>
            </a:solidFill>
            <a:prstDash val="solid"/>
          </a:ln>
        </p:spPr>
      </p:sp>
      <p:sp>
        <p:nvSpPr>
          <p:cNvPr id="8" name="Rectangle 7">
            <a:extLst>
              <a:ext uri="{FF2B5EF4-FFF2-40B4-BE49-F238E27FC236}">
                <a16:creationId xmlns:a16="http://schemas.microsoft.com/office/drawing/2014/main" id="{14CC432B-A13D-4BD4-AB6F-4047916B55F5}"/>
              </a:ext>
            </a:extLst>
          </p:cNvPr>
          <p:cNvSpPr>
            <a:spLocks noGrp="1"/>
          </p:cNvSpPr>
          <p:nvPr/>
        </p:nvSpPr>
        <p:spPr>
          <a:xfrm>
            <a:off x="781050" y="3981450"/>
            <a:ext cx="2000250" cy="685800"/>
          </a:xfrm>
          <a:prstGeom prst="rect">
            <a:avLst/>
          </a:prstGeom>
          <a:noFill/>
          <a:ln w="0">
            <a:noFill/>
          </a:ln>
        </p:spPr>
        <p:txBody>
          <a:bodyPr wrap="square" lIns="0" tIns="0" rIns="0" bIns="0" anchor="t">
            <a:noAutofit/>
          </a:bodyPr>
          <a:lstStyle/>
          <a:p>
            <a:pPr algn="l">
              <a:lnSpc>
                <a:spcPct val="100000"/>
              </a:lnSpc>
              <a:buNone/>
              <a:defRPr sz="4350" b="1">
                <a:solidFill>
                  <a:srgbClr val="F2F5F9"/>
                </a:solidFill>
                <a:latin typeface="Segoe UI"/>
                <a:ea typeface="Segoe UI"/>
                <a:cs typeface="Segoe UI"/>
              </a:defRPr>
            </a:pPr>
            <a:r>
              <a:rPr sz="4350" b="1">
                <a:solidFill>
                  <a:srgbClr val="F2F5F9"/>
                </a:solidFill>
                <a:latin typeface="Segoe UI"/>
                <a:ea typeface="Segoe UI"/>
                <a:cs typeface="Segoe UI"/>
              </a:rPr>
              <a:t>+34%</a:t>
            </a:r>
          </a:p>
        </p:txBody>
      </p:sp>
      <p:sp>
        <p:nvSpPr>
          <p:cNvPr id="9" name="Rectangle 8">
            <a:extLst>
              <a:ext uri="{FF2B5EF4-FFF2-40B4-BE49-F238E27FC236}">
                <a16:creationId xmlns:a16="http://schemas.microsoft.com/office/drawing/2014/main" id="{98601BC5-157D-4936-90C2-CEC1B75BC97C}"/>
              </a:ext>
            </a:extLst>
          </p:cNvPr>
          <p:cNvSpPr>
            <a:spLocks noGrp="1"/>
          </p:cNvSpPr>
          <p:nvPr/>
        </p:nvSpPr>
        <p:spPr>
          <a:xfrm>
            <a:off x="2571750" y="4095750"/>
            <a:ext cx="3429000" cy="666750"/>
          </a:xfrm>
          <a:prstGeom prst="rect">
            <a:avLst/>
          </a:prstGeom>
          <a:noFill/>
          <a:ln w="0">
            <a:noFill/>
          </a:ln>
        </p:spPr>
        <p:txBody>
          <a:bodyPr wrap="square" lIns="0" tIns="0" rIns="0" bIns="0" anchor="t">
            <a:noAutofit/>
          </a:bodyPr>
          <a:lstStyle/>
          <a:p>
            <a:pPr algn="l">
              <a:lnSpc>
                <a:spcPct val="105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year-over-year growth in vulnerability exploitation as initial access</a:t>
            </a:r>
          </a:p>
        </p:txBody>
      </p:sp>
      <p:sp>
        <p:nvSpPr>
          <p:cNvPr id="10" name="Rectangle 9">
            <a:extLst>
              <a:ext uri="{FF2B5EF4-FFF2-40B4-BE49-F238E27FC236}">
                <a16:creationId xmlns:a16="http://schemas.microsoft.com/office/drawing/2014/main" id="{59E32904-5C52-4022-9454-F773C29B6DC5}"/>
              </a:ext>
            </a:extLst>
          </p:cNvPr>
          <p:cNvSpPr>
            <a:spLocks noGrp="1"/>
          </p:cNvSpPr>
          <p:nvPr/>
        </p:nvSpPr>
        <p:spPr>
          <a:xfrm>
            <a:off x="781050" y="5010150"/>
            <a:ext cx="2000250" cy="685800"/>
          </a:xfrm>
          <a:prstGeom prst="rect">
            <a:avLst/>
          </a:prstGeom>
          <a:noFill/>
          <a:ln w="0">
            <a:noFill/>
          </a:ln>
        </p:spPr>
        <p:txBody>
          <a:bodyPr wrap="square" lIns="0" tIns="0" rIns="0" bIns="0" anchor="t">
            <a:noAutofit/>
          </a:bodyPr>
          <a:lstStyle/>
          <a:p>
            <a:pPr algn="l">
              <a:lnSpc>
                <a:spcPct val="100000"/>
              </a:lnSpc>
              <a:buNone/>
              <a:defRPr sz="4350" b="1">
                <a:solidFill>
                  <a:srgbClr val="F2F5F9"/>
                </a:solidFill>
                <a:latin typeface="Segoe UI"/>
                <a:ea typeface="Segoe UI"/>
                <a:cs typeface="Segoe UI"/>
              </a:defRPr>
            </a:pPr>
            <a:r>
              <a:rPr sz="4350" b="1">
                <a:solidFill>
                  <a:srgbClr val="F2F5F9"/>
                </a:solidFill>
                <a:latin typeface="Segoe UI"/>
                <a:ea typeface="Segoe UI"/>
                <a:cs typeface="Segoe UI"/>
              </a:rPr>
              <a:t>30%</a:t>
            </a:r>
          </a:p>
        </p:txBody>
      </p:sp>
      <p:sp>
        <p:nvSpPr>
          <p:cNvPr id="11" name="Rectangle 10">
            <a:extLst>
              <a:ext uri="{FF2B5EF4-FFF2-40B4-BE49-F238E27FC236}">
                <a16:creationId xmlns:a16="http://schemas.microsoft.com/office/drawing/2014/main" id="{AA30B04E-0F43-4F23-99F1-9B573A94D331}"/>
              </a:ext>
            </a:extLst>
          </p:cNvPr>
          <p:cNvSpPr>
            <a:spLocks noGrp="1"/>
          </p:cNvSpPr>
          <p:nvPr/>
        </p:nvSpPr>
        <p:spPr>
          <a:xfrm>
            <a:off x="2571750" y="5124450"/>
            <a:ext cx="3143250" cy="533400"/>
          </a:xfrm>
          <a:prstGeom prst="rect">
            <a:avLst/>
          </a:prstGeom>
          <a:noFill/>
          <a:ln w="0">
            <a:noFill/>
          </a:ln>
        </p:spPr>
        <p:txBody>
          <a:bodyPr wrap="square" lIns="0" tIns="0" rIns="0" bIns="0" anchor="t">
            <a:noAutofit/>
          </a:bodyPr>
          <a:lstStyle/>
          <a:p>
            <a:pPr algn="l">
              <a:lnSpc>
                <a:spcPct val="105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of breaches involved a third party</a:t>
            </a:r>
          </a:p>
        </p:txBody>
      </p:sp>
      <p:sp>
        <p:nvSpPr>
          <p:cNvPr id="12" name="Rectangle 11">
            <a:extLst>
              <a:ext uri="{FF2B5EF4-FFF2-40B4-BE49-F238E27FC236}">
                <a16:creationId xmlns:a16="http://schemas.microsoft.com/office/drawing/2014/main" id="{EF7504DD-9C4F-47C5-B3B1-6DD4BC8A30C0}"/>
              </a:ext>
            </a:extLst>
          </p:cNvPr>
          <p:cNvSpPr>
            <a:spLocks noGrp="1"/>
          </p:cNvSpPr>
          <p:nvPr/>
        </p:nvSpPr>
        <p:spPr>
          <a:xfrm>
            <a:off x="781050" y="5943600"/>
            <a:ext cx="4953000" cy="228600"/>
          </a:xfrm>
          <a:prstGeom prst="rect">
            <a:avLst/>
          </a:prstGeom>
          <a:noFill/>
          <a:ln w="0">
            <a:noFill/>
          </a:ln>
        </p:spPr>
        <p:txBody>
          <a:bodyPr wrap="square" lIns="0" tIns="0" rIns="0" bIns="0" anchor="t">
            <a:noAutofit/>
          </a:bodyPr>
          <a:lstStyle/>
          <a:p>
            <a:pPr algn="l">
              <a:lnSpc>
                <a:spcPct val="100000"/>
              </a:lnSpc>
              <a:buNone/>
              <a:defRPr sz="975" b="1">
                <a:solidFill>
                  <a:srgbClr val="727D8C"/>
                </a:solidFill>
                <a:latin typeface="Cascadia Mono"/>
                <a:ea typeface="Cascadia Mono"/>
                <a:cs typeface="Cascadia Mono"/>
              </a:defRPr>
            </a:pPr>
            <a:r>
              <a:rPr sz="975" b="1">
                <a:solidFill>
                  <a:srgbClr val="727D8C"/>
                </a:solidFill>
                <a:latin typeface="Cascadia Mono"/>
                <a:ea typeface="Cascadia Mono"/>
                <a:cs typeface="Cascadia Mono"/>
              </a:rPr>
              <a:t>VERIZON 2025 DBIR  /  12,195 CONFIRMED BREACHES</a:t>
            </a:r>
          </a:p>
        </p:txBody>
      </p:sp>
      <p:sp>
        <p:nvSpPr>
          <p:cNvPr id="13" name="Straight Connector 12">
            <a:extLst>
              <a:ext uri="{FF2B5EF4-FFF2-40B4-BE49-F238E27FC236}">
                <a16:creationId xmlns:a16="http://schemas.microsoft.com/office/drawing/2014/main" id="{3CAD2433-1C46-4932-9339-D799E0D94234}"/>
              </a:ext>
            </a:extLst>
          </p:cNvPr>
          <p:cNvSpPr>
            <a:spLocks noGrp="1"/>
          </p:cNvSpPr>
          <p:nvPr/>
        </p:nvSpPr>
        <p:spPr>
          <a:xfrm>
            <a:off x="533400" y="6496050"/>
            <a:ext cx="11125200" cy="0"/>
          </a:xfrm>
          <a:prstGeom prst="line">
            <a:avLst/>
          </a:prstGeom>
          <a:noFill/>
          <a:ln w="9525">
            <a:solidFill>
              <a:srgbClr val="2A2F36"/>
            </a:solidFill>
            <a:prstDash val="solid"/>
          </a:ln>
        </p:spPr>
      </p:sp>
      <p:sp>
        <p:nvSpPr>
          <p:cNvPr id="14" name="Rectangle 13">
            <a:extLst>
              <a:ext uri="{FF2B5EF4-FFF2-40B4-BE49-F238E27FC236}">
                <a16:creationId xmlns:a16="http://schemas.microsoft.com/office/drawing/2014/main" id="{F24B87DB-A4A9-47B8-B6C7-47067F5A3E55}"/>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Customer pilot presentation</a:t>
            </a:r>
          </a:p>
        </p:txBody>
      </p:sp>
      <p:sp>
        <p:nvSpPr>
          <p:cNvPr id="15" name="Rectangle 14">
            <a:extLst>
              <a:ext uri="{FF2B5EF4-FFF2-40B4-BE49-F238E27FC236}">
                <a16:creationId xmlns:a16="http://schemas.microsoft.com/office/drawing/2014/main" id="{A8115B93-CDA6-4C08-8384-6A44E940529E}"/>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02</a:t>
            </a:r>
          </a:p>
        </p:txBody>
      </p:sp>
    </p:spTree>
    <p:extLst>
      <p:ext uri="{BB962C8B-B14F-4D97-AF65-F5344CB8AC3E}">
        <p14:creationId xmlns:p14="http://schemas.microsoft.com/office/powerpoint/2010/main" val="71712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14CF84E-32E9-4A2E-BB4A-188365F382AE}"/>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320C8321-C072-494F-986A-79838876D4D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One finding becomes a legal workflow</a:t>
            </a:r>
          </a:p>
        </p:txBody>
      </p:sp>
      <p:sp>
        <p:nvSpPr>
          <p:cNvPr id="3" name="Rectangle 2">
            <a:extLst>
              <a:ext uri="{FF2B5EF4-FFF2-40B4-BE49-F238E27FC236}">
                <a16:creationId xmlns:a16="http://schemas.microsoft.com/office/drawing/2014/main" id="{C70F551E-9BD3-4DF8-8954-AB6C0EBD2798}"/>
              </a:ext>
            </a:extLst>
          </p:cNvPr>
          <p:cNvSpPr>
            <a:spLocks noGrp="1"/>
          </p:cNvSpPr>
          <p:nvPr/>
        </p:nvSpPr>
        <p:spPr>
          <a:xfrm>
            <a:off x="762000" y="1076325"/>
            <a:ext cx="10382250" cy="419100"/>
          </a:xfrm>
          <a:prstGeom prst="rect">
            <a:avLst/>
          </a:prstGeom>
          <a:noFill/>
          <a:ln w="0">
            <a:noFill/>
          </a:ln>
        </p:spPr>
        <p:txBody>
          <a:bodyPr wrap="square" lIns="0" tIns="0" rIns="0" bIns="0" anchor="t">
            <a:noAutofit/>
          </a:bodyPr>
          <a:lstStyle/>
          <a:p>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Without automation, the CRA clock runs while product, security, compliance, and legal teams assemble proof.</a:t>
            </a:r>
          </a:p>
        </p:txBody>
      </p:sp>
      <p:sp>
        <p:nvSpPr>
          <p:cNvPr id="4" name="Rectangle 3">
            <a:extLst>
              <a:ext uri="{FF2B5EF4-FFF2-40B4-BE49-F238E27FC236}">
                <a16:creationId xmlns:a16="http://schemas.microsoft.com/office/drawing/2014/main" id="{120DA916-C1B4-405E-8118-A03F8C3B67F3}"/>
              </a:ext>
            </a:extLst>
          </p:cNvPr>
          <p:cNvSpPr>
            <a:spLocks noGrp="1"/>
          </p:cNvSpPr>
          <p:nvPr/>
        </p:nvSpPr>
        <p:spPr>
          <a:xfrm>
            <a:off x="685800" y="1828800"/>
            <a:ext cx="2362200" cy="285750"/>
          </a:xfrm>
          <a:prstGeom prst="rect">
            <a:avLst/>
          </a:prstGeom>
          <a:noFill/>
          <a:ln w="0">
            <a:noFill/>
          </a:ln>
        </p:spPr>
        <p:txBody>
          <a:bodyPr wrap="square" lIns="0" tIns="0" rIns="0" bIns="0" anchor="t">
            <a:noAutofit/>
          </a:bodyPr>
          <a:lstStyle/>
          <a:p>
            <a:pPr algn="l">
              <a:lnSpc>
                <a:spcPct val="100000"/>
              </a:lnSpc>
              <a:buNone/>
              <a:defRPr sz="1200" b="1">
                <a:solidFill>
                  <a:srgbClr val="A9B3C1"/>
                </a:solidFill>
                <a:latin typeface="Cascadia Mono"/>
                <a:ea typeface="Cascadia Mono"/>
                <a:cs typeface="Cascadia Mono"/>
              </a:defRPr>
            </a:pPr>
            <a:r>
              <a:rPr sz="1200" b="1">
                <a:solidFill>
                  <a:srgbClr val="A9B3C1"/>
                </a:solidFill>
                <a:latin typeface="Cascadia Mono"/>
                <a:ea typeface="Cascadia Mono"/>
                <a:cs typeface="Cascadia Mono"/>
              </a:rPr>
              <a:t>AWARENESS</a:t>
            </a:r>
          </a:p>
        </p:txBody>
      </p:sp>
      <p:sp>
        <p:nvSpPr>
          <p:cNvPr id="5" name="Straight Connector 4">
            <a:extLst>
              <a:ext uri="{FF2B5EF4-FFF2-40B4-BE49-F238E27FC236}">
                <a16:creationId xmlns:a16="http://schemas.microsoft.com/office/drawing/2014/main" id="{E7E79566-1026-424C-8D9A-AAED94AF542D}"/>
              </a:ext>
            </a:extLst>
          </p:cNvPr>
          <p:cNvSpPr>
            <a:spLocks noGrp="1"/>
          </p:cNvSpPr>
          <p:nvPr/>
        </p:nvSpPr>
        <p:spPr>
          <a:xfrm>
            <a:off x="685800" y="2238375"/>
            <a:ext cx="2362200" cy="0"/>
          </a:xfrm>
          <a:prstGeom prst="line">
            <a:avLst/>
          </a:prstGeom>
          <a:noFill/>
          <a:ln w="38100">
            <a:solidFill>
              <a:srgbClr val="2A2F36"/>
            </a:solidFill>
            <a:prstDash val="solid"/>
          </a:ln>
        </p:spPr>
      </p:sp>
      <p:sp>
        <p:nvSpPr>
          <p:cNvPr id="6" name="Rectangle 5">
            <a:extLst>
              <a:ext uri="{FF2B5EF4-FFF2-40B4-BE49-F238E27FC236}">
                <a16:creationId xmlns:a16="http://schemas.microsoft.com/office/drawing/2014/main" id="{1D861863-7636-4A6E-935A-11087A96EBB7}"/>
              </a:ext>
            </a:extLst>
          </p:cNvPr>
          <p:cNvSpPr>
            <a:spLocks noGrp="1"/>
          </p:cNvSpPr>
          <p:nvPr/>
        </p:nvSpPr>
        <p:spPr>
          <a:xfrm>
            <a:off x="685800" y="2486025"/>
            <a:ext cx="2362200" cy="666750"/>
          </a:xfrm>
          <a:prstGeom prst="rect">
            <a:avLst/>
          </a:prstGeom>
          <a:noFill/>
          <a:ln w="0">
            <a:noFill/>
          </a:ln>
        </p:spPr>
        <p:txBody>
          <a:bodyPr wrap="square" lIns="0" tIns="0" rIns="0" bIns="0" anchor="t">
            <a:noAutofit/>
          </a:bodyPr>
          <a:lstStyle/>
          <a:p>
            <a:pPr algn="l">
              <a:lnSpc>
                <a:spcPct val="104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Confirm product and versions</a:t>
            </a:r>
          </a:p>
        </p:txBody>
      </p:sp>
      <p:sp>
        <p:nvSpPr>
          <p:cNvPr id="7" name="Rectangle 6">
            <a:extLst>
              <a:ext uri="{FF2B5EF4-FFF2-40B4-BE49-F238E27FC236}">
                <a16:creationId xmlns:a16="http://schemas.microsoft.com/office/drawing/2014/main" id="{6B23897D-FD91-4F37-BB4B-0E2B70D8BA15}"/>
              </a:ext>
            </a:extLst>
          </p:cNvPr>
          <p:cNvSpPr>
            <a:spLocks noGrp="1"/>
          </p:cNvSpPr>
          <p:nvPr/>
        </p:nvSpPr>
        <p:spPr>
          <a:xfrm>
            <a:off x="3419475" y="1828800"/>
            <a:ext cx="2362200" cy="285750"/>
          </a:xfrm>
          <a:prstGeom prst="rect">
            <a:avLst/>
          </a:prstGeom>
          <a:noFill/>
          <a:ln w="0">
            <a:noFill/>
          </a:ln>
        </p:spPr>
        <p:txBody>
          <a:bodyPr wrap="square" lIns="0" tIns="0" rIns="0" bIns="0" anchor="t">
            <a:noAutofit/>
          </a:bodyPr>
          <a:lstStyle/>
          <a:p>
            <a:pPr algn="l">
              <a:lnSpc>
                <a:spcPct val="100000"/>
              </a:lnSpc>
              <a:buNone/>
              <a:defRPr sz="1200" b="1">
                <a:solidFill>
                  <a:srgbClr val="4ED8A0"/>
                </a:solidFill>
                <a:latin typeface="Cascadia Mono"/>
                <a:ea typeface="Cascadia Mono"/>
                <a:cs typeface="Cascadia Mono"/>
              </a:defRPr>
            </a:pPr>
            <a:r>
              <a:rPr sz="1200" b="1">
                <a:solidFill>
                  <a:srgbClr val="4ED8A0"/>
                </a:solidFill>
                <a:latin typeface="Cascadia Mono"/>
                <a:ea typeface="Cascadia Mono"/>
                <a:cs typeface="Cascadia Mono"/>
              </a:rPr>
              <a:t>24 HOURS</a:t>
            </a:r>
          </a:p>
        </p:txBody>
      </p:sp>
      <p:sp>
        <p:nvSpPr>
          <p:cNvPr id="8" name="Straight Connector 7">
            <a:extLst>
              <a:ext uri="{FF2B5EF4-FFF2-40B4-BE49-F238E27FC236}">
                <a16:creationId xmlns:a16="http://schemas.microsoft.com/office/drawing/2014/main" id="{4BE32ED9-3CDB-48BF-961E-409D8FDE9135}"/>
              </a:ext>
            </a:extLst>
          </p:cNvPr>
          <p:cNvSpPr>
            <a:spLocks noGrp="1"/>
          </p:cNvSpPr>
          <p:nvPr/>
        </p:nvSpPr>
        <p:spPr>
          <a:xfrm>
            <a:off x="3419475" y="2238375"/>
            <a:ext cx="2362200" cy="0"/>
          </a:xfrm>
          <a:prstGeom prst="line">
            <a:avLst/>
          </a:prstGeom>
          <a:noFill/>
          <a:ln w="38100">
            <a:solidFill>
              <a:srgbClr val="4ED8A0"/>
            </a:solidFill>
            <a:prstDash val="solid"/>
          </a:ln>
        </p:spPr>
      </p:sp>
      <p:sp>
        <p:nvSpPr>
          <p:cNvPr id="9" name="Rectangle 8">
            <a:extLst>
              <a:ext uri="{FF2B5EF4-FFF2-40B4-BE49-F238E27FC236}">
                <a16:creationId xmlns:a16="http://schemas.microsoft.com/office/drawing/2014/main" id="{4C66022F-B7F2-4590-B4C2-E3273B526A10}"/>
              </a:ext>
            </a:extLst>
          </p:cNvPr>
          <p:cNvSpPr>
            <a:spLocks noGrp="1"/>
          </p:cNvSpPr>
          <p:nvPr/>
        </p:nvSpPr>
        <p:spPr>
          <a:xfrm>
            <a:off x="3419475" y="2486025"/>
            <a:ext cx="2362200" cy="666750"/>
          </a:xfrm>
          <a:prstGeom prst="rect">
            <a:avLst/>
          </a:prstGeom>
          <a:noFill/>
          <a:ln w="0">
            <a:noFill/>
          </a:ln>
        </p:spPr>
        <p:txBody>
          <a:bodyPr wrap="square" lIns="0" tIns="0" rIns="0" bIns="0" anchor="t">
            <a:noAutofit/>
          </a:bodyPr>
          <a:lstStyle/>
          <a:p>
            <a:pPr algn="l">
              <a:lnSpc>
                <a:spcPct val="104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Submit early warning</a:t>
            </a:r>
          </a:p>
        </p:txBody>
      </p:sp>
      <p:sp>
        <p:nvSpPr>
          <p:cNvPr id="10" name="Rectangle 9">
            <a:extLst>
              <a:ext uri="{FF2B5EF4-FFF2-40B4-BE49-F238E27FC236}">
                <a16:creationId xmlns:a16="http://schemas.microsoft.com/office/drawing/2014/main" id="{FF5DC158-8153-4AB5-9F30-9302F66FFB74}"/>
              </a:ext>
            </a:extLst>
          </p:cNvPr>
          <p:cNvSpPr>
            <a:spLocks noGrp="1"/>
          </p:cNvSpPr>
          <p:nvPr/>
        </p:nvSpPr>
        <p:spPr>
          <a:xfrm>
            <a:off x="6153150" y="1828800"/>
            <a:ext cx="2362200" cy="285750"/>
          </a:xfrm>
          <a:prstGeom prst="rect">
            <a:avLst/>
          </a:prstGeom>
          <a:noFill/>
          <a:ln w="0">
            <a:noFill/>
          </a:ln>
        </p:spPr>
        <p:txBody>
          <a:bodyPr wrap="square" lIns="0" tIns="0" rIns="0" bIns="0" anchor="t">
            <a:noAutofit/>
          </a:bodyPr>
          <a:lstStyle/>
          <a:p>
            <a:pPr algn="l">
              <a:lnSpc>
                <a:spcPct val="100000"/>
              </a:lnSpc>
              <a:buNone/>
              <a:defRPr sz="1200" b="1">
                <a:solidFill>
                  <a:srgbClr val="A9B3C1"/>
                </a:solidFill>
                <a:latin typeface="Cascadia Mono"/>
                <a:ea typeface="Cascadia Mono"/>
                <a:cs typeface="Cascadia Mono"/>
              </a:defRPr>
            </a:pPr>
            <a:r>
              <a:rPr sz="1200" b="1">
                <a:solidFill>
                  <a:srgbClr val="A9B3C1"/>
                </a:solidFill>
                <a:latin typeface="Cascadia Mono"/>
                <a:ea typeface="Cascadia Mono"/>
                <a:cs typeface="Cascadia Mono"/>
              </a:rPr>
              <a:t>72 HOURS</a:t>
            </a:r>
          </a:p>
        </p:txBody>
      </p:sp>
      <p:sp>
        <p:nvSpPr>
          <p:cNvPr id="11" name="Straight Connector 10">
            <a:extLst>
              <a:ext uri="{FF2B5EF4-FFF2-40B4-BE49-F238E27FC236}">
                <a16:creationId xmlns:a16="http://schemas.microsoft.com/office/drawing/2014/main" id="{665B5FD3-0F87-4B73-8D3D-8CF0A6182279}"/>
              </a:ext>
            </a:extLst>
          </p:cNvPr>
          <p:cNvSpPr>
            <a:spLocks noGrp="1"/>
          </p:cNvSpPr>
          <p:nvPr/>
        </p:nvSpPr>
        <p:spPr>
          <a:xfrm>
            <a:off x="6153150" y="2238375"/>
            <a:ext cx="2362200" cy="0"/>
          </a:xfrm>
          <a:prstGeom prst="line">
            <a:avLst/>
          </a:prstGeom>
          <a:noFill/>
          <a:ln w="38100">
            <a:solidFill>
              <a:srgbClr val="2A2F36"/>
            </a:solidFill>
            <a:prstDash val="solid"/>
          </a:ln>
        </p:spPr>
      </p:sp>
      <p:sp>
        <p:nvSpPr>
          <p:cNvPr id="12" name="Rectangle 11">
            <a:extLst>
              <a:ext uri="{FF2B5EF4-FFF2-40B4-BE49-F238E27FC236}">
                <a16:creationId xmlns:a16="http://schemas.microsoft.com/office/drawing/2014/main" id="{31D07ABA-F9C7-49B1-A588-A47B92EBCCA3}"/>
              </a:ext>
            </a:extLst>
          </p:cNvPr>
          <p:cNvSpPr>
            <a:spLocks noGrp="1"/>
          </p:cNvSpPr>
          <p:nvPr/>
        </p:nvSpPr>
        <p:spPr>
          <a:xfrm>
            <a:off x="6153150" y="2486025"/>
            <a:ext cx="2362200" cy="666750"/>
          </a:xfrm>
          <a:prstGeom prst="rect">
            <a:avLst/>
          </a:prstGeom>
          <a:noFill/>
          <a:ln w="0">
            <a:noFill/>
          </a:ln>
        </p:spPr>
        <p:txBody>
          <a:bodyPr wrap="square" lIns="0" tIns="0" rIns="0" bIns="0" anchor="t">
            <a:noAutofit/>
          </a:bodyPr>
          <a:lstStyle/>
          <a:p>
            <a:pPr algn="l">
              <a:lnSpc>
                <a:spcPct val="104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Submit notification</a:t>
            </a:r>
          </a:p>
        </p:txBody>
      </p:sp>
      <p:sp>
        <p:nvSpPr>
          <p:cNvPr id="13" name="Rectangle 12">
            <a:extLst>
              <a:ext uri="{FF2B5EF4-FFF2-40B4-BE49-F238E27FC236}">
                <a16:creationId xmlns:a16="http://schemas.microsoft.com/office/drawing/2014/main" id="{D519B301-076D-43F4-B4E1-E6A64C79F7FF}"/>
              </a:ext>
            </a:extLst>
          </p:cNvPr>
          <p:cNvSpPr>
            <a:spLocks noGrp="1"/>
          </p:cNvSpPr>
          <p:nvPr/>
        </p:nvSpPr>
        <p:spPr>
          <a:xfrm>
            <a:off x="8886825" y="1828800"/>
            <a:ext cx="2362200" cy="285750"/>
          </a:xfrm>
          <a:prstGeom prst="rect">
            <a:avLst/>
          </a:prstGeom>
          <a:noFill/>
          <a:ln w="0">
            <a:noFill/>
          </a:ln>
        </p:spPr>
        <p:txBody>
          <a:bodyPr wrap="square" lIns="0" tIns="0" rIns="0" bIns="0" anchor="t">
            <a:noAutofit/>
          </a:bodyPr>
          <a:lstStyle/>
          <a:p>
            <a:pPr algn="l">
              <a:lnSpc>
                <a:spcPct val="100000"/>
              </a:lnSpc>
              <a:buNone/>
              <a:defRPr sz="1200" b="1">
                <a:solidFill>
                  <a:srgbClr val="A9B3C1"/>
                </a:solidFill>
                <a:latin typeface="Cascadia Mono"/>
                <a:ea typeface="Cascadia Mono"/>
                <a:cs typeface="Cascadia Mono"/>
              </a:defRPr>
            </a:pPr>
            <a:r>
              <a:rPr sz="1200" b="1">
                <a:solidFill>
                  <a:srgbClr val="A9B3C1"/>
                </a:solidFill>
                <a:latin typeface="Cascadia Mono"/>
                <a:ea typeface="Cascadia Mono"/>
                <a:cs typeface="Cascadia Mono"/>
              </a:rPr>
              <a:t>FINAL</a:t>
            </a:r>
          </a:p>
        </p:txBody>
      </p:sp>
      <p:sp>
        <p:nvSpPr>
          <p:cNvPr id="14" name="Straight Connector 13">
            <a:extLst>
              <a:ext uri="{FF2B5EF4-FFF2-40B4-BE49-F238E27FC236}">
                <a16:creationId xmlns:a16="http://schemas.microsoft.com/office/drawing/2014/main" id="{97A11324-63EE-4453-9E0D-2B505B30A026}"/>
              </a:ext>
            </a:extLst>
          </p:cNvPr>
          <p:cNvSpPr>
            <a:spLocks noGrp="1"/>
          </p:cNvSpPr>
          <p:nvPr/>
        </p:nvSpPr>
        <p:spPr>
          <a:xfrm>
            <a:off x="8886825" y="2238375"/>
            <a:ext cx="2362200" cy="0"/>
          </a:xfrm>
          <a:prstGeom prst="line">
            <a:avLst/>
          </a:prstGeom>
          <a:noFill/>
          <a:ln w="38100">
            <a:solidFill>
              <a:srgbClr val="2A2F36"/>
            </a:solidFill>
            <a:prstDash val="solid"/>
          </a:ln>
        </p:spPr>
      </p:sp>
      <p:sp>
        <p:nvSpPr>
          <p:cNvPr id="15" name="Rectangle 14">
            <a:extLst>
              <a:ext uri="{FF2B5EF4-FFF2-40B4-BE49-F238E27FC236}">
                <a16:creationId xmlns:a16="http://schemas.microsoft.com/office/drawing/2014/main" id="{270B8981-E516-4DF4-B70F-B285D4F30217}"/>
              </a:ext>
            </a:extLst>
          </p:cNvPr>
          <p:cNvSpPr>
            <a:spLocks noGrp="1"/>
          </p:cNvSpPr>
          <p:nvPr/>
        </p:nvSpPr>
        <p:spPr>
          <a:xfrm>
            <a:off x="8886825" y="2486025"/>
            <a:ext cx="2362200" cy="666750"/>
          </a:xfrm>
          <a:prstGeom prst="rect">
            <a:avLst/>
          </a:prstGeom>
          <a:noFill/>
          <a:ln w="0">
            <a:noFill/>
          </a:ln>
        </p:spPr>
        <p:txBody>
          <a:bodyPr wrap="square" lIns="0" tIns="0" rIns="0" bIns="0" anchor="t">
            <a:noAutofit/>
          </a:bodyPr>
          <a:lstStyle/>
          <a:p>
            <a:pPr algn="l">
              <a:lnSpc>
                <a:spcPct val="104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Complete root-cause report</a:t>
            </a:r>
          </a:p>
        </p:txBody>
      </p:sp>
      <p:sp>
        <p:nvSpPr>
          <p:cNvPr id="16" name="Rectangle 15">
            <a:extLst>
              <a:ext uri="{FF2B5EF4-FFF2-40B4-BE49-F238E27FC236}">
                <a16:creationId xmlns:a16="http://schemas.microsoft.com/office/drawing/2014/main" id="{30106479-12FC-46C7-9921-73CFF9605EE4}"/>
              </a:ext>
            </a:extLst>
          </p:cNvPr>
          <p:cNvSpPr>
            <a:spLocks noGrp="1"/>
          </p:cNvSpPr>
          <p:nvPr/>
        </p:nvSpPr>
        <p:spPr>
          <a:xfrm>
            <a:off x="685800" y="3476625"/>
            <a:ext cx="3238500"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EVIDENCE THAT MUST CONVERGE</a:t>
            </a:r>
          </a:p>
        </p:txBody>
      </p:sp>
      <p:sp>
        <p:nvSpPr>
          <p:cNvPr id="17" name="Rectangle: Rounded Corners 16">
            <a:extLst>
              <a:ext uri="{FF2B5EF4-FFF2-40B4-BE49-F238E27FC236}">
                <a16:creationId xmlns:a16="http://schemas.microsoft.com/office/drawing/2014/main" id="{A05AE108-10DD-4279-9850-ACAD5C674BB3}"/>
              </a:ext>
            </a:extLst>
          </p:cNvPr>
          <p:cNvSpPr>
            <a:spLocks noGrp="1"/>
          </p:cNvSpPr>
          <p:nvPr/>
        </p:nvSpPr>
        <p:spPr>
          <a:xfrm>
            <a:off x="685800" y="3943350"/>
            <a:ext cx="3276600" cy="533400"/>
          </a:xfrm>
          <a:prstGeom prst="roundRect">
            <a:avLst>
              <a:gd name="adj" fmla="val 14286"/>
            </a:avLst>
          </a:prstGeom>
          <a:solidFill>
            <a:srgbClr val="171A20"/>
          </a:solidFill>
          <a:ln w="9525">
            <a:solidFill>
              <a:srgbClr val="2A2F36"/>
            </a:solidFill>
            <a:prstDash val="solid"/>
          </a:ln>
        </p:spPr>
      </p:sp>
      <p:sp>
        <p:nvSpPr>
          <p:cNvPr id="18" name="Rectangle 17">
            <a:extLst>
              <a:ext uri="{FF2B5EF4-FFF2-40B4-BE49-F238E27FC236}">
                <a16:creationId xmlns:a16="http://schemas.microsoft.com/office/drawing/2014/main" id="{549792C0-FEFF-4A9B-8FAA-92BE150FFDB8}"/>
              </a:ext>
            </a:extLst>
          </p:cNvPr>
          <p:cNvSpPr>
            <a:spLocks noGrp="1"/>
          </p:cNvSpPr>
          <p:nvPr/>
        </p:nvSpPr>
        <p:spPr>
          <a:xfrm>
            <a:off x="857250" y="4067175"/>
            <a:ext cx="2933700" cy="29527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Firmware and SBOM scope</a:t>
            </a:r>
          </a:p>
        </p:txBody>
      </p:sp>
      <p:sp>
        <p:nvSpPr>
          <p:cNvPr id="19" name="Rectangle: Rounded Corners 18">
            <a:extLst>
              <a:ext uri="{FF2B5EF4-FFF2-40B4-BE49-F238E27FC236}">
                <a16:creationId xmlns:a16="http://schemas.microsoft.com/office/drawing/2014/main" id="{6BBCD9C7-7C87-4A27-A579-46ABF9794818}"/>
              </a:ext>
            </a:extLst>
          </p:cNvPr>
          <p:cNvSpPr>
            <a:spLocks noGrp="1"/>
          </p:cNvSpPr>
          <p:nvPr/>
        </p:nvSpPr>
        <p:spPr>
          <a:xfrm>
            <a:off x="4257675" y="3943350"/>
            <a:ext cx="3276600" cy="533400"/>
          </a:xfrm>
          <a:prstGeom prst="roundRect">
            <a:avLst>
              <a:gd name="adj" fmla="val 14286"/>
            </a:avLst>
          </a:prstGeom>
          <a:solidFill>
            <a:srgbClr val="171A20"/>
          </a:solidFill>
          <a:ln w="9525">
            <a:solidFill>
              <a:srgbClr val="2A2F36"/>
            </a:solidFill>
            <a:prstDash val="solid"/>
          </a:ln>
        </p:spPr>
      </p:sp>
      <p:sp>
        <p:nvSpPr>
          <p:cNvPr id="20" name="Rectangle 19">
            <a:extLst>
              <a:ext uri="{FF2B5EF4-FFF2-40B4-BE49-F238E27FC236}">
                <a16:creationId xmlns:a16="http://schemas.microsoft.com/office/drawing/2014/main" id="{1B62019E-5D8E-4E4F-B73F-90DE0B5493AA}"/>
              </a:ext>
            </a:extLst>
          </p:cNvPr>
          <p:cNvSpPr>
            <a:spLocks noGrp="1"/>
          </p:cNvSpPr>
          <p:nvPr/>
        </p:nvSpPr>
        <p:spPr>
          <a:xfrm>
            <a:off x="4429125" y="4067175"/>
            <a:ext cx="2933700" cy="29527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Exploitability and impact</a:t>
            </a:r>
          </a:p>
        </p:txBody>
      </p:sp>
      <p:sp>
        <p:nvSpPr>
          <p:cNvPr id="21" name="Rectangle: Rounded Corners 20">
            <a:extLst>
              <a:ext uri="{FF2B5EF4-FFF2-40B4-BE49-F238E27FC236}">
                <a16:creationId xmlns:a16="http://schemas.microsoft.com/office/drawing/2014/main" id="{9CCB4B31-F3B2-4AEF-8F32-5BA63AB947B2}"/>
              </a:ext>
            </a:extLst>
          </p:cNvPr>
          <p:cNvSpPr>
            <a:spLocks noGrp="1"/>
          </p:cNvSpPr>
          <p:nvPr/>
        </p:nvSpPr>
        <p:spPr>
          <a:xfrm>
            <a:off x="7829550" y="3943350"/>
            <a:ext cx="3276600" cy="533400"/>
          </a:xfrm>
          <a:prstGeom prst="roundRect">
            <a:avLst>
              <a:gd name="adj" fmla="val 14286"/>
            </a:avLst>
          </a:prstGeom>
          <a:solidFill>
            <a:srgbClr val="171A20"/>
          </a:solidFill>
          <a:ln w="9525">
            <a:solidFill>
              <a:srgbClr val="2A2F36"/>
            </a:solidFill>
            <a:prstDash val="solid"/>
          </a:ln>
        </p:spPr>
      </p:sp>
      <p:sp>
        <p:nvSpPr>
          <p:cNvPr id="22" name="Rectangle 21">
            <a:extLst>
              <a:ext uri="{FF2B5EF4-FFF2-40B4-BE49-F238E27FC236}">
                <a16:creationId xmlns:a16="http://schemas.microsoft.com/office/drawing/2014/main" id="{F8E52713-847B-4727-911F-CBD9BC8B5792}"/>
              </a:ext>
            </a:extLst>
          </p:cNvPr>
          <p:cNvSpPr>
            <a:spLocks noGrp="1"/>
          </p:cNvSpPr>
          <p:nvPr/>
        </p:nvSpPr>
        <p:spPr>
          <a:xfrm>
            <a:off x="8001000" y="4067175"/>
            <a:ext cx="2933700" cy="29527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Mitigations and decisions</a:t>
            </a:r>
          </a:p>
        </p:txBody>
      </p:sp>
      <p:sp>
        <p:nvSpPr>
          <p:cNvPr id="23" name="Rectangle: Rounded Corners 22">
            <a:extLst>
              <a:ext uri="{FF2B5EF4-FFF2-40B4-BE49-F238E27FC236}">
                <a16:creationId xmlns:a16="http://schemas.microsoft.com/office/drawing/2014/main" id="{8FE3BF90-BE2C-4B1C-849C-184262FC28E1}"/>
              </a:ext>
            </a:extLst>
          </p:cNvPr>
          <p:cNvSpPr>
            <a:spLocks noGrp="1"/>
          </p:cNvSpPr>
          <p:nvPr/>
        </p:nvSpPr>
        <p:spPr>
          <a:xfrm>
            <a:off x="685800" y="4686300"/>
            <a:ext cx="3276600" cy="533400"/>
          </a:xfrm>
          <a:prstGeom prst="roundRect">
            <a:avLst>
              <a:gd name="adj" fmla="val 14286"/>
            </a:avLst>
          </a:prstGeom>
          <a:solidFill>
            <a:srgbClr val="171A20"/>
          </a:solidFill>
          <a:ln w="9525">
            <a:solidFill>
              <a:srgbClr val="2A2F36"/>
            </a:solidFill>
            <a:prstDash val="solid"/>
          </a:ln>
        </p:spPr>
      </p:sp>
      <p:sp>
        <p:nvSpPr>
          <p:cNvPr id="24" name="Rectangle 23">
            <a:extLst>
              <a:ext uri="{FF2B5EF4-FFF2-40B4-BE49-F238E27FC236}">
                <a16:creationId xmlns:a16="http://schemas.microsoft.com/office/drawing/2014/main" id="{A391BE1C-E385-444A-8F83-85CAAEE030C6}"/>
              </a:ext>
            </a:extLst>
          </p:cNvPr>
          <p:cNvSpPr>
            <a:spLocks noGrp="1"/>
          </p:cNvSpPr>
          <p:nvPr/>
        </p:nvSpPr>
        <p:spPr>
          <a:xfrm>
            <a:off x="857250" y="4810125"/>
            <a:ext cx="2933700" cy="29527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Annex VII technical file</a:t>
            </a:r>
          </a:p>
        </p:txBody>
      </p:sp>
      <p:sp>
        <p:nvSpPr>
          <p:cNvPr id="25" name="Rectangle: Rounded Corners 24">
            <a:extLst>
              <a:ext uri="{FF2B5EF4-FFF2-40B4-BE49-F238E27FC236}">
                <a16:creationId xmlns:a16="http://schemas.microsoft.com/office/drawing/2014/main" id="{C40252D9-9BE2-4135-93E2-03A591BA3966}"/>
              </a:ext>
            </a:extLst>
          </p:cNvPr>
          <p:cNvSpPr>
            <a:spLocks noGrp="1"/>
          </p:cNvSpPr>
          <p:nvPr/>
        </p:nvSpPr>
        <p:spPr>
          <a:xfrm>
            <a:off x="4257675" y="4686300"/>
            <a:ext cx="3276600" cy="533400"/>
          </a:xfrm>
          <a:prstGeom prst="roundRect">
            <a:avLst>
              <a:gd name="adj" fmla="val 14286"/>
            </a:avLst>
          </a:prstGeom>
          <a:solidFill>
            <a:srgbClr val="171A20"/>
          </a:solidFill>
          <a:ln w="9525">
            <a:solidFill>
              <a:srgbClr val="2A2F36"/>
            </a:solidFill>
            <a:prstDash val="solid"/>
          </a:ln>
        </p:spPr>
      </p:sp>
      <p:sp>
        <p:nvSpPr>
          <p:cNvPr id="26" name="Rectangle 25">
            <a:extLst>
              <a:ext uri="{FF2B5EF4-FFF2-40B4-BE49-F238E27FC236}">
                <a16:creationId xmlns:a16="http://schemas.microsoft.com/office/drawing/2014/main" id="{99DDD6C4-1927-4E66-A9D0-8BE9101A0529}"/>
              </a:ext>
            </a:extLst>
          </p:cNvPr>
          <p:cNvSpPr>
            <a:spLocks noGrp="1"/>
          </p:cNvSpPr>
          <p:nvPr/>
        </p:nvSpPr>
        <p:spPr>
          <a:xfrm>
            <a:off x="4429125" y="4810125"/>
            <a:ext cx="2933700" cy="29527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Approvals and submission record</a:t>
            </a:r>
          </a:p>
        </p:txBody>
      </p:sp>
      <p:sp>
        <p:nvSpPr>
          <p:cNvPr id="27" name="Rectangle: Rounded Corners 26">
            <a:extLst>
              <a:ext uri="{FF2B5EF4-FFF2-40B4-BE49-F238E27FC236}">
                <a16:creationId xmlns:a16="http://schemas.microsoft.com/office/drawing/2014/main" id="{E81EA2CB-39FB-4C3C-865E-6064E6AB6A76}"/>
              </a:ext>
            </a:extLst>
          </p:cNvPr>
          <p:cNvSpPr>
            <a:spLocks noGrp="1"/>
          </p:cNvSpPr>
          <p:nvPr/>
        </p:nvSpPr>
        <p:spPr>
          <a:xfrm>
            <a:off x="7829550" y="4686300"/>
            <a:ext cx="3571875" cy="533400"/>
          </a:xfrm>
          <a:prstGeom prst="roundRect">
            <a:avLst>
              <a:gd name="adj" fmla="val 14286"/>
            </a:avLst>
          </a:prstGeom>
          <a:solidFill>
            <a:srgbClr val="4ED8A0"/>
          </a:solidFill>
          <a:ln w="0">
            <a:noFill/>
          </a:ln>
        </p:spPr>
      </p:sp>
      <p:sp>
        <p:nvSpPr>
          <p:cNvPr id="28" name="Rectangle 27">
            <a:extLst>
              <a:ext uri="{FF2B5EF4-FFF2-40B4-BE49-F238E27FC236}">
                <a16:creationId xmlns:a16="http://schemas.microsoft.com/office/drawing/2014/main" id="{7C6236B9-D159-4936-87CA-8A9DB42EED0F}"/>
              </a:ext>
            </a:extLst>
          </p:cNvPr>
          <p:cNvSpPr>
            <a:spLocks noGrp="1"/>
          </p:cNvSpPr>
          <p:nvPr/>
        </p:nvSpPr>
        <p:spPr>
          <a:xfrm>
            <a:off x="8020050" y="4810125"/>
            <a:ext cx="3190875" cy="295275"/>
          </a:xfrm>
          <a:prstGeom prst="rect">
            <a:avLst/>
          </a:prstGeom>
          <a:noFill/>
          <a:ln w="0">
            <a:noFill/>
          </a:ln>
        </p:spPr>
        <p:txBody>
          <a:bodyPr wrap="square" lIns="0" tIns="0" rIns="0" bIns="0" anchor="ctr">
            <a:noAutofit/>
          </a:bodyPr>
          <a:lstStyle/>
          <a:p>
            <a:pPr algn="ctr">
              <a:lnSpc>
                <a:spcPct val="100000"/>
              </a:lnSpc>
              <a:buNone/>
              <a:defRPr sz="1500" b="1">
                <a:solidFill>
                  <a:srgbClr val="111713"/>
                </a:solidFill>
                <a:latin typeface="Segoe UI"/>
                <a:ea typeface="Segoe UI"/>
                <a:cs typeface="Segoe UI"/>
              </a:defRPr>
            </a:pPr>
            <a:r>
              <a:rPr sz="1500" b="1">
                <a:solidFill>
                  <a:srgbClr val="111713"/>
                </a:solidFill>
                <a:latin typeface="Segoe UI"/>
                <a:ea typeface="Segoe UI"/>
                <a:cs typeface="Segoe UI"/>
              </a:rPr>
              <a:t>€15M or 2.5% worldwide turnover</a:t>
            </a:r>
          </a:p>
        </p:txBody>
      </p:sp>
      <p:sp>
        <p:nvSpPr>
          <p:cNvPr id="29" name="Rectangle 28">
            <a:extLst>
              <a:ext uri="{FF2B5EF4-FFF2-40B4-BE49-F238E27FC236}">
                <a16:creationId xmlns:a16="http://schemas.microsoft.com/office/drawing/2014/main" id="{0AF8218B-A6A0-4E3B-AB6B-533054D54E78}"/>
              </a:ext>
            </a:extLst>
          </p:cNvPr>
          <p:cNvSpPr>
            <a:spLocks noGrp="1"/>
          </p:cNvSpPr>
          <p:nvPr/>
        </p:nvSpPr>
        <p:spPr>
          <a:xfrm>
            <a:off x="685800" y="5619750"/>
            <a:ext cx="10620375" cy="457200"/>
          </a:xfrm>
          <a:prstGeom prst="rect">
            <a:avLst/>
          </a:prstGeom>
          <a:noFill/>
          <a:ln w="0">
            <a:noFill/>
          </a:ln>
        </p:spPr>
        <p:txBody>
          <a:bodyPr wrap="square" lIns="0" tIns="0" rIns="0" bIns="0" anchor="t">
            <a:noAutofit/>
          </a:bodyPr>
          <a:lstStyle/>
          <a:p>
            <a:pPr algn="ctr">
              <a:lnSpc>
                <a:spcPct val="104000"/>
              </a:lnSpc>
              <a:buNone/>
              <a:defRPr sz="1650" b="0">
                <a:solidFill>
                  <a:srgbClr val="A9B3C1"/>
                </a:solidFill>
                <a:latin typeface="Segoe UI"/>
                <a:ea typeface="Segoe UI"/>
                <a:cs typeface="Segoe UI"/>
              </a:defRPr>
            </a:pPr>
            <a:r>
              <a:rPr sz="1650" b="0">
                <a:solidFill>
                  <a:srgbClr val="A9B3C1"/>
                </a:solidFill>
                <a:latin typeface="Segoe UI"/>
                <a:ea typeface="Segoe UI"/>
                <a:cs typeface="Segoe UI"/>
              </a:rPr>
              <a:t>Manual alternative: emails, spreadsheets, exported scans, counsel review, version control, signatures, and deadline tracking.</a:t>
            </a:r>
          </a:p>
        </p:txBody>
      </p:sp>
      <p:sp>
        <p:nvSpPr>
          <p:cNvPr id="30" name="Straight Connector 29">
            <a:extLst>
              <a:ext uri="{FF2B5EF4-FFF2-40B4-BE49-F238E27FC236}">
                <a16:creationId xmlns:a16="http://schemas.microsoft.com/office/drawing/2014/main" id="{495674A2-4884-4FF6-95B6-B457E780327B}"/>
              </a:ext>
            </a:extLst>
          </p:cNvPr>
          <p:cNvSpPr>
            <a:spLocks noGrp="1"/>
          </p:cNvSpPr>
          <p:nvPr/>
        </p:nvSpPr>
        <p:spPr>
          <a:xfrm>
            <a:off x="533400" y="6496050"/>
            <a:ext cx="11125200" cy="0"/>
          </a:xfrm>
          <a:prstGeom prst="line">
            <a:avLst/>
          </a:prstGeom>
          <a:noFill/>
          <a:ln w="9525">
            <a:solidFill>
              <a:srgbClr val="2A2F36"/>
            </a:solidFill>
            <a:prstDash val="solid"/>
          </a:ln>
        </p:spPr>
      </p:sp>
      <p:sp>
        <p:nvSpPr>
          <p:cNvPr id="31" name="Rectangle 30">
            <a:extLst>
              <a:ext uri="{FF2B5EF4-FFF2-40B4-BE49-F238E27FC236}">
                <a16:creationId xmlns:a16="http://schemas.microsoft.com/office/drawing/2014/main" id="{C79616D0-8FDD-40C6-93E0-2487699B5643}"/>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CRA Article 14 workflow and Article 64 exposure</a:t>
            </a:r>
          </a:p>
        </p:txBody>
      </p:sp>
      <p:sp>
        <p:nvSpPr>
          <p:cNvPr id="32" name="Rectangle 31">
            <a:extLst>
              <a:ext uri="{FF2B5EF4-FFF2-40B4-BE49-F238E27FC236}">
                <a16:creationId xmlns:a16="http://schemas.microsoft.com/office/drawing/2014/main" id="{1D1233C1-280B-4EC2-B4D2-2384D8ABB667}"/>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03</a:t>
            </a:r>
          </a:p>
        </p:txBody>
      </p:sp>
    </p:spTree>
    <p:extLst>
      <p:ext uri="{BB962C8B-B14F-4D97-AF65-F5344CB8AC3E}">
        <p14:creationId xmlns:p14="http://schemas.microsoft.com/office/powerpoint/2010/main" val="79689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248C92A-791E-49C5-9E76-F9763BD248AD}"/>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AE8E20D6-3152-450F-84DB-52118560DC64}"/>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Legal exposure already reaches billions</a:t>
            </a:r>
          </a:p>
        </p:txBody>
      </p:sp>
      <p:sp>
        <p:nvSpPr>
          <p:cNvPr id="3" name="Rectangle 2">
            <a:extLst>
              <a:ext uri="{FF2B5EF4-FFF2-40B4-BE49-F238E27FC236}">
                <a16:creationId xmlns:a16="http://schemas.microsoft.com/office/drawing/2014/main" id="{26BF4FED-B5A2-4747-B411-A5803B445117}"/>
              </a:ext>
            </a:extLst>
          </p:cNvPr>
          <p:cNvSpPr>
            <a:spLocks noGrp="1"/>
          </p:cNvSpPr>
          <p:nvPr/>
        </p:nvSpPr>
        <p:spPr>
          <a:xfrm>
            <a:off x="762000" y="1076325"/>
            <a:ext cx="10382250" cy="419100"/>
          </a:xfrm>
          <a:prstGeom prst="rect">
            <a:avLst/>
          </a:prstGeom>
          <a:noFill/>
          <a:ln w="0">
            <a:noFill/>
          </a:ln>
        </p:spPr>
        <p:txBody>
          <a:bodyPr wrap="square" lIns="0" tIns="0" rIns="0" bIns="0" anchor="t">
            <a:noAutofit/>
          </a:bodyPr>
          <a:lstStyle/>
          <a:p>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Cybersecurity settlements and GDPR enforcement provide context. None are CRA precedents.</a:t>
            </a:r>
          </a:p>
        </p:txBody>
      </p:sp>
      <p:sp>
        <p:nvSpPr>
          <p:cNvPr id="4" name="Rectangle 3">
            <a:extLst>
              <a:ext uri="{FF2B5EF4-FFF2-40B4-BE49-F238E27FC236}">
                <a16:creationId xmlns:a16="http://schemas.microsoft.com/office/drawing/2014/main" id="{0FEB3396-D904-40F4-8E87-FF689BBFFD6E}"/>
              </a:ext>
            </a:extLst>
          </p:cNvPr>
          <p:cNvSpPr>
            <a:spLocks noGrp="1"/>
          </p:cNvSpPr>
          <p:nvPr/>
        </p:nvSpPr>
        <p:spPr>
          <a:xfrm>
            <a:off x="685800" y="1752600"/>
            <a:ext cx="3143250" cy="723900"/>
          </a:xfrm>
          <a:prstGeom prst="rect">
            <a:avLst/>
          </a:prstGeom>
          <a:noFill/>
          <a:ln w="0">
            <a:noFill/>
          </a:ln>
        </p:spPr>
        <p:txBody>
          <a:bodyPr wrap="square" lIns="0" tIns="0" rIns="0" bIns="0" anchor="t">
            <a:noAutofit/>
          </a:bodyPr>
          <a:lstStyle/>
          <a:p>
            <a:pPr algn="l">
              <a:lnSpc>
                <a:spcPct val="100000"/>
              </a:lnSpc>
              <a:buNone/>
              <a:defRPr sz="3975" b="1">
                <a:solidFill>
                  <a:srgbClr val="4ED8A0"/>
                </a:solidFill>
                <a:latin typeface="Segoe UI"/>
                <a:ea typeface="Segoe UI"/>
                <a:cs typeface="Segoe UI"/>
              </a:defRPr>
            </a:pPr>
            <a:r>
              <a:rPr sz="3975" b="1">
                <a:solidFill>
                  <a:srgbClr val="4ED8A0"/>
                </a:solidFill>
                <a:latin typeface="Segoe UI"/>
                <a:ea typeface="Segoe UI"/>
                <a:cs typeface="Segoe UI"/>
              </a:rPr>
              <a:t>$575M+</a:t>
            </a:r>
          </a:p>
        </p:txBody>
      </p:sp>
      <p:sp>
        <p:nvSpPr>
          <p:cNvPr id="5" name="Rectangle 4">
            <a:extLst>
              <a:ext uri="{FF2B5EF4-FFF2-40B4-BE49-F238E27FC236}">
                <a16:creationId xmlns:a16="http://schemas.microsoft.com/office/drawing/2014/main" id="{FB5CC437-7F33-4F2D-BA2A-26330F45EE0F}"/>
              </a:ext>
            </a:extLst>
          </p:cNvPr>
          <p:cNvSpPr>
            <a:spLocks noGrp="1"/>
          </p:cNvSpPr>
          <p:nvPr/>
        </p:nvSpPr>
        <p:spPr>
          <a:xfrm>
            <a:off x="685800" y="2533650"/>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Equifax</a:t>
            </a:r>
          </a:p>
        </p:txBody>
      </p:sp>
      <p:sp>
        <p:nvSpPr>
          <p:cNvPr id="6" name="Straight Connector 5">
            <a:extLst>
              <a:ext uri="{FF2B5EF4-FFF2-40B4-BE49-F238E27FC236}">
                <a16:creationId xmlns:a16="http://schemas.microsoft.com/office/drawing/2014/main" id="{8415E117-F127-4F02-B334-2CFA3380D98F}"/>
              </a:ext>
            </a:extLst>
          </p:cNvPr>
          <p:cNvSpPr>
            <a:spLocks noGrp="1"/>
          </p:cNvSpPr>
          <p:nvPr/>
        </p:nvSpPr>
        <p:spPr>
          <a:xfrm>
            <a:off x="685800" y="3105150"/>
            <a:ext cx="3067050" cy="0"/>
          </a:xfrm>
          <a:prstGeom prst="line">
            <a:avLst/>
          </a:prstGeom>
          <a:noFill/>
          <a:ln w="19050">
            <a:solidFill>
              <a:srgbClr val="2A2F36"/>
            </a:solidFill>
            <a:prstDash val="solid"/>
          </a:ln>
        </p:spPr>
      </p:sp>
      <p:sp>
        <p:nvSpPr>
          <p:cNvPr id="7" name="Rectangle 6">
            <a:extLst>
              <a:ext uri="{FF2B5EF4-FFF2-40B4-BE49-F238E27FC236}">
                <a16:creationId xmlns:a16="http://schemas.microsoft.com/office/drawing/2014/main" id="{E92A78E1-7481-4B9F-9EC2-C82B1373022A}"/>
              </a:ext>
            </a:extLst>
          </p:cNvPr>
          <p:cNvSpPr>
            <a:spLocks noGrp="1"/>
          </p:cNvSpPr>
          <p:nvPr/>
        </p:nvSpPr>
        <p:spPr>
          <a:xfrm>
            <a:off x="685800" y="3333750"/>
            <a:ext cx="3067050" cy="781050"/>
          </a:xfrm>
          <a:prstGeom prst="rect">
            <a:avLst/>
          </a:prstGeom>
          <a:noFill/>
          <a:ln w="0">
            <a:noFill/>
          </a:ln>
        </p:spPr>
        <p:txBody>
          <a:bodyPr wrap="square" lIns="0" tIns="0" rIns="0" bIns="0" anchor="t">
            <a:noAutofit/>
          </a:bodyPr>
          <a:lstStyle/>
          <a:p>
            <a:pPr algn="l">
              <a:lnSpc>
                <a:spcPct val="102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Known vulnerability remained unpatched</a:t>
            </a:r>
          </a:p>
        </p:txBody>
      </p:sp>
      <p:sp>
        <p:nvSpPr>
          <p:cNvPr id="8" name="Rectangle 7">
            <a:extLst>
              <a:ext uri="{FF2B5EF4-FFF2-40B4-BE49-F238E27FC236}">
                <a16:creationId xmlns:a16="http://schemas.microsoft.com/office/drawing/2014/main" id="{70FC75DD-D30E-4027-A716-32494BD7D0FB}"/>
              </a:ext>
            </a:extLst>
          </p:cNvPr>
          <p:cNvSpPr>
            <a:spLocks noGrp="1"/>
          </p:cNvSpPr>
          <p:nvPr/>
        </p:nvSpPr>
        <p:spPr>
          <a:xfrm>
            <a:off x="685800" y="4286250"/>
            <a:ext cx="3067050" cy="1123950"/>
          </a:xfrm>
          <a:prstGeom prst="rect">
            <a:avLst/>
          </a:prstGeom>
          <a:noFill/>
          <a:ln w="0">
            <a:noFill/>
          </a:ln>
        </p:spPr>
        <p:txBody>
          <a:bodyPr wrap="square" lIns="0" tIns="0" rIns="0" bIns="0" anchor="t">
            <a:noAutofit/>
          </a:bodyPr>
          <a:lstStyle/>
          <a:p>
            <a:pPr algn="l">
              <a:lnSpc>
                <a:spcPct val="108000"/>
              </a:lnSpc>
              <a:buNone/>
              <a:defRPr sz="1425" b="0">
                <a:solidFill>
                  <a:srgbClr val="A9B3C1"/>
                </a:solidFill>
                <a:latin typeface="Segoe UI"/>
                <a:ea typeface="Segoe UI"/>
                <a:cs typeface="Segoe UI"/>
              </a:defRPr>
            </a:pPr>
            <a:r>
              <a:rPr sz="1425" b="0">
                <a:solidFill>
                  <a:srgbClr val="A9B3C1"/>
                </a:solidFill>
                <a:latin typeface="Segoe UI"/>
                <a:ea typeface="Segoe UI"/>
                <a:cs typeface="Segoe UI"/>
              </a:rPr>
              <a:t>FTC alleged gaps in asset inventory, patch follow-through, and scanner coverage.</a:t>
            </a:r>
          </a:p>
        </p:txBody>
      </p:sp>
      <p:sp>
        <p:nvSpPr>
          <p:cNvPr id="9" name="Rectangle 8">
            <a:extLst>
              <a:ext uri="{FF2B5EF4-FFF2-40B4-BE49-F238E27FC236}">
                <a16:creationId xmlns:a16="http://schemas.microsoft.com/office/drawing/2014/main" id="{7870EF53-511F-451B-83BA-66BBC1797E88}"/>
              </a:ext>
            </a:extLst>
          </p:cNvPr>
          <p:cNvSpPr>
            <a:spLocks noGrp="1"/>
          </p:cNvSpPr>
          <p:nvPr/>
        </p:nvSpPr>
        <p:spPr>
          <a:xfrm>
            <a:off x="4210050" y="1752600"/>
            <a:ext cx="3143250" cy="723900"/>
          </a:xfrm>
          <a:prstGeom prst="rect">
            <a:avLst/>
          </a:prstGeom>
          <a:noFill/>
          <a:ln w="0">
            <a:noFill/>
          </a:ln>
        </p:spPr>
        <p:txBody>
          <a:bodyPr wrap="square" lIns="0" tIns="0" rIns="0" bIns="0" anchor="t">
            <a:noAutofit/>
          </a:bodyPr>
          <a:lstStyle/>
          <a:p>
            <a:pPr algn="l">
              <a:lnSpc>
                <a:spcPct val="100000"/>
              </a:lnSpc>
              <a:buNone/>
              <a:defRPr sz="3975" b="1">
                <a:solidFill>
                  <a:srgbClr val="4ED8A0"/>
                </a:solidFill>
                <a:latin typeface="Segoe UI"/>
                <a:ea typeface="Segoe UI"/>
                <a:cs typeface="Segoe UI"/>
              </a:defRPr>
            </a:pPr>
            <a:r>
              <a:rPr sz="3975" b="1">
                <a:solidFill>
                  <a:srgbClr val="4ED8A0"/>
                </a:solidFill>
                <a:latin typeface="Segoe UI"/>
                <a:ea typeface="Segoe UI"/>
                <a:cs typeface="Segoe UI"/>
              </a:rPr>
              <a:t>$148M</a:t>
            </a:r>
          </a:p>
        </p:txBody>
      </p:sp>
      <p:sp>
        <p:nvSpPr>
          <p:cNvPr id="10" name="Rectangle 9">
            <a:extLst>
              <a:ext uri="{FF2B5EF4-FFF2-40B4-BE49-F238E27FC236}">
                <a16:creationId xmlns:a16="http://schemas.microsoft.com/office/drawing/2014/main" id="{D5E8870F-61D6-4621-AC47-750B063F4A21}"/>
              </a:ext>
            </a:extLst>
          </p:cNvPr>
          <p:cNvSpPr>
            <a:spLocks noGrp="1"/>
          </p:cNvSpPr>
          <p:nvPr/>
        </p:nvSpPr>
        <p:spPr>
          <a:xfrm>
            <a:off x="4210050" y="2533650"/>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Uber</a:t>
            </a:r>
          </a:p>
        </p:txBody>
      </p:sp>
      <p:sp>
        <p:nvSpPr>
          <p:cNvPr id="11" name="Straight Connector 10">
            <a:extLst>
              <a:ext uri="{FF2B5EF4-FFF2-40B4-BE49-F238E27FC236}">
                <a16:creationId xmlns:a16="http://schemas.microsoft.com/office/drawing/2014/main" id="{B8351C92-C0E2-4B10-8039-3F6A509F09AE}"/>
              </a:ext>
            </a:extLst>
          </p:cNvPr>
          <p:cNvSpPr>
            <a:spLocks noGrp="1"/>
          </p:cNvSpPr>
          <p:nvPr/>
        </p:nvSpPr>
        <p:spPr>
          <a:xfrm>
            <a:off x="4210050" y="3105150"/>
            <a:ext cx="3067050" cy="0"/>
          </a:xfrm>
          <a:prstGeom prst="line">
            <a:avLst/>
          </a:prstGeom>
          <a:noFill/>
          <a:ln w="19050">
            <a:solidFill>
              <a:srgbClr val="2A2F36"/>
            </a:solidFill>
            <a:prstDash val="solid"/>
          </a:ln>
        </p:spPr>
      </p:sp>
      <p:sp>
        <p:nvSpPr>
          <p:cNvPr id="12" name="Rectangle 11">
            <a:extLst>
              <a:ext uri="{FF2B5EF4-FFF2-40B4-BE49-F238E27FC236}">
                <a16:creationId xmlns:a16="http://schemas.microsoft.com/office/drawing/2014/main" id="{F4ECBD7A-5CDB-4DF2-9F8A-AA3A9DAA2816}"/>
              </a:ext>
            </a:extLst>
          </p:cNvPr>
          <p:cNvSpPr>
            <a:spLocks noGrp="1"/>
          </p:cNvSpPr>
          <p:nvPr/>
        </p:nvSpPr>
        <p:spPr>
          <a:xfrm>
            <a:off x="4210050" y="3333750"/>
            <a:ext cx="3067050" cy="781050"/>
          </a:xfrm>
          <a:prstGeom prst="rect">
            <a:avLst/>
          </a:prstGeom>
          <a:noFill/>
          <a:ln w="0">
            <a:noFill/>
          </a:ln>
        </p:spPr>
        <p:txBody>
          <a:bodyPr wrap="square" lIns="0" tIns="0" rIns="0" bIns="0" anchor="t">
            <a:noAutofit/>
          </a:bodyPr>
          <a:lstStyle/>
          <a:p>
            <a:pPr algn="l">
              <a:lnSpc>
                <a:spcPct val="102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Breach reporting was delayed</a:t>
            </a:r>
          </a:p>
        </p:txBody>
      </p:sp>
      <p:sp>
        <p:nvSpPr>
          <p:cNvPr id="13" name="Rectangle 12">
            <a:extLst>
              <a:ext uri="{FF2B5EF4-FFF2-40B4-BE49-F238E27FC236}">
                <a16:creationId xmlns:a16="http://schemas.microsoft.com/office/drawing/2014/main" id="{64E32DFA-A035-4356-9E74-C02C46231CB2}"/>
              </a:ext>
            </a:extLst>
          </p:cNvPr>
          <p:cNvSpPr>
            <a:spLocks noGrp="1"/>
          </p:cNvSpPr>
          <p:nvPr/>
        </p:nvSpPr>
        <p:spPr>
          <a:xfrm>
            <a:off x="4210050" y="4286250"/>
            <a:ext cx="3067050" cy="1123950"/>
          </a:xfrm>
          <a:prstGeom prst="rect">
            <a:avLst/>
          </a:prstGeom>
          <a:noFill/>
          <a:ln w="0">
            <a:noFill/>
          </a:ln>
        </p:spPr>
        <p:txBody>
          <a:bodyPr wrap="square" lIns="0" tIns="0" rIns="0" bIns="0" anchor="t">
            <a:noAutofit/>
          </a:bodyPr>
          <a:lstStyle/>
          <a:p>
            <a:pPr algn="l">
              <a:lnSpc>
                <a:spcPct val="108000"/>
              </a:lnSpc>
              <a:buNone/>
              <a:defRPr sz="1425" b="0">
                <a:solidFill>
                  <a:srgbClr val="A9B3C1"/>
                </a:solidFill>
                <a:latin typeface="Segoe UI"/>
                <a:ea typeface="Segoe UI"/>
                <a:cs typeface="Segoe UI"/>
              </a:defRPr>
            </a:pPr>
            <a:r>
              <a:rPr sz="1425" b="0">
                <a:solidFill>
                  <a:srgbClr val="A9B3C1"/>
                </a:solidFill>
                <a:latin typeface="Segoe UI"/>
                <a:ea typeface="Segoe UI"/>
                <a:cs typeface="Segoe UI"/>
              </a:rPr>
              <a:t>Nationwide settlement addressed the 2016 breach and alleged cover-up.</a:t>
            </a:r>
          </a:p>
        </p:txBody>
      </p:sp>
      <p:sp>
        <p:nvSpPr>
          <p:cNvPr id="14" name="Rectangle 13">
            <a:extLst>
              <a:ext uri="{FF2B5EF4-FFF2-40B4-BE49-F238E27FC236}">
                <a16:creationId xmlns:a16="http://schemas.microsoft.com/office/drawing/2014/main" id="{BAE4A06D-6B0E-4D9F-A104-2E6CB60A2D09}"/>
              </a:ext>
            </a:extLst>
          </p:cNvPr>
          <p:cNvSpPr>
            <a:spLocks noGrp="1"/>
          </p:cNvSpPr>
          <p:nvPr/>
        </p:nvSpPr>
        <p:spPr>
          <a:xfrm>
            <a:off x="7734300" y="1752600"/>
            <a:ext cx="3143250" cy="723900"/>
          </a:xfrm>
          <a:prstGeom prst="rect">
            <a:avLst/>
          </a:prstGeom>
          <a:noFill/>
          <a:ln w="0">
            <a:noFill/>
          </a:ln>
        </p:spPr>
        <p:txBody>
          <a:bodyPr wrap="square" lIns="0" tIns="0" rIns="0" bIns="0" anchor="t">
            <a:noAutofit/>
          </a:bodyPr>
          <a:lstStyle/>
          <a:p>
            <a:pPr algn="l">
              <a:lnSpc>
                <a:spcPct val="100000"/>
              </a:lnSpc>
              <a:buNone/>
              <a:defRPr sz="3975" b="1">
                <a:solidFill>
                  <a:srgbClr val="4ED8A0"/>
                </a:solidFill>
                <a:latin typeface="Segoe UI"/>
                <a:ea typeface="Segoe UI"/>
                <a:cs typeface="Segoe UI"/>
              </a:defRPr>
            </a:pPr>
            <a:r>
              <a:rPr sz="3975" b="1">
                <a:solidFill>
                  <a:srgbClr val="4ED8A0"/>
                </a:solidFill>
                <a:latin typeface="Segoe UI"/>
                <a:ea typeface="Segoe UI"/>
                <a:cs typeface="Segoe UI"/>
              </a:rPr>
              <a:t>$5.8M</a:t>
            </a:r>
          </a:p>
        </p:txBody>
      </p:sp>
      <p:sp>
        <p:nvSpPr>
          <p:cNvPr id="15" name="Rectangle 14">
            <a:extLst>
              <a:ext uri="{FF2B5EF4-FFF2-40B4-BE49-F238E27FC236}">
                <a16:creationId xmlns:a16="http://schemas.microsoft.com/office/drawing/2014/main" id="{35828E3E-F560-4E70-8904-6A82605D9BD7}"/>
              </a:ext>
            </a:extLst>
          </p:cNvPr>
          <p:cNvSpPr>
            <a:spLocks noGrp="1"/>
          </p:cNvSpPr>
          <p:nvPr/>
        </p:nvSpPr>
        <p:spPr>
          <a:xfrm>
            <a:off x="7734300" y="2533650"/>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Ring</a:t>
            </a:r>
          </a:p>
        </p:txBody>
      </p:sp>
      <p:sp>
        <p:nvSpPr>
          <p:cNvPr id="16" name="Straight Connector 15">
            <a:extLst>
              <a:ext uri="{FF2B5EF4-FFF2-40B4-BE49-F238E27FC236}">
                <a16:creationId xmlns:a16="http://schemas.microsoft.com/office/drawing/2014/main" id="{C7C3C384-2F34-49DF-B22B-8A5B648AEE0B}"/>
              </a:ext>
            </a:extLst>
          </p:cNvPr>
          <p:cNvSpPr>
            <a:spLocks noGrp="1"/>
          </p:cNvSpPr>
          <p:nvPr/>
        </p:nvSpPr>
        <p:spPr>
          <a:xfrm>
            <a:off x="7734300" y="3105150"/>
            <a:ext cx="3067050" cy="0"/>
          </a:xfrm>
          <a:prstGeom prst="line">
            <a:avLst/>
          </a:prstGeom>
          <a:noFill/>
          <a:ln w="19050">
            <a:solidFill>
              <a:srgbClr val="2A2F36"/>
            </a:solidFill>
            <a:prstDash val="solid"/>
          </a:ln>
        </p:spPr>
      </p:sp>
      <p:sp>
        <p:nvSpPr>
          <p:cNvPr id="17" name="Rectangle 16">
            <a:extLst>
              <a:ext uri="{FF2B5EF4-FFF2-40B4-BE49-F238E27FC236}">
                <a16:creationId xmlns:a16="http://schemas.microsoft.com/office/drawing/2014/main" id="{FAFED600-FFEA-4163-B685-3D2903F1507A}"/>
              </a:ext>
            </a:extLst>
          </p:cNvPr>
          <p:cNvSpPr>
            <a:spLocks noGrp="1"/>
          </p:cNvSpPr>
          <p:nvPr/>
        </p:nvSpPr>
        <p:spPr>
          <a:xfrm>
            <a:off x="7734300" y="3333750"/>
            <a:ext cx="3067050" cy="781050"/>
          </a:xfrm>
          <a:prstGeom prst="rect">
            <a:avLst/>
          </a:prstGeom>
          <a:noFill/>
          <a:ln w="0">
            <a:noFill/>
          </a:ln>
        </p:spPr>
        <p:txBody>
          <a:bodyPr wrap="square" lIns="0" tIns="0" rIns="0" bIns="0" anchor="t">
            <a:noAutofit/>
          </a:bodyPr>
          <a:lstStyle/>
          <a:p>
            <a:pPr algn="l">
              <a:lnSpc>
                <a:spcPct val="102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Connected devices lacked basic safeguards</a:t>
            </a:r>
          </a:p>
        </p:txBody>
      </p:sp>
      <p:sp>
        <p:nvSpPr>
          <p:cNvPr id="18" name="Rectangle 17">
            <a:extLst>
              <a:ext uri="{FF2B5EF4-FFF2-40B4-BE49-F238E27FC236}">
                <a16:creationId xmlns:a16="http://schemas.microsoft.com/office/drawing/2014/main" id="{72C8DE79-DB6D-4A61-9A35-7440A0F96607}"/>
              </a:ext>
            </a:extLst>
          </p:cNvPr>
          <p:cNvSpPr>
            <a:spLocks noGrp="1"/>
          </p:cNvSpPr>
          <p:nvPr/>
        </p:nvSpPr>
        <p:spPr>
          <a:xfrm>
            <a:off x="7734300" y="4286250"/>
            <a:ext cx="3067050" cy="1123950"/>
          </a:xfrm>
          <a:prstGeom prst="rect">
            <a:avLst/>
          </a:prstGeom>
          <a:noFill/>
          <a:ln w="0">
            <a:noFill/>
          </a:ln>
        </p:spPr>
        <p:txBody>
          <a:bodyPr wrap="square" lIns="0" tIns="0" rIns="0" bIns="0" anchor="t">
            <a:noAutofit/>
          </a:bodyPr>
          <a:lstStyle/>
          <a:p>
            <a:pPr algn="l">
              <a:lnSpc>
                <a:spcPct val="108000"/>
              </a:lnSpc>
              <a:buNone/>
              <a:defRPr sz="1425" b="0">
                <a:solidFill>
                  <a:srgbClr val="A9B3C1"/>
                </a:solidFill>
                <a:latin typeface="Segoe UI"/>
                <a:ea typeface="Segoe UI"/>
                <a:cs typeface="Segoe UI"/>
              </a:defRPr>
            </a:pPr>
            <a:r>
              <a:rPr sz="1425" b="0">
                <a:solidFill>
                  <a:srgbClr val="A9B3C1"/>
                </a:solidFill>
                <a:latin typeface="Segoe UI"/>
                <a:ea typeface="Segoe UI"/>
                <a:cs typeface="Segoe UI"/>
              </a:rPr>
              <a:t>FTC alleged security failures exposed customer cameras and videos to attackers.</a:t>
            </a:r>
          </a:p>
        </p:txBody>
      </p:sp>
      <p:sp>
        <p:nvSpPr>
          <p:cNvPr id="19" name="Rectangle: Rounded Corners 18">
            <a:extLst>
              <a:ext uri="{FF2B5EF4-FFF2-40B4-BE49-F238E27FC236}">
                <a16:creationId xmlns:a16="http://schemas.microsoft.com/office/drawing/2014/main" id="{1C669EB9-8525-479B-A7F8-D3C35ADDD354}"/>
              </a:ext>
            </a:extLst>
          </p:cNvPr>
          <p:cNvSpPr>
            <a:spLocks noGrp="1"/>
          </p:cNvSpPr>
          <p:nvPr/>
        </p:nvSpPr>
        <p:spPr>
          <a:xfrm>
            <a:off x="685800" y="5543550"/>
            <a:ext cx="10820400" cy="685800"/>
          </a:xfrm>
          <a:prstGeom prst="roundRect">
            <a:avLst>
              <a:gd name="adj" fmla="val 11111"/>
            </a:avLst>
          </a:prstGeom>
          <a:solidFill>
            <a:srgbClr val="171A20"/>
          </a:solidFill>
          <a:ln w="9525">
            <a:solidFill>
              <a:srgbClr val="2A2F36"/>
            </a:solidFill>
            <a:prstDash val="solid"/>
          </a:ln>
        </p:spPr>
      </p:sp>
      <p:sp>
        <p:nvSpPr>
          <p:cNvPr id="20" name="Rectangle 19">
            <a:extLst>
              <a:ext uri="{FF2B5EF4-FFF2-40B4-BE49-F238E27FC236}">
                <a16:creationId xmlns:a16="http://schemas.microsoft.com/office/drawing/2014/main" id="{11778AB4-1CA1-4744-A100-F42D827CCA67}"/>
              </a:ext>
            </a:extLst>
          </p:cNvPr>
          <p:cNvSpPr>
            <a:spLocks noGrp="1"/>
          </p:cNvSpPr>
          <p:nvPr/>
        </p:nvSpPr>
        <p:spPr>
          <a:xfrm>
            <a:off x="933450" y="5676900"/>
            <a:ext cx="2190750" cy="2095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GDPR ENFORCEMENT TRACKER</a:t>
            </a:r>
          </a:p>
        </p:txBody>
      </p:sp>
      <p:sp>
        <p:nvSpPr>
          <p:cNvPr id="21" name="Rectangle 20">
            <a:extLst>
              <a:ext uri="{FF2B5EF4-FFF2-40B4-BE49-F238E27FC236}">
                <a16:creationId xmlns:a16="http://schemas.microsoft.com/office/drawing/2014/main" id="{BCA2A7F4-1AC4-410C-A1E6-7AC5B191BB2A}"/>
              </a:ext>
            </a:extLst>
          </p:cNvPr>
          <p:cNvSpPr>
            <a:spLocks noGrp="1"/>
          </p:cNvSpPr>
          <p:nvPr/>
        </p:nvSpPr>
        <p:spPr>
          <a:xfrm>
            <a:off x="3219450" y="5657850"/>
            <a:ext cx="3381375" cy="342900"/>
          </a:xfrm>
          <a:prstGeom prst="rect">
            <a:avLst/>
          </a:prstGeom>
          <a:noFill/>
          <a:ln w="0">
            <a:noFill/>
          </a:ln>
        </p:spPr>
        <p:txBody>
          <a:bodyPr wrap="square" lIns="0" tIns="0" rIns="0" bIns="0" anchor="t">
            <a:noAutofit/>
          </a:bodyPr>
          <a:lstStyle/>
          <a:p>
            <a:pPr algn="l">
              <a:lnSpc>
                <a:spcPct val="100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3,206 cases across 32 countries</a:t>
            </a:r>
          </a:p>
        </p:txBody>
      </p:sp>
      <p:sp>
        <p:nvSpPr>
          <p:cNvPr id="22" name="Straight Connector 21">
            <a:extLst>
              <a:ext uri="{FF2B5EF4-FFF2-40B4-BE49-F238E27FC236}">
                <a16:creationId xmlns:a16="http://schemas.microsoft.com/office/drawing/2014/main" id="{22399414-4F58-4FB9-8B2C-CD9AB3037B49}"/>
              </a:ext>
            </a:extLst>
          </p:cNvPr>
          <p:cNvSpPr>
            <a:spLocks noGrp="1"/>
          </p:cNvSpPr>
          <p:nvPr/>
        </p:nvSpPr>
        <p:spPr>
          <a:xfrm>
            <a:off x="6800850" y="5676900"/>
            <a:ext cx="0" cy="361950"/>
          </a:xfrm>
          <a:prstGeom prst="line">
            <a:avLst/>
          </a:prstGeom>
          <a:noFill/>
          <a:ln w="19050">
            <a:solidFill>
              <a:srgbClr val="2A2F36"/>
            </a:solidFill>
            <a:prstDash val="solid"/>
          </a:ln>
        </p:spPr>
      </p:sp>
      <p:sp>
        <p:nvSpPr>
          <p:cNvPr id="23" name="Rectangle 22">
            <a:extLst>
              <a:ext uri="{FF2B5EF4-FFF2-40B4-BE49-F238E27FC236}">
                <a16:creationId xmlns:a16="http://schemas.microsoft.com/office/drawing/2014/main" id="{3C21D97A-CD48-4531-9DF4-C3EA80649CC0}"/>
              </a:ext>
            </a:extLst>
          </p:cNvPr>
          <p:cNvSpPr>
            <a:spLocks noGrp="1"/>
          </p:cNvSpPr>
          <p:nvPr/>
        </p:nvSpPr>
        <p:spPr>
          <a:xfrm>
            <a:off x="7086600" y="5657850"/>
            <a:ext cx="2857500" cy="342900"/>
          </a:xfrm>
          <a:prstGeom prst="rect">
            <a:avLst/>
          </a:prstGeom>
          <a:noFill/>
          <a:ln w="0">
            <a:noFill/>
          </a:ln>
        </p:spPr>
        <p:txBody>
          <a:bodyPr wrap="square" lIns="0" tIns="0" rIns="0" bIns="0" anchor="t">
            <a:noAutofit/>
          </a:bodyPr>
          <a:lstStyle/>
          <a:p>
            <a:pPr algn="l">
              <a:lnSpc>
                <a:spcPct val="100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€6.31B in tracked fines</a:t>
            </a:r>
          </a:p>
        </p:txBody>
      </p:sp>
      <p:sp>
        <p:nvSpPr>
          <p:cNvPr id="24" name="Rectangle 23">
            <a:extLst>
              <a:ext uri="{FF2B5EF4-FFF2-40B4-BE49-F238E27FC236}">
                <a16:creationId xmlns:a16="http://schemas.microsoft.com/office/drawing/2014/main" id="{5D5BD138-FC1A-40DC-A291-0E77F7BDC67A}"/>
              </a:ext>
            </a:extLst>
          </p:cNvPr>
          <p:cNvSpPr>
            <a:spLocks noGrp="1"/>
          </p:cNvSpPr>
          <p:nvPr/>
        </p:nvSpPr>
        <p:spPr>
          <a:xfrm>
            <a:off x="10096500" y="5629275"/>
            <a:ext cx="1143000" cy="428625"/>
          </a:xfrm>
          <a:prstGeom prst="rect">
            <a:avLst/>
          </a:prstGeom>
          <a:noFill/>
          <a:ln w="0">
            <a:noFill/>
          </a:ln>
        </p:spPr>
        <p:txBody>
          <a:bodyPr wrap="square" lIns="0" tIns="0" rIns="0" bIns="0" anchor="t">
            <a:noAutofit/>
          </a:bodyPr>
          <a:lstStyle/>
          <a:p>
            <a:pPr algn="r">
              <a:lnSpc>
                <a:spcPct val="105000"/>
              </a:lnSpc>
              <a:buNone/>
              <a:defRPr sz="900" b="0">
                <a:solidFill>
                  <a:srgbClr val="727D8C"/>
                </a:solidFill>
                <a:latin typeface="Cascadia Mono"/>
                <a:ea typeface="Cascadia Mono"/>
                <a:cs typeface="Cascadia Mono"/>
              </a:defRPr>
            </a:pPr>
            <a:r>
              <a:rPr sz="900" b="0">
                <a:solidFill>
                  <a:srgbClr val="727D8C"/>
                </a:solidFill>
                <a:latin typeface="Cascadia Mono"/>
                <a:ea typeface="Cascadia Mono"/>
                <a:cs typeface="Cascadia Mono"/>
              </a:rPr>
              <a:t>Refreshed</a:t>
            </a:r>
          </a:p>
          <a:p>
            <a:pPr algn="r">
              <a:lnSpc>
                <a:spcPct val="105000"/>
              </a:lnSpc>
              <a:buNone/>
              <a:defRPr sz="900" b="0">
                <a:solidFill>
                  <a:srgbClr val="727D8C"/>
                </a:solidFill>
                <a:latin typeface="Cascadia Mono"/>
                <a:ea typeface="Cascadia Mono"/>
                <a:cs typeface="Cascadia Mono"/>
              </a:defRPr>
            </a:pPr>
            <a:r>
              <a:rPr sz="900" b="0">
                <a:solidFill>
                  <a:srgbClr val="727D8C"/>
                </a:solidFill>
                <a:latin typeface="Cascadia Mono"/>
                <a:ea typeface="Cascadia Mono"/>
                <a:cs typeface="Cascadia Mono"/>
              </a:rPr>
              <a:t>20 Aug 2026</a:t>
            </a:r>
          </a:p>
        </p:txBody>
      </p:sp>
      <p:sp>
        <p:nvSpPr>
          <p:cNvPr id="25" name="Straight Connector 24">
            <a:extLst>
              <a:ext uri="{FF2B5EF4-FFF2-40B4-BE49-F238E27FC236}">
                <a16:creationId xmlns:a16="http://schemas.microsoft.com/office/drawing/2014/main" id="{378F92AB-4194-47B6-9752-BA70E677C4E4}"/>
              </a:ext>
            </a:extLst>
          </p:cNvPr>
          <p:cNvSpPr>
            <a:spLocks noGrp="1"/>
          </p:cNvSpPr>
          <p:nvPr/>
        </p:nvSpPr>
        <p:spPr>
          <a:xfrm>
            <a:off x="533400" y="6496050"/>
            <a:ext cx="11125200" cy="0"/>
          </a:xfrm>
          <a:prstGeom prst="line">
            <a:avLst/>
          </a:prstGeom>
          <a:noFill/>
          <a:ln w="9525">
            <a:solidFill>
              <a:srgbClr val="2A2F36"/>
            </a:solidFill>
            <a:prstDash val="solid"/>
          </a:ln>
        </p:spPr>
      </p:sp>
      <p:sp>
        <p:nvSpPr>
          <p:cNvPr id="26" name="Rectangle 25">
            <a:extLst>
              <a:ext uri="{FF2B5EF4-FFF2-40B4-BE49-F238E27FC236}">
                <a16:creationId xmlns:a16="http://schemas.microsoft.com/office/drawing/2014/main" id="{A0ED1E5B-E114-4298-AB80-6D7D5296CCEB}"/>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Cybersecurity and GDPR context — not CRA precedents</a:t>
            </a:r>
          </a:p>
        </p:txBody>
      </p:sp>
      <p:sp>
        <p:nvSpPr>
          <p:cNvPr id="27" name="Rectangle 26">
            <a:extLst>
              <a:ext uri="{FF2B5EF4-FFF2-40B4-BE49-F238E27FC236}">
                <a16:creationId xmlns:a16="http://schemas.microsoft.com/office/drawing/2014/main" id="{58A39D1E-52E4-4837-ADF9-141DE35DEFAA}"/>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04</a:t>
            </a:r>
          </a:p>
        </p:txBody>
      </p:sp>
    </p:spTree>
    <p:extLst>
      <p:ext uri="{BB962C8B-B14F-4D97-AF65-F5344CB8AC3E}">
        <p14:creationId xmlns:p14="http://schemas.microsoft.com/office/powerpoint/2010/main" val="164275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61EDAFCF-1B2E-451E-A6B9-49026FFC8EDB}"/>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95E9C241-8066-4626-8D1F-C8BCA576E5C4}"/>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PandaX connects firmware evidence to CRA workflow</a:t>
            </a:r>
          </a:p>
        </p:txBody>
      </p:sp>
      <p:sp>
        <p:nvSpPr>
          <p:cNvPr id="3" name="Rectangle 2">
            <a:extLst>
              <a:ext uri="{FF2B5EF4-FFF2-40B4-BE49-F238E27FC236}">
                <a16:creationId xmlns:a16="http://schemas.microsoft.com/office/drawing/2014/main" id="{22C24F2D-6E5A-456B-863F-B1E195EE6DCD}"/>
              </a:ext>
            </a:extLst>
          </p:cNvPr>
          <p:cNvSpPr>
            <a:spLocks noGrp="1"/>
          </p:cNvSpPr>
          <p:nvPr/>
        </p:nvSpPr>
        <p:spPr>
          <a:xfrm>
            <a:off x="609600" y="1962150"/>
            <a:ext cx="438150" cy="2476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BF0FEF6D-6A50-4FFC-AE80-551806ABD6C6}"/>
              </a:ext>
            </a:extLst>
          </p:cNvPr>
          <p:cNvSpPr>
            <a:spLocks noGrp="1"/>
          </p:cNvSpPr>
          <p:nvPr/>
        </p:nvSpPr>
        <p:spPr>
          <a:xfrm>
            <a:off x="609600" y="2314575"/>
            <a:ext cx="1724025" cy="0"/>
          </a:xfrm>
          <a:prstGeom prst="line">
            <a:avLst/>
          </a:prstGeom>
          <a:noFill/>
          <a:ln w="28575">
            <a:solidFill>
              <a:srgbClr val="2A2F36"/>
            </a:solidFill>
            <a:prstDash val="solid"/>
          </a:ln>
        </p:spPr>
      </p:sp>
      <p:sp>
        <p:nvSpPr>
          <p:cNvPr id="5" name="Rectangle 4">
            <a:extLst>
              <a:ext uri="{FF2B5EF4-FFF2-40B4-BE49-F238E27FC236}">
                <a16:creationId xmlns:a16="http://schemas.microsoft.com/office/drawing/2014/main" id="{A2BD22E7-E0A3-43F5-B142-748AD6A84E3F}"/>
              </a:ext>
            </a:extLst>
          </p:cNvPr>
          <p:cNvSpPr>
            <a:spLocks noGrp="1"/>
          </p:cNvSpPr>
          <p:nvPr/>
        </p:nvSpPr>
        <p:spPr>
          <a:xfrm>
            <a:off x="609600" y="2609850"/>
            <a:ext cx="1724025" cy="457200"/>
          </a:xfrm>
          <a:prstGeom prst="rect">
            <a:avLst/>
          </a:prstGeom>
          <a:noFill/>
          <a:ln w="0">
            <a:noFill/>
          </a:ln>
        </p:spPr>
        <p:txBody>
          <a:bodyPr wrap="square" lIns="0" tIns="0" rIns="0" bIns="0" anchor="t">
            <a:noAutofit/>
          </a:bodyPr>
          <a:lstStyle/>
          <a:p>
            <a:pPr algn="l">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Firmware</a:t>
            </a:r>
          </a:p>
        </p:txBody>
      </p:sp>
      <p:sp>
        <p:nvSpPr>
          <p:cNvPr id="6" name="Rectangle 5">
            <a:extLst>
              <a:ext uri="{FF2B5EF4-FFF2-40B4-BE49-F238E27FC236}">
                <a16:creationId xmlns:a16="http://schemas.microsoft.com/office/drawing/2014/main" id="{21A0BAEF-EA44-4406-B1B5-657DCEDF480A}"/>
              </a:ext>
            </a:extLst>
          </p:cNvPr>
          <p:cNvSpPr>
            <a:spLocks noGrp="1"/>
          </p:cNvSpPr>
          <p:nvPr/>
        </p:nvSpPr>
        <p:spPr>
          <a:xfrm>
            <a:off x="609600" y="3181350"/>
            <a:ext cx="1647825" cy="762000"/>
          </a:xfrm>
          <a:prstGeom prst="rect">
            <a:avLst/>
          </a:prstGeom>
          <a:noFill/>
          <a:ln w="0">
            <a:noFill/>
          </a:ln>
        </p:spPr>
        <p:txBody>
          <a:bodyPr wrap="square" lIns="0" tIns="0" rIns="0" bIns="0" anchor="t">
            <a:noAutofit/>
          </a:bodyPr>
          <a:lstStyle/>
          <a:p>
            <a:pPr algn="l">
              <a:lnSpc>
                <a:spcPct val="108000"/>
              </a:lnSpc>
              <a:buNone/>
              <a:defRPr sz="1350" b="0">
                <a:solidFill>
                  <a:srgbClr val="A9B3C1"/>
                </a:solidFill>
                <a:latin typeface="Segoe UI"/>
                <a:ea typeface="Segoe UI"/>
                <a:cs typeface="Segoe UI"/>
              </a:defRPr>
            </a:pPr>
            <a:r>
              <a:rPr sz="1350" b="0">
                <a:solidFill>
                  <a:srgbClr val="A9B3C1"/>
                </a:solidFill>
                <a:latin typeface="Segoe UI"/>
                <a:ea typeface="Segoe UI"/>
                <a:cs typeface="Segoe UI"/>
              </a:rPr>
              <a:t>Supported image or existing SBOM</a:t>
            </a:r>
          </a:p>
        </p:txBody>
      </p:sp>
      <p:sp>
        <p:nvSpPr>
          <p:cNvPr id="7" name="Rectangle 6">
            <a:extLst>
              <a:ext uri="{FF2B5EF4-FFF2-40B4-BE49-F238E27FC236}">
                <a16:creationId xmlns:a16="http://schemas.microsoft.com/office/drawing/2014/main" id="{C3973F64-1D5F-40DE-B537-7E27E977B8F5}"/>
              </a:ext>
            </a:extLst>
          </p:cNvPr>
          <p:cNvSpPr>
            <a:spLocks noGrp="1"/>
          </p:cNvSpPr>
          <p:nvPr/>
        </p:nvSpPr>
        <p:spPr>
          <a:xfrm>
            <a:off x="2466975" y="1962150"/>
            <a:ext cx="438150" cy="2476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02</a:t>
            </a:r>
          </a:p>
        </p:txBody>
      </p:sp>
      <p:sp>
        <p:nvSpPr>
          <p:cNvPr id="8" name="Straight Connector 7">
            <a:extLst>
              <a:ext uri="{FF2B5EF4-FFF2-40B4-BE49-F238E27FC236}">
                <a16:creationId xmlns:a16="http://schemas.microsoft.com/office/drawing/2014/main" id="{38BEAC0C-11A1-4524-9E71-14A9782D06A0}"/>
              </a:ext>
            </a:extLst>
          </p:cNvPr>
          <p:cNvSpPr>
            <a:spLocks noGrp="1"/>
          </p:cNvSpPr>
          <p:nvPr/>
        </p:nvSpPr>
        <p:spPr>
          <a:xfrm>
            <a:off x="2466975" y="2314575"/>
            <a:ext cx="1724025" cy="0"/>
          </a:xfrm>
          <a:prstGeom prst="line">
            <a:avLst/>
          </a:prstGeom>
          <a:noFill/>
          <a:ln w="28575">
            <a:solidFill>
              <a:srgbClr val="2A2F36"/>
            </a:solidFill>
            <a:prstDash val="solid"/>
          </a:ln>
        </p:spPr>
      </p:sp>
      <p:sp>
        <p:nvSpPr>
          <p:cNvPr id="9" name="Rectangle 8">
            <a:extLst>
              <a:ext uri="{FF2B5EF4-FFF2-40B4-BE49-F238E27FC236}">
                <a16:creationId xmlns:a16="http://schemas.microsoft.com/office/drawing/2014/main" id="{BFD5CEA9-EDE5-497E-93DA-1A0FF4E59FF6}"/>
              </a:ext>
            </a:extLst>
          </p:cNvPr>
          <p:cNvSpPr>
            <a:spLocks noGrp="1"/>
          </p:cNvSpPr>
          <p:nvPr/>
        </p:nvSpPr>
        <p:spPr>
          <a:xfrm>
            <a:off x="2466975" y="2609850"/>
            <a:ext cx="1724025" cy="457200"/>
          </a:xfrm>
          <a:prstGeom prst="rect">
            <a:avLst/>
          </a:prstGeom>
          <a:noFill/>
          <a:ln w="0">
            <a:noFill/>
          </a:ln>
        </p:spPr>
        <p:txBody>
          <a:bodyPr wrap="square" lIns="0" tIns="0" rIns="0" bIns="0" anchor="t">
            <a:noAutofit/>
          </a:bodyPr>
          <a:lstStyle/>
          <a:p>
            <a:pPr algn="l">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Inventory</a:t>
            </a:r>
          </a:p>
        </p:txBody>
      </p:sp>
      <p:sp>
        <p:nvSpPr>
          <p:cNvPr id="10" name="Rectangle 9">
            <a:extLst>
              <a:ext uri="{FF2B5EF4-FFF2-40B4-BE49-F238E27FC236}">
                <a16:creationId xmlns:a16="http://schemas.microsoft.com/office/drawing/2014/main" id="{A94DBA8A-85BD-4DB6-9B88-11137E174889}"/>
              </a:ext>
            </a:extLst>
          </p:cNvPr>
          <p:cNvSpPr>
            <a:spLocks noGrp="1"/>
          </p:cNvSpPr>
          <p:nvPr/>
        </p:nvSpPr>
        <p:spPr>
          <a:xfrm>
            <a:off x="2466975" y="3181350"/>
            <a:ext cx="1647825" cy="762000"/>
          </a:xfrm>
          <a:prstGeom prst="rect">
            <a:avLst/>
          </a:prstGeom>
          <a:noFill/>
          <a:ln w="0">
            <a:noFill/>
          </a:ln>
        </p:spPr>
        <p:txBody>
          <a:bodyPr wrap="square" lIns="0" tIns="0" rIns="0" bIns="0" anchor="t">
            <a:noAutofit/>
          </a:bodyPr>
          <a:lstStyle/>
          <a:p>
            <a:pPr algn="l">
              <a:lnSpc>
                <a:spcPct val="108000"/>
              </a:lnSpc>
              <a:buNone/>
              <a:defRPr sz="1350" b="0">
                <a:solidFill>
                  <a:srgbClr val="A9B3C1"/>
                </a:solidFill>
                <a:latin typeface="Segoe UI"/>
                <a:ea typeface="Segoe UI"/>
                <a:cs typeface="Segoe UI"/>
              </a:defRPr>
            </a:pPr>
            <a:r>
              <a:rPr sz="1350" b="0">
                <a:solidFill>
                  <a:srgbClr val="A9B3C1"/>
                </a:solidFill>
                <a:latin typeface="Segoe UI"/>
                <a:ea typeface="Segoe UI"/>
                <a:cs typeface="Segoe UI"/>
              </a:rPr>
              <a:t>CycloneDX 1.6 SBOM</a:t>
            </a:r>
          </a:p>
        </p:txBody>
      </p:sp>
      <p:sp>
        <p:nvSpPr>
          <p:cNvPr id="11" name="Rectangle 10">
            <a:extLst>
              <a:ext uri="{FF2B5EF4-FFF2-40B4-BE49-F238E27FC236}">
                <a16:creationId xmlns:a16="http://schemas.microsoft.com/office/drawing/2014/main" id="{027C1DF2-E6A3-499C-A62D-F78C6972D27D}"/>
              </a:ext>
            </a:extLst>
          </p:cNvPr>
          <p:cNvSpPr>
            <a:spLocks noGrp="1"/>
          </p:cNvSpPr>
          <p:nvPr/>
        </p:nvSpPr>
        <p:spPr>
          <a:xfrm>
            <a:off x="4324350" y="1962150"/>
            <a:ext cx="438150" cy="2476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03</a:t>
            </a:r>
          </a:p>
        </p:txBody>
      </p:sp>
      <p:sp>
        <p:nvSpPr>
          <p:cNvPr id="12" name="Straight Connector 11">
            <a:extLst>
              <a:ext uri="{FF2B5EF4-FFF2-40B4-BE49-F238E27FC236}">
                <a16:creationId xmlns:a16="http://schemas.microsoft.com/office/drawing/2014/main" id="{2E884A0C-B644-489A-A994-8A08EF757EE1}"/>
              </a:ext>
            </a:extLst>
          </p:cNvPr>
          <p:cNvSpPr>
            <a:spLocks noGrp="1"/>
          </p:cNvSpPr>
          <p:nvPr/>
        </p:nvSpPr>
        <p:spPr>
          <a:xfrm>
            <a:off x="4324350" y="2314575"/>
            <a:ext cx="1724025" cy="0"/>
          </a:xfrm>
          <a:prstGeom prst="line">
            <a:avLst/>
          </a:prstGeom>
          <a:noFill/>
          <a:ln w="28575">
            <a:solidFill>
              <a:srgbClr val="2A2F36"/>
            </a:solidFill>
            <a:prstDash val="solid"/>
          </a:ln>
        </p:spPr>
      </p:sp>
      <p:sp>
        <p:nvSpPr>
          <p:cNvPr id="13" name="Rectangle 12">
            <a:extLst>
              <a:ext uri="{FF2B5EF4-FFF2-40B4-BE49-F238E27FC236}">
                <a16:creationId xmlns:a16="http://schemas.microsoft.com/office/drawing/2014/main" id="{DA5B5F09-1AAB-4A4D-B678-8DE6BA5B67C6}"/>
              </a:ext>
            </a:extLst>
          </p:cNvPr>
          <p:cNvSpPr>
            <a:spLocks noGrp="1"/>
          </p:cNvSpPr>
          <p:nvPr/>
        </p:nvSpPr>
        <p:spPr>
          <a:xfrm>
            <a:off x="4324350" y="2609850"/>
            <a:ext cx="1724025" cy="457200"/>
          </a:xfrm>
          <a:prstGeom prst="rect">
            <a:avLst/>
          </a:prstGeom>
          <a:noFill/>
          <a:ln w="0">
            <a:noFill/>
          </a:ln>
        </p:spPr>
        <p:txBody>
          <a:bodyPr wrap="square" lIns="0" tIns="0" rIns="0" bIns="0" anchor="t">
            <a:noAutofit/>
          </a:bodyPr>
          <a:lstStyle/>
          <a:p>
            <a:pPr algn="l">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Evidence</a:t>
            </a:r>
          </a:p>
        </p:txBody>
      </p:sp>
      <p:sp>
        <p:nvSpPr>
          <p:cNvPr id="14" name="Rectangle 13">
            <a:extLst>
              <a:ext uri="{FF2B5EF4-FFF2-40B4-BE49-F238E27FC236}">
                <a16:creationId xmlns:a16="http://schemas.microsoft.com/office/drawing/2014/main" id="{04E12EA3-B6BF-47A4-9C06-93E4B65F73A3}"/>
              </a:ext>
            </a:extLst>
          </p:cNvPr>
          <p:cNvSpPr>
            <a:spLocks noGrp="1"/>
          </p:cNvSpPr>
          <p:nvPr/>
        </p:nvSpPr>
        <p:spPr>
          <a:xfrm>
            <a:off x="4324350" y="3181350"/>
            <a:ext cx="1647825" cy="762000"/>
          </a:xfrm>
          <a:prstGeom prst="rect">
            <a:avLst/>
          </a:prstGeom>
          <a:noFill/>
          <a:ln w="0">
            <a:noFill/>
          </a:ln>
        </p:spPr>
        <p:txBody>
          <a:bodyPr wrap="square" lIns="0" tIns="0" rIns="0" bIns="0" anchor="t">
            <a:noAutofit/>
          </a:bodyPr>
          <a:lstStyle/>
          <a:p>
            <a:pPr algn="l">
              <a:lnSpc>
                <a:spcPct val="108000"/>
              </a:lnSpc>
              <a:buNone/>
              <a:defRPr sz="1350" b="0">
                <a:solidFill>
                  <a:srgbClr val="A9B3C1"/>
                </a:solidFill>
                <a:latin typeface="Segoe UI"/>
                <a:ea typeface="Segoe UI"/>
                <a:cs typeface="Segoe UI"/>
              </a:defRPr>
            </a:pPr>
            <a:r>
              <a:rPr sz="1350" b="0">
                <a:solidFill>
                  <a:srgbClr val="A9B3C1"/>
                </a:solidFill>
                <a:latin typeface="Segoe UI"/>
                <a:ea typeface="Segoe UI"/>
                <a:cs typeface="Segoe UI"/>
              </a:rPr>
              <a:t>Affectedness and coverage</a:t>
            </a:r>
          </a:p>
        </p:txBody>
      </p:sp>
      <p:sp>
        <p:nvSpPr>
          <p:cNvPr id="15" name="Rectangle 14">
            <a:extLst>
              <a:ext uri="{FF2B5EF4-FFF2-40B4-BE49-F238E27FC236}">
                <a16:creationId xmlns:a16="http://schemas.microsoft.com/office/drawing/2014/main" id="{89713060-2C65-456F-B351-96628B48B3CB}"/>
              </a:ext>
            </a:extLst>
          </p:cNvPr>
          <p:cNvSpPr>
            <a:spLocks noGrp="1"/>
          </p:cNvSpPr>
          <p:nvPr/>
        </p:nvSpPr>
        <p:spPr>
          <a:xfrm>
            <a:off x="6181725" y="1962150"/>
            <a:ext cx="438150" cy="2476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04</a:t>
            </a:r>
          </a:p>
        </p:txBody>
      </p:sp>
      <p:sp>
        <p:nvSpPr>
          <p:cNvPr id="16" name="Straight Connector 15">
            <a:extLst>
              <a:ext uri="{FF2B5EF4-FFF2-40B4-BE49-F238E27FC236}">
                <a16:creationId xmlns:a16="http://schemas.microsoft.com/office/drawing/2014/main" id="{7F6E93A3-37E1-4E43-8DBA-46454732C13E}"/>
              </a:ext>
            </a:extLst>
          </p:cNvPr>
          <p:cNvSpPr>
            <a:spLocks noGrp="1"/>
          </p:cNvSpPr>
          <p:nvPr/>
        </p:nvSpPr>
        <p:spPr>
          <a:xfrm>
            <a:off x="6181725" y="2314575"/>
            <a:ext cx="1724025" cy="0"/>
          </a:xfrm>
          <a:prstGeom prst="line">
            <a:avLst/>
          </a:prstGeom>
          <a:noFill/>
          <a:ln w="28575">
            <a:solidFill>
              <a:srgbClr val="2A2F36"/>
            </a:solidFill>
            <a:prstDash val="solid"/>
          </a:ln>
        </p:spPr>
      </p:sp>
      <p:sp>
        <p:nvSpPr>
          <p:cNvPr id="17" name="Rectangle 16">
            <a:extLst>
              <a:ext uri="{FF2B5EF4-FFF2-40B4-BE49-F238E27FC236}">
                <a16:creationId xmlns:a16="http://schemas.microsoft.com/office/drawing/2014/main" id="{F0923609-DFBC-4430-830B-33A9569DC474}"/>
              </a:ext>
            </a:extLst>
          </p:cNvPr>
          <p:cNvSpPr>
            <a:spLocks noGrp="1"/>
          </p:cNvSpPr>
          <p:nvPr/>
        </p:nvSpPr>
        <p:spPr>
          <a:xfrm>
            <a:off x="6181725" y="2609850"/>
            <a:ext cx="1724025" cy="457200"/>
          </a:xfrm>
          <a:prstGeom prst="rect">
            <a:avLst/>
          </a:prstGeom>
          <a:noFill/>
          <a:ln w="0">
            <a:noFill/>
          </a:ln>
        </p:spPr>
        <p:txBody>
          <a:bodyPr wrap="square" lIns="0" tIns="0" rIns="0" bIns="0" anchor="t">
            <a:noAutofit/>
          </a:bodyPr>
          <a:lstStyle/>
          <a:p>
            <a:pPr algn="l">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Case</a:t>
            </a:r>
          </a:p>
        </p:txBody>
      </p:sp>
      <p:sp>
        <p:nvSpPr>
          <p:cNvPr id="18" name="Rectangle 17">
            <a:extLst>
              <a:ext uri="{FF2B5EF4-FFF2-40B4-BE49-F238E27FC236}">
                <a16:creationId xmlns:a16="http://schemas.microsoft.com/office/drawing/2014/main" id="{8D70AFAB-D781-4F0C-9971-6A12607B8C5E}"/>
              </a:ext>
            </a:extLst>
          </p:cNvPr>
          <p:cNvSpPr>
            <a:spLocks noGrp="1"/>
          </p:cNvSpPr>
          <p:nvPr/>
        </p:nvSpPr>
        <p:spPr>
          <a:xfrm>
            <a:off x="6181725" y="3181350"/>
            <a:ext cx="1647825" cy="762000"/>
          </a:xfrm>
          <a:prstGeom prst="rect">
            <a:avLst/>
          </a:prstGeom>
          <a:noFill/>
          <a:ln w="0">
            <a:noFill/>
          </a:ln>
        </p:spPr>
        <p:txBody>
          <a:bodyPr wrap="square" lIns="0" tIns="0" rIns="0" bIns="0" anchor="t">
            <a:noAutofit/>
          </a:bodyPr>
          <a:lstStyle/>
          <a:p>
            <a:pPr algn="l">
              <a:lnSpc>
                <a:spcPct val="108000"/>
              </a:lnSpc>
              <a:buNone/>
              <a:defRPr sz="1350" b="0">
                <a:solidFill>
                  <a:srgbClr val="A9B3C1"/>
                </a:solidFill>
                <a:latin typeface="Segoe UI"/>
                <a:ea typeface="Segoe UI"/>
                <a:cs typeface="Segoe UI"/>
              </a:defRPr>
            </a:pPr>
            <a:r>
              <a:rPr sz="1350" b="0">
                <a:solidFill>
                  <a:srgbClr val="A9B3C1"/>
                </a:solidFill>
                <a:latin typeface="Segoe UI"/>
                <a:ea typeface="Segoe UI"/>
                <a:cs typeface="Segoe UI"/>
              </a:rPr>
              <a:t>Awareness and deadlines</a:t>
            </a:r>
          </a:p>
        </p:txBody>
      </p:sp>
      <p:sp>
        <p:nvSpPr>
          <p:cNvPr id="19" name="Rectangle 18">
            <a:extLst>
              <a:ext uri="{FF2B5EF4-FFF2-40B4-BE49-F238E27FC236}">
                <a16:creationId xmlns:a16="http://schemas.microsoft.com/office/drawing/2014/main" id="{C4CFF720-2A77-4E3F-B8B6-EDEC702AFCC7}"/>
              </a:ext>
            </a:extLst>
          </p:cNvPr>
          <p:cNvSpPr>
            <a:spLocks noGrp="1"/>
          </p:cNvSpPr>
          <p:nvPr/>
        </p:nvSpPr>
        <p:spPr>
          <a:xfrm>
            <a:off x="8039100" y="1962150"/>
            <a:ext cx="438150" cy="2476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05</a:t>
            </a:r>
          </a:p>
        </p:txBody>
      </p:sp>
      <p:sp>
        <p:nvSpPr>
          <p:cNvPr id="20" name="Straight Connector 19">
            <a:extLst>
              <a:ext uri="{FF2B5EF4-FFF2-40B4-BE49-F238E27FC236}">
                <a16:creationId xmlns:a16="http://schemas.microsoft.com/office/drawing/2014/main" id="{50AE13B9-1918-4B54-B6F2-0CF47193718E}"/>
              </a:ext>
            </a:extLst>
          </p:cNvPr>
          <p:cNvSpPr>
            <a:spLocks noGrp="1"/>
          </p:cNvSpPr>
          <p:nvPr/>
        </p:nvSpPr>
        <p:spPr>
          <a:xfrm>
            <a:off x="8039100" y="2314575"/>
            <a:ext cx="1724025" cy="0"/>
          </a:xfrm>
          <a:prstGeom prst="line">
            <a:avLst/>
          </a:prstGeom>
          <a:noFill/>
          <a:ln w="28575">
            <a:solidFill>
              <a:srgbClr val="2A2F36"/>
            </a:solidFill>
            <a:prstDash val="solid"/>
          </a:ln>
        </p:spPr>
      </p:sp>
      <p:sp>
        <p:nvSpPr>
          <p:cNvPr id="21" name="Rectangle 20">
            <a:extLst>
              <a:ext uri="{FF2B5EF4-FFF2-40B4-BE49-F238E27FC236}">
                <a16:creationId xmlns:a16="http://schemas.microsoft.com/office/drawing/2014/main" id="{9C29904D-6B0F-4E9E-8A79-7AF305B1E8B1}"/>
              </a:ext>
            </a:extLst>
          </p:cNvPr>
          <p:cNvSpPr>
            <a:spLocks noGrp="1"/>
          </p:cNvSpPr>
          <p:nvPr/>
        </p:nvSpPr>
        <p:spPr>
          <a:xfrm>
            <a:off x="8039100" y="2609850"/>
            <a:ext cx="1724025" cy="457200"/>
          </a:xfrm>
          <a:prstGeom prst="rect">
            <a:avLst/>
          </a:prstGeom>
          <a:noFill/>
          <a:ln w="0">
            <a:noFill/>
          </a:ln>
        </p:spPr>
        <p:txBody>
          <a:bodyPr wrap="square" lIns="0" tIns="0" rIns="0" bIns="0" anchor="t">
            <a:noAutofit/>
          </a:bodyPr>
          <a:lstStyle/>
          <a:p>
            <a:pPr algn="l">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Reports</a:t>
            </a:r>
          </a:p>
        </p:txBody>
      </p:sp>
      <p:sp>
        <p:nvSpPr>
          <p:cNvPr id="22" name="Rectangle 21">
            <a:extLst>
              <a:ext uri="{FF2B5EF4-FFF2-40B4-BE49-F238E27FC236}">
                <a16:creationId xmlns:a16="http://schemas.microsoft.com/office/drawing/2014/main" id="{2DAA919A-DB20-4577-9696-CF5F6F023B7E}"/>
              </a:ext>
            </a:extLst>
          </p:cNvPr>
          <p:cNvSpPr>
            <a:spLocks noGrp="1"/>
          </p:cNvSpPr>
          <p:nvPr/>
        </p:nvSpPr>
        <p:spPr>
          <a:xfrm>
            <a:off x="8039100" y="3181350"/>
            <a:ext cx="1647825" cy="762000"/>
          </a:xfrm>
          <a:prstGeom prst="rect">
            <a:avLst/>
          </a:prstGeom>
          <a:noFill/>
          <a:ln w="0">
            <a:noFill/>
          </a:ln>
        </p:spPr>
        <p:txBody>
          <a:bodyPr wrap="square" lIns="0" tIns="0" rIns="0" bIns="0" anchor="t">
            <a:noAutofit/>
          </a:bodyPr>
          <a:lstStyle/>
          <a:p>
            <a:pPr algn="l">
              <a:lnSpc>
                <a:spcPct val="108000"/>
              </a:lnSpc>
              <a:buNone/>
              <a:defRPr sz="1350" b="0">
                <a:solidFill>
                  <a:srgbClr val="A9B3C1"/>
                </a:solidFill>
                <a:latin typeface="Segoe UI"/>
                <a:ea typeface="Segoe UI"/>
                <a:cs typeface="Segoe UI"/>
              </a:defRPr>
            </a:pPr>
            <a:r>
              <a:rPr sz="1350" b="0">
                <a:solidFill>
                  <a:srgbClr val="A9B3C1"/>
                </a:solidFill>
                <a:latin typeface="Segoe UI"/>
                <a:ea typeface="Segoe UI"/>
                <a:cs typeface="Segoe UI"/>
              </a:rPr>
              <a:t>Review-ready packages</a:t>
            </a:r>
          </a:p>
        </p:txBody>
      </p:sp>
      <p:sp>
        <p:nvSpPr>
          <p:cNvPr id="23" name="Rectangle 22">
            <a:extLst>
              <a:ext uri="{FF2B5EF4-FFF2-40B4-BE49-F238E27FC236}">
                <a16:creationId xmlns:a16="http://schemas.microsoft.com/office/drawing/2014/main" id="{DFDD5256-572E-4301-BDA4-83FF02881624}"/>
              </a:ext>
            </a:extLst>
          </p:cNvPr>
          <p:cNvSpPr>
            <a:spLocks noGrp="1"/>
          </p:cNvSpPr>
          <p:nvPr/>
        </p:nvSpPr>
        <p:spPr>
          <a:xfrm>
            <a:off x="9896475" y="1962150"/>
            <a:ext cx="438150" cy="24765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06</a:t>
            </a:r>
          </a:p>
        </p:txBody>
      </p:sp>
      <p:sp>
        <p:nvSpPr>
          <p:cNvPr id="24" name="Straight Connector 23">
            <a:extLst>
              <a:ext uri="{FF2B5EF4-FFF2-40B4-BE49-F238E27FC236}">
                <a16:creationId xmlns:a16="http://schemas.microsoft.com/office/drawing/2014/main" id="{367B0304-29D3-4F79-86CF-1D4477F8F14D}"/>
              </a:ext>
            </a:extLst>
          </p:cNvPr>
          <p:cNvSpPr>
            <a:spLocks noGrp="1"/>
          </p:cNvSpPr>
          <p:nvPr/>
        </p:nvSpPr>
        <p:spPr>
          <a:xfrm>
            <a:off x="9896475" y="2314575"/>
            <a:ext cx="1724025" cy="0"/>
          </a:xfrm>
          <a:prstGeom prst="line">
            <a:avLst/>
          </a:prstGeom>
          <a:noFill/>
          <a:ln w="28575">
            <a:solidFill>
              <a:srgbClr val="4ED8A0"/>
            </a:solidFill>
            <a:prstDash val="solid"/>
          </a:ln>
        </p:spPr>
      </p:sp>
      <p:sp>
        <p:nvSpPr>
          <p:cNvPr id="25" name="Rectangle 24">
            <a:extLst>
              <a:ext uri="{FF2B5EF4-FFF2-40B4-BE49-F238E27FC236}">
                <a16:creationId xmlns:a16="http://schemas.microsoft.com/office/drawing/2014/main" id="{6683A66E-9610-4DEF-971C-8CF459A72FAF}"/>
              </a:ext>
            </a:extLst>
          </p:cNvPr>
          <p:cNvSpPr>
            <a:spLocks noGrp="1"/>
          </p:cNvSpPr>
          <p:nvPr/>
        </p:nvSpPr>
        <p:spPr>
          <a:xfrm>
            <a:off x="9896475" y="2609850"/>
            <a:ext cx="1724025" cy="457200"/>
          </a:xfrm>
          <a:prstGeom prst="rect">
            <a:avLst/>
          </a:prstGeom>
          <a:noFill/>
          <a:ln w="0">
            <a:noFill/>
          </a:ln>
        </p:spPr>
        <p:txBody>
          <a:bodyPr wrap="square" lIns="0" tIns="0" rIns="0" bIns="0" anchor="t">
            <a:noAutofit/>
          </a:bodyPr>
          <a:lstStyle/>
          <a:p>
            <a:pPr algn="l">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Seal</a:t>
            </a:r>
          </a:p>
        </p:txBody>
      </p:sp>
      <p:sp>
        <p:nvSpPr>
          <p:cNvPr id="26" name="Rectangle 25">
            <a:extLst>
              <a:ext uri="{FF2B5EF4-FFF2-40B4-BE49-F238E27FC236}">
                <a16:creationId xmlns:a16="http://schemas.microsoft.com/office/drawing/2014/main" id="{EE1ECA16-50F0-4AC1-A48F-782991A342D8}"/>
              </a:ext>
            </a:extLst>
          </p:cNvPr>
          <p:cNvSpPr>
            <a:spLocks noGrp="1"/>
          </p:cNvSpPr>
          <p:nvPr/>
        </p:nvSpPr>
        <p:spPr>
          <a:xfrm>
            <a:off x="9896475" y="3181350"/>
            <a:ext cx="1647825" cy="762000"/>
          </a:xfrm>
          <a:prstGeom prst="rect">
            <a:avLst/>
          </a:prstGeom>
          <a:noFill/>
          <a:ln w="0">
            <a:noFill/>
          </a:ln>
        </p:spPr>
        <p:txBody>
          <a:bodyPr wrap="square" lIns="0" tIns="0" rIns="0" bIns="0" anchor="t">
            <a:noAutofit/>
          </a:bodyPr>
          <a:lstStyle/>
          <a:p>
            <a:pPr algn="l">
              <a:lnSpc>
                <a:spcPct val="108000"/>
              </a:lnSpc>
              <a:buNone/>
              <a:defRPr sz="1350" b="0">
                <a:solidFill>
                  <a:srgbClr val="A9B3C1"/>
                </a:solidFill>
                <a:latin typeface="Segoe UI"/>
                <a:ea typeface="Segoe UI"/>
                <a:cs typeface="Segoe UI"/>
              </a:defRPr>
            </a:pPr>
            <a:r>
              <a:rPr sz="1350" b="0">
                <a:solidFill>
                  <a:srgbClr val="A9B3C1"/>
                </a:solidFill>
                <a:latin typeface="Segoe UI"/>
                <a:ea typeface="Segoe UI"/>
                <a:cs typeface="Segoe UI"/>
              </a:rPr>
              <a:t>Independent verification</a:t>
            </a:r>
          </a:p>
        </p:txBody>
      </p:sp>
      <p:sp>
        <p:nvSpPr>
          <p:cNvPr id="27" name="Rectangle 26">
            <a:extLst>
              <a:ext uri="{FF2B5EF4-FFF2-40B4-BE49-F238E27FC236}">
                <a16:creationId xmlns:a16="http://schemas.microsoft.com/office/drawing/2014/main" id="{D29F8B6C-F207-41D2-B3A1-107CD165C73E}"/>
              </a:ext>
            </a:extLst>
          </p:cNvPr>
          <p:cNvSpPr>
            <a:spLocks noGrp="1"/>
          </p:cNvSpPr>
          <p:nvPr/>
        </p:nvSpPr>
        <p:spPr>
          <a:xfrm>
            <a:off x="628650" y="4152900"/>
            <a:ext cx="1428750" cy="228600"/>
          </a:xfrm>
          <a:prstGeom prst="rect">
            <a:avLst/>
          </a:prstGeom>
          <a:noFill/>
          <a:ln w="0">
            <a:noFill/>
          </a:ln>
        </p:spPr>
        <p:txBody>
          <a:bodyPr wrap="square" lIns="0" tIns="0" rIns="0" bIns="0" anchor="t">
            <a:noAutofit/>
          </a:bodyPr>
          <a:lstStyle/>
          <a:p>
            <a:pPr algn="l">
              <a:lnSpc>
                <a:spcPct val="100000"/>
              </a:lnSpc>
              <a:buNone/>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INTELLIGENCE</a:t>
            </a:r>
          </a:p>
        </p:txBody>
      </p:sp>
      <p:sp>
        <p:nvSpPr>
          <p:cNvPr id="28" name="Rectangle 27">
            <a:extLst>
              <a:ext uri="{FF2B5EF4-FFF2-40B4-BE49-F238E27FC236}">
                <a16:creationId xmlns:a16="http://schemas.microsoft.com/office/drawing/2014/main" id="{9D3E3776-B9DD-42FE-BCE3-AD46457D73E9}"/>
              </a:ext>
            </a:extLst>
          </p:cNvPr>
          <p:cNvSpPr>
            <a:spLocks noGrp="1"/>
          </p:cNvSpPr>
          <p:nvPr/>
        </p:nvSpPr>
        <p:spPr>
          <a:xfrm>
            <a:off x="2190750" y="4124325"/>
            <a:ext cx="8477250" cy="266700"/>
          </a:xfrm>
          <a:prstGeom prst="rect">
            <a:avLst/>
          </a:prstGeom>
          <a:noFill/>
          <a:ln w="0">
            <a:noFill/>
          </a:ln>
        </p:spPr>
        <p:txBody>
          <a:bodyPr wrap="square" lIns="0" tIns="0" rIns="0" bIns="0" anchor="t">
            <a:noAutofit/>
          </a:bodyPr>
          <a:lstStyle/>
          <a:p>
            <a:pPr algn="ctr">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OSV     CISA KEV     EPSS     VENDOR ADVISORIES</a:t>
            </a:r>
          </a:p>
        </p:txBody>
      </p:sp>
      <p:sp>
        <p:nvSpPr>
          <p:cNvPr id="29" name="Straight Connector 28">
            <a:extLst>
              <a:ext uri="{FF2B5EF4-FFF2-40B4-BE49-F238E27FC236}">
                <a16:creationId xmlns:a16="http://schemas.microsoft.com/office/drawing/2014/main" id="{00FB20CA-42FB-4ACE-970D-41C4B0FCF652}"/>
              </a:ext>
            </a:extLst>
          </p:cNvPr>
          <p:cNvSpPr>
            <a:spLocks noGrp="1"/>
          </p:cNvSpPr>
          <p:nvPr/>
        </p:nvSpPr>
        <p:spPr>
          <a:xfrm>
            <a:off x="628650" y="4495800"/>
            <a:ext cx="10953750" cy="0"/>
          </a:xfrm>
          <a:prstGeom prst="line">
            <a:avLst/>
          </a:prstGeom>
          <a:noFill/>
          <a:ln w="9525">
            <a:solidFill>
              <a:srgbClr val="2A2F36"/>
            </a:solidFill>
            <a:prstDash val="solid"/>
          </a:ln>
        </p:spPr>
      </p:sp>
      <p:sp>
        <p:nvSpPr>
          <p:cNvPr id="30" name="Rectangle 29">
            <a:extLst>
              <a:ext uri="{FF2B5EF4-FFF2-40B4-BE49-F238E27FC236}">
                <a16:creationId xmlns:a16="http://schemas.microsoft.com/office/drawing/2014/main" id="{2DC2D814-E8CD-4D88-8D22-E2AF56B3A162}"/>
              </a:ext>
            </a:extLst>
          </p:cNvPr>
          <p:cNvSpPr>
            <a:spLocks noGrp="1"/>
          </p:cNvSpPr>
          <p:nvPr/>
        </p:nvSpPr>
        <p:spPr>
          <a:xfrm>
            <a:off x="2190750" y="4591050"/>
            <a:ext cx="8477250" cy="247650"/>
          </a:xfrm>
          <a:prstGeom prst="rect">
            <a:avLst/>
          </a:prstGeom>
          <a:noFill/>
          <a:ln w="0">
            <a:noFill/>
          </a:ln>
        </p:spPr>
        <p:txBody>
          <a:bodyPr wrap="square" lIns="0" tIns="0" rIns="0" bIns="0" anchor="t">
            <a:noAutofit/>
          </a:bodyPr>
          <a:lstStyle/>
          <a:p>
            <a:pPr algn="ctr">
              <a:lnSpc>
                <a:spcPct val="100000"/>
              </a:lnSpc>
              <a:buNone/>
              <a:defRPr sz="1275" b="0">
                <a:solidFill>
                  <a:srgbClr val="A9B3C1"/>
                </a:solidFill>
                <a:latin typeface="Segoe UI"/>
                <a:ea typeface="Segoe UI"/>
                <a:cs typeface="Segoe UI"/>
              </a:defRPr>
            </a:pPr>
            <a:r>
              <a:rPr sz="1275" b="0">
                <a:solidFill>
                  <a:srgbClr val="A9B3C1"/>
                </a:solidFill>
                <a:latin typeface="Segoe UI"/>
                <a:ea typeface="Segoe UI"/>
                <a:cs typeface="Segoe UI"/>
              </a:rPr>
              <a:t>Hourly while running, manual refresh, catch-up after restart</a:t>
            </a:r>
          </a:p>
        </p:txBody>
      </p:sp>
      <p:sp>
        <p:nvSpPr>
          <p:cNvPr id="31" name="Rectangle: Rounded Corners 30">
            <a:extLst>
              <a:ext uri="{FF2B5EF4-FFF2-40B4-BE49-F238E27FC236}">
                <a16:creationId xmlns:a16="http://schemas.microsoft.com/office/drawing/2014/main" id="{DBBF6629-4BFA-4DA5-A6F7-1929E0FD6B7F}"/>
              </a:ext>
            </a:extLst>
          </p:cNvPr>
          <p:cNvSpPr>
            <a:spLocks noGrp="1"/>
          </p:cNvSpPr>
          <p:nvPr/>
        </p:nvSpPr>
        <p:spPr>
          <a:xfrm>
            <a:off x="628650" y="5010150"/>
            <a:ext cx="10953750" cy="800100"/>
          </a:xfrm>
          <a:prstGeom prst="roundRect">
            <a:avLst>
              <a:gd name="adj" fmla="val 9524"/>
            </a:avLst>
          </a:prstGeom>
          <a:solidFill>
            <a:srgbClr val="171A20"/>
          </a:solidFill>
          <a:ln w="9525">
            <a:solidFill>
              <a:srgbClr val="2A2F36"/>
            </a:solidFill>
            <a:prstDash val="solid"/>
          </a:ln>
        </p:spPr>
      </p:sp>
      <p:sp>
        <p:nvSpPr>
          <p:cNvPr id="32" name="Rectangle 31">
            <a:extLst>
              <a:ext uri="{FF2B5EF4-FFF2-40B4-BE49-F238E27FC236}">
                <a16:creationId xmlns:a16="http://schemas.microsoft.com/office/drawing/2014/main" id="{80CEC356-D19B-4A8C-A502-BE4FF6D4D8CB}"/>
              </a:ext>
            </a:extLst>
          </p:cNvPr>
          <p:cNvSpPr>
            <a:spLocks noGrp="1"/>
          </p:cNvSpPr>
          <p:nvPr/>
        </p:nvSpPr>
        <p:spPr>
          <a:xfrm>
            <a:off x="933450" y="5162550"/>
            <a:ext cx="10287000" cy="495300"/>
          </a:xfrm>
          <a:prstGeom prst="rect">
            <a:avLst/>
          </a:prstGeom>
          <a:noFill/>
          <a:ln w="0">
            <a:noFill/>
          </a:ln>
        </p:spPr>
        <p:txBody>
          <a:bodyPr wrap="square" lIns="0" tIns="0" rIns="0" bIns="0" anchor="ctr">
            <a:noAutofit/>
          </a:bodyPr>
          <a:lstStyle/>
          <a:p>
            <a:pPr algn="ctr">
              <a:lnSpc>
                <a:spcPct val="100000"/>
              </a:lnSpc>
              <a:buNone/>
              <a:defRPr sz="1650" b="1">
                <a:solidFill>
                  <a:srgbClr val="F2F5F9"/>
                </a:solidFill>
                <a:latin typeface="Segoe UI"/>
                <a:ea typeface="Segoe UI"/>
                <a:cs typeface="Segoe UI"/>
              </a:defRPr>
            </a:pPr>
            <a:r>
              <a:rPr sz="1650" b="1">
                <a:solidFill>
                  <a:srgbClr val="F2F5F9"/>
                </a:solidFill>
                <a:latin typeface="Segoe UI"/>
                <a:ea typeface="Segoe UI"/>
                <a:cs typeface="Segoe UI"/>
              </a:rPr>
              <a:t>One persistent case keeps evidence, deadlines, document versions, and approvals together. Export remains human-authorized.</a:t>
            </a:r>
          </a:p>
        </p:txBody>
      </p:sp>
      <p:sp>
        <p:nvSpPr>
          <p:cNvPr id="33" name="Straight Connector 32">
            <a:extLst>
              <a:ext uri="{FF2B5EF4-FFF2-40B4-BE49-F238E27FC236}">
                <a16:creationId xmlns:a16="http://schemas.microsoft.com/office/drawing/2014/main" id="{EEF81E66-F649-45BF-88D2-41F2414DFA24}"/>
              </a:ext>
            </a:extLst>
          </p:cNvPr>
          <p:cNvSpPr>
            <a:spLocks noGrp="1"/>
          </p:cNvSpPr>
          <p:nvPr/>
        </p:nvSpPr>
        <p:spPr>
          <a:xfrm>
            <a:off x="533400" y="6496050"/>
            <a:ext cx="11125200" cy="0"/>
          </a:xfrm>
          <a:prstGeom prst="line">
            <a:avLst/>
          </a:prstGeom>
          <a:noFill/>
          <a:ln w="9525">
            <a:solidFill>
              <a:srgbClr val="2A2F36"/>
            </a:solidFill>
            <a:prstDash val="solid"/>
          </a:ln>
        </p:spPr>
      </p:sp>
      <p:sp>
        <p:nvSpPr>
          <p:cNvPr id="34" name="Rectangle 33">
            <a:extLst>
              <a:ext uri="{FF2B5EF4-FFF2-40B4-BE49-F238E27FC236}">
                <a16:creationId xmlns:a16="http://schemas.microsoft.com/office/drawing/2014/main" id="{1E978981-D65C-41AE-B976-634645E046AC}"/>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Customer pilot presentation</a:t>
            </a:r>
          </a:p>
        </p:txBody>
      </p:sp>
      <p:sp>
        <p:nvSpPr>
          <p:cNvPr id="35" name="Rectangle 34">
            <a:extLst>
              <a:ext uri="{FF2B5EF4-FFF2-40B4-BE49-F238E27FC236}">
                <a16:creationId xmlns:a16="http://schemas.microsoft.com/office/drawing/2014/main" id="{2C50363A-3908-4F15-8398-06640BAB0C87}"/>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05</a:t>
            </a:r>
          </a:p>
        </p:txBody>
      </p:sp>
    </p:spTree>
    <p:extLst>
      <p:ext uri="{BB962C8B-B14F-4D97-AF65-F5344CB8AC3E}">
        <p14:creationId xmlns:p14="http://schemas.microsoft.com/office/powerpoint/2010/main" val="117759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00"/>
                                        <p:tgtEl>
                                          <p:spTgt spid="9"/>
                                        </p:tgtEl>
                                      </p:cBhvr>
                                    </p:animEffect>
                                  </p:childTnLst>
                                </p:cTn>
                              </p:par>
                            </p:childTnLst>
                          </p:cTn>
                        </p:par>
                        <p:par>
                          <p:cTn id="12" fill="hold">
                            <p:stCondLst>
                              <p:cond delay="400"/>
                            </p:stCondLst>
                            <p:childTnLst>
                              <p:par>
                                <p:cTn id="13" presetID="10" presetClass="entr" presetSubtype="0" fill="hold" grpId="1"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
                                        <p:tgtEl>
                                          <p:spTgt spid="2"/>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
                                        <p:tgtEl>
                                          <p:spTgt spid="17"/>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200"/>
                                        <p:tgtEl>
                                          <p:spTgt spid="21"/>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2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9" grpId="0"/>
      <p:bldP spid="17" grpId="0"/>
      <p:bldP spid="21"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550F3F9-F77E-4322-A718-77AE8CEC6ADE}"/>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920FA361-D70C-485D-8FD9-1386FE9335B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Detection is the first output, not the finished job</a:t>
            </a:r>
          </a:p>
        </p:txBody>
      </p:sp>
      <p:sp>
        <p:nvSpPr>
          <p:cNvPr id="3" name="Rectangle 2">
            <a:extLst>
              <a:ext uri="{FF2B5EF4-FFF2-40B4-BE49-F238E27FC236}">
                <a16:creationId xmlns:a16="http://schemas.microsoft.com/office/drawing/2014/main" id="{9155A888-FA8D-4BC7-80F9-F83723004A4A}"/>
              </a:ext>
            </a:extLst>
          </p:cNvPr>
          <p:cNvSpPr>
            <a:spLocks noGrp="1"/>
          </p:cNvSpPr>
          <p:nvPr/>
        </p:nvSpPr>
        <p:spPr>
          <a:xfrm>
            <a:off x="762000" y="1076325"/>
            <a:ext cx="10382250" cy="419100"/>
          </a:xfrm>
          <a:prstGeom prst="rect">
            <a:avLst/>
          </a:prstGeom>
          <a:noFill/>
          <a:ln w="0">
            <a:noFill/>
          </a:ln>
        </p:spPr>
        <p:txBody>
          <a:bodyPr wrap="square" lIns="0" tIns="0" rIns="0" bIns="0" anchor="t">
            <a:noAutofit/>
          </a:bodyPr>
          <a:lstStyle/>
          <a:p>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PandaX automates the work between a firmware finding and a review-ready regulatory case.</a:t>
            </a:r>
          </a:p>
        </p:txBody>
      </p:sp>
      <p:sp>
        <p:nvSpPr>
          <p:cNvPr id="4" name="Rectangle 3">
            <a:extLst>
              <a:ext uri="{FF2B5EF4-FFF2-40B4-BE49-F238E27FC236}">
                <a16:creationId xmlns:a16="http://schemas.microsoft.com/office/drawing/2014/main" id="{5134BA3D-BAF0-476E-94CC-4D7745FB07C4}"/>
              </a:ext>
            </a:extLst>
          </p:cNvPr>
          <p:cNvSpPr>
            <a:spLocks noGrp="1"/>
          </p:cNvSpPr>
          <p:nvPr/>
        </p:nvSpPr>
        <p:spPr>
          <a:xfrm>
            <a:off x="685800" y="1790700"/>
            <a:ext cx="2857500" cy="266700"/>
          </a:xfrm>
          <a:prstGeom prst="rect">
            <a:avLst/>
          </a:prstGeom>
          <a:noFill/>
          <a:ln w="0">
            <a:noFill/>
          </a:ln>
        </p:spPr>
        <p:txBody>
          <a:bodyPr wrap="square" lIns="0" tIns="0" rIns="0" bIns="0" anchor="t">
            <a:noAutofit/>
          </a:bodyPr>
          <a:lstStyle/>
          <a:p>
            <a:pPr algn="l">
              <a:lnSpc>
                <a:spcPct val="100000"/>
              </a:lnSpc>
              <a:buNone/>
              <a:defRPr sz="1200" b="1">
                <a:solidFill>
                  <a:srgbClr val="727D8C"/>
                </a:solidFill>
                <a:latin typeface="Cascadia Mono"/>
                <a:ea typeface="Cascadia Mono"/>
                <a:cs typeface="Cascadia Mono"/>
              </a:defRPr>
            </a:pPr>
            <a:r>
              <a:rPr sz="1200" b="1">
                <a:solidFill>
                  <a:srgbClr val="727D8C"/>
                </a:solidFill>
                <a:latin typeface="Cascadia Mono"/>
                <a:ea typeface="Cascadia Mono"/>
                <a:cs typeface="Cascadia Mono"/>
              </a:rPr>
              <a:t>VULNERABILITY TOOL</a:t>
            </a:r>
          </a:p>
        </p:txBody>
      </p:sp>
      <p:sp>
        <p:nvSpPr>
          <p:cNvPr id="5" name="Rectangle 4">
            <a:extLst>
              <a:ext uri="{FF2B5EF4-FFF2-40B4-BE49-F238E27FC236}">
                <a16:creationId xmlns:a16="http://schemas.microsoft.com/office/drawing/2014/main" id="{8DE69A5A-D401-4F98-9C64-D12784DFBCDB}"/>
              </a:ext>
            </a:extLst>
          </p:cNvPr>
          <p:cNvSpPr>
            <a:spLocks noGrp="1"/>
          </p:cNvSpPr>
          <p:nvPr/>
        </p:nvSpPr>
        <p:spPr>
          <a:xfrm>
            <a:off x="685800" y="2286000"/>
            <a:ext cx="2857500" cy="1562100"/>
          </a:xfrm>
          <a:prstGeom prst="rect">
            <a:avLst/>
          </a:prstGeom>
          <a:noFill/>
          <a:ln w="0">
            <a:noFill/>
          </a:ln>
        </p:spPr>
        <p:txBody>
          <a:bodyPr wrap="square" lIns="0" tIns="0" rIns="0" bIns="0" anchor="t">
            <a:noAutofit/>
          </a:bodyPr>
          <a:lstStyle/>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Component list</a:t>
            </a:r>
          </a:p>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Theoretical CVEs</a:t>
            </a:r>
          </a:p>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Severity scores</a:t>
            </a:r>
          </a:p>
        </p:txBody>
      </p:sp>
      <p:sp>
        <p:nvSpPr>
          <p:cNvPr id="6" name="Straight Connector 5">
            <a:extLst>
              <a:ext uri="{FF2B5EF4-FFF2-40B4-BE49-F238E27FC236}">
                <a16:creationId xmlns:a16="http://schemas.microsoft.com/office/drawing/2014/main" id="{404A0608-46E8-435C-AD76-7A6E8C242FC3}"/>
              </a:ext>
            </a:extLst>
          </p:cNvPr>
          <p:cNvSpPr>
            <a:spLocks noGrp="1"/>
          </p:cNvSpPr>
          <p:nvPr/>
        </p:nvSpPr>
        <p:spPr>
          <a:xfrm>
            <a:off x="3714750" y="1790700"/>
            <a:ext cx="0" cy="3000375"/>
          </a:xfrm>
          <a:prstGeom prst="line">
            <a:avLst/>
          </a:prstGeom>
          <a:noFill/>
          <a:ln w="19050">
            <a:solidFill>
              <a:srgbClr val="2A2F36"/>
            </a:solidFill>
            <a:prstDash val="solid"/>
          </a:ln>
        </p:spPr>
      </p:sp>
      <p:sp>
        <p:nvSpPr>
          <p:cNvPr id="7" name="Rectangle 6">
            <a:extLst>
              <a:ext uri="{FF2B5EF4-FFF2-40B4-BE49-F238E27FC236}">
                <a16:creationId xmlns:a16="http://schemas.microsoft.com/office/drawing/2014/main" id="{39F1E411-BBB0-433C-830C-53B3DA8BA4FD}"/>
              </a:ext>
            </a:extLst>
          </p:cNvPr>
          <p:cNvSpPr>
            <a:spLocks noGrp="1"/>
          </p:cNvSpPr>
          <p:nvPr/>
        </p:nvSpPr>
        <p:spPr>
          <a:xfrm>
            <a:off x="4171950" y="1790700"/>
            <a:ext cx="3714750" cy="266700"/>
          </a:xfrm>
          <a:prstGeom prst="rect">
            <a:avLst/>
          </a:prstGeom>
          <a:noFill/>
          <a:ln w="0">
            <a:noFill/>
          </a:ln>
        </p:spPr>
        <p:txBody>
          <a:bodyPr wrap="square" lIns="0" tIns="0" rIns="0" bIns="0" anchor="t">
            <a:noAutofit/>
          </a:bodyPr>
          <a:lstStyle/>
          <a:p>
            <a:pPr algn="l">
              <a:lnSpc>
                <a:spcPct val="100000"/>
              </a:lnSpc>
              <a:buNone/>
              <a:defRPr sz="1200" b="1">
                <a:solidFill>
                  <a:srgbClr val="4ED8A0"/>
                </a:solidFill>
                <a:latin typeface="Cascadia Mono"/>
                <a:ea typeface="Cascadia Mono"/>
                <a:cs typeface="Cascadia Mono"/>
              </a:defRPr>
            </a:pPr>
            <a:r>
              <a:rPr sz="1200" b="1">
                <a:solidFill>
                  <a:srgbClr val="4ED8A0"/>
                </a:solidFill>
                <a:latin typeface="Cascadia Mono"/>
                <a:ea typeface="Cascadia Mono"/>
                <a:cs typeface="Cascadia Mono"/>
              </a:rPr>
              <a:t>PANDAX AUTOMATION LAYER</a:t>
            </a:r>
          </a:p>
        </p:txBody>
      </p:sp>
      <p:sp>
        <p:nvSpPr>
          <p:cNvPr id="8" name="Rectangle: Rounded Corners 7">
            <a:extLst>
              <a:ext uri="{FF2B5EF4-FFF2-40B4-BE49-F238E27FC236}">
                <a16:creationId xmlns:a16="http://schemas.microsoft.com/office/drawing/2014/main" id="{AF271C41-55A1-4B5C-B106-B9B942975830}"/>
              </a:ext>
            </a:extLst>
          </p:cNvPr>
          <p:cNvSpPr>
            <a:spLocks noGrp="1"/>
          </p:cNvSpPr>
          <p:nvPr/>
        </p:nvSpPr>
        <p:spPr>
          <a:xfrm>
            <a:off x="4171950" y="2238375"/>
            <a:ext cx="3333750" cy="457200"/>
          </a:xfrm>
          <a:prstGeom prst="roundRect">
            <a:avLst>
              <a:gd name="adj" fmla="val 16667"/>
            </a:avLst>
          </a:prstGeom>
          <a:solidFill>
            <a:srgbClr val="171A20"/>
          </a:solidFill>
          <a:ln w="9525">
            <a:solidFill>
              <a:srgbClr val="2A2F36"/>
            </a:solidFill>
            <a:prstDash val="solid"/>
          </a:ln>
        </p:spPr>
      </p:sp>
      <p:sp>
        <p:nvSpPr>
          <p:cNvPr id="9" name="Rectangle 8">
            <a:extLst>
              <a:ext uri="{FF2B5EF4-FFF2-40B4-BE49-F238E27FC236}">
                <a16:creationId xmlns:a16="http://schemas.microsoft.com/office/drawing/2014/main" id="{4F44952C-5777-4F4A-8A3B-F5D6DA37D0AD}"/>
              </a:ext>
            </a:extLst>
          </p:cNvPr>
          <p:cNvSpPr>
            <a:spLocks noGrp="1"/>
          </p:cNvSpPr>
          <p:nvPr/>
        </p:nvSpPr>
        <p:spPr>
          <a:xfrm>
            <a:off x="4362450" y="2333625"/>
            <a:ext cx="2952750" cy="27622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Firmware reachability</a:t>
            </a:r>
          </a:p>
        </p:txBody>
      </p:sp>
      <p:sp>
        <p:nvSpPr>
          <p:cNvPr id="10" name="Rectangle: Rounded Corners 9">
            <a:extLst>
              <a:ext uri="{FF2B5EF4-FFF2-40B4-BE49-F238E27FC236}">
                <a16:creationId xmlns:a16="http://schemas.microsoft.com/office/drawing/2014/main" id="{2EF5143D-62D1-46DF-ADA6-30ED486172C4}"/>
              </a:ext>
            </a:extLst>
          </p:cNvPr>
          <p:cNvSpPr>
            <a:spLocks noGrp="1"/>
          </p:cNvSpPr>
          <p:nvPr/>
        </p:nvSpPr>
        <p:spPr>
          <a:xfrm>
            <a:off x="4171950" y="2876550"/>
            <a:ext cx="3333750" cy="457200"/>
          </a:xfrm>
          <a:prstGeom prst="roundRect">
            <a:avLst>
              <a:gd name="adj" fmla="val 16667"/>
            </a:avLst>
          </a:prstGeom>
          <a:solidFill>
            <a:srgbClr val="171A20"/>
          </a:solidFill>
          <a:ln w="9525">
            <a:solidFill>
              <a:srgbClr val="2A2F36"/>
            </a:solidFill>
            <a:prstDash val="solid"/>
          </a:ln>
        </p:spPr>
      </p:sp>
      <p:sp>
        <p:nvSpPr>
          <p:cNvPr id="11" name="Rectangle 10">
            <a:extLst>
              <a:ext uri="{FF2B5EF4-FFF2-40B4-BE49-F238E27FC236}">
                <a16:creationId xmlns:a16="http://schemas.microsoft.com/office/drawing/2014/main" id="{D12B3F13-9D96-44D3-A0B2-761278446260}"/>
              </a:ext>
            </a:extLst>
          </p:cNvPr>
          <p:cNvSpPr>
            <a:spLocks noGrp="1"/>
          </p:cNvSpPr>
          <p:nvPr/>
        </p:nvSpPr>
        <p:spPr>
          <a:xfrm>
            <a:off x="4362450" y="2971800"/>
            <a:ext cx="2952750" cy="27622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Affected product scope</a:t>
            </a:r>
          </a:p>
        </p:txBody>
      </p:sp>
      <p:sp>
        <p:nvSpPr>
          <p:cNvPr id="12" name="Rectangle: Rounded Corners 11">
            <a:extLst>
              <a:ext uri="{FF2B5EF4-FFF2-40B4-BE49-F238E27FC236}">
                <a16:creationId xmlns:a16="http://schemas.microsoft.com/office/drawing/2014/main" id="{61CDC155-83C2-4543-B993-94A14EB399C5}"/>
              </a:ext>
            </a:extLst>
          </p:cNvPr>
          <p:cNvSpPr>
            <a:spLocks noGrp="1"/>
          </p:cNvSpPr>
          <p:nvPr/>
        </p:nvSpPr>
        <p:spPr>
          <a:xfrm>
            <a:off x="4171950" y="3514725"/>
            <a:ext cx="3333750" cy="457200"/>
          </a:xfrm>
          <a:prstGeom prst="roundRect">
            <a:avLst>
              <a:gd name="adj" fmla="val 16667"/>
            </a:avLst>
          </a:prstGeom>
          <a:solidFill>
            <a:srgbClr val="171A20"/>
          </a:solidFill>
          <a:ln w="9525">
            <a:solidFill>
              <a:srgbClr val="2A2F36"/>
            </a:solidFill>
            <a:prstDash val="solid"/>
          </a:ln>
        </p:spPr>
      </p:sp>
      <p:sp>
        <p:nvSpPr>
          <p:cNvPr id="13" name="Rectangle 12">
            <a:extLst>
              <a:ext uri="{FF2B5EF4-FFF2-40B4-BE49-F238E27FC236}">
                <a16:creationId xmlns:a16="http://schemas.microsoft.com/office/drawing/2014/main" id="{4E891BFC-CACE-4FB0-9609-4A38CBB8AC20}"/>
              </a:ext>
            </a:extLst>
          </p:cNvPr>
          <p:cNvSpPr>
            <a:spLocks noGrp="1"/>
          </p:cNvSpPr>
          <p:nvPr/>
        </p:nvSpPr>
        <p:spPr>
          <a:xfrm>
            <a:off x="4362450" y="3609975"/>
            <a:ext cx="2952750" cy="27622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Evidence and uncertainty</a:t>
            </a:r>
          </a:p>
        </p:txBody>
      </p:sp>
      <p:sp>
        <p:nvSpPr>
          <p:cNvPr id="14" name="Rectangle: Rounded Corners 13">
            <a:extLst>
              <a:ext uri="{FF2B5EF4-FFF2-40B4-BE49-F238E27FC236}">
                <a16:creationId xmlns:a16="http://schemas.microsoft.com/office/drawing/2014/main" id="{A048E1F1-68F2-4CB8-8714-5EC9326267F8}"/>
              </a:ext>
            </a:extLst>
          </p:cNvPr>
          <p:cNvSpPr>
            <a:spLocks noGrp="1"/>
          </p:cNvSpPr>
          <p:nvPr/>
        </p:nvSpPr>
        <p:spPr>
          <a:xfrm>
            <a:off x="4171950" y="4152900"/>
            <a:ext cx="3333750" cy="457200"/>
          </a:xfrm>
          <a:prstGeom prst="roundRect">
            <a:avLst>
              <a:gd name="adj" fmla="val 16667"/>
            </a:avLst>
          </a:prstGeom>
          <a:solidFill>
            <a:srgbClr val="171A20"/>
          </a:solidFill>
          <a:ln w="9525">
            <a:solidFill>
              <a:srgbClr val="2A2F36"/>
            </a:solidFill>
            <a:prstDash val="solid"/>
          </a:ln>
        </p:spPr>
      </p:sp>
      <p:sp>
        <p:nvSpPr>
          <p:cNvPr id="15" name="Rectangle 14">
            <a:extLst>
              <a:ext uri="{FF2B5EF4-FFF2-40B4-BE49-F238E27FC236}">
                <a16:creationId xmlns:a16="http://schemas.microsoft.com/office/drawing/2014/main" id="{81F0FCFC-8E78-4FB3-96BE-B9D4FFFAE92B}"/>
              </a:ext>
            </a:extLst>
          </p:cNvPr>
          <p:cNvSpPr>
            <a:spLocks noGrp="1"/>
          </p:cNvSpPr>
          <p:nvPr/>
        </p:nvSpPr>
        <p:spPr>
          <a:xfrm>
            <a:off x="4362450" y="4248150"/>
            <a:ext cx="2952750" cy="276225"/>
          </a:xfrm>
          <a:prstGeom prst="rect">
            <a:avLst/>
          </a:prstGeom>
          <a:noFill/>
          <a:ln w="0">
            <a:noFill/>
          </a:ln>
        </p:spPr>
        <p:txBody>
          <a:bodyPr wrap="square" lIns="0" tIns="0" rIns="0" bIns="0" anchor="ctr">
            <a:noAutofit/>
          </a:bodyPr>
          <a:lstStyle/>
          <a:p>
            <a:pPr algn="l">
              <a:lnSpc>
                <a:spcPct val="100000"/>
              </a:lnSpc>
              <a:buNone/>
              <a:defRPr sz="1425" b="0">
                <a:solidFill>
                  <a:srgbClr val="F2F5F9"/>
                </a:solidFill>
                <a:latin typeface="Segoe UI"/>
                <a:ea typeface="Segoe UI"/>
                <a:cs typeface="Segoe UI"/>
              </a:defRPr>
            </a:pPr>
            <a:r>
              <a:rPr sz="1425" b="0">
                <a:solidFill>
                  <a:srgbClr val="F2F5F9"/>
                </a:solidFill>
                <a:latin typeface="Segoe UI"/>
                <a:ea typeface="Segoe UI"/>
                <a:cs typeface="Segoe UI"/>
              </a:rPr>
              <a:t>Case clock and approvals</a:t>
            </a:r>
          </a:p>
        </p:txBody>
      </p:sp>
      <p:sp>
        <p:nvSpPr>
          <p:cNvPr id="16" name="Straight Connector 15">
            <a:extLst>
              <a:ext uri="{FF2B5EF4-FFF2-40B4-BE49-F238E27FC236}">
                <a16:creationId xmlns:a16="http://schemas.microsoft.com/office/drawing/2014/main" id="{38B22076-4270-484F-B414-B26F039BE465}"/>
              </a:ext>
            </a:extLst>
          </p:cNvPr>
          <p:cNvSpPr>
            <a:spLocks noGrp="1"/>
          </p:cNvSpPr>
          <p:nvPr/>
        </p:nvSpPr>
        <p:spPr>
          <a:xfrm>
            <a:off x="7962900" y="1790700"/>
            <a:ext cx="0" cy="3000375"/>
          </a:xfrm>
          <a:prstGeom prst="line">
            <a:avLst/>
          </a:prstGeom>
          <a:noFill/>
          <a:ln w="19050">
            <a:solidFill>
              <a:srgbClr val="2A2F36"/>
            </a:solidFill>
            <a:prstDash val="solid"/>
          </a:ln>
        </p:spPr>
      </p:sp>
      <p:sp>
        <p:nvSpPr>
          <p:cNvPr id="17" name="Rectangle 16">
            <a:extLst>
              <a:ext uri="{FF2B5EF4-FFF2-40B4-BE49-F238E27FC236}">
                <a16:creationId xmlns:a16="http://schemas.microsoft.com/office/drawing/2014/main" id="{A196019C-3647-4382-A7CB-EA2986342B16}"/>
              </a:ext>
            </a:extLst>
          </p:cNvPr>
          <p:cNvSpPr>
            <a:spLocks noGrp="1"/>
          </p:cNvSpPr>
          <p:nvPr/>
        </p:nvSpPr>
        <p:spPr>
          <a:xfrm>
            <a:off x="8420100" y="1790700"/>
            <a:ext cx="3048000" cy="266700"/>
          </a:xfrm>
          <a:prstGeom prst="rect">
            <a:avLst/>
          </a:prstGeom>
          <a:noFill/>
          <a:ln w="0">
            <a:noFill/>
          </a:ln>
        </p:spPr>
        <p:txBody>
          <a:bodyPr wrap="square" lIns="0" tIns="0" rIns="0" bIns="0" anchor="t">
            <a:noAutofit/>
          </a:bodyPr>
          <a:lstStyle/>
          <a:p>
            <a:pPr algn="l">
              <a:lnSpc>
                <a:spcPct val="100000"/>
              </a:lnSpc>
              <a:buNone/>
              <a:defRPr sz="1200" b="1">
                <a:solidFill>
                  <a:srgbClr val="4ED8A0"/>
                </a:solidFill>
                <a:latin typeface="Cascadia Mono"/>
                <a:ea typeface="Cascadia Mono"/>
                <a:cs typeface="Cascadia Mono"/>
              </a:defRPr>
            </a:pPr>
            <a:r>
              <a:rPr sz="1200" b="1">
                <a:solidFill>
                  <a:srgbClr val="4ED8A0"/>
                </a:solidFill>
                <a:latin typeface="Cascadia Mono"/>
                <a:ea typeface="Cascadia Mono"/>
                <a:cs typeface="Cascadia Mono"/>
              </a:rPr>
              <a:t>CUSTOMER-READY OUTPUT</a:t>
            </a:r>
          </a:p>
        </p:txBody>
      </p:sp>
      <p:sp>
        <p:nvSpPr>
          <p:cNvPr id="18" name="Rectangle 17">
            <a:extLst>
              <a:ext uri="{FF2B5EF4-FFF2-40B4-BE49-F238E27FC236}">
                <a16:creationId xmlns:a16="http://schemas.microsoft.com/office/drawing/2014/main" id="{393AAACE-9404-4035-9ABC-67A80C418EE7}"/>
              </a:ext>
            </a:extLst>
          </p:cNvPr>
          <p:cNvSpPr>
            <a:spLocks noGrp="1"/>
          </p:cNvSpPr>
          <p:nvPr/>
        </p:nvSpPr>
        <p:spPr>
          <a:xfrm>
            <a:off x="8420100" y="2286000"/>
            <a:ext cx="3048000" cy="2000250"/>
          </a:xfrm>
          <a:prstGeom prst="rect">
            <a:avLst/>
          </a:prstGeom>
          <a:noFill/>
          <a:ln w="0">
            <a:noFill/>
          </a:ln>
        </p:spPr>
        <p:txBody>
          <a:bodyPr wrap="square" lIns="0" tIns="0" rIns="0" bIns="0" anchor="t">
            <a:noAutofit/>
          </a:bodyPr>
          <a:lstStyle/>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24-hour alert</a:t>
            </a:r>
          </a:p>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Annex VII file</a:t>
            </a:r>
          </a:p>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Versioned reports</a:t>
            </a:r>
          </a:p>
          <a:p>
            <a:pPr algn="l">
              <a:lnSpc>
                <a:spcPct val="128000"/>
              </a:lnSpc>
              <a:buNone/>
              <a:defRPr sz="2175" b="1">
                <a:solidFill>
                  <a:srgbClr val="F2F5F9"/>
                </a:solidFill>
                <a:latin typeface="Segoe UI"/>
                <a:ea typeface="Segoe UI"/>
                <a:cs typeface="Segoe UI"/>
              </a:defRPr>
            </a:pPr>
            <a:r>
              <a:rPr sz="2175" b="1">
                <a:solidFill>
                  <a:srgbClr val="F2F5F9"/>
                </a:solidFill>
                <a:latin typeface="Segoe UI"/>
                <a:ea typeface="Segoe UI"/>
                <a:cs typeface="Segoe UI"/>
              </a:rPr>
              <a:t>Signed evidence bundle</a:t>
            </a:r>
          </a:p>
        </p:txBody>
      </p:sp>
      <p:sp>
        <p:nvSpPr>
          <p:cNvPr id="19" name="Rectangle: Rounded Corners 18">
            <a:extLst>
              <a:ext uri="{FF2B5EF4-FFF2-40B4-BE49-F238E27FC236}">
                <a16:creationId xmlns:a16="http://schemas.microsoft.com/office/drawing/2014/main" id="{44DD57F1-F2A5-49B6-B51D-2485E39E313D}"/>
              </a:ext>
            </a:extLst>
          </p:cNvPr>
          <p:cNvSpPr>
            <a:spLocks noGrp="1"/>
          </p:cNvSpPr>
          <p:nvPr/>
        </p:nvSpPr>
        <p:spPr>
          <a:xfrm>
            <a:off x="685800" y="5067300"/>
            <a:ext cx="10782300" cy="800100"/>
          </a:xfrm>
          <a:prstGeom prst="roundRect">
            <a:avLst>
              <a:gd name="adj" fmla="val 9524"/>
            </a:avLst>
          </a:prstGeom>
          <a:solidFill>
            <a:srgbClr val="4ED8A0"/>
          </a:solidFill>
          <a:ln w="0">
            <a:noFill/>
          </a:ln>
        </p:spPr>
      </p:sp>
      <p:sp>
        <p:nvSpPr>
          <p:cNvPr id="20" name="Rectangle 19">
            <a:extLst>
              <a:ext uri="{FF2B5EF4-FFF2-40B4-BE49-F238E27FC236}">
                <a16:creationId xmlns:a16="http://schemas.microsoft.com/office/drawing/2014/main" id="{4AB580F3-98FE-4DE5-8509-3EC592132384}"/>
              </a:ext>
            </a:extLst>
          </p:cNvPr>
          <p:cNvSpPr>
            <a:spLocks noGrp="1"/>
          </p:cNvSpPr>
          <p:nvPr/>
        </p:nvSpPr>
        <p:spPr>
          <a:xfrm>
            <a:off x="1028700" y="5238750"/>
            <a:ext cx="10096500" cy="457200"/>
          </a:xfrm>
          <a:prstGeom prst="rect">
            <a:avLst/>
          </a:prstGeom>
          <a:noFill/>
          <a:ln w="0">
            <a:noFill/>
          </a:ln>
        </p:spPr>
        <p:txBody>
          <a:bodyPr wrap="square" lIns="0" tIns="0" rIns="0" bIns="0" anchor="ctr">
            <a:noAutofit/>
          </a:bodyPr>
          <a:lstStyle/>
          <a:p>
            <a:pPr algn="ctr">
              <a:lnSpc>
                <a:spcPct val="100000"/>
              </a:lnSpc>
              <a:buNone/>
              <a:defRPr sz="1800" b="1">
                <a:solidFill>
                  <a:srgbClr val="111713"/>
                </a:solidFill>
                <a:latin typeface="Segoe UI"/>
                <a:ea typeface="Segoe UI"/>
                <a:cs typeface="Segoe UI"/>
              </a:defRPr>
            </a:pPr>
            <a:r>
              <a:rPr sz="1800" b="1">
                <a:solidFill>
                  <a:srgbClr val="111713"/>
                </a:solidFill>
                <a:latin typeface="Segoe UI"/>
                <a:ea typeface="Segoe UI"/>
                <a:cs typeface="Segoe UI"/>
              </a:rPr>
              <a:t>A small product team can move quickly because repetitive evidence, document, and deadline work is automated.</a:t>
            </a:r>
          </a:p>
        </p:txBody>
      </p:sp>
      <p:sp>
        <p:nvSpPr>
          <p:cNvPr id="21" name="Straight Connector 20">
            <a:extLst>
              <a:ext uri="{FF2B5EF4-FFF2-40B4-BE49-F238E27FC236}">
                <a16:creationId xmlns:a16="http://schemas.microsoft.com/office/drawing/2014/main" id="{F5DE1E27-856D-4DEF-83EB-17DCA84BF605}"/>
              </a:ext>
            </a:extLst>
          </p:cNvPr>
          <p:cNvSpPr>
            <a:spLocks noGrp="1"/>
          </p:cNvSpPr>
          <p:nvPr/>
        </p:nvSpPr>
        <p:spPr>
          <a:xfrm>
            <a:off x="533400" y="6496050"/>
            <a:ext cx="11125200" cy="0"/>
          </a:xfrm>
          <a:prstGeom prst="line">
            <a:avLst/>
          </a:prstGeom>
          <a:noFill/>
          <a:ln w="9525">
            <a:solidFill>
              <a:srgbClr val="2A2F36"/>
            </a:solidFill>
            <a:prstDash val="solid"/>
          </a:ln>
        </p:spPr>
      </p:sp>
      <p:sp>
        <p:nvSpPr>
          <p:cNvPr id="22" name="Rectangle 21">
            <a:extLst>
              <a:ext uri="{FF2B5EF4-FFF2-40B4-BE49-F238E27FC236}">
                <a16:creationId xmlns:a16="http://schemas.microsoft.com/office/drawing/2014/main" id="{D221D106-F8AD-4B07-B179-F04BEA6B5732}"/>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Technical evidence translated into regulatory workflow</a:t>
            </a:r>
          </a:p>
        </p:txBody>
      </p:sp>
      <p:sp>
        <p:nvSpPr>
          <p:cNvPr id="23" name="Rectangle 22">
            <a:extLst>
              <a:ext uri="{FF2B5EF4-FFF2-40B4-BE49-F238E27FC236}">
                <a16:creationId xmlns:a16="http://schemas.microsoft.com/office/drawing/2014/main" id="{20544D9B-2131-4E94-8E76-E4AD94C1EE18}"/>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06</a:t>
            </a:r>
          </a:p>
        </p:txBody>
      </p:sp>
    </p:spTree>
    <p:extLst>
      <p:ext uri="{BB962C8B-B14F-4D97-AF65-F5344CB8AC3E}">
        <p14:creationId xmlns:p14="http://schemas.microsoft.com/office/powerpoint/2010/main" val="159990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3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8"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EB36D3A-2371-489B-8132-36F19A9B0CAA}"/>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ED434445-8A07-473E-A10B-CFD7250BB8D4}"/>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The completed PoC passes its acceptance gates</a:t>
            </a:r>
          </a:p>
        </p:txBody>
      </p:sp>
      <p:sp>
        <p:nvSpPr>
          <p:cNvPr id="3" name="Rectangle 2">
            <a:extLst>
              <a:ext uri="{FF2B5EF4-FFF2-40B4-BE49-F238E27FC236}">
                <a16:creationId xmlns:a16="http://schemas.microsoft.com/office/drawing/2014/main" id="{77446B8B-97DB-4DBE-BEEB-EC83A7C3C587}"/>
              </a:ext>
            </a:extLst>
          </p:cNvPr>
          <p:cNvSpPr>
            <a:spLocks noGrp="1"/>
          </p:cNvSpPr>
          <p:nvPr/>
        </p:nvSpPr>
        <p:spPr>
          <a:xfrm>
            <a:off x="704850" y="1657350"/>
            <a:ext cx="2857500" cy="819150"/>
          </a:xfrm>
          <a:prstGeom prst="rect">
            <a:avLst/>
          </a:prstGeom>
          <a:noFill/>
          <a:ln w="0">
            <a:noFill/>
          </a:ln>
        </p:spPr>
        <p:txBody>
          <a:bodyPr wrap="square" lIns="0" tIns="0" rIns="0" bIns="0" anchor="t">
            <a:noAutofit/>
          </a:bodyPr>
          <a:lstStyle/>
          <a:p>
            <a:pPr algn="l">
              <a:lnSpc>
                <a:spcPct val="100000"/>
              </a:lnSpc>
              <a:buNone/>
              <a:defRPr sz="5250" b="1">
                <a:solidFill>
                  <a:srgbClr val="F2F5F9"/>
                </a:solidFill>
                <a:latin typeface="Segoe UI"/>
                <a:ea typeface="Segoe UI"/>
                <a:cs typeface="Segoe UI"/>
              </a:defRPr>
            </a:pPr>
            <a:r>
              <a:rPr sz="5250" b="1">
                <a:solidFill>
                  <a:srgbClr val="F2F5F9"/>
                </a:solidFill>
                <a:latin typeface="Segoe UI"/>
                <a:ea typeface="Segoe UI"/>
                <a:cs typeface="Segoe UI"/>
              </a:rPr>
              <a:t>76/76</a:t>
            </a:r>
          </a:p>
        </p:txBody>
      </p:sp>
      <p:sp>
        <p:nvSpPr>
          <p:cNvPr id="4" name="Rectangle 3">
            <a:extLst>
              <a:ext uri="{FF2B5EF4-FFF2-40B4-BE49-F238E27FC236}">
                <a16:creationId xmlns:a16="http://schemas.microsoft.com/office/drawing/2014/main" id="{D5B1F066-0A5A-44B9-B401-0751D783D7AB}"/>
              </a:ext>
            </a:extLst>
          </p:cNvPr>
          <p:cNvSpPr>
            <a:spLocks noGrp="1"/>
          </p:cNvSpPr>
          <p:nvPr/>
        </p:nvSpPr>
        <p:spPr>
          <a:xfrm>
            <a:off x="742950" y="2514600"/>
            <a:ext cx="2952750" cy="361950"/>
          </a:xfrm>
          <a:prstGeom prst="rect">
            <a:avLst/>
          </a:prstGeom>
          <a:noFill/>
          <a:ln w="0">
            <a:noFill/>
          </a:ln>
        </p:spPr>
        <p:txBody>
          <a:bodyPr wrap="square" lIns="0" tIns="0" rIns="0" bIns="0" anchor="t">
            <a:noAutofit/>
          </a:bodyPr>
          <a:lstStyle/>
          <a:p>
            <a:pPr algn="l">
              <a:lnSpc>
                <a:spcPct val="100000"/>
              </a:lnSpc>
              <a:buNone/>
              <a:defRPr sz="1575" b="0">
                <a:solidFill>
                  <a:srgbClr val="A9B3C1"/>
                </a:solidFill>
                <a:latin typeface="Segoe UI"/>
                <a:ea typeface="Segoe UI"/>
                <a:cs typeface="Segoe UI"/>
              </a:defRPr>
            </a:pPr>
            <a:r>
              <a:rPr sz="1575" b="0">
                <a:solidFill>
                  <a:srgbClr val="A9B3C1"/>
                </a:solidFill>
                <a:latin typeface="Segoe UI"/>
                <a:ea typeface="Segoe UI"/>
                <a:cs typeface="Segoe UI"/>
              </a:rPr>
              <a:t>frozen expected checks</a:t>
            </a:r>
          </a:p>
        </p:txBody>
      </p:sp>
      <p:sp>
        <p:nvSpPr>
          <p:cNvPr id="5" name="Rectangle 4">
            <a:extLst>
              <a:ext uri="{FF2B5EF4-FFF2-40B4-BE49-F238E27FC236}">
                <a16:creationId xmlns:a16="http://schemas.microsoft.com/office/drawing/2014/main" id="{F5DE7EE4-66AE-434E-BAA8-4516187F4E28}"/>
              </a:ext>
            </a:extLst>
          </p:cNvPr>
          <p:cNvSpPr>
            <a:spLocks noGrp="1"/>
          </p:cNvSpPr>
          <p:nvPr/>
        </p:nvSpPr>
        <p:spPr>
          <a:xfrm>
            <a:off x="4095750" y="1657350"/>
            <a:ext cx="2857500" cy="819150"/>
          </a:xfrm>
          <a:prstGeom prst="rect">
            <a:avLst/>
          </a:prstGeom>
          <a:noFill/>
          <a:ln w="0">
            <a:noFill/>
          </a:ln>
        </p:spPr>
        <p:txBody>
          <a:bodyPr wrap="square" lIns="0" tIns="0" rIns="0" bIns="0" anchor="t">
            <a:noAutofit/>
          </a:bodyPr>
          <a:lstStyle/>
          <a:p>
            <a:pPr algn="l">
              <a:lnSpc>
                <a:spcPct val="100000"/>
              </a:lnSpc>
              <a:buNone/>
              <a:defRPr sz="5250" b="1">
                <a:solidFill>
                  <a:srgbClr val="4ED8A0"/>
                </a:solidFill>
                <a:latin typeface="Segoe UI"/>
                <a:ea typeface="Segoe UI"/>
                <a:cs typeface="Segoe UI"/>
              </a:defRPr>
            </a:pPr>
            <a:r>
              <a:rPr sz="5250" b="1">
                <a:solidFill>
                  <a:srgbClr val="4ED8A0"/>
                </a:solidFill>
                <a:latin typeface="Segoe UI"/>
                <a:ea typeface="Segoe UI"/>
                <a:cs typeface="Segoe UI"/>
              </a:rPr>
              <a:t>34/34</a:t>
            </a:r>
          </a:p>
        </p:txBody>
      </p:sp>
      <p:sp>
        <p:nvSpPr>
          <p:cNvPr id="6" name="Rectangle 5">
            <a:extLst>
              <a:ext uri="{FF2B5EF4-FFF2-40B4-BE49-F238E27FC236}">
                <a16:creationId xmlns:a16="http://schemas.microsoft.com/office/drawing/2014/main" id="{11FB3E05-AF88-4849-9708-2D1C5B2B1F6A}"/>
              </a:ext>
            </a:extLst>
          </p:cNvPr>
          <p:cNvSpPr>
            <a:spLocks noGrp="1"/>
          </p:cNvSpPr>
          <p:nvPr/>
        </p:nvSpPr>
        <p:spPr>
          <a:xfrm>
            <a:off x="4133850" y="2514600"/>
            <a:ext cx="2857500" cy="361950"/>
          </a:xfrm>
          <a:prstGeom prst="rect">
            <a:avLst/>
          </a:prstGeom>
          <a:noFill/>
          <a:ln w="0">
            <a:noFill/>
          </a:ln>
        </p:spPr>
        <p:txBody>
          <a:bodyPr wrap="square" lIns="0" tIns="0" rIns="0" bIns="0" anchor="t">
            <a:noAutofit/>
          </a:bodyPr>
          <a:lstStyle/>
          <a:p>
            <a:pPr algn="l">
              <a:lnSpc>
                <a:spcPct val="100000"/>
              </a:lnSpc>
              <a:buNone/>
              <a:defRPr sz="1575" b="0">
                <a:solidFill>
                  <a:srgbClr val="A9B3C1"/>
                </a:solidFill>
                <a:latin typeface="Segoe UI"/>
                <a:ea typeface="Segoe UI"/>
                <a:cs typeface="Segoe UI"/>
              </a:defRPr>
            </a:pPr>
            <a:r>
              <a:rPr sz="1575" b="0">
                <a:solidFill>
                  <a:srgbClr val="A9B3C1"/>
                </a:solidFill>
                <a:latin typeface="Segoe UI"/>
                <a:ea typeface="Segoe UI"/>
                <a:cs typeface="Segoe UI"/>
              </a:rPr>
              <a:t>negative controls</a:t>
            </a:r>
          </a:p>
        </p:txBody>
      </p:sp>
      <p:sp>
        <p:nvSpPr>
          <p:cNvPr id="7" name="Rectangle 6">
            <a:extLst>
              <a:ext uri="{FF2B5EF4-FFF2-40B4-BE49-F238E27FC236}">
                <a16:creationId xmlns:a16="http://schemas.microsoft.com/office/drawing/2014/main" id="{C09EA497-82A1-4FB8-8CA4-9B83E271480F}"/>
              </a:ext>
            </a:extLst>
          </p:cNvPr>
          <p:cNvSpPr>
            <a:spLocks noGrp="1"/>
          </p:cNvSpPr>
          <p:nvPr/>
        </p:nvSpPr>
        <p:spPr>
          <a:xfrm>
            <a:off x="7486650" y="1657350"/>
            <a:ext cx="3619500" cy="819150"/>
          </a:xfrm>
          <a:prstGeom prst="rect">
            <a:avLst/>
          </a:prstGeom>
          <a:noFill/>
          <a:ln w="0">
            <a:noFill/>
          </a:ln>
        </p:spPr>
        <p:txBody>
          <a:bodyPr wrap="square" lIns="0" tIns="0" rIns="0" bIns="0" anchor="t">
            <a:noAutofit/>
          </a:bodyPr>
          <a:lstStyle/>
          <a:p>
            <a:pPr algn="l">
              <a:lnSpc>
                <a:spcPct val="100000"/>
              </a:lnSpc>
              <a:buNone/>
              <a:defRPr sz="4350" b="1">
                <a:solidFill>
                  <a:srgbClr val="F2F5F9"/>
                </a:solidFill>
                <a:latin typeface="Segoe UI"/>
                <a:ea typeface="Segoe UI"/>
                <a:cs typeface="Segoe UI"/>
              </a:defRPr>
            </a:pPr>
            <a:r>
              <a:rPr sz="4350" b="1">
                <a:solidFill>
                  <a:srgbClr val="F2F5F9"/>
                </a:solidFill>
                <a:latin typeface="Segoe UI"/>
                <a:ea typeface="Segoe UI"/>
                <a:cs typeface="Segoe UI"/>
              </a:rPr>
              <a:t>PDF/A-2b</a:t>
            </a:r>
          </a:p>
        </p:txBody>
      </p:sp>
      <p:sp>
        <p:nvSpPr>
          <p:cNvPr id="8" name="Rectangle 7">
            <a:extLst>
              <a:ext uri="{FF2B5EF4-FFF2-40B4-BE49-F238E27FC236}">
                <a16:creationId xmlns:a16="http://schemas.microsoft.com/office/drawing/2014/main" id="{9E6DE14D-3659-48BD-B06F-C4C5969A7B6A}"/>
              </a:ext>
            </a:extLst>
          </p:cNvPr>
          <p:cNvSpPr>
            <a:spLocks noGrp="1"/>
          </p:cNvSpPr>
          <p:nvPr/>
        </p:nvSpPr>
        <p:spPr>
          <a:xfrm>
            <a:off x="7524750" y="2514600"/>
            <a:ext cx="3619500" cy="361950"/>
          </a:xfrm>
          <a:prstGeom prst="rect">
            <a:avLst/>
          </a:prstGeom>
          <a:noFill/>
          <a:ln w="0">
            <a:noFill/>
          </a:ln>
        </p:spPr>
        <p:txBody>
          <a:bodyPr wrap="square" lIns="0" tIns="0" rIns="0" bIns="0" anchor="t">
            <a:noAutofit/>
          </a:bodyPr>
          <a:lstStyle/>
          <a:p>
            <a:pPr algn="l">
              <a:lnSpc>
                <a:spcPct val="100000"/>
              </a:lnSpc>
              <a:buNone/>
              <a:defRPr sz="1575" b="0">
                <a:solidFill>
                  <a:srgbClr val="A9B3C1"/>
                </a:solidFill>
                <a:latin typeface="Segoe UI"/>
                <a:ea typeface="Segoe UI"/>
                <a:cs typeface="Segoe UI"/>
              </a:defRPr>
            </a:pPr>
            <a:r>
              <a:rPr sz="1575" b="0">
                <a:solidFill>
                  <a:srgbClr val="A9B3C1"/>
                </a:solidFill>
                <a:latin typeface="Segoe UI"/>
                <a:ea typeface="Segoe UI"/>
                <a:cs typeface="Segoe UI"/>
              </a:rPr>
              <a:t>every acceptance PDF validates</a:t>
            </a:r>
          </a:p>
        </p:txBody>
      </p:sp>
      <p:sp>
        <p:nvSpPr>
          <p:cNvPr id="9" name="Straight Connector 8">
            <a:extLst>
              <a:ext uri="{FF2B5EF4-FFF2-40B4-BE49-F238E27FC236}">
                <a16:creationId xmlns:a16="http://schemas.microsoft.com/office/drawing/2014/main" id="{0C0A5A69-0340-42C8-A40A-8EFB81940076}"/>
              </a:ext>
            </a:extLst>
          </p:cNvPr>
          <p:cNvSpPr>
            <a:spLocks noGrp="1"/>
          </p:cNvSpPr>
          <p:nvPr/>
        </p:nvSpPr>
        <p:spPr>
          <a:xfrm>
            <a:off x="704850" y="3200400"/>
            <a:ext cx="10401300" cy="0"/>
          </a:xfrm>
          <a:prstGeom prst="line">
            <a:avLst/>
          </a:prstGeom>
          <a:noFill/>
          <a:ln w="9525">
            <a:solidFill>
              <a:srgbClr val="2A2F36"/>
            </a:solidFill>
            <a:prstDash val="solid"/>
          </a:ln>
        </p:spPr>
      </p:sp>
      <p:sp>
        <p:nvSpPr>
          <p:cNvPr id="10" name="Rectangle 9">
            <a:extLst>
              <a:ext uri="{FF2B5EF4-FFF2-40B4-BE49-F238E27FC236}">
                <a16:creationId xmlns:a16="http://schemas.microsoft.com/office/drawing/2014/main" id="{4EC3E0B6-55E3-44D5-A105-E187BA097BA1}"/>
              </a:ext>
            </a:extLst>
          </p:cNvPr>
          <p:cNvSpPr>
            <a:spLocks noGrp="1"/>
          </p:cNvSpPr>
          <p:nvPr/>
        </p:nvSpPr>
        <p:spPr>
          <a:xfrm>
            <a:off x="723900" y="3562350"/>
            <a:ext cx="3429000" cy="40005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Public OpenWrt analysis reproduces</a:t>
            </a:r>
          </a:p>
        </p:txBody>
      </p:sp>
      <p:sp>
        <p:nvSpPr>
          <p:cNvPr id="11" name="Rectangle 10">
            <a:extLst>
              <a:ext uri="{FF2B5EF4-FFF2-40B4-BE49-F238E27FC236}">
                <a16:creationId xmlns:a16="http://schemas.microsoft.com/office/drawing/2014/main" id="{D2A0B818-4C3C-4505-961B-1DED8F9B4BC0}"/>
              </a:ext>
            </a:extLst>
          </p:cNvPr>
          <p:cNvSpPr>
            <a:spLocks noGrp="1"/>
          </p:cNvSpPr>
          <p:nvPr/>
        </p:nvSpPr>
        <p:spPr>
          <a:xfrm>
            <a:off x="4324350" y="3562350"/>
            <a:ext cx="3429000" cy="40005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Blind unseen-image acceptance passes</a:t>
            </a:r>
          </a:p>
        </p:txBody>
      </p:sp>
      <p:sp>
        <p:nvSpPr>
          <p:cNvPr id="12" name="Rectangle 11">
            <a:extLst>
              <a:ext uri="{FF2B5EF4-FFF2-40B4-BE49-F238E27FC236}">
                <a16:creationId xmlns:a16="http://schemas.microsoft.com/office/drawing/2014/main" id="{8E8761AC-1E45-41A4-9453-DCB3E980562E}"/>
              </a:ext>
            </a:extLst>
          </p:cNvPr>
          <p:cNvSpPr>
            <a:spLocks noGrp="1"/>
          </p:cNvSpPr>
          <p:nvPr/>
        </p:nvSpPr>
        <p:spPr>
          <a:xfrm>
            <a:off x="7924800" y="3562350"/>
            <a:ext cx="3429000" cy="40005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Tampered evidence fails verification</a:t>
            </a:r>
          </a:p>
        </p:txBody>
      </p:sp>
      <p:sp>
        <p:nvSpPr>
          <p:cNvPr id="13" name="Rectangle 12">
            <a:extLst>
              <a:ext uri="{FF2B5EF4-FFF2-40B4-BE49-F238E27FC236}">
                <a16:creationId xmlns:a16="http://schemas.microsoft.com/office/drawing/2014/main" id="{53581829-2E28-4D50-9ACA-D8975A638C65}"/>
              </a:ext>
            </a:extLst>
          </p:cNvPr>
          <p:cNvSpPr>
            <a:spLocks noGrp="1"/>
          </p:cNvSpPr>
          <p:nvPr/>
        </p:nvSpPr>
        <p:spPr>
          <a:xfrm>
            <a:off x="723900" y="4171950"/>
            <a:ext cx="10382250" cy="590550"/>
          </a:xfrm>
          <a:prstGeom prst="rect">
            <a:avLst/>
          </a:prstGeom>
          <a:noFill/>
          <a:ln w="0">
            <a:noFill/>
          </a:ln>
        </p:spPr>
        <p:txBody>
          <a:bodyPr wrap="square" lIns="0" tIns="0" rIns="0" bIns="0" anchor="t">
            <a:noAutofit/>
          </a:bodyPr>
          <a:lstStyle/>
          <a:p>
            <a:pPr algn="ctr">
              <a:lnSpc>
                <a:spcPct val="100000"/>
              </a:lnSpc>
              <a:buNone/>
              <a:defRPr sz="1575" b="0">
                <a:solidFill>
                  <a:srgbClr val="A9B3C1"/>
                </a:solidFill>
                <a:latin typeface="Segoe UI"/>
                <a:ea typeface="Segoe UI"/>
                <a:cs typeface="Segoe UI"/>
              </a:defRPr>
            </a:pPr>
            <a:r>
              <a:rPr sz="1575" b="0">
                <a:solidFill>
                  <a:srgbClr val="A9B3C1"/>
                </a:solidFill>
                <a:latin typeface="Segoe UI"/>
                <a:ea typeface="Segoe UI"/>
                <a:cs typeface="Segoe UI"/>
              </a:rPr>
              <a:t>Cases, deadlines, decisions, and approvals survive restart. Both actively exploited-vulnerability and severe-incident workflows complete.</a:t>
            </a:r>
          </a:p>
        </p:txBody>
      </p:sp>
      <p:sp>
        <p:nvSpPr>
          <p:cNvPr id="14" name="Rectangle: Rounded Corners 13">
            <a:extLst>
              <a:ext uri="{FF2B5EF4-FFF2-40B4-BE49-F238E27FC236}">
                <a16:creationId xmlns:a16="http://schemas.microsoft.com/office/drawing/2014/main" id="{E8C2145E-41E4-4F19-A42C-E39A75F2C364}"/>
              </a:ext>
            </a:extLst>
          </p:cNvPr>
          <p:cNvSpPr>
            <a:spLocks noGrp="1"/>
          </p:cNvSpPr>
          <p:nvPr/>
        </p:nvSpPr>
        <p:spPr>
          <a:xfrm>
            <a:off x="704850" y="5048250"/>
            <a:ext cx="10401300" cy="781050"/>
          </a:xfrm>
          <a:prstGeom prst="roundRect">
            <a:avLst>
              <a:gd name="adj" fmla="val 9756"/>
            </a:avLst>
          </a:prstGeom>
          <a:solidFill>
            <a:srgbClr val="171A20"/>
          </a:solidFill>
          <a:ln w="9525">
            <a:solidFill>
              <a:srgbClr val="2A2F36"/>
            </a:solidFill>
            <a:prstDash val="solid"/>
          </a:ln>
        </p:spPr>
      </p:sp>
      <p:sp>
        <p:nvSpPr>
          <p:cNvPr id="15" name="Rectangle 14">
            <a:extLst>
              <a:ext uri="{FF2B5EF4-FFF2-40B4-BE49-F238E27FC236}">
                <a16:creationId xmlns:a16="http://schemas.microsoft.com/office/drawing/2014/main" id="{6D58FEC7-7E48-4C6F-AD43-9612E8C4EF12}"/>
              </a:ext>
            </a:extLst>
          </p:cNvPr>
          <p:cNvSpPr>
            <a:spLocks noGrp="1"/>
          </p:cNvSpPr>
          <p:nvPr/>
        </p:nvSpPr>
        <p:spPr>
          <a:xfrm>
            <a:off x="914400" y="5210175"/>
            <a:ext cx="3333750" cy="209550"/>
          </a:xfrm>
          <a:prstGeom prst="rect">
            <a:avLst/>
          </a:prstGeom>
          <a:noFill/>
          <a:ln w="0">
            <a:noFill/>
          </a:ln>
        </p:spPr>
        <p:txBody>
          <a:bodyPr wrap="square" lIns="0" tIns="0" rIns="0" bIns="0" anchor="t">
            <a:noAutofit/>
          </a:bodyPr>
          <a:lstStyle/>
          <a:p>
            <a:pPr algn="l">
              <a:lnSpc>
                <a:spcPct val="100000"/>
              </a:lnSpc>
              <a:buNone/>
              <a:defRPr sz="1125" b="0">
                <a:solidFill>
                  <a:srgbClr val="727D8C"/>
                </a:solidFill>
                <a:latin typeface="Cascadia Mono"/>
                <a:ea typeface="Cascadia Mono"/>
                <a:cs typeface="Cascadia Mono"/>
              </a:defRPr>
            </a:pPr>
            <a:r>
              <a:rPr sz="1125" b="0">
                <a:solidFill>
                  <a:srgbClr val="727D8C"/>
                </a:solidFill>
                <a:latin typeface="Cascadia Mono"/>
                <a:ea typeface="Cascadia Mono"/>
                <a:cs typeface="Cascadia Mono"/>
              </a:rPr>
              <a:t>Observed local OpenWrt 19.07.1 sample</a:t>
            </a:r>
          </a:p>
        </p:txBody>
      </p:sp>
      <p:sp>
        <p:nvSpPr>
          <p:cNvPr id="16" name="Rectangle 15">
            <a:extLst>
              <a:ext uri="{FF2B5EF4-FFF2-40B4-BE49-F238E27FC236}">
                <a16:creationId xmlns:a16="http://schemas.microsoft.com/office/drawing/2014/main" id="{A01AD9D2-7136-4D43-8BC6-F9FD993E9AC4}"/>
              </a:ext>
            </a:extLst>
          </p:cNvPr>
          <p:cNvSpPr>
            <a:spLocks noGrp="1"/>
          </p:cNvSpPr>
          <p:nvPr/>
        </p:nvSpPr>
        <p:spPr>
          <a:xfrm>
            <a:off x="914400" y="5476875"/>
            <a:ext cx="1428750" cy="266700"/>
          </a:xfrm>
          <a:prstGeom prst="rect">
            <a:avLst/>
          </a:prstGeom>
          <a:noFill/>
          <a:ln w="0">
            <a:noFill/>
          </a:ln>
        </p:spPr>
        <p:txBody>
          <a:bodyPr wrap="square" lIns="0" tIns="0" rIns="0" bIns="0" anchor="t">
            <a:noAutofit/>
          </a:bodyPr>
          <a:lstStyle/>
          <a:p>
            <a:pPr algn="l">
              <a:lnSpc>
                <a:spcPct val="100000"/>
              </a:lnSpc>
              <a:buNone/>
              <a:defRPr sz="1800" b="1">
                <a:solidFill>
                  <a:srgbClr val="4ED8A0"/>
                </a:solidFill>
                <a:latin typeface="Segoe UI"/>
                <a:ea typeface="Segoe UI"/>
                <a:cs typeface="Segoe UI"/>
              </a:defRPr>
            </a:pPr>
            <a:r>
              <a:rPr sz="1800" b="1">
                <a:solidFill>
                  <a:srgbClr val="4ED8A0"/>
                </a:solidFill>
                <a:latin typeface="Segoe UI"/>
                <a:ea typeface="Segoe UI"/>
                <a:cs typeface="Segoe UI"/>
              </a:rPr>
              <a:t>19.9 s</a:t>
            </a:r>
          </a:p>
        </p:txBody>
      </p:sp>
      <p:sp>
        <p:nvSpPr>
          <p:cNvPr id="17" name="Rectangle 16">
            <a:extLst>
              <a:ext uri="{FF2B5EF4-FFF2-40B4-BE49-F238E27FC236}">
                <a16:creationId xmlns:a16="http://schemas.microsoft.com/office/drawing/2014/main" id="{4F317766-1904-4F49-B421-0799AEB9E815}"/>
              </a:ext>
            </a:extLst>
          </p:cNvPr>
          <p:cNvSpPr>
            <a:spLocks noGrp="1"/>
          </p:cNvSpPr>
          <p:nvPr/>
        </p:nvSpPr>
        <p:spPr>
          <a:xfrm>
            <a:off x="3124200" y="5476875"/>
            <a:ext cx="2000250" cy="26670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118 components</a:t>
            </a:r>
          </a:p>
        </p:txBody>
      </p:sp>
      <p:sp>
        <p:nvSpPr>
          <p:cNvPr id="18" name="Rectangle 17">
            <a:extLst>
              <a:ext uri="{FF2B5EF4-FFF2-40B4-BE49-F238E27FC236}">
                <a16:creationId xmlns:a16="http://schemas.microsoft.com/office/drawing/2014/main" id="{54CDFE22-032C-46D8-88BB-A51A581D684F}"/>
              </a:ext>
            </a:extLst>
          </p:cNvPr>
          <p:cNvSpPr>
            <a:spLocks noGrp="1"/>
          </p:cNvSpPr>
          <p:nvPr/>
        </p:nvSpPr>
        <p:spPr>
          <a:xfrm>
            <a:off x="5905500" y="5476875"/>
            <a:ext cx="1619250" cy="26670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2 findings</a:t>
            </a:r>
          </a:p>
        </p:txBody>
      </p:sp>
      <p:sp>
        <p:nvSpPr>
          <p:cNvPr id="19" name="Rectangle 18">
            <a:extLst>
              <a:ext uri="{FF2B5EF4-FFF2-40B4-BE49-F238E27FC236}">
                <a16:creationId xmlns:a16="http://schemas.microsoft.com/office/drawing/2014/main" id="{91D45C29-CFC3-4989-BBBF-F7E95A16980C}"/>
              </a:ext>
            </a:extLst>
          </p:cNvPr>
          <p:cNvSpPr>
            <a:spLocks noGrp="1"/>
          </p:cNvSpPr>
          <p:nvPr/>
        </p:nvSpPr>
        <p:spPr>
          <a:xfrm>
            <a:off x="8305800" y="5476875"/>
            <a:ext cx="2286000" cy="26670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952 sealed files</a:t>
            </a:r>
          </a:p>
        </p:txBody>
      </p:sp>
      <p:sp>
        <p:nvSpPr>
          <p:cNvPr id="20" name="Straight Connector 19">
            <a:extLst>
              <a:ext uri="{FF2B5EF4-FFF2-40B4-BE49-F238E27FC236}">
                <a16:creationId xmlns:a16="http://schemas.microsoft.com/office/drawing/2014/main" id="{7EF4CBA0-A47E-44B6-880A-7871C5233CB8}"/>
              </a:ext>
            </a:extLst>
          </p:cNvPr>
          <p:cNvSpPr>
            <a:spLocks noGrp="1"/>
          </p:cNvSpPr>
          <p:nvPr/>
        </p:nvSpPr>
        <p:spPr>
          <a:xfrm>
            <a:off x="533400" y="6496050"/>
            <a:ext cx="11125200" cy="0"/>
          </a:xfrm>
          <a:prstGeom prst="line">
            <a:avLst/>
          </a:prstGeom>
          <a:noFill/>
          <a:ln w="9525">
            <a:solidFill>
              <a:srgbClr val="2A2F36"/>
            </a:solidFill>
            <a:prstDash val="solid"/>
          </a:ln>
        </p:spPr>
      </p:sp>
      <p:sp>
        <p:nvSpPr>
          <p:cNvPr id="21" name="Rectangle 20">
            <a:extLst>
              <a:ext uri="{FF2B5EF4-FFF2-40B4-BE49-F238E27FC236}">
                <a16:creationId xmlns:a16="http://schemas.microsoft.com/office/drawing/2014/main" id="{3EA295D0-6498-4FFE-A2B9-AF6CEE55C3F0}"/>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Acceptance evidence and observed local sample</a:t>
            </a:r>
          </a:p>
        </p:txBody>
      </p:sp>
      <p:sp>
        <p:nvSpPr>
          <p:cNvPr id="22" name="Rectangle 21">
            <a:extLst>
              <a:ext uri="{FF2B5EF4-FFF2-40B4-BE49-F238E27FC236}">
                <a16:creationId xmlns:a16="http://schemas.microsoft.com/office/drawing/2014/main" id="{6984A4E1-7468-4BD9-B5D0-7DC2B5B21F6C}"/>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07</a:t>
            </a:r>
          </a:p>
        </p:txBody>
      </p:sp>
    </p:spTree>
    <p:extLst>
      <p:ext uri="{BB962C8B-B14F-4D97-AF65-F5344CB8AC3E}">
        <p14:creationId xmlns:p14="http://schemas.microsoft.com/office/powerpoint/2010/main" val="186892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0F8F76F-29CB-457C-81EE-02C06E350D66}"/>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0729702F-5AE8-4BC0-9F55-1DEAE5C2B6C1}"/>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F2F5F9"/>
                </a:solidFill>
                <a:latin typeface="Segoe UI"/>
                <a:ea typeface="Segoe UI"/>
                <a:cs typeface="Segoe UI"/>
              </a:defRPr>
            </a:pPr>
            <a:r>
              <a:rPr sz="3225" b="1">
                <a:solidFill>
                  <a:srgbClr val="F2F5F9"/>
                </a:solidFill>
                <a:latin typeface="Segoe UI"/>
                <a:ea typeface="Segoe UI"/>
                <a:cs typeface="Segoe UI"/>
              </a:rPr>
              <a:t>One product line proves the operating model</a:t>
            </a:r>
          </a:p>
        </p:txBody>
      </p:sp>
      <p:sp>
        <p:nvSpPr>
          <p:cNvPr id="3" name="Rectangle 2">
            <a:extLst>
              <a:ext uri="{FF2B5EF4-FFF2-40B4-BE49-F238E27FC236}">
                <a16:creationId xmlns:a16="http://schemas.microsoft.com/office/drawing/2014/main" id="{44A8688B-926C-4CB7-9E6C-BB80D8E95F26}"/>
              </a:ext>
            </a:extLst>
          </p:cNvPr>
          <p:cNvSpPr>
            <a:spLocks noGrp="1"/>
          </p:cNvSpPr>
          <p:nvPr/>
        </p:nvSpPr>
        <p:spPr>
          <a:xfrm>
            <a:off x="762000" y="1076325"/>
            <a:ext cx="10382250" cy="419100"/>
          </a:xfrm>
          <a:prstGeom prst="rect">
            <a:avLst/>
          </a:prstGeom>
          <a:noFill/>
          <a:ln w="0">
            <a:noFill/>
          </a:ln>
        </p:spPr>
        <p:txBody>
          <a:bodyPr wrap="square" lIns="0" tIns="0" rIns="0" bIns="0" anchor="t">
            <a:noAutofit/>
          </a:bodyPr>
          <a:lstStyle/>
          <a:p>
            <a:pPr algn="l">
              <a:lnSpc>
                <a:spcPct val="100000"/>
              </a:lnSpc>
              <a:buNone/>
              <a:defRPr sz="1500" b="0">
                <a:solidFill>
                  <a:srgbClr val="A9B3C1"/>
                </a:solidFill>
                <a:latin typeface="Segoe UI"/>
                <a:ea typeface="Segoe UI"/>
                <a:cs typeface="Segoe UI"/>
              </a:defRPr>
            </a:pPr>
            <a:r>
              <a:rPr sz="1500" b="0">
                <a:solidFill>
                  <a:srgbClr val="A9B3C1"/>
                </a:solidFill>
                <a:latin typeface="Segoe UI"/>
                <a:ea typeface="Segoe UI"/>
                <a:cs typeface="Segoe UI"/>
              </a:rPr>
              <a:t>A structured pilot is credible enough for evaluation and narrow enough for approval.</a:t>
            </a:r>
          </a:p>
        </p:txBody>
      </p:sp>
      <p:sp>
        <p:nvSpPr>
          <p:cNvPr id="4" name="Rectangle 3">
            <a:extLst>
              <a:ext uri="{FF2B5EF4-FFF2-40B4-BE49-F238E27FC236}">
                <a16:creationId xmlns:a16="http://schemas.microsoft.com/office/drawing/2014/main" id="{9BDF4302-E831-485D-BEC1-842923A012DC}"/>
              </a:ext>
            </a:extLst>
          </p:cNvPr>
          <p:cNvSpPr>
            <a:spLocks noGrp="1"/>
          </p:cNvSpPr>
          <p:nvPr/>
        </p:nvSpPr>
        <p:spPr>
          <a:xfrm>
            <a:off x="685800" y="1866900"/>
            <a:ext cx="2381250" cy="304800"/>
          </a:xfrm>
          <a:prstGeom prst="rect">
            <a:avLst/>
          </a:prstGeom>
          <a:noFill/>
          <a:ln w="0">
            <a:noFill/>
          </a:ln>
        </p:spPr>
        <p:txBody>
          <a:bodyPr wrap="square" lIns="0" tIns="0" rIns="0" bIns="0" anchor="t">
            <a:noAutofit/>
          </a:bodyPr>
          <a:lstStyle/>
          <a:p>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01  SCOPE</a:t>
            </a:r>
          </a:p>
        </p:txBody>
      </p:sp>
      <p:sp>
        <p:nvSpPr>
          <p:cNvPr id="5" name="Straight Connector 4">
            <a:extLst>
              <a:ext uri="{FF2B5EF4-FFF2-40B4-BE49-F238E27FC236}">
                <a16:creationId xmlns:a16="http://schemas.microsoft.com/office/drawing/2014/main" id="{4E22D472-CB84-48A0-A08C-75819A1035E6}"/>
              </a:ext>
            </a:extLst>
          </p:cNvPr>
          <p:cNvSpPr>
            <a:spLocks noGrp="1"/>
          </p:cNvSpPr>
          <p:nvPr/>
        </p:nvSpPr>
        <p:spPr>
          <a:xfrm>
            <a:off x="685800" y="2324100"/>
            <a:ext cx="2381250" cy="0"/>
          </a:xfrm>
          <a:prstGeom prst="line">
            <a:avLst/>
          </a:prstGeom>
          <a:noFill/>
          <a:ln w="28575">
            <a:solidFill>
              <a:srgbClr val="2A2F36"/>
            </a:solidFill>
            <a:prstDash val="solid"/>
          </a:ln>
        </p:spPr>
      </p:sp>
      <p:sp>
        <p:nvSpPr>
          <p:cNvPr id="6" name="Rectangle 5">
            <a:extLst>
              <a:ext uri="{FF2B5EF4-FFF2-40B4-BE49-F238E27FC236}">
                <a16:creationId xmlns:a16="http://schemas.microsoft.com/office/drawing/2014/main" id="{682E6C3A-1254-447F-90D2-484F7297593C}"/>
              </a:ext>
            </a:extLst>
          </p:cNvPr>
          <p:cNvSpPr>
            <a:spLocks noGrp="1"/>
          </p:cNvSpPr>
          <p:nvPr/>
        </p:nvSpPr>
        <p:spPr>
          <a:xfrm>
            <a:off x="685800" y="2647950"/>
            <a:ext cx="2381250" cy="1428750"/>
          </a:xfrm>
          <a:prstGeom prst="rect">
            <a:avLst/>
          </a:prstGeom>
          <a:noFill/>
          <a:ln w="0">
            <a:noFill/>
          </a:ln>
        </p:spPr>
        <p:txBody>
          <a:bodyPr wrap="square" lIns="0" tIns="0" rIns="0" bIns="0" anchor="t">
            <a:noAutofit/>
          </a:bodyPr>
          <a:lstStyle/>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One representative SKU</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One or two releases</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Agreed advisory baseline</a:t>
            </a:r>
          </a:p>
        </p:txBody>
      </p:sp>
      <p:sp>
        <p:nvSpPr>
          <p:cNvPr id="7" name="Rectangle 6">
            <a:extLst>
              <a:ext uri="{FF2B5EF4-FFF2-40B4-BE49-F238E27FC236}">
                <a16:creationId xmlns:a16="http://schemas.microsoft.com/office/drawing/2014/main" id="{21285E08-9E51-4A9F-8A38-13799053F1AB}"/>
              </a:ext>
            </a:extLst>
          </p:cNvPr>
          <p:cNvSpPr>
            <a:spLocks noGrp="1"/>
          </p:cNvSpPr>
          <p:nvPr/>
        </p:nvSpPr>
        <p:spPr>
          <a:xfrm>
            <a:off x="3467100" y="1866900"/>
            <a:ext cx="2381250" cy="304800"/>
          </a:xfrm>
          <a:prstGeom prst="rect">
            <a:avLst/>
          </a:prstGeom>
          <a:noFill/>
          <a:ln w="0">
            <a:noFill/>
          </a:ln>
        </p:spPr>
        <p:txBody>
          <a:bodyPr wrap="square" lIns="0" tIns="0" rIns="0" bIns="0" anchor="t">
            <a:noAutofit/>
          </a:bodyPr>
          <a:lstStyle/>
          <a:p>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02  ANALYZE</a:t>
            </a:r>
          </a:p>
        </p:txBody>
      </p:sp>
      <p:sp>
        <p:nvSpPr>
          <p:cNvPr id="8" name="Straight Connector 7">
            <a:extLst>
              <a:ext uri="{FF2B5EF4-FFF2-40B4-BE49-F238E27FC236}">
                <a16:creationId xmlns:a16="http://schemas.microsoft.com/office/drawing/2014/main" id="{722A6DEF-64EA-4EF6-AD07-E85BFF8FD291}"/>
              </a:ext>
            </a:extLst>
          </p:cNvPr>
          <p:cNvSpPr>
            <a:spLocks noGrp="1"/>
          </p:cNvSpPr>
          <p:nvPr/>
        </p:nvSpPr>
        <p:spPr>
          <a:xfrm>
            <a:off x="3467100" y="2324100"/>
            <a:ext cx="2381250" cy="0"/>
          </a:xfrm>
          <a:prstGeom prst="line">
            <a:avLst/>
          </a:prstGeom>
          <a:noFill/>
          <a:ln w="28575">
            <a:solidFill>
              <a:srgbClr val="2A2F36"/>
            </a:solidFill>
            <a:prstDash val="solid"/>
          </a:ln>
        </p:spPr>
      </p:sp>
      <p:sp>
        <p:nvSpPr>
          <p:cNvPr id="9" name="Rectangle 8">
            <a:extLst>
              <a:ext uri="{FF2B5EF4-FFF2-40B4-BE49-F238E27FC236}">
                <a16:creationId xmlns:a16="http://schemas.microsoft.com/office/drawing/2014/main" id="{BC471BF6-5A27-423E-ABD3-DD8B690AB2B9}"/>
              </a:ext>
            </a:extLst>
          </p:cNvPr>
          <p:cNvSpPr>
            <a:spLocks noGrp="1"/>
          </p:cNvSpPr>
          <p:nvPr/>
        </p:nvSpPr>
        <p:spPr>
          <a:xfrm>
            <a:off x="3467100" y="2647950"/>
            <a:ext cx="2381250" cy="1428750"/>
          </a:xfrm>
          <a:prstGeom prst="rect">
            <a:avLst/>
          </a:prstGeom>
          <a:noFill/>
          <a:ln w="0">
            <a:noFill/>
          </a:ln>
        </p:spPr>
        <p:txBody>
          <a:bodyPr wrap="square" lIns="0" tIns="0" rIns="0" bIns="0" anchor="t">
            <a:noAutofit/>
          </a:bodyPr>
          <a:lstStyle/>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Customer-selected image</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SBOM and coverage</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Vulnerability assessment</a:t>
            </a:r>
          </a:p>
        </p:txBody>
      </p:sp>
      <p:sp>
        <p:nvSpPr>
          <p:cNvPr id="10" name="Rectangle 9">
            <a:extLst>
              <a:ext uri="{FF2B5EF4-FFF2-40B4-BE49-F238E27FC236}">
                <a16:creationId xmlns:a16="http://schemas.microsoft.com/office/drawing/2014/main" id="{B2F49022-62CD-436B-B163-9B09627BC668}"/>
              </a:ext>
            </a:extLst>
          </p:cNvPr>
          <p:cNvSpPr>
            <a:spLocks noGrp="1"/>
          </p:cNvSpPr>
          <p:nvPr/>
        </p:nvSpPr>
        <p:spPr>
          <a:xfrm>
            <a:off x="6248400" y="1866900"/>
            <a:ext cx="2381250" cy="304800"/>
          </a:xfrm>
          <a:prstGeom prst="rect">
            <a:avLst/>
          </a:prstGeom>
          <a:noFill/>
          <a:ln w="0">
            <a:noFill/>
          </a:ln>
        </p:spPr>
        <p:txBody>
          <a:bodyPr wrap="square" lIns="0" tIns="0" rIns="0" bIns="0" anchor="t">
            <a:noAutofit/>
          </a:bodyPr>
          <a:lstStyle/>
          <a:p>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03  EXERCISE</a:t>
            </a:r>
          </a:p>
        </p:txBody>
      </p:sp>
      <p:sp>
        <p:nvSpPr>
          <p:cNvPr id="11" name="Straight Connector 10">
            <a:extLst>
              <a:ext uri="{FF2B5EF4-FFF2-40B4-BE49-F238E27FC236}">
                <a16:creationId xmlns:a16="http://schemas.microsoft.com/office/drawing/2014/main" id="{92CAAC92-7DB6-48B0-93D4-CA5F9A396D18}"/>
              </a:ext>
            </a:extLst>
          </p:cNvPr>
          <p:cNvSpPr>
            <a:spLocks noGrp="1"/>
          </p:cNvSpPr>
          <p:nvPr/>
        </p:nvSpPr>
        <p:spPr>
          <a:xfrm>
            <a:off x="6248400" y="2324100"/>
            <a:ext cx="2381250" cy="0"/>
          </a:xfrm>
          <a:prstGeom prst="line">
            <a:avLst/>
          </a:prstGeom>
          <a:noFill/>
          <a:ln w="28575">
            <a:solidFill>
              <a:srgbClr val="2A2F36"/>
            </a:solidFill>
            <a:prstDash val="solid"/>
          </a:ln>
        </p:spPr>
      </p:sp>
      <p:sp>
        <p:nvSpPr>
          <p:cNvPr id="12" name="Rectangle 11">
            <a:extLst>
              <a:ext uri="{FF2B5EF4-FFF2-40B4-BE49-F238E27FC236}">
                <a16:creationId xmlns:a16="http://schemas.microsoft.com/office/drawing/2014/main" id="{615942BC-217F-4F00-9074-07FF80B5850B}"/>
              </a:ext>
            </a:extLst>
          </p:cNvPr>
          <p:cNvSpPr>
            <a:spLocks noGrp="1"/>
          </p:cNvSpPr>
          <p:nvPr/>
        </p:nvSpPr>
        <p:spPr>
          <a:xfrm>
            <a:off x="6248400" y="2647950"/>
            <a:ext cx="2381250" cy="1428750"/>
          </a:xfrm>
          <a:prstGeom prst="rect">
            <a:avLst/>
          </a:prstGeom>
          <a:noFill/>
          <a:ln w="0">
            <a:noFill/>
          </a:ln>
        </p:spPr>
        <p:txBody>
          <a:bodyPr wrap="square" lIns="0" tIns="0" rIns="0" bIns="0" anchor="t">
            <a:noAutofit/>
          </a:bodyPr>
          <a:lstStyle/>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Actively exploited case</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Severe-incident case</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Deadline and approval flow</a:t>
            </a:r>
          </a:p>
        </p:txBody>
      </p:sp>
      <p:sp>
        <p:nvSpPr>
          <p:cNvPr id="13" name="Rectangle 12">
            <a:extLst>
              <a:ext uri="{FF2B5EF4-FFF2-40B4-BE49-F238E27FC236}">
                <a16:creationId xmlns:a16="http://schemas.microsoft.com/office/drawing/2014/main" id="{7A3984F1-599D-42CC-9D3B-E75110F0C732}"/>
              </a:ext>
            </a:extLst>
          </p:cNvPr>
          <p:cNvSpPr>
            <a:spLocks noGrp="1"/>
          </p:cNvSpPr>
          <p:nvPr/>
        </p:nvSpPr>
        <p:spPr>
          <a:xfrm>
            <a:off x="9029700" y="1866900"/>
            <a:ext cx="2381250" cy="304800"/>
          </a:xfrm>
          <a:prstGeom prst="rect">
            <a:avLst/>
          </a:prstGeom>
          <a:noFill/>
          <a:ln w="0">
            <a:noFill/>
          </a:ln>
        </p:spPr>
        <p:txBody>
          <a:bodyPr wrap="square" lIns="0" tIns="0" rIns="0" bIns="0" anchor="t">
            <a:noAutofit/>
          </a:bodyPr>
          <a:lstStyle/>
          <a:p>
            <a:pPr algn="l">
              <a:lnSpc>
                <a:spcPct val="100000"/>
              </a:lnSpc>
              <a:buNone/>
              <a:defRPr sz="1275" b="1">
                <a:solidFill>
                  <a:srgbClr val="4ED8A0"/>
                </a:solidFill>
                <a:latin typeface="Cascadia Mono"/>
                <a:ea typeface="Cascadia Mono"/>
                <a:cs typeface="Cascadia Mono"/>
              </a:defRPr>
            </a:pPr>
            <a:r>
              <a:rPr sz="1275" b="1">
                <a:solidFill>
                  <a:srgbClr val="4ED8A0"/>
                </a:solidFill>
                <a:latin typeface="Cascadia Mono"/>
                <a:ea typeface="Cascadia Mono"/>
                <a:cs typeface="Cascadia Mono"/>
              </a:rPr>
              <a:t>04  VERIFY</a:t>
            </a:r>
          </a:p>
        </p:txBody>
      </p:sp>
      <p:sp>
        <p:nvSpPr>
          <p:cNvPr id="14" name="Straight Connector 13">
            <a:extLst>
              <a:ext uri="{FF2B5EF4-FFF2-40B4-BE49-F238E27FC236}">
                <a16:creationId xmlns:a16="http://schemas.microsoft.com/office/drawing/2014/main" id="{95081461-0E10-437F-83ED-AC523CC75059}"/>
              </a:ext>
            </a:extLst>
          </p:cNvPr>
          <p:cNvSpPr>
            <a:spLocks noGrp="1"/>
          </p:cNvSpPr>
          <p:nvPr/>
        </p:nvSpPr>
        <p:spPr>
          <a:xfrm>
            <a:off x="9029700" y="2324100"/>
            <a:ext cx="2381250" cy="0"/>
          </a:xfrm>
          <a:prstGeom prst="line">
            <a:avLst/>
          </a:prstGeom>
          <a:noFill/>
          <a:ln w="28575">
            <a:solidFill>
              <a:srgbClr val="4ED8A0"/>
            </a:solidFill>
            <a:prstDash val="solid"/>
          </a:ln>
        </p:spPr>
      </p:sp>
      <p:sp>
        <p:nvSpPr>
          <p:cNvPr id="15" name="Rectangle 14">
            <a:extLst>
              <a:ext uri="{FF2B5EF4-FFF2-40B4-BE49-F238E27FC236}">
                <a16:creationId xmlns:a16="http://schemas.microsoft.com/office/drawing/2014/main" id="{4A9260F3-F6BF-442C-A098-D10A31EDCC5B}"/>
              </a:ext>
            </a:extLst>
          </p:cNvPr>
          <p:cNvSpPr>
            <a:spLocks noGrp="1"/>
          </p:cNvSpPr>
          <p:nvPr/>
        </p:nvSpPr>
        <p:spPr>
          <a:xfrm>
            <a:off x="9029700" y="2647950"/>
            <a:ext cx="2381250" cy="1428750"/>
          </a:xfrm>
          <a:prstGeom prst="rect">
            <a:avLst/>
          </a:prstGeom>
          <a:noFill/>
          <a:ln w="0">
            <a:noFill/>
          </a:ln>
        </p:spPr>
        <p:txBody>
          <a:bodyPr wrap="square" lIns="0" tIns="0" rIns="0" bIns="0" anchor="t">
            <a:noAutofit/>
          </a:bodyPr>
          <a:lstStyle/>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Submission package</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Simulated receipt</a:t>
            </a:r>
          </a:p>
          <a:p>
            <a:pPr algn="l">
              <a:lnSpc>
                <a:spcPct val="124000"/>
              </a:lnSpc>
              <a:buNone/>
              <a:defRPr sz="1725" b="0">
                <a:solidFill>
                  <a:srgbClr val="F2F5F9"/>
                </a:solidFill>
                <a:latin typeface="Segoe UI"/>
                <a:ea typeface="Segoe UI"/>
                <a:cs typeface="Segoe UI"/>
              </a:defRPr>
            </a:pPr>
            <a:r>
              <a:rPr sz="1725" b="0">
                <a:solidFill>
                  <a:srgbClr val="F2F5F9"/>
                </a:solidFill>
                <a:latin typeface="Segoe UI"/>
                <a:ea typeface="Segoe UI"/>
                <a:cs typeface="Segoe UI"/>
              </a:rPr>
              <a:t>Signed evidence bundle</a:t>
            </a:r>
          </a:p>
        </p:txBody>
      </p:sp>
      <p:sp>
        <p:nvSpPr>
          <p:cNvPr id="16" name="Rectangle: Rounded Corners 15">
            <a:extLst>
              <a:ext uri="{FF2B5EF4-FFF2-40B4-BE49-F238E27FC236}">
                <a16:creationId xmlns:a16="http://schemas.microsoft.com/office/drawing/2014/main" id="{9C5F6520-5D53-4FF3-BC1B-BBE9C03BF6F4}"/>
              </a:ext>
            </a:extLst>
          </p:cNvPr>
          <p:cNvSpPr>
            <a:spLocks noGrp="1"/>
          </p:cNvSpPr>
          <p:nvPr/>
        </p:nvSpPr>
        <p:spPr>
          <a:xfrm>
            <a:off x="685800" y="4686300"/>
            <a:ext cx="10572750" cy="1104900"/>
          </a:xfrm>
          <a:prstGeom prst="roundRect">
            <a:avLst>
              <a:gd name="adj" fmla="val 6897"/>
            </a:avLst>
          </a:prstGeom>
          <a:solidFill>
            <a:srgbClr val="4ED8A0"/>
          </a:solidFill>
          <a:ln w="0">
            <a:noFill/>
          </a:ln>
        </p:spPr>
      </p:sp>
      <p:sp>
        <p:nvSpPr>
          <p:cNvPr id="17" name="Rectangle 16">
            <a:extLst>
              <a:ext uri="{FF2B5EF4-FFF2-40B4-BE49-F238E27FC236}">
                <a16:creationId xmlns:a16="http://schemas.microsoft.com/office/drawing/2014/main" id="{D7A27E4A-918C-40AC-ACB1-27941CA23423}"/>
              </a:ext>
            </a:extLst>
          </p:cNvPr>
          <p:cNvSpPr>
            <a:spLocks noGrp="1"/>
          </p:cNvSpPr>
          <p:nvPr/>
        </p:nvSpPr>
        <p:spPr>
          <a:xfrm>
            <a:off x="1085850" y="4924425"/>
            <a:ext cx="9791700" cy="628650"/>
          </a:xfrm>
          <a:prstGeom prst="rect">
            <a:avLst/>
          </a:prstGeom>
          <a:noFill/>
          <a:ln w="0">
            <a:noFill/>
          </a:ln>
        </p:spPr>
        <p:txBody>
          <a:bodyPr wrap="square" lIns="0" tIns="0" rIns="0" bIns="0" anchor="ctr">
            <a:noAutofit/>
          </a:bodyPr>
          <a:lstStyle/>
          <a:p>
            <a:pPr algn="ctr">
              <a:lnSpc>
                <a:spcPct val="100000"/>
              </a:lnSpc>
              <a:buNone/>
              <a:defRPr sz="2625" b="1">
                <a:solidFill>
                  <a:srgbClr val="111713"/>
                </a:solidFill>
                <a:latin typeface="Segoe UI"/>
                <a:ea typeface="Segoe UI"/>
                <a:cs typeface="Segoe UI"/>
              </a:defRPr>
            </a:pPr>
            <a:r>
              <a:rPr sz="2625" b="1">
                <a:solidFill>
                  <a:srgbClr val="111713"/>
                </a:solidFill>
                <a:latin typeface="Segoe UI"/>
                <a:ea typeface="Segoe UI"/>
                <a:cs typeface="Segoe UI"/>
              </a:rPr>
              <a:t>Nominate one product line for a structured PandaX pilot</a:t>
            </a:r>
          </a:p>
        </p:txBody>
      </p:sp>
      <p:sp>
        <p:nvSpPr>
          <p:cNvPr id="18" name="Straight Connector 17">
            <a:extLst>
              <a:ext uri="{FF2B5EF4-FFF2-40B4-BE49-F238E27FC236}">
                <a16:creationId xmlns:a16="http://schemas.microsoft.com/office/drawing/2014/main" id="{3F6A5A20-F5FB-4A74-85D4-B25F0E651188}"/>
              </a:ext>
            </a:extLst>
          </p:cNvPr>
          <p:cNvSpPr>
            <a:spLocks noGrp="1"/>
          </p:cNvSpPr>
          <p:nvPr/>
        </p:nvSpPr>
        <p:spPr>
          <a:xfrm>
            <a:off x="533400" y="6496050"/>
            <a:ext cx="11125200" cy="0"/>
          </a:xfrm>
          <a:prstGeom prst="line">
            <a:avLst/>
          </a:prstGeom>
          <a:noFill/>
          <a:ln w="9525">
            <a:solidFill>
              <a:srgbClr val="2A2F36"/>
            </a:solidFill>
            <a:prstDash val="solid"/>
          </a:ln>
        </p:spPr>
      </p:sp>
      <p:sp>
        <p:nvSpPr>
          <p:cNvPr id="19" name="Rectangle 18">
            <a:extLst>
              <a:ext uri="{FF2B5EF4-FFF2-40B4-BE49-F238E27FC236}">
                <a16:creationId xmlns:a16="http://schemas.microsoft.com/office/drawing/2014/main" id="{6E4CF8B7-5BE0-4CEB-86A4-B80041CCB8C3}"/>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727D8C"/>
                </a:solidFill>
                <a:latin typeface="Cascadia Mono"/>
                <a:ea typeface="Cascadia Mono"/>
                <a:cs typeface="Cascadia Mono"/>
              </a:defRPr>
            </a:pPr>
            <a:r>
              <a:rPr sz="975" b="0">
                <a:solidFill>
                  <a:srgbClr val="727D8C"/>
                </a:solidFill>
                <a:latin typeface="Cascadia Mono"/>
                <a:ea typeface="Cascadia Mono"/>
                <a:cs typeface="Cascadia Mono"/>
              </a:rPr>
              <a:t>PandaX  /  Commercial ask: pilot partnership</a:t>
            </a:r>
          </a:p>
        </p:txBody>
      </p:sp>
      <p:sp>
        <p:nvSpPr>
          <p:cNvPr id="20" name="Rectangle 19">
            <a:extLst>
              <a:ext uri="{FF2B5EF4-FFF2-40B4-BE49-F238E27FC236}">
                <a16:creationId xmlns:a16="http://schemas.microsoft.com/office/drawing/2014/main" id="{E18373CF-5AB2-4AF3-BC5E-C4ED047ABA0D}"/>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08</a:t>
            </a:r>
          </a:p>
        </p:txBody>
      </p:sp>
    </p:spTree>
    <p:extLst>
      <p:ext uri="{BB962C8B-B14F-4D97-AF65-F5344CB8AC3E}">
        <p14:creationId xmlns:p14="http://schemas.microsoft.com/office/powerpoint/2010/main" val="117856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
                                        <p:tgtEl>
                                          <p:spTgt spid="7"/>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
                                        <p:tgtEl>
                                          <p:spTgt spid="10"/>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ppt_x"/>
                                          </p:val>
                                        </p:tav>
                                        <p:tav tm="100000">
                                          <p:val>
                                            <p:strVal val="#ppt_x"/>
                                          </p:val>
                                        </p:tav>
                                      </p:tavLst>
                                    </p:anim>
                                    <p:anim calcmode="lin" valueType="num">
                                      <p:cBhvr additive="base">
                                        <p:cTn id="25" dur="500" fill="hold"/>
                                        <p:tgtEl>
                                          <p:spTgt spid="16"/>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590550" y="666750"/>
            <a:ext cx="2095500" cy="3143250"/>
          </a:xfrm>
          <a:prstGeom prst="rect">
            <a:avLst/>
          </a:prstGeom>
        </p:spPr>
      </p:pic>
      <p:sp>
        <p:nvSpPr>
          <p:cNvPr id="2" name="Rectangle 1">
            <a:extLst>
              <a:ext uri="{FF2B5EF4-FFF2-40B4-BE49-F238E27FC236}">
                <a16:creationId xmlns:a16="http://schemas.microsoft.com/office/drawing/2014/main" id="{FAF1AD52-3865-4497-B66A-EDAB6A06AF25}"/>
              </a:ext>
            </a:extLst>
          </p:cNvPr>
          <p:cNvSpPr>
            <a:spLocks noGrp="1"/>
          </p:cNvSpPr>
          <p:nvPr/>
        </p:nvSpPr>
        <p:spPr>
          <a:xfrm>
            <a:off x="3219450" y="742950"/>
            <a:ext cx="7810500" cy="1162050"/>
          </a:xfrm>
          <a:prstGeom prst="rect">
            <a:avLst/>
          </a:prstGeom>
          <a:noFill/>
          <a:ln w="0">
            <a:noFill/>
          </a:ln>
        </p:spPr>
        <p:txBody>
          <a:bodyPr wrap="square" lIns="0" tIns="0" rIns="0" bIns="0" anchor="t">
            <a:noAutofit/>
          </a:bodyPr>
          <a:lstStyle/>
          <a:p>
            <a:pPr algn="l">
              <a:lnSpc>
                <a:spcPct val="94000"/>
              </a:lnSpc>
              <a:buNone/>
              <a:defRPr sz="3600" b="1">
                <a:solidFill>
                  <a:srgbClr val="F2F5F9"/>
                </a:solidFill>
                <a:latin typeface="Segoe UI"/>
                <a:ea typeface="Segoe UI"/>
                <a:cs typeface="Segoe UI"/>
              </a:defRPr>
            </a:pPr>
            <a:r>
              <a:rPr sz="3600" b="1">
                <a:solidFill>
                  <a:srgbClr val="F2F5F9"/>
                </a:solidFill>
                <a:latin typeface="Segoe UI"/>
                <a:ea typeface="Segoe UI"/>
                <a:cs typeface="Segoe UI"/>
              </a:rPr>
              <a:t>Pilot PandaX on one industrial product line</a:t>
            </a:r>
          </a:p>
        </p:txBody>
      </p:sp>
      <p:sp>
        <p:nvSpPr>
          <p:cNvPr id="3" name="Rectangle 2">
            <a:extLst>
              <a:ext uri="{FF2B5EF4-FFF2-40B4-BE49-F238E27FC236}">
                <a16:creationId xmlns:a16="http://schemas.microsoft.com/office/drawing/2014/main" id="{DE27E2F5-F093-4CEE-871B-E62099428934}"/>
              </a:ext>
            </a:extLst>
          </p:cNvPr>
          <p:cNvSpPr>
            <a:spLocks noGrp="1"/>
          </p:cNvSpPr>
          <p:nvPr/>
        </p:nvSpPr>
        <p:spPr>
          <a:xfrm>
            <a:off x="3238500" y="2190750"/>
            <a:ext cx="7524750" cy="1314450"/>
          </a:xfrm>
          <a:prstGeom prst="rect">
            <a:avLst/>
          </a:prstGeom>
          <a:noFill/>
          <a:ln w="0">
            <a:noFill/>
          </a:ln>
        </p:spPr>
        <p:txBody>
          <a:bodyPr wrap="square" lIns="0" tIns="0" rIns="0" bIns="0" anchor="t">
            <a:noAutofit/>
          </a:bodyPr>
          <a:lstStyle/>
          <a:p>
            <a:pPr algn="l">
              <a:lnSpc>
                <a:spcPct val="106000"/>
              </a:lnSpc>
              <a:buNone/>
              <a:defRPr sz="2025" b="0">
                <a:solidFill>
                  <a:srgbClr val="A9B3C1"/>
                </a:solidFill>
                <a:latin typeface="Segoe UI"/>
                <a:ea typeface="Segoe UI"/>
                <a:cs typeface="Segoe UI"/>
              </a:defRPr>
            </a:pPr>
            <a:r>
              <a:rPr sz="2025" b="0">
                <a:solidFill>
                  <a:srgbClr val="A9B3C1"/>
                </a:solidFill>
                <a:latin typeface="Segoe UI"/>
                <a:ea typeface="Segoe UI"/>
                <a:cs typeface="Segoe UI"/>
              </a:rPr>
              <a:t>Bring one representative SKU and a customer-selected firmware image. Leave with a traceable inventory, exercised CRA workflow, and independently verifiable evidence bundle.</a:t>
            </a:r>
          </a:p>
        </p:txBody>
      </p:sp>
      <p:sp>
        <p:nvSpPr>
          <p:cNvPr id="4" name="Straight Connector 3">
            <a:extLst>
              <a:ext uri="{FF2B5EF4-FFF2-40B4-BE49-F238E27FC236}">
                <a16:creationId xmlns:a16="http://schemas.microsoft.com/office/drawing/2014/main" id="{0A3196D2-CA36-423F-A339-B2728E44B356}"/>
              </a:ext>
            </a:extLst>
          </p:cNvPr>
          <p:cNvSpPr>
            <a:spLocks noGrp="1"/>
          </p:cNvSpPr>
          <p:nvPr/>
        </p:nvSpPr>
        <p:spPr>
          <a:xfrm>
            <a:off x="3238500" y="3905250"/>
            <a:ext cx="7810500" cy="0"/>
          </a:xfrm>
          <a:prstGeom prst="line">
            <a:avLst/>
          </a:prstGeom>
          <a:noFill/>
          <a:ln w="19050">
            <a:solidFill>
              <a:srgbClr val="4ED8A0"/>
            </a:solidFill>
            <a:prstDash val="solid"/>
          </a:ln>
        </p:spPr>
      </p:sp>
      <p:sp>
        <p:nvSpPr>
          <p:cNvPr id="5" name="Rectangle 4">
            <a:extLst>
              <a:ext uri="{FF2B5EF4-FFF2-40B4-BE49-F238E27FC236}">
                <a16:creationId xmlns:a16="http://schemas.microsoft.com/office/drawing/2014/main" id="{472C66FA-22BE-46FE-9A56-56955CF19E24}"/>
              </a:ext>
            </a:extLst>
          </p:cNvPr>
          <p:cNvSpPr>
            <a:spLocks noGrp="1"/>
          </p:cNvSpPr>
          <p:nvPr/>
        </p:nvSpPr>
        <p:spPr>
          <a:xfrm>
            <a:off x="3238500"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Simon Levy</a:t>
            </a:r>
          </a:p>
        </p:txBody>
      </p:sp>
      <p:sp>
        <p:nvSpPr>
          <p:cNvPr id="6" name="Rectangle 5">
            <a:extLst>
              <a:ext uri="{FF2B5EF4-FFF2-40B4-BE49-F238E27FC236}">
                <a16:creationId xmlns:a16="http://schemas.microsoft.com/office/drawing/2014/main" id="{A06B4C20-19FD-4780-9ADF-0B62AFDD5ECD}"/>
              </a:ext>
            </a:extLst>
          </p:cNvPr>
          <p:cNvSpPr>
            <a:spLocks noGrp="1"/>
          </p:cNvSpPr>
          <p:nvPr/>
        </p:nvSpPr>
        <p:spPr>
          <a:xfrm>
            <a:off x="3238500"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CEO</a:t>
            </a:r>
          </a:p>
        </p:txBody>
      </p:sp>
      <p:sp>
        <p:nvSpPr>
          <p:cNvPr id="7" name="Rectangle 6">
            <a:extLst>
              <a:ext uri="{FF2B5EF4-FFF2-40B4-BE49-F238E27FC236}">
                <a16:creationId xmlns:a16="http://schemas.microsoft.com/office/drawing/2014/main" id="{501F8BFD-91F3-46A0-AE6D-BED810D375A0}"/>
              </a:ext>
            </a:extLst>
          </p:cNvPr>
          <p:cNvSpPr>
            <a:spLocks noGrp="1"/>
          </p:cNvSpPr>
          <p:nvPr/>
        </p:nvSpPr>
        <p:spPr>
          <a:xfrm>
            <a:off x="5191125"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Yaheli Levit</a:t>
            </a:r>
          </a:p>
        </p:txBody>
      </p:sp>
      <p:sp>
        <p:nvSpPr>
          <p:cNvPr id="8" name="Rectangle 7">
            <a:extLst>
              <a:ext uri="{FF2B5EF4-FFF2-40B4-BE49-F238E27FC236}">
                <a16:creationId xmlns:a16="http://schemas.microsoft.com/office/drawing/2014/main" id="{722C7B4D-276F-4A02-867E-906CAD2493DE}"/>
              </a:ext>
            </a:extLst>
          </p:cNvPr>
          <p:cNvSpPr>
            <a:spLocks noGrp="1"/>
          </p:cNvSpPr>
          <p:nvPr/>
        </p:nvSpPr>
        <p:spPr>
          <a:xfrm>
            <a:off x="5191125"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CTO</a:t>
            </a:r>
          </a:p>
        </p:txBody>
      </p:sp>
      <p:sp>
        <p:nvSpPr>
          <p:cNvPr id="9" name="Rectangle 8">
            <a:extLst>
              <a:ext uri="{FF2B5EF4-FFF2-40B4-BE49-F238E27FC236}">
                <a16:creationId xmlns:a16="http://schemas.microsoft.com/office/drawing/2014/main" id="{CF4C6963-DD05-4E46-884C-7BF69334CF2A}"/>
              </a:ext>
            </a:extLst>
          </p:cNvPr>
          <p:cNvSpPr>
            <a:spLocks noGrp="1"/>
          </p:cNvSpPr>
          <p:nvPr/>
        </p:nvSpPr>
        <p:spPr>
          <a:xfrm>
            <a:off x="7143750"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Guy Nevo</a:t>
            </a:r>
          </a:p>
        </p:txBody>
      </p:sp>
      <p:sp>
        <p:nvSpPr>
          <p:cNvPr id="10" name="Rectangle 9">
            <a:extLst>
              <a:ext uri="{FF2B5EF4-FFF2-40B4-BE49-F238E27FC236}">
                <a16:creationId xmlns:a16="http://schemas.microsoft.com/office/drawing/2014/main" id="{B4D1491B-8DE0-4ACD-8A82-664B2297F920}"/>
              </a:ext>
            </a:extLst>
          </p:cNvPr>
          <p:cNvSpPr>
            <a:spLocks noGrp="1"/>
          </p:cNvSpPr>
          <p:nvPr/>
        </p:nvSpPr>
        <p:spPr>
          <a:xfrm>
            <a:off x="7143750"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CPO</a:t>
            </a:r>
          </a:p>
        </p:txBody>
      </p:sp>
      <p:sp>
        <p:nvSpPr>
          <p:cNvPr id="11" name="Rectangle 10">
            <a:extLst>
              <a:ext uri="{FF2B5EF4-FFF2-40B4-BE49-F238E27FC236}">
                <a16:creationId xmlns:a16="http://schemas.microsoft.com/office/drawing/2014/main" id="{FA55518B-702C-40E5-A536-DF908FE47FCE}"/>
              </a:ext>
            </a:extLst>
          </p:cNvPr>
          <p:cNvSpPr>
            <a:spLocks noGrp="1"/>
          </p:cNvSpPr>
          <p:nvPr/>
        </p:nvSpPr>
        <p:spPr>
          <a:xfrm>
            <a:off x="9096375"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Eden Gulko</a:t>
            </a:r>
          </a:p>
        </p:txBody>
      </p:sp>
      <p:sp>
        <p:nvSpPr>
          <p:cNvPr id="12" name="Rectangle 11">
            <a:extLst>
              <a:ext uri="{FF2B5EF4-FFF2-40B4-BE49-F238E27FC236}">
                <a16:creationId xmlns:a16="http://schemas.microsoft.com/office/drawing/2014/main" id="{06440C0D-7DBD-4164-9F61-9BB135ABD0FC}"/>
              </a:ext>
            </a:extLst>
          </p:cNvPr>
          <p:cNvSpPr>
            <a:spLocks noGrp="1"/>
          </p:cNvSpPr>
          <p:nvPr/>
        </p:nvSpPr>
        <p:spPr>
          <a:xfrm>
            <a:off x="9096375"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CMO</a:t>
            </a:r>
          </a:p>
        </p:txBody>
      </p:sp>
      <p:sp>
        <p:nvSpPr>
          <p:cNvPr id="13" name="Rectangle 12">
            <a:extLst>
              <a:ext uri="{FF2B5EF4-FFF2-40B4-BE49-F238E27FC236}">
                <a16:creationId xmlns:a16="http://schemas.microsoft.com/office/drawing/2014/main" id="{E5EAC0D9-88C3-4CCF-AFF7-E522427708BC}"/>
              </a:ext>
            </a:extLst>
          </p:cNvPr>
          <p:cNvSpPr>
            <a:spLocks noGrp="1"/>
          </p:cNvSpPr>
          <p:nvPr/>
        </p:nvSpPr>
        <p:spPr>
          <a:xfrm>
            <a:off x="3238500" y="5810250"/>
            <a:ext cx="6667500" cy="304800"/>
          </a:xfrm>
          <a:prstGeom prst="rect">
            <a:avLst/>
          </a:prstGeom>
          <a:noFill/>
          <a:ln w="0">
            <a:noFill/>
          </a:ln>
        </p:spPr>
        <p:txBody>
          <a:bodyPr wrap="square" lIns="0" tIns="0" rIns="0" bIns="0" anchor="t">
            <a:noAutofit/>
          </a:bodyPr>
          <a:lstStyle/>
          <a:p>
            <a:pPr algn="l">
              <a:lnSpc>
                <a:spcPct val="100000"/>
              </a:lnSpc>
              <a:buNone/>
              <a:defRPr sz="1200" b="0">
                <a:solidFill>
                  <a:srgbClr val="727D8C"/>
                </a:solidFill>
                <a:latin typeface="Cascadia Mono"/>
                <a:ea typeface="Cascadia Mono"/>
                <a:cs typeface="Cascadia Mono"/>
              </a:defRPr>
            </a:pPr>
            <a:r>
              <a:rPr sz="1200" b="0">
                <a:solidFill>
                  <a:srgbClr val="727D8C"/>
                </a:solidFill>
                <a:latin typeface="Cascadia Mono"/>
                <a:ea typeface="Cascadia Mono"/>
                <a:cs typeface="Cascadia Mono"/>
              </a:rPr>
              <a:t>PandaX  /  Firmware evidence for CRA readiness</a:t>
            </a:r>
          </a:p>
        </p:txBody>
      </p:sp>
    </p:spTree>
    <p:extLst>
      <p:ext uri="{BB962C8B-B14F-4D97-AF65-F5344CB8AC3E}">
        <p14:creationId xmlns:p14="http://schemas.microsoft.com/office/powerpoint/2010/main" val="20375935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1405</Words>
  <Application>Microsoft Office PowerPoint</Application>
  <DocSecurity>0</DocSecurity>
  <PresentationFormat>Widescreen</PresentationFormat>
  <Paragraphs>160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2026-09-09T14:13:50Z</dcterms:created>
  <dcterms:modified xsi:type="dcterms:W3CDTF">2026-09-09T14:15:24Z</dcterms:modified>
</cp:coreProperties>
</file>