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industrial-control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visible headlines are unaltered image clippings captured from official government article pages. These U.S. matters illustrate the legal cost of missing vulnerability, evidence, and reporting controls. They are not CRA cases and the settlement structures are not directly comparable. Equifax: https://www.ftc.gov/news-events/news/press-releases/2019/07/equifax-pay-575-million-part-settlement-ftc-cfpb-states-related-2017-data-breach . Uber: https://www.oag.ca.gov/news/press-releases/california-attorney-general-becerra-san-francisco-district-attorney-gasc%C3%B3n . Ring: https://www.ftc.gov/news-events/news/press-releases/2023/05/ftc-says-ring-employees-illegally-surveilled-customers-failed-stop-hackers-taking-control-users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workflow and monitoring behavior based on the user-supplied completed PoC specification. Intelligence sources: OSV https://osv.dev/ ; CISA Known Exploited Vulnerabilities Catalog https://www.cisa.gov/known-exploited-vulnerabilities-catalog ; EPSS https://www.first.org/epss/ . PandaX prepares evidence and documentation; it does not automatically determine legal reportability in every case. Reports may be approved, exported, and recorded as manually submitted. Direct ENISA API submission is not claimed. Current PoC monitoring means refreshed external intelligence, not runtime device telemetry or live attack detection.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206E19-CDE7-4B99-9ECC-C4A76363F3E7}"/>
              </a:ext>
            </a:extLst>
          </p:cNvPr>
          <p:cNvSpPr>
            <a:spLocks noGrp="1"/>
          </p:cNvSpPr>
          <p:nvPr/>
        </p:nvSpPr>
        <p:spPr>
          <a:xfrm>
            <a:off x="0" y="0"/>
            <a:ext cx="171450" cy="6858000"/>
          </a:xfrm>
          <a:prstGeom prst="rect">
            <a:avLst/>
          </a:prstGeom>
          <a:solidFill>
            <a:srgbClr val="356B3F"/>
          </a:solidFill>
          <a:ln w="0">
            <a:noFill/>
          </a:ln>
        </p:spPr>
      </p:sp>
      <p:sp>
        <p:nvSpPr>
          <p:cNvPr id="2" name="Rectangle 1">
            <a:extLst>
              <a:ext uri="{FF2B5EF4-FFF2-40B4-BE49-F238E27FC236}">
                <a16:creationId xmlns:a16="http://schemas.microsoft.com/office/drawing/2014/main" id="{041F837E-C6E6-4620-94A7-37AD64BBBF51}"/>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BB0544BB-4835-4256-BEF2-AE623B3C7306}"/>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332A8C04-606B-4A0E-8834-EF8908AAC833}"/>
              </a:ext>
            </a:extLst>
          </p:cNvPr>
          <p:cNvSpPr>
            <a:spLocks noGrp="1"/>
          </p:cNvSpPr>
          <p:nvPr/>
        </p:nvSpPr>
        <p:spPr>
          <a:xfrm>
            <a:off x="7296150" y="0"/>
            <a:ext cx="4895850" cy="6858000"/>
          </a:xfrm>
          <a:prstGeom prst="rect">
            <a:avLst/>
          </a:prstGeom>
          <a:solidFill>
            <a:srgbClr val="356B3F"/>
          </a:solidFill>
          <a:ln w="0">
            <a:noFill/>
          </a:ln>
        </p:spPr>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1009507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492" b="2749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3222567-255F-4B7B-8391-DF95A2118391}"/>
              </a:ext>
            </a:extLst>
          </p:cNvPr>
          <p:cNvSpPr>
            <a:spLocks noGrp="1"/>
          </p:cNvSpPr>
          <p:nvPr/>
        </p:nvSpPr>
        <p:spPr>
          <a:xfrm>
            <a:off x="0" y="0"/>
            <a:ext cx="6858000" cy="6858000"/>
          </a:xfrm>
          <a:prstGeom prst="rect">
            <a:avLst/>
          </a:prstGeom>
          <a:solidFill>
            <a:srgbClr val="F4F7F5"/>
          </a:solidFill>
          <a:ln w="0">
            <a:noFill/>
          </a:ln>
        </p:spPr>
      </p:sp>
      <p:sp>
        <p:nvSpPr>
          <p:cNvPr id="3" name="Rectangle 2">
            <a:extLst>
              <a:ext uri="{FF2B5EF4-FFF2-40B4-BE49-F238E27FC236}">
                <a16:creationId xmlns:a16="http://schemas.microsoft.com/office/drawing/2014/main" id="{4CD65AE8-730F-48B8-847F-CABDC8ED6418}"/>
              </a:ext>
            </a:extLst>
          </p:cNvPr>
          <p:cNvSpPr>
            <a:spLocks noGrp="1"/>
          </p:cNvSpPr>
          <p:nvPr/>
        </p:nvSpPr>
        <p:spPr>
          <a:xfrm>
            <a:off x="533400" y="552450"/>
            <a:ext cx="57150" cy="514350"/>
          </a:xfrm>
          <a:prstGeom prst="rect">
            <a:avLst/>
          </a:prstGeom>
          <a:solidFill>
            <a:srgbClr val="356B3F"/>
          </a:solidFill>
          <a:ln w="0">
            <a:noFill/>
          </a:ln>
        </p:spPr>
      </p:sp>
      <p:sp>
        <p:nvSpPr>
          <p:cNvPr id="4" name="Rectangle 3">
            <a:extLst>
              <a:ext uri="{FF2B5EF4-FFF2-40B4-BE49-F238E27FC236}">
                <a16:creationId xmlns:a16="http://schemas.microsoft.com/office/drawing/2014/main" id="{5825F05D-236F-47DB-8C8C-3402D50E2530}"/>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6140D272-5AFA-4C1E-9F83-BB45BD6C24BE}"/>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356B3F"/>
                </a:solidFill>
                <a:latin typeface="Segoe UI"/>
                <a:ea typeface="Segoe UI"/>
                <a:cs typeface="Segoe UI"/>
              </a:defRPr>
            </a:pPr>
            <a:r>
              <a:rPr sz="5850" b="1">
                <a:solidFill>
                  <a:srgbClr val="356B3F"/>
                </a:solidFill>
                <a:latin typeface="Segoe UI"/>
                <a:ea typeface="Segoe UI"/>
                <a:cs typeface="Segoe UI"/>
              </a:rPr>
              <a:t>20%</a:t>
            </a:r>
          </a:p>
        </p:txBody>
      </p:sp>
      <p:sp>
        <p:nvSpPr>
          <p:cNvPr id="6" name="Rectangle 5">
            <a:extLst>
              <a:ext uri="{FF2B5EF4-FFF2-40B4-BE49-F238E27FC236}">
                <a16:creationId xmlns:a16="http://schemas.microsoft.com/office/drawing/2014/main" id="{608518A1-06E1-449C-AEBC-95DFC27AF70A}"/>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of breaches began with</a:t>
            </a:r>
          </a:p>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C9485526-B968-4A13-98AF-3EC8A8E42BA2}"/>
              </a:ext>
            </a:extLst>
          </p:cNvPr>
          <p:cNvSpPr>
            <a:spLocks noGrp="1"/>
          </p:cNvSpPr>
          <p:nvPr/>
        </p:nvSpPr>
        <p:spPr>
          <a:xfrm>
            <a:off x="781050" y="3705225"/>
            <a:ext cx="4953000" cy="0"/>
          </a:xfrm>
          <a:prstGeom prst="line">
            <a:avLst/>
          </a:prstGeom>
          <a:noFill/>
          <a:ln w="19050">
            <a:solidFill>
              <a:srgbClr val="CBD5CF"/>
            </a:solidFill>
            <a:prstDash val="solid"/>
          </a:ln>
        </p:spPr>
      </p:sp>
      <p:sp>
        <p:nvSpPr>
          <p:cNvPr id="8" name="Rectangle 7">
            <a:extLst>
              <a:ext uri="{FF2B5EF4-FFF2-40B4-BE49-F238E27FC236}">
                <a16:creationId xmlns:a16="http://schemas.microsoft.com/office/drawing/2014/main" id="{A6A10F55-3534-44ED-A904-9E14F0F293E4}"/>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FC893ABF-77A6-4F09-8817-20E8BF034631}"/>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3144EC9A-FCAE-4FF3-B5C9-31A4B88658D5}"/>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A3763508-5935-4029-879C-554F05A4A925}"/>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1BB1B57E-FE0A-4040-83E8-909DD5BCD30E}"/>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7A65DBF5-F803-4EF3-BD55-266A832D0955}"/>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02</a:t>
            </a:r>
          </a:p>
        </p:txBody>
      </p:sp>
    </p:spTree>
    <p:extLst>
      <p:ext uri="{BB962C8B-B14F-4D97-AF65-F5344CB8AC3E}">
        <p14:creationId xmlns:p14="http://schemas.microsoft.com/office/powerpoint/2010/main" val="694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7715288-2383-42B5-AE43-9AF809F11653}"/>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61BB31F4-E06C-4E8C-9242-B38D19DC3795}"/>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8158358A-7DC1-4ED6-889C-DFE5202A0DDD}"/>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356B3F"/>
                </a:solidFill>
                <a:latin typeface="Segoe UI"/>
                <a:ea typeface="Segoe UI"/>
                <a:cs typeface="Segoe UI"/>
              </a:defRPr>
            </a:pPr>
            <a:r>
              <a:rPr sz="6900" b="1">
                <a:solidFill>
                  <a:srgbClr val="356B3F"/>
                </a:solidFill>
                <a:latin typeface="Segoe UI"/>
                <a:ea typeface="Segoe UI"/>
                <a:cs typeface="Segoe UI"/>
              </a:rPr>
              <a:t>24H</a:t>
            </a:r>
          </a:p>
        </p:txBody>
      </p:sp>
      <p:sp>
        <p:nvSpPr>
          <p:cNvPr id="4" name="Rectangle 3">
            <a:extLst>
              <a:ext uri="{FF2B5EF4-FFF2-40B4-BE49-F238E27FC236}">
                <a16:creationId xmlns:a16="http://schemas.microsoft.com/office/drawing/2014/main" id="{D1B02C19-02CF-4BCE-A616-43FDA9E0CC67}"/>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596D9023-7FAC-464A-BE0D-7E5890719EF9}"/>
              </a:ext>
            </a:extLst>
          </p:cNvPr>
          <p:cNvSpPr>
            <a:spLocks noGrp="1"/>
          </p:cNvSpPr>
          <p:nvPr/>
        </p:nvSpPr>
        <p:spPr>
          <a:xfrm>
            <a:off x="4286250" y="1952625"/>
            <a:ext cx="0" cy="2095500"/>
          </a:xfrm>
          <a:prstGeom prst="line">
            <a:avLst/>
          </a:prstGeom>
          <a:noFill/>
          <a:ln w="28575">
            <a:solidFill>
              <a:srgbClr val="CBD5CF"/>
            </a:solidFill>
            <a:prstDash val="solid"/>
          </a:ln>
        </p:spPr>
      </p:sp>
      <p:sp>
        <p:nvSpPr>
          <p:cNvPr id="6" name="Rectangle 5">
            <a:extLst>
              <a:ext uri="{FF2B5EF4-FFF2-40B4-BE49-F238E27FC236}">
                <a16:creationId xmlns:a16="http://schemas.microsoft.com/office/drawing/2014/main" id="{13AFC559-9D2F-4EA8-ABAA-E11679AB3378}"/>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D400DB50-4860-4EA7-9E76-F74515E01174}"/>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F8FA8FFF-246C-4C96-9258-03FB09AF6F9D}"/>
              </a:ext>
            </a:extLst>
          </p:cNvPr>
          <p:cNvSpPr>
            <a:spLocks noGrp="1"/>
          </p:cNvSpPr>
          <p:nvPr/>
        </p:nvSpPr>
        <p:spPr>
          <a:xfrm>
            <a:off x="8210550" y="1952625"/>
            <a:ext cx="0" cy="2095500"/>
          </a:xfrm>
          <a:prstGeom prst="line">
            <a:avLst/>
          </a:prstGeom>
          <a:noFill/>
          <a:ln w="28575">
            <a:solidFill>
              <a:srgbClr val="CBD5CF"/>
            </a:solidFill>
            <a:prstDash val="solid"/>
          </a:ln>
        </p:spPr>
      </p:sp>
      <p:sp>
        <p:nvSpPr>
          <p:cNvPr id="9" name="Rectangle 8">
            <a:extLst>
              <a:ext uri="{FF2B5EF4-FFF2-40B4-BE49-F238E27FC236}">
                <a16:creationId xmlns:a16="http://schemas.microsoft.com/office/drawing/2014/main" id="{10944922-3C6E-4E60-8E5C-32F3D4DABF13}"/>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A683B26B-1C17-4E8D-BEB0-120768A4687D}"/>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0AE3815E-9DB3-4DEB-8983-84F855DE75BF}"/>
              </a:ext>
            </a:extLst>
          </p:cNvPr>
          <p:cNvSpPr>
            <a:spLocks noGrp="1"/>
          </p:cNvSpPr>
          <p:nvPr/>
        </p:nvSpPr>
        <p:spPr>
          <a:xfrm>
            <a:off x="838200" y="4810125"/>
            <a:ext cx="10706100" cy="895350"/>
          </a:xfrm>
          <a:prstGeom prst="roundRect">
            <a:avLst>
              <a:gd name="adj" fmla="val 8511"/>
            </a:avLst>
          </a:prstGeom>
          <a:solidFill>
            <a:srgbClr val="111713"/>
          </a:solidFill>
          <a:ln w="0">
            <a:noFill/>
          </a:ln>
        </p:spPr>
      </p:sp>
      <p:sp>
        <p:nvSpPr>
          <p:cNvPr id="12" name="Rectangle 11">
            <a:extLst>
              <a:ext uri="{FF2B5EF4-FFF2-40B4-BE49-F238E27FC236}">
                <a16:creationId xmlns:a16="http://schemas.microsoft.com/office/drawing/2014/main" id="{8502A242-5DB8-4656-8D15-928B83E87D93}"/>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558B1B75-DBC4-4F7D-B863-77D418189E70}"/>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03</a:t>
            </a:r>
          </a:p>
        </p:txBody>
      </p:sp>
    </p:spTree>
    <p:extLst>
      <p:ext uri="{BB962C8B-B14F-4D97-AF65-F5344CB8AC3E}">
        <p14:creationId xmlns:p14="http://schemas.microsoft.com/office/powerpoint/2010/main" val="61852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F382E16-6E60-46EA-A603-83FF148F2FC1}"/>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E882FFD4-EAC2-4532-866A-1C0210E50BD3}"/>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67099F7F-6389-43A2-86C0-79A01A14B4F2}"/>
              </a:ext>
            </a:extLst>
          </p:cNvPr>
          <p:cNvSpPr>
            <a:spLocks noGrp="1"/>
          </p:cNvSpPr>
          <p:nvPr/>
        </p:nvSpPr>
        <p:spPr>
          <a:xfrm>
            <a:off x="685800" y="150018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$575M+</a:t>
            </a:r>
          </a:p>
        </p:txBody>
      </p:sp>
      <p:sp>
        <p:nvSpPr>
          <p:cNvPr id="4" name="Rectangle 3">
            <a:extLst>
              <a:ext uri="{FF2B5EF4-FFF2-40B4-BE49-F238E27FC236}">
                <a16:creationId xmlns:a16="http://schemas.microsoft.com/office/drawing/2014/main" id="{43DB756A-FA14-4E1A-8BBC-932ACAC2431A}"/>
              </a:ext>
            </a:extLst>
          </p:cNvPr>
          <p:cNvSpPr>
            <a:spLocks noGrp="1"/>
          </p:cNvSpPr>
          <p:nvPr/>
        </p:nvSpPr>
        <p:spPr>
          <a:xfrm>
            <a:off x="704850" y="2109788"/>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FTC  /  EQUIFAX</a:t>
            </a:r>
          </a:p>
        </p:txBody>
      </p:sp>
      <p:sp>
        <p:nvSpPr>
          <p:cNvPr id="5" name="Rectangle: Rounded Corners 4">
            <a:extLst>
              <a:ext uri="{FF2B5EF4-FFF2-40B4-BE49-F238E27FC236}">
                <a16:creationId xmlns:a16="http://schemas.microsoft.com/office/drawing/2014/main" id="{281643DF-11E4-4361-952A-BAAF74B4BD94}"/>
              </a:ext>
            </a:extLst>
          </p:cNvPr>
          <p:cNvSpPr>
            <a:spLocks noGrp="1"/>
          </p:cNvSpPr>
          <p:nvPr/>
        </p:nvSpPr>
        <p:spPr>
          <a:xfrm>
            <a:off x="2857500" y="1381125"/>
            <a:ext cx="8572500" cy="1000125"/>
          </a:xfrm>
          <a:prstGeom prst="roundRect">
            <a:avLst>
              <a:gd name="adj" fmla="val 7619"/>
            </a:avLst>
          </a:prstGeom>
          <a:solidFill>
            <a:srgbClr val="FFFFFF"/>
          </a:solidFill>
          <a:ln w="9525">
            <a:solidFill>
              <a:srgbClr val="D5DDD8"/>
            </a:solidFill>
            <a:prstDash val="solid"/>
          </a:ln>
        </p:spPr>
      </p:sp>
      <p:pic>
        <p:nvPicPr>
          <p:cNvPr id="23" name="Picture 22"/>
          <p:cNvPicPr>
            <a:picLocks noChangeAspect="1"/>
          </p:cNvPicPr>
          <p:nvPr/>
        </p:nvPicPr>
        <p:blipFill>
          <a:blip r:embed="rId3"/>
          <a:stretch/>
        </p:blipFill>
        <p:spPr>
          <a:xfrm>
            <a:off x="3439279" y="1476375"/>
            <a:ext cx="7408942" cy="809625"/>
          </a:xfrm>
          <a:prstGeom prst="rect">
            <a:avLst/>
          </a:prstGeom>
        </p:spPr>
      </p:pic>
      <p:sp>
        <p:nvSpPr>
          <p:cNvPr id="7" name="Rectangle 6">
            <a:extLst>
              <a:ext uri="{FF2B5EF4-FFF2-40B4-BE49-F238E27FC236}">
                <a16:creationId xmlns:a16="http://schemas.microsoft.com/office/drawing/2014/main" id="{7E6ED9E3-53A9-4F50-B00C-05720A117F21}"/>
              </a:ext>
            </a:extLst>
          </p:cNvPr>
          <p:cNvSpPr>
            <a:spLocks noGrp="1"/>
          </p:cNvSpPr>
          <p:nvPr/>
        </p:nvSpPr>
        <p:spPr>
          <a:xfrm>
            <a:off x="685800" y="3200400"/>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$148M</a:t>
            </a:r>
          </a:p>
        </p:txBody>
      </p:sp>
      <p:sp>
        <p:nvSpPr>
          <p:cNvPr id="8" name="Rectangle 7">
            <a:extLst>
              <a:ext uri="{FF2B5EF4-FFF2-40B4-BE49-F238E27FC236}">
                <a16:creationId xmlns:a16="http://schemas.microsoft.com/office/drawing/2014/main" id="{7AB80F83-47E5-4EDC-97D3-F9A1360BC444}"/>
              </a:ext>
            </a:extLst>
          </p:cNvPr>
          <p:cNvSpPr>
            <a:spLocks noGrp="1"/>
          </p:cNvSpPr>
          <p:nvPr/>
        </p:nvSpPr>
        <p:spPr>
          <a:xfrm>
            <a:off x="704850" y="3810000"/>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CALIFORNIA DOJ  /  UBER</a:t>
            </a:r>
          </a:p>
        </p:txBody>
      </p:sp>
      <p:sp>
        <p:nvSpPr>
          <p:cNvPr id="9" name="Rectangle: Rounded Corners 8">
            <a:extLst>
              <a:ext uri="{FF2B5EF4-FFF2-40B4-BE49-F238E27FC236}">
                <a16:creationId xmlns:a16="http://schemas.microsoft.com/office/drawing/2014/main" id="{2792427E-C3DC-47CD-8544-3F4BC7CB376B}"/>
              </a:ext>
            </a:extLst>
          </p:cNvPr>
          <p:cNvSpPr>
            <a:spLocks noGrp="1"/>
          </p:cNvSpPr>
          <p:nvPr/>
        </p:nvSpPr>
        <p:spPr>
          <a:xfrm>
            <a:off x="2857500" y="2533650"/>
            <a:ext cx="8572500" cy="2095500"/>
          </a:xfrm>
          <a:prstGeom prst="roundRect">
            <a:avLst>
              <a:gd name="adj" fmla="val 3636"/>
            </a:avLst>
          </a:prstGeom>
          <a:solidFill>
            <a:srgbClr val="FFFFFF"/>
          </a:solidFill>
          <a:ln w="9525">
            <a:solidFill>
              <a:srgbClr val="D5DDD8"/>
            </a:solidFill>
            <a:prstDash val="solid"/>
          </a:ln>
        </p:spPr>
      </p:sp>
      <p:pic>
        <p:nvPicPr>
          <p:cNvPr id="27" name="Picture 26"/>
          <p:cNvPicPr>
            <a:picLocks noChangeAspect="1"/>
          </p:cNvPicPr>
          <p:nvPr/>
        </p:nvPicPr>
        <p:blipFill>
          <a:blip r:embed="rId4"/>
          <a:stretch/>
        </p:blipFill>
        <p:spPr>
          <a:xfrm>
            <a:off x="3562832" y="2628900"/>
            <a:ext cx="7161835" cy="1905000"/>
          </a:xfrm>
          <a:prstGeom prst="rect">
            <a:avLst/>
          </a:prstGeom>
        </p:spPr>
      </p:pic>
      <p:sp>
        <p:nvSpPr>
          <p:cNvPr id="11" name="Rectangle 10">
            <a:extLst>
              <a:ext uri="{FF2B5EF4-FFF2-40B4-BE49-F238E27FC236}">
                <a16:creationId xmlns:a16="http://schemas.microsoft.com/office/drawing/2014/main" id="{75D32474-B8CE-4B31-824E-A023DFC60B1D}"/>
              </a:ext>
            </a:extLst>
          </p:cNvPr>
          <p:cNvSpPr>
            <a:spLocks noGrp="1"/>
          </p:cNvSpPr>
          <p:nvPr/>
        </p:nvSpPr>
        <p:spPr>
          <a:xfrm>
            <a:off x="685800" y="4900613"/>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$5.8M</a:t>
            </a:r>
          </a:p>
        </p:txBody>
      </p:sp>
      <p:sp>
        <p:nvSpPr>
          <p:cNvPr id="12" name="Rectangle 11">
            <a:extLst>
              <a:ext uri="{FF2B5EF4-FFF2-40B4-BE49-F238E27FC236}">
                <a16:creationId xmlns:a16="http://schemas.microsoft.com/office/drawing/2014/main" id="{5CA3CABD-9070-41B1-B50B-DC68C6594780}"/>
              </a:ext>
            </a:extLst>
          </p:cNvPr>
          <p:cNvSpPr>
            <a:spLocks noGrp="1"/>
          </p:cNvSpPr>
          <p:nvPr/>
        </p:nvSpPr>
        <p:spPr>
          <a:xfrm>
            <a:off x="704850" y="5510213"/>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FTC  /  RING</a:t>
            </a:r>
          </a:p>
        </p:txBody>
      </p:sp>
      <p:sp>
        <p:nvSpPr>
          <p:cNvPr id="13" name="Rectangle: Rounded Corners 12">
            <a:extLst>
              <a:ext uri="{FF2B5EF4-FFF2-40B4-BE49-F238E27FC236}">
                <a16:creationId xmlns:a16="http://schemas.microsoft.com/office/drawing/2014/main" id="{51003C0A-56AE-4D60-AAB2-D986F829CBCD}"/>
              </a:ext>
            </a:extLst>
          </p:cNvPr>
          <p:cNvSpPr>
            <a:spLocks noGrp="1"/>
          </p:cNvSpPr>
          <p:nvPr/>
        </p:nvSpPr>
        <p:spPr>
          <a:xfrm>
            <a:off x="2857500" y="4781550"/>
            <a:ext cx="8572500" cy="1000125"/>
          </a:xfrm>
          <a:prstGeom prst="roundRect">
            <a:avLst>
              <a:gd name="adj" fmla="val 7619"/>
            </a:avLst>
          </a:prstGeom>
          <a:solidFill>
            <a:srgbClr val="FFFFFF"/>
          </a:solidFill>
          <a:ln w="9525">
            <a:solidFill>
              <a:srgbClr val="D5DDD8"/>
            </a:solidFill>
            <a:prstDash val="solid"/>
          </a:ln>
        </p:spPr>
      </p:sp>
      <p:pic>
        <p:nvPicPr>
          <p:cNvPr id="31" name="Picture 30"/>
          <p:cNvPicPr>
            <a:picLocks noChangeAspect="1"/>
          </p:cNvPicPr>
          <p:nvPr/>
        </p:nvPicPr>
        <p:blipFill>
          <a:blip r:embed="rId5"/>
          <a:stretch/>
        </p:blipFill>
        <p:spPr>
          <a:xfrm>
            <a:off x="3439279" y="4876800"/>
            <a:ext cx="7408942" cy="809625"/>
          </a:xfrm>
          <a:prstGeom prst="rect">
            <a:avLst/>
          </a:prstGeom>
        </p:spPr>
      </p:pic>
      <p:sp>
        <p:nvSpPr>
          <p:cNvPr id="15" name="Rectangle: Rounded Corners 14">
            <a:extLst>
              <a:ext uri="{FF2B5EF4-FFF2-40B4-BE49-F238E27FC236}">
                <a16:creationId xmlns:a16="http://schemas.microsoft.com/office/drawing/2014/main" id="{4BDDFA4A-C177-4AEC-8084-128FB411681E}"/>
              </a:ext>
            </a:extLst>
          </p:cNvPr>
          <p:cNvSpPr>
            <a:spLocks noGrp="1"/>
          </p:cNvSpPr>
          <p:nvPr/>
        </p:nvSpPr>
        <p:spPr>
          <a:xfrm>
            <a:off x="685800" y="5915025"/>
            <a:ext cx="10744200" cy="409575"/>
          </a:xfrm>
          <a:prstGeom prst="roundRect">
            <a:avLst>
              <a:gd name="adj" fmla="val 18605"/>
            </a:avLst>
          </a:prstGeom>
          <a:solidFill>
            <a:srgbClr val="356B3F"/>
          </a:solidFill>
          <a:ln w="0">
            <a:noFill/>
          </a:ln>
        </p:spPr>
      </p:sp>
      <p:sp>
        <p:nvSpPr>
          <p:cNvPr id="16" name="Rectangle 15">
            <a:extLst>
              <a:ext uri="{FF2B5EF4-FFF2-40B4-BE49-F238E27FC236}">
                <a16:creationId xmlns:a16="http://schemas.microsoft.com/office/drawing/2014/main" id="{DBD12034-0C10-46CF-982D-80809A7B70A2}"/>
              </a:ext>
            </a:extLst>
          </p:cNvPr>
          <p:cNvSpPr>
            <a:spLocks noGrp="1"/>
          </p:cNvSpPr>
          <p:nvPr/>
        </p:nvSpPr>
        <p:spPr>
          <a:xfrm>
            <a:off x="914400" y="5981700"/>
            <a:ext cx="10287000" cy="257175"/>
          </a:xfrm>
          <a:prstGeom prst="rect">
            <a:avLst/>
          </a:prstGeom>
          <a:noFill/>
          <a:ln w="0">
            <a:noFill/>
          </a:ln>
        </p:spPr>
        <p:txBody>
          <a:bodyPr wrap="square" lIns="0" tIns="0" rIns="0" bIns="0" anchor="t">
            <a:noAutofit/>
          </a:bodyPr>
          <a:lstStyle/>
          <a:p>
            <a:pPr algn="ctr">
              <a:lnSpc>
                <a:spcPct val="100000"/>
              </a:lnSpc>
              <a:buNone/>
              <a:defRPr sz="1575" b="1">
                <a:solidFill>
                  <a:srgbClr val="F2F5F9"/>
                </a:solidFill>
                <a:latin typeface="Segoe UI"/>
                <a:ea typeface="Segoe UI"/>
                <a:cs typeface="Segoe UI"/>
              </a:defRPr>
            </a:pPr>
            <a:r>
              <a:rPr sz="1575" b="1">
                <a:solidFill>
                  <a:srgbClr val="F2F5F9"/>
                </a:solidFill>
                <a:latin typeface="Segoe UI"/>
                <a:ea typeface="Segoe UI"/>
                <a:cs typeface="Segoe UI"/>
              </a:rPr>
              <a:t>€6.31B in tracked GDPR fines</a:t>
            </a:r>
          </a:p>
        </p:txBody>
      </p:sp>
      <p:sp>
        <p:nvSpPr>
          <p:cNvPr id="17" name="Rectangle 16">
            <a:extLst>
              <a:ext uri="{FF2B5EF4-FFF2-40B4-BE49-F238E27FC236}">
                <a16:creationId xmlns:a16="http://schemas.microsoft.com/office/drawing/2014/main" id="{5489FF9E-76E3-44C5-8F14-A69EB8422F6A}"/>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04</a:t>
            </a:r>
          </a:p>
        </p:txBody>
      </p:sp>
    </p:spTree>
    <p:extLst>
      <p:ext uri="{BB962C8B-B14F-4D97-AF65-F5344CB8AC3E}">
        <p14:creationId xmlns:p14="http://schemas.microsoft.com/office/powerpoint/2010/main" val="12058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9C7E6D8-A1A3-4E17-BCAF-0229EAD4C7F0}"/>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A2E083A9-4C4D-477E-AA8B-88C9B35F1855}"/>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Firmware to CRA-ready evidence</a:t>
            </a:r>
          </a:p>
        </p:txBody>
      </p:sp>
      <p:sp>
        <p:nvSpPr>
          <p:cNvPr id="3" name="Rectangle 2">
            <a:extLst>
              <a:ext uri="{FF2B5EF4-FFF2-40B4-BE49-F238E27FC236}">
                <a16:creationId xmlns:a16="http://schemas.microsoft.com/office/drawing/2014/main" id="{CD4B4839-67FD-4375-B9A0-F63ED110AAA5}"/>
              </a:ext>
            </a:extLst>
          </p:cNvPr>
          <p:cNvSpPr>
            <a:spLocks noGrp="1"/>
          </p:cNvSpPr>
          <p:nvPr/>
        </p:nvSpPr>
        <p:spPr>
          <a:xfrm>
            <a:off x="6858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01</a:t>
            </a:r>
          </a:p>
        </p:txBody>
      </p:sp>
      <p:sp>
        <p:nvSpPr>
          <p:cNvPr id="4" name="Straight Connector 3">
            <a:extLst>
              <a:ext uri="{FF2B5EF4-FFF2-40B4-BE49-F238E27FC236}">
                <a16:creationId xmlns:a16="http://schemas.microsoft.com/office/drawing/2014/main" id="{ADC57945-362D-4FA7-AA8A-AC29D6497732}"/>
              </a:ext>
            </a:extLst>
          </p:cNvPr>
          <p:cNvSpPr>
            <a:spLocks noGrp="1"/>
          </p:cNvSpPr>
          <p:nvPr/>
        </p:nvSpPr>
        <p:spPr>
          <a:xfrm>
            <a:off x="685800" y="2457450"/>
            <a:ext cx="2038350" cy="0"/>
          </a:xfrm>
          <a:prstGeom prst="line">
            <a:avLst/>
          </a:prstGeom>
          <a:noFill/>
          <a:ln w="47625">
            <a:solidFill>
              <a:srgbClr val="CBD5CF"/>
            </a:solidFill>
            <a:prstDash val="solid"/>
          </a:ln>
        </p:spPr>
      </p:sp>
      <p:sp>
        <p:nvSpPr>
          <p:cNvPr id="5" name="Rectangle 4">
            <a:extLst>
              <a:ext uri="{FF2B5EF4-FFF2-40B4-BE49-F238E27FC236}">
                <a16:creationId xmlns:a16="http://schemas.microsoft.com/office/drawing/2014/main" id="{8EA8B920-4EB1-4755-908D-51010EB18DBB}"/>
              </a:ext>
            </a:extLst>
          </p:cNvPr>
          <p:cNvSpPr>
            <a:spLocks noGrp="1"/>
          </p:cNvSpPr>
          <p:nvPr/>
        </p:nvSpPr>
        <p:spPr>
          <a:xfrm>
            <a:off x="6858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Firmware</a:t>
            </a:r>
          </a:p>
        </p:txBody>
      </p:sp>
      <p:sp>
        <p:nvSpPr>
          <p:cNvPr id="6" name="Rectangle 5">
            <a:extLst>
              <a:ext uri="{FF2B5EF4-FFF2-40B4-BE49-F238E27FC236}">
                <a16:creationId xmlns:a16="http://schemas.microsoft.com/office/drawing/2014/main" id="{7E9B55C1-393C-4F89-92F6-A8074A77D6B7}"/>
              </a:ext>
            </a:extLst>
          </p:cNvPr>
          <p:cNvSpPr>
            <a:spLocks noGrp="1"/>
          </p:cNvSpPr>
          <p:nvPr/>
        </p:nvSpPr>
        <p:spPr>
          <a:xfrm>
            <a:off x="28956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02</a:t>
            </a:r>
          </a:p>
        </p:txBody>
      </p:sp>
      <p:sp>
        <p:nvSpPr>
          <p:cNvPr id="7" name="Straight Connector 6">
            <a:extLst>
              <a:ext uri="{FF2B5EF4-FFF2-40B4-BE49-F238E27FC236}">
                <a16:creationId xmlns:a16="http://schemas.microsoft.com/office/drawing/2014/main" id="{47A5E912-2687-40AD-86E6-4A8DA966644F}"/>
              </a:ext>
            </a:extLst>
          </p:cNvPr>
          <p:cNvSpPr>
            <a:spLocks noGrp="1"/>
          </p:cNvSpPr>
          <p:nvPr/>
        </p:nvSpPr>
        <p:spPr>
          <a:xfrm>
            <a:off x="2895600" y="2457450"/>
            <a:ext cx="2038350" cy="0"/>
          </a:xfrm>
          <a:prstGeom prst="line">
            <a:avLst/>
          </a:prstGeom>
          <a:noFill/>
          <a:ln w="47625">
            <a:solidFill>
              <a:srgbClr val="CBD5CF"/>
            </a:solidFill>
            <a:prstDash val="solid"/>
          </a:ln>
        </p:spPr>
      </p:sp>
      <p:sp>
        <p:nvSpPr>
          <p:cNvPr id="8" name="Rectangle 7">
            <a:extLst>
              <a:ext uri="{FF2B5EF4-FFF2-40B4-BE49-F238E27FC236}">
                <a16:creationId xmlns:a16="http://schemas.microsoft.com/office/drawing/2014/main" id="{8D664BC9-8305-4A12-A58C-4176858C5780}"/>
              </a:ext>
            </a:extLst>
          </p:cNvPr>
          <p:cNvSpPr>
            <a:spLocks noGrp="1"/>
          </p:cNvSpPr>
          <p:nvPr/>
        </p:nvSpPr>
        <p:spPr>
          <a:xfrm>
            <a:off x="28956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Reachability</a:t>
            </a:r>
          </a:p>
        </p:txBody>
      </p:sp>
      <p:sp>
        <p:nvSpPr>
          <p:cNvPr id="9" name="Rectangle 8">
            <a:extLst>
              <a:ext uri="{FF2B5EF4-FFF2-40B4-BE49-F238E27FC236}">
                <a16:creationId xmlns:a16="http://schemas.microsoft.com/office/drawing/2014/main" id="{C6FC6555-B0D6-40A3-8110-5CB44A0F218C}"/>
              </a:ext>
            </a:extLst>
          </p:cNvPr>
          <p:cNvSpPr>
            <a:spLocks noGrp="1"/>
          </p:cNvSpPr>
          <p:nvPr/>
        </p:nvSpPr>
        <p:spPr>
          <a:xfrm>
            <a:off x="51054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03</a:t>
            </a:r>
          </a:p>
        </p:txBody>
      </p:sp>
      <p:sp>
        <p:nvSpPr>
          <p:cNvPr id="10" name="Straight Connector 9">
            <a:extLst>
              <a:ext uri="{FF2B5EF4-FFF2-40B4-BE49-F238E27FC236}">
                <a16:creationId xmlns:a16="http://schemas.microsoft.com/office/drawing/2014/main" id="{F21819F3-5895-4341-921E-2D3FAEEF607B}"/>
              </a:ext>
            </a:extLst>
          </p:cNvPr>
          <p:cNvSpPr>
            <a:spLocks noGrp="1"/>
          </p:cNvSpPr>
          <p:nvPr/>
        </p:nvSpPr>
        <p:spPr>
          <a:xfrm>
            <a:off x="5105400" y="2457450"/>
            <a:ext cx="2038350" cy="0"/>
          </a:xfrm>
          <a:prstGeom prst="line">
            <a:avLst/>
          </a:prstGeom>
          <a:noFill/>
          <a:ln w="47625">
            <a:solidFill>
              <a:srgbClr val="CBD5CF"/>
            </a:solidFill>
            <a:prstDash val="solid"/>
          </a:ln>
        </p:spPr>
      </p:sp>
      <p:sp>
        <p:nvSpPr>
          <p:cNvPr id="11" name="Rectangle 10">
            <a:extLst>
              <a:ext uri="{FF2B5EF4-FFF2-40B4-BE49-F238E27FC236}">
                <a16:creationId xmlns:a16="http://schemas.microsoft.com/office/drawing/2014/main" id="{85CEEF0F-3A46-424C-A534-4561D09C5CA7}"/>
              </a:ext>
            </a:extLst>
          </p:cNvPr>
          <p:cNvSpPr>
            <a:spLocks noGrp="1"/>
          </p:cNvSpPr>
          <p:nvPr/>
        </p:nvSpPr>
        <p:spPr>
          <a:xfrm>
            <a:off x="51054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24h alert</a:t>
            </a:r>
          </a:p>
        </p:txBody>
      </p:sp>
      <p:sp>
        <p:nvSpPr>
          <p:cNvPr id="12" name="Rectangle 11">
            <a:extLst>
              <a:ext uri="{FF2B5EF4-FFF2-40B4-BE49-F238E27FC236}">
                <a16:creationId xmlns:a16="http://schemas.microsoft.com/office/drawing/2014/main" id="{977F389E-CBC5-45DD-B037-057ECA44436E}"/>
              </a:ext>
            </a:extLst>
          </p:cNvPr>
          <p:cNvSpPr>
            <a:spLocks noGrp="1"/>
          </p:cNvSpPr>
          <p:nvPr/>
        </p:nvSpPr>
        <p:spPr>
          <a:xfrm>
            <a:off x="73152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04</a:t>
            </a:r>
          </a:p>
        </p:txBody>
      </p:sp>
      <p:sp>
        <p:nvSpPr>
          <p:cNvPr id="13" name="Straight Connector 12">
            <a:extLst>
              <a:ext uri="{FF2B5EF4-FFF2-40B4-BE49-F238E27FC236}">
                <a16:creationId xmlns:a16="http://schemas.microsoft.com/office/drawing/2014/main" id="{3D2794DA-FA3C-4601-BF63-A64AFD45205D}"/>
              </a:ext>
            </a:extLst>
          </p:cNvPr>
          <p:cNvSpPr>
            <a:spLocks noGrp="1"/>
          </p:cNvSpPr>
          <p:nvPr/>
        </p:nvSpPr>
        <p:spPr>
          <a:xfrm>
            <a:off x="7315200" y="2457450"/>
            <a:ext cx="2038350" cy="0"/>
          </a:xfrm>
          <a:prstGeom prst="line">
            <a:avLst/>
          </a:prstGeom>
          <a:noFill/>
          <a:ln w="47625">
            <a:solidFill>
              <a:srgbClr val="CBD5CF"/>
            </a:solidFill>
            <a:prstDash val="solid"/>
          </a:ln>
        </p:spPr>
      </p:sp>
      <p:sp>
        <p:nvSpPr>
          <p:cNvPr id="14" name="Rectangle 13">
            <a:extLst>
              <a:ext uri="{FF2B5EF4-FFF2-40B4-BE49-F238E27FC236}">
                <a16:creationId xmlns:a16="http://schemas.microsoft.com/office/drawing/2014/main" id="{6F42B94A-0532-439F-A77F-A254E230A6AB}"/>
              </a:ext>
            </a:extLst>
          </p:cNvPr>
          <p:cNvSpPr>
            <a:spLocks noGrp="1"/>
          </p:cNvSpPr>
          <p:nvPr/>
        </p:nvSpPr>
        <p:spPr>
          <a:xfrm>
            <a:off x="73152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Legal</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documents</a:t>
            </a:r>
          </a:p>
        </p:txBody>
      </p:sp>
      <p:sp>
        <p:nvSpPr>
          <p:cNvPr id="15" name="Rectangle 14">
            <a:extLst>
              <a:ext uri="{FF2B5EF4-FFF2-40B4-BE49-F238E27FC236}">
                <a16:creationId xmlns:a16="http://schemas.microsoft.com/office/drawing/2014/main" id="{801BA4A6-E698-4F67-AB01-197BF5C48F1F}"/>
              </a:ext>
            </a:extLst>
          </p:cNvPr>
          <p:cNvSpPr>
            <a:spLocks noGrp="1"/>
          </p:cNvSpPr>
          <p:nvPr/>
        </p:nvSpPr>
        <p:spPr>
          <a:xfrm>
            <a:off x="95250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05</a:t>
            </a:r>
          </a:p>
        </p:txBody>
      </p:sp>
      <p:sp>
        <p:nvSpPr>
          <p:cNvPr id="16" name="Straight Connector 15">
            <a:extLst>
              <a:ext uri="{FF2B5EF4-FFF2-40B4-BE49-F238E27FC236}">
                <a16:creationId xmlns:a16="http://schemas.microsoft.com/office/drawing/2014/main" id="{344CDA51-698A-4320-ABBC-D349DDE8E0BC}"/>
              </a:ext>
            </a:extLst>
          </p:cNvPr>
          <p:cNvSpPr>
            <a:spLocks noGrp="1"/>
          </p:cNvSpPr>
          <p:nvPr/>
        </p:nvSpPr>
        <p:spPr>
          <a:xfrm>
            <a:off x="9525000" y="2457450"/>
            <a:ext cx="2038350" cy="0"/>
          </a:xfrm>
          <a:prstGeom prst="line">
            <a:avLst/>
          </a:prstGeom>
          <a:noFill/>
          <a:ln w="47625">
            <a:solidFill>
              <a:srgbClr val="356B3F"/>
            </a:solidFill>
            <a:prstDash val="solid"/>
          </a:ln>
        </p:spPr>
      </p:sp>
      <p:sp>
        <p:nvSpPr>
          <p:cNvPr id="17" name="Rectangle 16">
            <a:extLst>
              <a:ext uri="{FF2B5EF4-FFF2-40B4-BE49-F238E27FC236}">
                <a16:creationId xmlns:a16="http://schemas.microsoft.com/office/drawing/2014/main" id="{39D10584-BB8C-43A1-9A52-84ADE36F2A2F}"/>
              </a:ext>
            </a:extLst>
          </p:cNvPr>
          <p:cNvSpPr>
            <a:spLocks noGrp="1"/>
          </p:cNvSpPr>
          <p:nvPr/>
        </p:nvSpPr>
        <p:spPr>
          <a:xfrm>
            <a:off x="95250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Signed</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proof</a:t>
            </a:r>
          </a:p>
        </p:txBody>
      </p:sp>
      <p:sp>
        <p:nvSpPr>
          <p:cNvPr id="18" name="Rectangle: Rounded Corners 17">
            <a:extLst>
              <a:ext uri="{FF2B5EF4-FFF2-40B4-BE49-F238E27FC236}">
                <a16:creationId xmlns:a16="http://schemas.microsoft.com/office/drawing/2014/main" id="{9AE84050-5BA2-4AF0-8D93-DD864125CE71}"/>
              </a:ext>
            </a:extLst>
          </p:cNvPr>
          <p:cNvSpPr>
            <a:spLocks noGrp="1"/>
          </p:cNvSpPr>
          <p:nvPr/>
        </p:nvSpPr>
        <p:spPr>
          <a:xfrm>
            <a:off x="685800" y="4762500"/>
            <a:ext cx="10820400" cy="990600"/>
          </a:xfrm>
          <a:prstGeom prst="roundRect">
            <a:avLst>
              <a:gd name="adj" fmla="val 7692"/>
            </a:avLst>
          </a:prstGeom>
          <a:solidFill>
            <a:srgbClr val="111713"/>
          </a:solidFill>
          <a:ln w="0">
            <a:noFill/>
          </a:ln>
        </p:spPr>
      </p:sp>
      <p:sp>
        <p:nvSpPr>
          <p:cNvPr id="19" name="Rectangle 18">
            <a:extLst>
              <a:ext uri="{FF2B5EF4-FFF2-40B4-BE49-F238E27FC236}">
                <a16:creationId xmlns:a16="http://schemas.microsoft.com/office/drawing/2014/main" id="{EC703724-4164-497D-9C61-8EFB6E039C8C}"/>
              </a:ext>
            </a:extLst>
          </p:cNvPr>
          <p:cNvSpPr>
            <a:spLocks noGrp="1"/>
          </p:cNvSpPr>
          <p:nvPr/>
        </p:nvSpPr>
        <p:spPr>
          <a:xfrm>
            <a:off x="1047750" y="4981575"/>
            <a:ext cx="4667250" cy="514350"/>
          </a:xfrm>
          <a:prstGeom prst="rect">
            <a:avLst/>
          </a:prstGeom>
          <a:noFill/>
          <a:ln w="0">
            <a:noFill/>
          </a:ln>
        </p:spPr>
        <p:txBody>
          <a:bodyPr wrap="square" lIns="0" tIns="0" rIns="0" bIns="0" anchor="t">
            <a:noAutofit/>
          </a:bodyPr>
          <a:lstStyle/>
          <a:p>
            <a:pPr algn="l">
              <a:lnSpc>
                <a:spcPct val="100000"/>
              </a:lnSpc>
              <a:buNone/>
              <a:defRPr sz="2700" b="1">
                <a:solidFill>
                  <a:srgbClr val="A8C9A8"/>
                </a:solidFill>
                <a:latin typeface="Segoe UI"/>
                <a:ea typeface="Segoe UI"/>
                <a:cs typeface="Segoe UI"/>
              </a:defRPr>
            </a:pPr>
            <a:r>
              <a:rPr sz="2700" b="1">
                <a:solidFill>
                  <a:srgbClr val="A8C9A8"/>
                </a:solidFill>
                <a:latin typeface="Segoe UI"/>
                <a:ea typeface="Segoe UI"/>
                <a:cs typeface="Segoe UI"/>
              </a:rPr>
              <a:t>Automatic evidence</a:t>
            </a:r>
          </a:p>
        </p:txBody>
      </p:sp>
      <p:sp>
        <p:nvSpPr>
          <p:cNvPr id="20" name="Rectangle 19">
            <a:extLst>
              <a:ext uri="{FF2B5EF4-FFF2-40B4-BE49-F238E27FC236}">
                <a16:creationId xmlns:a16="http://schemas.microsoft.com/office/drawing/2014/main" id="{77C77CD2-9716-4988-B3B6-CD828223D1B3}"/>
              </a:ext>
            </a:extLst>
          </p:cNvPr>
          <p:cNvSpPr>
            <a:spLocks noGrp="1"/>
          </p:cNvSpPr>
          <p:nvPr/>
        </p:nvSpPr>
        <p:spPr>
          <a:xfrm>
            <a:off x="6477000" y="4981575"/>
            <a:ext cx="4667250" cy="514350"/>
          </a:xfrm>
          <a:prstGeom prst="rect">
            <a:avLst/>
          </a:prstGeom>
          <a:noFill/>
          <a:ln w="0">
            <a:noFill/>
          </a:ln>
        </p:spPr>
        <p:txBody>
          <a:bodyPr wrap="square" lIns="0" tIns="0" rIns="0" bIns="0" anchor="t">
            <a:noAutofit/>
          </a:bodyPr>
          <a:lstStyle/>
          <a:p>
            <a:pPr algn="r">
              <a:lnSpc>
                <a:spcPct val="100000"/>
              </a:lnSpc>
              <a:buNone/>
              <a:defRPr sz="2700" b="1">
                <a:solidFill>
                  <a:srgbClr val="F2F5F9"/>
                </a:solidFill>
                <a:latin typeface="Segoe UI"/>
                <a:ea typeface="Segoe UI"/>
                <a:cs typeface="Segoe UI"/>
              </a:defRPr>
            </a:pPr>
            <a:r>
              <a:rPr sz="2700" b="1">
                <a:solidFill>
                  <a:srgbClr val="F2F5F9"/>
                </a:solidFill>
                <a:latin typeface="Segoe UI"/>
                <a:ea typeface="Segoe UI"/>
                <a:cs typeface="Segoe UI"/>
              </a:rPr>
              <a:t>Human approval</a:t>
            </a:r>
          </a:p>
        </p:txBody>
      </p:sp>
      <p:sp>
        <p:nvSpPr>
          <p:cNvPr id="21" name="Rectangle 20">
            <a:extLst>
              <a:ext uri="{FF2B5EF4-FFF2-40B4-BE49-F238E27FC236}">
                <a16:creationId xmlns:a16="http://schemas.microsoft.com/office/drawing/2014/main" id="{7350E40A-487F-49EE-AFB0-4426D5B12B2A}"/>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05</a:t>
            </a:r>
          </a:p>
        </p:txBody>
      </p:sp>
    </p:spTree>
    <p:extLst>
      <p:ext uri="{BB962C8B-B14F-4D97-AF65-F5344CB8AC3E}">
        <p14:creationId xmlns:p14="http://schemas.microsoft.com/office/powerpoint/2010/main" val="111811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
                                        <p:tgtEl>
                                          <p:spTgt spid="8"/>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1" grpId="0"/>
      <p:bldP spid="14"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AC6C94B-1D4D-49A1-84AD-972A7A04DDD5}"/>
              </a:ext>
            </a:extLst>
          </p:cNvPr>
          <p:cNvSpPr>
            <a:spLocks noGrp="1"/>
          </p:cNvSpPr>
          <p:nvPr/>
        </p:nvSpPr>
        <p:spPr>
          <a:xfrm>
            <a:off x="0" y="0"/>
            <a:ext cx="3333750" cy="6858000"/>
          </a:xfrm>
          <a:prstGeom prst="rect">
            <a:avLst/>
          </a:prstGeom>
          <a:solidFill>
            <a:srgbClr val="356B3F"/>
          </a:solidFill>
          <a:ln w="0">
            <a:noFill/>
          </a:ln>
        </p:spPr>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CFF3AB9F-81CC-4169-9D77-38F91BCC45D7}"/>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AC88A7F2-C1DC-462B-B8F6-CB5447532151}"/>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CB2D83A9-4E72-4097-85AE-974AE134D204}"/>
              </a:ext>
            </a:extLst>
          </p:cNvPr>
          <p:cNvSpPr>
            <a:spLocks noGrp="1"/>
          </p:cNvSpPr>
          <p:nvPr/>
        </p:nvSpPr>
        <p:spPr>
          <a:xfrm>
            <a:off x="4000500" y="2743200"/>
            <a:ext cx="7239000" cy="0"/>
          </a:xfrm>
          <a:prstGeom prst="line">
            <a:avLst/>
          </a:prstGeom>
          <a:noFill/>
          <a:ln w="38100">
            <a:solidFill>
              <a:srgbClr val="356B3F"/>
            </a:solidFill>
            <a:prstDash val="solid"/>
          </a:ln>
        </p:spPr>
      </p:sp>
      <p:sp>
        <p:nvSpPr>
          <p:cNvPr id="6" name="Rectangle 5">
            <a:extLst>
              <a:ext uri="{FF2B5EF4-FFF2-40B4-BE49-F238E27FC236}">
                <a16:creationId xmlns:a16="http://schemas.microsoft.com/office/drawing/2014/main" id="{1A2991A3-0276-426E-889D-263CAAA92678}"/>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CC8DB4E5-25B5-4CC6-B190-6E6EC6842468}"/>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B2C7ECE4-AB21-4832-8648-4DD415286C45}"/>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6E19C2FF-5309-4080-B40A-6B0BE086AA86}"/>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52C143E1-B1DA-462B-BEC2-7FB48E86EAC1}"/>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35CD4ED3-DC6C-4BBB-AB34-9600185F83BD}"/>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FEBD9C15-0C17-437E-92CB-F44D245A2067}"/>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1A83A534-BCE7-451C-87EF-FAE8D5874656}"/>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D41DC02E-985A-4115-9CD2-C85A022B8292}"/>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C99A5A0D-4682-4229-8E0D-E17853FA151A}"/>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65042B0D-3F6B-4B39-9715-F1EFF8C53372}"/>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06</a:t>
            </a:r>
          </a:p>
        </p:txBody>
      </p:sp>
    </p:spTree>
    <p:extLst>
      <p:ext uri="{BB962C8B-B14F-4D97-AF65-F5344CB8AC3E}">
        <p14:creationId xmlns:p14="http://schemas.microsoft.com/office/powerpoint/2010/main" val="11939440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626</Words>
  <Application>Microsoft Office PowerPoint</Application>
  <DocSecurity>0</DocSecurity>
  <PresentationFormat>Widescreen</PresentationFormat>
  <Paragraphs>68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cp:revision>
  <dcterms:created xsi:type="dcterms:W3CDTF">2026-09-09T21:49:09Z</dcterms:created>
  <dcterms:modified xsi:type="dcterms:W3CDTF">2026-09-09T21:51:44Z</dcterms:modified>
</cp:coreProperties>
</file>